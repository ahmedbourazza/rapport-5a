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Modernisation d'une application de gestion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 patrimoine applicatif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au sein de VINCI Energies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3192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Ahmed BOURAZZA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CCEE"/>
                </a:solidFill>
              </a:defRPr>
            </a:pPr>
            <a:r>
              <a:t>Projet de Fin d'Etudes  |  ENSIM  | 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BBBDD"/>
                </a:solidFill>
              </a:defRPr>
            </a:pPr>
            <a:r>
              <a:t>VINCI Energies Systemes d'Information (VESI)</a:t>
            </a:r>
          </a:p>
          <a:p>
            <a:pPr algn="ctr">
              <a:defRPr sz="1400">
                <a:solidFill>
                  <a:srgbClr val="BBBBDD"/>
                </a:solidFill>
              </a:defRPr>
            </a:pPr>
            <a:r>
              <a:t>Stage du 02 mars au 31 aout 2026</a:t>
            </a:r>
          </a:p>
          <a:p>
            <a:pPr algn="ctr">
              <a:defRPr sz="1400">
                <a:solidFill>
                  <a:srgbClr val="BBBBDD"/>
                </a:solidFill>
              </a:defRPr>
            </a:pPr>
            <a:r>
              <a:t>Soutenance du 17 septembre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BBDD"/>
                </a:solidFill>
              </a:defRPr>
            </a:pPr>
            <a:r>
              <a:t>Tuteur universite : M. M'HAMMEDI Taoufik</a:t>
            </a:r>
          </a:p>
          <a:p>
            <a:pPr>
              <a:defRPr sz="1200">
                <a:solidFill>
                  <a:srgbClr val="99BBDD"/>
                </a:solidFill>
              </a:defRPr>
            </a:pPr>
            <a:r>
              <a:t>Tuteurs entreprise : M. STER Alexis  |  M. VILLERMIN Maxime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852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BBDD"/>
                </a:solidFill>
              </a:defRPr>
            </a:pPr>
            <a:r>
              <a:t>Membre du jury : M. YAAKOUBI Nourdin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Organisme d'accueil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VINCI, VINCI Energies, VESI, equipe GCS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Contexte du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Missions et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CS BAG v1 : etat des lieux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Diagnostic et analyse des donnees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Architecture, normalisation, lots fonctionnels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Demonstrations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Avant / apres pour chaque ecran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Gestion de projet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Organisation agile et 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Mission complementaire : Elium Sauvegarde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Diagnostic et correction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2001A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Bilan et perspectives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Technique, personnel, axes d'amelioration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Le groupe VINCI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Leader mondial des concessions, de l'energie et de la construction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293 800 collaborateurs dans plus de 120 pays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Chiffre d'affaires 2025 : 74,6 milliards d'euros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Resultat net 2025 : 4,9 milliards d'euros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4 poles : VINCI Autoroutes, VINCI Energies, VINCI Construction, Cobra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VINCI Energies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Pole energie et numerique du groupe VINCI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21,6 milliards d'euros de chiffre d'affaires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109 000 collaborateurs dans 60 pays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2 200 entreprises a taille humaine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Modele decentralise : autonomie et agilite des Business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VESI et la direction Custom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VESI : DSI interne de VINCI Energies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Direction Custom Applications : applications metier sur mesure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6 squads specialises : DevSecOps, numerique responsable, M365, MyVIEW...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Approche security by design et CI/CD Azure DevOps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Stack : Angular, ASP.NET Core, SQL Server,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L'equipe Group Collaborative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Squad de 6 personnes : chef de projet, team lead, developpeurs, referent technique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Applications maintenues : CS BAG, MyVIEW, Connect, Elium Sauvegarde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Stack : Angular + ASP.NET Core + EF Core + SQL Server + Azure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Methodologie agile avec suivi dans Wrike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Points hebdomadaires avec le referent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CONTEXTE DU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Contexte et missions du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001A"/>
                </a:solidFill>
              </a:defRPr>
            </a:pPr>
            <a:r>
              <a:t>Mission principale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Refonte complete de CS BAG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(Collaborative Solutions Bag)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Outil d'inventaire du patrimoine applicatif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Developpeur unique sur le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Mission complementaire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Diagnostic d'Elium Sauvegarde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Archivage automatique arrete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Correction et fiabilisation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Base de connaissances : 30 000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00200"/>
            <a:ext cx="18288" cy="384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V1 : 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CS BAG v1 : qu'est-ce que c'est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Outil d'inventaire du patrimoine applicatif de l'equipe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Recense : applications, modules, ressources (serveurs, BDD, certificats)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Utilisateurs : developpeurs, chefs de projet, referents techniques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Role critique : cartographie complete du SI de l'equipe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Application interne utilisee au quotidien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V1 : 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Diagnostic de l'existant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Interface datee : Angular 14 et .NET 6, hors support editeur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Donnees non normalisees : saisie libre generant des incoherences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Absence de filtres, de recherche et d'alertes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Aucune tracabilite des modifications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Aucun test automatise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V1 : 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Analyse des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Audit par requetes SQL directes sur la base de production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Constat : doublons et valeurs incoherentes dans les champs libres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Exemple : 47 variantes pour un meme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Necessite de normaliser avant de pouvoir filtrer et exploiter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Demarche : analyser l'existant avant de le modifier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Objectifs de la refonte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Remettre le socle technique a niveau (Angular 20, .NET 10)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Normaliser le modele de donnees avec des tables de reference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Ajouter recherche, filtres, historique et alertes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Creer un module d'administration des referentiels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Ameliorer l'ergonomie globale de l'application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Frontend : Angular 20 avec Angular Material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Backend : ASP.NET Core avec Entity Framework Core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Base de donnees : SQL Server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Hebergement : Azure (3 environnements : DEV, UAT, PROD)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CI/CD : Azure DevOps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Normalisation du modele de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Remplacement des champs texte libre par des tables de reference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7 themes normalises : frameworks, langages, types de ressource...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Migrations EF Core avec scripts de retour arriere systematiques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Mapping automatique des valeurs existantes vers les nouveaux referentiels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Condition prealable a tout filtrage et exploitation fiable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Lot 1 : socle et fonctionnalites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Migration Angular 14 vers 20, .NET 6 vers 10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Page d'accueil avec barre de recherche et filtre par equipe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Page Tout voir avec filtres multicriteres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Fiche detaillee enrichie des applications et modules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Formulaires de creation et modification refondus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Lot 2 : referentiels et tracabilite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Module d'administration des referentiels normalises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Historique complet des actions utilisateur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Gestion avancee des certificats avec alertes d'expiration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Auto-completion dans les formulaires depuis les referentiels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Lot 3 : ressources et finalisation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Gestion etendue des ressources (serveurs, bases, Azure)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Suivi des environnements et des chaines de deploiement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Fiabilisation des donnees et corrections de coherence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Validation finale en recette puis mise en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Page d'accueil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001A"/>
                </a:solidFill>
              </a:defRPr>
            </a:pPr>
            <a:r>
              <a:t>Version 1 (avant)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Liste brute sans recherche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Pas de filtre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Navigation peu intuitive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v1 a inserer]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Version 2 (apres)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Barre de recherche instantanee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Filtre par equipe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Acces rapide a l'information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v2 a inserer]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00200"/>
            <a:ext cx="18288" cy="384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Page Tout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001A"/>
                </a:solidFill>
              </a:defRPr>
            </a:pPr>
            <a:r>
              <a:t>Version 1 (avant)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Vue sans filtres ni tri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Pas de details depliables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Affichage lineaire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v1 a inserer]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Version 2 (apres)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Filtres par equipe, referent, framework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Details depliables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Tri et recherche combinables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v2 a inserer]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00200"/>
            <a:ext cx="18288" cy="384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Detail et modification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001A"/>
                </a:solidFill>
              </a:defRPr>
            </a:pPr>
            <a:r>
              <a:t>Version 1 (avant)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Affichage basique des modules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Formulaire d'edition simple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Saisie libre des ressources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v1 a inserer]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Version 2 (apres)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Modules enrichis avec referents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Auto-completion des champs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Ressources normalisees et triables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v2 a inserer]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00200"/>
            <a:ext cx="18288" cy="384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Certificats et historique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001A"/>
                </a:solidFill>
              </a:defRPr>
            </a:pPr>
            <a:r>
              <a:t>Certificats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Empreinte, recherche, alertes d'expiration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Vue enrichie vs liste basique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a inserer]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Historique des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Tracabilite complete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Affichage hierarchise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Administration des referentiels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[Capture a inserer]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00200"/>
            <a:ext cx="18288" cy="384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GESTION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Organisation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Suivi agile dans Wrike : lots, taches, sous-taches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Points hebdomadaires avec le referent technique (Nathan Richez)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Livraisons incrementales : DEV, UAT, PROD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Communication reguliere avec le chef de projet (Maxime Villermin)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Autonomie forte avec validation a chaque etape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GESTION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Pipeline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Azure DevOps Pipelines pour build et deploiement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3 environnements : Developpement, Recette (UAT), Production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Scripts de migration EF Core avec rollback systematique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Processus de validation avant chaque mise en production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Deploiements encore partiellement manuels (axe d'amelioration)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MISSION COMPLEMENTAIRE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Elium Sauvegarde : contexte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Elium : base de connaissances de VINCI Energies (30 000 pages)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Sauvegarde automatique des contenus vers SharePoint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Probleme : archivage silencieusement arrete depuis plusieurs mois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Impact : perte potentielle de donnees critiques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Mission : diagnostiquer et retablir le fonctionnement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MISSION COMPLEMENTAIRE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Elium Sauvegarde : diagnostic et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Analyse des logs et de l'API GraphQL via Postman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Identification du changement de schema non documente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Correction du connecteur et reprise de l'archivage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Fiabilisation avec gestion des erreurs et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Archivage retabli et fonctionnel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Bilan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3 lots fonctionnels livres et mis en production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Socle technique remis a niveau : Angular 20, .NET 10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Modele de donnees normalise : 7 tables de reference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Nouvelles fonctionnalites : recherche, filtres, historique, alertes, admin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Elium Sauvegarde retabli et fiabilise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Perspectives et axes d'amelioration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Tests automatises cote serveur (couverture actuellement absente)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Automatisation des deploiements entre les 3 environnements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Suivi regulier des versions pour eviter la reconstitution de la dette technique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Extension possible des referentiels a d'autres equipes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Bilan personnel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Autonomie forte : developpeur unique sur l'ensemble du projet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Capacite d'analyse : identification de problemes hors cahier des charges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Gestion des priorites : incidents de production vs developpement planifie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Argumentation : documenter et formuler les problemes pour obtenir leur traitement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Rigueur : interventions sur un systeme utilise en production au quotidien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Competences mobilisees et acquises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Developpement full-stack : Angular + ASP.NET Core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Base de donnees : SQL Server, migrations EF Core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Cloud : Azure, Azure DevOps CI/CD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Methodologie : agile, gestion de projet,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Securite : security by design, gestion des certificats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01168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Livraison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7772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Refonte complete de CS BAG livree en production (3 lots)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201168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Modernisation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43200"/>
            <a:ext cx="7772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Application remise a niveau, maintenable et evolutive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40"/>
            <a:ext cx="201168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749040"/>
            <a:ext cx="7772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Contribution durable au patrimoine applicatif de l'equipe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201168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754880"/>
            <a:ext cx="7772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Stage formateur en conditions reelles d'entreprise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301752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AACCEE"/>
                </a:solidFill>
              </a:defRPr>
            </a:pPr>
            <a: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Ahmed BOURAZZA</a:t>
            </a:r>
          </a:p>
          <a:p>
            <a:pPr algn="ctr">
              <a:defRPr sz="1300">
                <a:solidFill>
                  <a:srgbClr val="99BBDD"/>
                </a:solidFill>
              </a:defRPr>
            </a:pPr>
            <a:r>
              <a:t>PFE ENSIM 2025-2026  |  VINCI Energies Systemes d'Information</a:t>
            </a:r>
          </a:p>
          <a:p>
            <a:pPr algn="ctr">
              <a:defRPr sz="1300">
                <a:solidFill>
                  <a:srgbClr val="99BBDD"/>
                </a:solidFill>
              </a:defRPr>
            </a:pPr>
            <a:r>
              <a:t>17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