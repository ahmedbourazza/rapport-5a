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89" r:id="rId21"/>
    <p:sldId id="275" r:id="rId22"/>
    <p:sldId id="288" r:id="rId23"/>
    <p:sldId id="276" r:id="rId24"/>
    <p:sldId id="277" r:id="rId25"/>
    <p:sldId id="279" r:id="rId26"/>
    <p:sldId id="280" r:id="rId27"/>
    <p:sldId id="281" r:id="rId28"/>
    <p:sldId id="282" r:id="rId29"/>
    <p:sldId id="283" r:id="rId30"/>
    <p:sldId id="284" r:id="rId31"/>
    <p:sldId id="285" r:id="rId32"/>
    <p:sldId id="286" r:id="rId33"/>
    <p:sldId id="287"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100" d="100"/>
          <a:sy n="100" d="100"/>
        </p:scale>
        <p:origin x="153" y="15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74320" y="274320"/>
            <a:ext cx="11643055" cy="6309360"/>
          </a:xfrm>
          <a:prstGeom prst="rect">
            <a:avLst/>
          </a:prstGeom>
          <a:noFill/>
          <a:ln w="254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74320"/>
            <a:ext cx="11643055" cy="54864"/>
          </a:xfrm>
          <a:prstGeom prst="rect">
            <a:avLst/>
          </a:prstGeom>
          <a:solidFill>
            <a:srgbClr val="E20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474720" y="548640"/>
            <a:ext cx="5212080" cy="320040"/>
          </a:xfrm>
          <a:prstGeom prst="rect">
            <a:avLst/>
          </a:prstGeom>
          <a:noFill/>
        </p:spPr>
        <p:txBody>
          <a:bodyPr wrap="square">
            <a:spAutoFit/>
          </a:bodyPr>
          <a:lstStyle/>
          <a:p>
            <a:pPr algn="ctr">
              <a:defRPr sz="1300" b="0" i="0">
                <a:solidFill>
                  <a:srgbClr val="666666"/>
                </a:solidFill>
              </a:defRPr>
            </a:pPr>
            <a:r>
              <a:t>École Nationale Supérieure d'Ingénieurs du Mans (ENSIM)</a:t>
            </a:r>
          </a:p>
        </p:txBody>
      </p:sp>
      <p:sp>
        <p:nvSpPr>
          <p:cNvPr id="7" name="TextBox 6"/>
          <p:cNvSpPr txBox="1"/>
          <p:nvPr/>
        </p:nvSpPr>
        <p:spPr>
          <a:xfrm>
            <a:off x="3474720" y="868680"/>
            <a:ext cx="5212080" cy="320040"/>
          </a:xfrm>
          <a:prstGeom prst="rect">
            <a:avLst/>
          </a:prstGeom>
          <a:noFill/>
        </p:spPr>
        <p:txBody>
          <a:bodyPr wrap="square">
            <a:spAutoFit/>
          </a:bodyPr>
          <a:lstStyle/>
          <a:p>
            <a:pPr algn="ctr">
              <a:defRPr sz="1200" b="0" i="0">
                <a:solidFill>
                  <a:srgbClr val="666666"/>
                </a:solidFill>
              </a:defRPr>
            </a:pPr>
            <a:r>
              <a:t>Le Mans Université</a:t>
            </a:r>
          </a:p>
        </p:txBody>
      </p:sp>
      <p:sp>
        <p:nvSpPr>
          <p:cNvPr id="8" name="TextBox 7"/>
          <p:cNvSpPr txBox="1"/>
          <p:nvPr/>
        </p:nvSpPr>
        <p:spPr>
          <a:xfrm>
            <a:off x="3474720" y="1188720"/>
            <a:ext cx="5212080" cy="320040"/>
          </a:xfrm>
          <a:prstGeom prst="rect">
            <a:avLst/>
          </a:prstGeom>
          <a:noFill/>
        </p:spPr>
        <p:txBody>
          <a:bodyPr wrap="square">
            <a:spAutoFit/>
          </a:bodyPr>
          <a:lstStyle/>
          <a:p>
            <a:pPr algn="ctr">
              <a:defRPr sz="1500" b="1" i="0">
                <a:solidFill>
                  <a:srgbClr val="003366"/>
                </a:solidFill>
              </a:defRPr>
            </a:pPr>
            <a:r>
              <a:t>Projet de Fin d'Études</a:t>
            </a:r>
          </a:p>
        </p:txBody>
      </p:sp>
      <p:sp>
        <p:nvSpPr>
          <p:cNvPr id="9" name="Rectangle 8"/>
          <p:cNvSpPr/>
          <p:nvPr/>
        </p:nvSpPr>
        <p:spPr>
          <a:xfrm>
            <a:off x="914400" y="1691640"/>
            <a:ext cx="10332720" cy="1371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371600" y="2272161"/>
            <a:ext cx="9418320" cy="1463040"/>
          </a:xfrm>
          <a:prstGeom prst="rect">
            <a:avLst/>
          </a:prstGeom>
          <a:noFill/>
        </p:spPr>
        <p:txBody>
          <a:bodyPr wrap="square">
            <a:spAutoFit/>
          </a:bodyPr>
          <a:lstStyle/>
          <a:p>
            <a:pPr algn="ctr">
              <a:defRPr sz="2800" b="1" i="0">
                <a:solidFill>
                  <a:srgbClr val="003366"/>
                </a:solidFill>
              </a:defRPr>
            </a:pPr>
            <a:r>
              <a:rPr dirty="0" err="1"/>
              <a:t>Modernisation</a:t>
            </a:r>
            <a:r>
              <a:rPr dirty="0"/>
              <a:t> </a:t>
            </a:r>
            <a:r>
              <a:rPr dirty="0" err="1"/>
              <a:t>d'une</a:t>
            </a:r>
            <a:r>
              <a:rPr dirty="0"/>
              <a:t> application de gestion</a:t>
            </a:r>
          </a:p>
          <a:p>
            <a:pPr algn="ctr">
              <a:defRPr sz="2800" b="1" i="0">
                <a:solidFill>
                  <a:srgbClr val="003366"/>
                </a:solidFill>
              </a:defRPr>
            </a:pPr>
            <a:r>
              <a:rPr dirty="0"/>
              <a:t>de </a:t>
            </a:r>
            <a:r>
              <a:rPr dirty="0" err="1"/>
              <a:t>patrimoine</a:t>
            </a:r>
            <a:r>
              <a:rPr dirty="0"/>
              <a:t> </a:t>
            </a:r>
            <a:r>
              <a:rPr dirty="0" err="1"/>
              <a:t>applicatif</a:t>
            </a:r>
            <a:endParaRPr dirty="0"/>
          </a:p>
          <a:p>
            <a:pPr algn="ctr">
              <a:defRPr sz="2800" b="1" i="0">
                <a:solidFill>
                  <a:srgbClr val="003366"/>
                </a:solidFill>
              </a:defRPr>
            </a:pPr>
            <a:r>
              <a:rPr dirty="0"/>
              <a:t>au sein de VINCI Energies</a:t>
            </a:r>
          </a:p>
        </p:txBody>
      </p:sp>
      <p:sp>
        <p:nvSpPr>
          <p:cNvPr id="12" name="TextBox 11"/>
          <p:cNvSpPr txBox="1"/>
          <p:nvPr/>
        </p:nvSpPr>
        <p:spPr>
          <a:xfrm>
            <a:off x="1371600" y="3703320"/>
            <a:ext cx="9418320" cy="320040"/>
          </a:xfrm>
          <a:prstGeom prst="rect">
            <a:avLst/>
          </a:prstGeom>
          <a:noFill/>
        </p:spPr>
        <p:txBody>
          <a:bodyPr wrap="square">
            <a:spAutoFit/>
          </a:bodyPr>
          <a:lstStyle/>
          <a:p>
            <a:pPr algn="ctr">
              <a:defRPr sz="1400" b="1" i="1">
                <a:solidFill>
                  <a:srgbClr val="E2001A"/>
                </a:solidFill>
              </a:defRPr>
            </a:pPr>
            <a:r>
              <a:t>Réalisé au sein de : VINCI Energies Systèmes d'Information (VESI)</a:t>
            </a:r>
          </a:p>
        </p:txBody>
      </p:sp>
      <p:sp>
        <p:nvSpPr>
          <p:cNvPr id="14" name="Rectangle 13"/>
          <p:cNvSpPr/>
          <p:nvPr/>
        </p:nvSpPr>
        <p:spPr>
          <a:xfrm>
            <a:off x="914400" y="5074920"/>
            <a:ext cx="10332720" cy="9144"/>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080760" y="5166360"/>
            <a:ext cx="9144" cy="82296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97280" y="5166360"/>
            <a:ext cx="4754880" cy="274320"/>
          </a:xfrm>
          <a:prstGeom prst="rect">
            <a:avLst/>
          </a:prstGeom>
          <a:noFill/>
        </p:spPr>
        <p:txBody>
          <a:bodyPr wrap="square">
            <a:spAutoFit/>
          </a:bodyPr>
          <a:lstStyle/>
          <a:p>
            <a:pPr algn="l">
              <a:defRPr sz="1200" b="1" i="0">
                <a:solidFill>
                  <a:srgbClr val="003366"/>
                </a:solidFill>
              </a:defRPr>
            </a:pPr>
            <a:r>
              <a:rPr dirty="0" err="1"/>
              <a:t>Encadr</a:t>
            </a:r>
            <a:r>
              <a:rPr lang="fr-CH" dirty="0"/>
              <a:t>é</a:t>
            </a:r>
            <a:r>
              <a:rPr dirty="0"/>
              <a:t> par :</a:t>
            </a:r>
          </a:p>
        </p:txBody>
      </p:sp>
      <p:sp>
        <p:nvSpPr>
          <p:cNvPr id="17" name="TextBox 16"/>
          <p:cNvSpPr txBox="1"/>
          <p:nvPr/>
        </p:nvSpPr>
        <p:spPr>
          <a:xfrm>
            <a:off x="1097280" y="5440680"/>
            <a:ext cx="4754880" cy="769441"/>
          </a:xfrm>
          <a:prstGeom prst="rect">
            <a:avLst/>
          </a:prstGeom>
          <a:noFill/>
        </p:spPr>
        <p:txBody>
          <a:bodyPr wrap="square">
            <a:spAutoFit/>
          </a:bodyPr>
          <a:lstStyle/>
          <a:p>
            <a:pPr algn="l">
              <a:defRPr sz="1100" b="0" i="0">
                <a:solidFill>
                  <a:srgbClr val="333333"/>
                </a:solidFill>
              </a:defRPr>
            </a:pPr>
            <a:r>
              <a:rPr dirty="0" err="1"/>
              <a:t>Tuteur</a:t>
            </a:r>
            <a:r>
              <a:rPr dirty="0"/>
              <a:t> </a:t>
            </a:r>
            <a:r>
              <a:rPr dirty="0" err="1"/>
              <a:t>universit</a:t>
            </a:r>
            <a:r>
              <a:rPr lang="fr-CH" dirty="0"/>
              <a:t>é</a:t>
            </a:r>
            <a:r>
              <a:rPr dirty="0"/>
              <a:t> : M. M'HAMMEDI </a:t>
            </a:r>
            <a:r>
              <a:rPr dirty="0" err="1"/>
              <a:t>Taoufik</a:t>
            </a:r>
            <a:endParaRPr dirty="0"/>
          </a:p>
          <a:p>
            <a:pPr algn="l">
              <a:defRPr sz="1100" b="0" i="0">
                <a:solidFill>
                  <a:srgbClr val="333333"/>
                </a:solidFill>
              </a:defRPr>
            </a:pPr>
            <a:r>
              <a:rPr dirty="0" err="1"/>
              <a:t>Tuteurs</a:t>
            </a:r>
            <a:r>
              <a:rPr dirty="0"/>
              <a:t> </a:t>
            </a:r>
            <a:r>
              <a:rPr dirty="0" err="1"/>
              <a:t>entreprise</a:t>
            </a:r>
            <a:r>
              <a:rPr dirty="0"/>
              <a:t> : M. STER Alexis, M. VILLERMIN Maxime</a:t>
            </a:r>
            <a:endParaRPr lang="fr-CH" dirty="0"/>
          </a:p>
          <a:p>
            <a:pPr algn="l">
              <a:defRPr sz="1100" b="0" i="0">
                <a:solidFill>
                  <a:srgbClr val="333333"/>
                </a:solidFill>
              </a:defRPr>
            </a:pPr>
            <a:r>
              <a:rPr lang="fr-CH" dirty="0"/>
              <a:t>Jury : M. YAAKOUBI </a:t>
            </a:r>
            <a:r>
              <a:rPr lang="fr-CH" dirty="0" err="1"/>
              <a:t>Nourdin</a:t>
            </a:r>
            <a:endParaRPr lang="fr-CH" dirty="0"/>
          </a:p>
          <a:p>
            <a:pPr algn="l">
              <a:defRPr sz="1100" b="0" i="0">
                <a:solidFill>
                  <a:srgbClr val="333333"/>
                </a:solidFill>
              </a:defRPr>
            </a:pPr>
            <a:endParaRPr dirty="0"/>
          </a:p>
        </p:txBody>
      </p:sp>
      <p:sp>
        <p:nvSpPr>
          <p:cNvPr id="18" name="TextBox 17"/>
          <p:cNvSpPr txBox="1"/>
          <p:nvPr/>
        </p:nvSpPr>
        <p:spPr>
          <a:xfrm>
            <a:off x="6400800" y="5166360"/>
            <a:ext cx="4754880" cy="274320"/>
          </a:xfrm>
          <a:prstGeom prst="rect">
            <a:avLst/>
          </a:prstGeom>
          <a:noFill/>
        </p:spPr>
        <p:txBody>
          <a:bodyPr wrap="square">
            <a:spAutoFit/>
          </a:bodyPr>
          <a:lstStyle/>
          <a:p>
            <a:pPr algn="r">
              <a:defRPr sz="1200" b="1" i="0">
                <a:solidFill>
                  <a:srgbClr val="003366"/>
                </a:solidFill>
              </a:defRPr>
            </a:pPr>
            <a:r>
              <a:rPr dirty="0" err="1"/>
              <a:t>Reali</a:t>
            </a:r>
            <a:r>
              <a:rPr lang="fr-CH" dirty="0"/>
              <a:t>é</a:t>
            </a:r>
            <a:r>
              <a:rPr dirty="0"/>
              <a:t>e par :</a:t>
            </a:r>
          </a:p>
        </p:txBody>
      </p:sp>
      <p:sp>
        <p:nvSpPr>
          <p:cNvPr id="19" name="TextBox 18"/>
          <p:cNvSpPr txBox="1"/>
          <p:nvPr/>
        </p:nvSpPr>
        <p:spPr>
          <a:xfrm>
            <a:off x="6400800" y="5440680"/>
            <a:ext cx="4754880" cy="430887"/>
          </a:xfrm>
          <a:prstGeom prst="rect">
            <a:avLst/>
          </a:prstGeom>
          <a:noFill/>
        </p:spPr>
        <p:txBody>
          <a:bodyPr wrap="square">
            <a:spAutoFit/>
          </a:bodyPr>
          <a:lstStyle/>
          <a:p>
            <a:pPr algn="r">
              <a:defRPr sz="1100" b="0" i="0">
                <a:solidFill>
                  <a:srgbClr val="333333"/>
                </a:solidFill>
              </a:defRPr>
            </a:pPr>
            <a:r>
              <a:rPr dirty="0"/>
              <a:t>Ahmed BOURAZZA</a:t>
            </a:r>
          </a:p>
          <a:p>
            <a:pPr algn="r">
              <a:defRPr sz="1100" b="0" i="0">
                <a:solidFill>
                  <a:srgbClr val="333333"/>
                </a:solidFill>
              </a:defRPr>
            </a:pPr>
            <a:r>
              <a:rPr dirty="0"/>
              <a:t>Informatique</a:t>
            </a:r>
            <a:r>
              <a:rPr lang="fr-CH" dirty="0"/>
              <a:t> option IPS</a:t>
            </a:r>
            <a:r>
              <a:rPr dirty="0"/>
              <a:t>, 5</a:t>
            </a:r>
            <a:r>
              <a:rPr lang="fr-CH" dirty="0"/>
              <a:t>A</a:t>
            </a:r>
            <a:endParaRPr dirty="0"/>
          </a:p>
        </p:txBody>
      </p:sp>
      <p:sp>
        <p:nvSpPr>
          <p:cNvPr id="20" name="Rectangle 19"/>
          <p:cNvSpPr/>
          <p:nvPr/>
        </p:nvSpPr>
        <p:spPr>
          <a:xfrm>
            <a:off x="274320" y="6263640"/>
            <a:ext cx="11643055" cy="3200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274320" y="6263640"/>
            <a:ext cx="11643055" cy="36576"/>
          </a:xfrm>
          <a:prstGeom prst="rect">
            <a:avLst/>
          </a:prstGeom>
          <a:solidFill>
            <a:srgbClr val="E20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6355080"/>
            <a:ext cx="3200400" cy="246221"/>
          </a:xfrm>
          <a:prstGeom prst="rect">
            <a:avLst/>
          </a:prstGeom>
          <a:noFill/>
        </p:spPr>
        <p:txBody>
          <a:bodyPr wrap="square">
            <a:spAutoFit/>
          </a:bodyPr>
          <a:lstStyle/>
          <a:p>
            <a:pPr algn="l">
              <a:defRPr sz="1000" b="0" i="0">
                <a:solidFill>
                  <a:srgbClr val="FFFFFF"/>
                </a:solidFill>
              </a:defRPr>
            </a:pPr>
            <a:r>
              <a:rPr lang="fr-CH" dirty="0"/>
              <a:t>Pé</a:t>
            </a:r>
            <a:r>
              <a:rPr dirty="0" err="1"/>
              <a:t>riode</a:t>
            </a:r>
            <a:r>
              <a:rPr dirty="0"/>
              <a:t> : 02/03</a:t>
            </a:r>
            <a:r>
              <a:rPr lang="fr-CH" dirty="0"/>
              <a:t>/2026</a:t>
            </a:r>
            <a:r>
              <a:rPr dirty="0"/>
              <a:t> - 31/08/2026</a:t>
            </a:r>
          </a:p>
        </p:txBody>
      </p:sp>
      <p:sp>
        <p:nvSpPr>
          <p:cNvPr id="23" name="TextBox 22"/>
          <p:cNvSpPr txBox="1"/>
          <p:nvPr/>
        </p:nvSpPr>
        <p:spPr>
          <a:xfrm>
            <a:off x="4114800" y="6355080"/>
            <a:ext cx="4114800" cy="246221"/>
          </a:xfrm>
          <a:prstGeom prst="rect">
            <a:avLst/>
          </a:prstGeom>
          <a:noFill/>
        </p:spPr>
        <p:txBody>
          <a:bodyPr wrap="square">
            <a:spAutoFit/>
          </a:bodyPr>
          <a:lstStyle/>
          <a:p>
            <a:pPr algn="ctr">
              <a:defRPr sz="1000" b="0" i="0">
                <a:solidFill>
                  <a:srgbClr val="FFFFFF"/>
                </a:solidFill>
              </a:defRPr>
            </a:pPr>
            <a:r>
              <a:rPr dirty="0" err="1"/>
              <a:t>Soutenance</a:t>
            </a:r>
            <a:r>
              <a:rPr dirty="0"/>
              <a:t> : 17/09/2026  </a:t>
            </a:r>
          </a:p>
        </p:txBody>
      </p:sp>
      <p:sp>
        <p:nvSpPr>
          <p:cNvPr id="24" name="TextBox 23"/>
          <p:cNvSpPr txBox="1"/>
          <p:nvPr/>
        </p:nvSpPr>
        <p:spPr>
          <a:xfrm>
            <a:off x="8686800" y="6355080"/>
            <a:ext cx="3017520" cy="246221"/>
          </a:xfrm>
          <a:prstGeom prst="rect">
            <a:avLst/>
          </a:prstGeom>
          <a:noFill/>
        </p:spPr>
        <p:txBody>
          <a:bodyPr wrap="square">
            <a:spAutoFit/>
          </a:bodyPr>
          <a:lstStyle/>
          <a:p>
            <a:pPr algn="r">
              <a:defRPr sz="1000" b="0" i="0">
                <a:solidFill>
                  <a:srgbClr val="FFFFFF"/>
                </a:solidFill>
              </a:defRPr>
            </a:pPr>
            <a:r>
              <a:rPr dirty="0"/>
              <a:t>Ann</a:t>
            </a:r>
            <a:r>
              <a:rPr lang="fr-CH" dirty="0" err="1"/>
              <a:t>ée</a:t>
            </a:r>
            <a:r>
              <a:rPr dirty="0"/>
              <a:t> </a:t>
            </a:r>
            <a:r>
              <a:rPr dirty="0" err="1"/>
              <a:t>acad</a:t>
            </a:r>
            <a:r>
              <a:rPr lang="fr-CH" dirty="0"/>
              <a:t>é</a:t>
            </a:r>
            <a:r>
              <a:rPr dirty="0" err="1"/>
              <a:t>mique</a:t>
            </a:r>
            <a:r>
              <a:rPr dirty="0"/>
              <a:t> 2025-2026</a:t>
            </a:r>
          </a:p>
        </p:txBody>
      </p:sp>
      <p:sp>
        <p:nvSpPr>
          <p:cNvPr id="25" name="Freeform 10">
            <a:extLst>
              <a:ext uri="{FF2B5EF4-FFF2-40B4-BE49-F238E27FC236}">
                <a16:creationId xmlns:a16="http://schemas.microsoft.com/office/drawing/2014/main" id="{E80D2D62-158E-41FD-953C-355E06388260}"/>
              </a:ext>
            </a:extLst>
          </p:cNvPr>
          <p:cNvSpPr/>
          <p:nvPr/>
        </p:nvSpPr>
        <p:spPr>
          <a:xfrm>
            <a:off x="1084484" y="623306"/>
            <a:ext cx="2390236" cy="791940"/>
          </a:xfrm>
          <a:custGeom>
            <a:avLst/>
            <a:gdLst/>
            <a:ahLst/>
            <a:cxnLst/>
            <a:rect l="l" t="t" r="r" b="b"/>
            <a:pathLst>
              <a:path w="4200742" h="1405571">
                <a:moveTo>
                  <a:pt x="0" y="0"/>
                </a:moveTo>
                <a:lnTo>
                  <a:pt x="4200742" y="0"/>
                </a:lnTo>
                <a:lnTo>
                  <a:pt x="4200742" y="1405571"/>
                </a:lnTo>
                <a:lnTo>
                  <a:pt x="0" y="1405571"/>
                </a:lnTo>
                <a:lnTo>
                  <a:pt x="0" y="0"/>
                </a:lnTo>
                <a:close/>
              </a:path>
            </a:pathLst>
          </a:custGeom>
          <a:blipFill>
            <a:blip r:embed="rId2"/>
            <a:stretch>
              <a:fillRect/>
            </a:stretch>
          </a:blipFill>
        </p:spPr>
        <p:txBody>
          <a:bodyPr/>
          <a:lstStyle/>
          <a:p>
            <a:endParaRPr/>
          </a:p>
        </p:txBody>
      </p:sp>
      <p:pic>
        <p:nvPicPr>
          <p:cNvPr id="27" name="Image 26">
            <a:extLst>
              <a:ext uri="{FF2B5EF4-FFF2-40B4-BE49-F238E27FC236}">
                <a16:creationId xmlns:a16="http://schemas.microsoft.com/office/drawing/2014/main" id="{C409ECE9-844E-4421-8469-7B645CD4E9C5}"/>
              </a:ext>
            </a:extLst>
          </p:cNvPr>
          <p:cNvPicPr>
            <a:picLocks noChangeAspect="1"/>
          </p:cNvPicPr>
          <p:nvPr/>
        </p:nvPicPr>
        <p:blipFill rotWithShape="1">
          <a:blip r:embed="rId3"/>
          <a:srcRect t="36165" b="33014"/>
          <a:stretch/>
        </p:blipFill>
        <p:spPr>
          <a:xfrm>
            <a:off x="8677699" y="593891"/>
            <a:ext cx="2569421" cy="7919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Sommaire</a:t>
            </a:r>
          </a:p>
        </p:txBody>
      </p:sp>
      <p:sp>
        <p:nvSpPr>
          <p:cNvPr id="4" name="Rectangle 3"/>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2 / 32</a:t>
            </a:r>
          </a:p>
        </p:txBody>
      </p:sp>
      <p:sp>
        <p:nvSpPr>
          <p:cNvPr id="7" name="TextBox 6"/>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8" name="Rectangle 7"/>
          <p:cNvSpPr/>
          <p:nvPr/>
        </p:nvSpPr>
        <p:spPr>
          <a:xfrm>
            <a:off x="1828800" y="1463040"/>
            <a:ext cx="457200" cy="3840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01</a:t>
            </a:r>
          </a:p>
        </p:txBody>
      </p:sp>
      <p:sp>
        <p:nvSpPr>
          <p:cNvPr id="9" name="TextBox 8"/>
          <p:cNvSpPr txBox="1"/>
          <p:nvPr/>
        </p:nvSpPr>
        <p:spPr>
          <a:xfrm>
            <a:off x="2514600" y="1508760"/>
            <a:ext cx="8686800" cy="365760"/>
          </a:xfrm>
          <a:prstGeom prst="rect">
            <a:avLst/>
          </a:prstGeom>
          <a:noFill/>
        </p:spPr>
        <p:txBody>
          <a:bodyPr wrap="square">
            <a:spAutoFit/>
          </a:bodyPr>
          <a:lstStyle/>
          <a:p>
            <a:pPr algn="l">
              <a:defRPr sz="1600" b="0" i="0">
                <a:solidFill>
                  <a:srgbClr val="333333"/>
                </a:solidFill>
              </a:defRPr>
            </a:pPr>
            <a:r>
              <a:t>Introduction</a:t>
            </a:r>
          </a:p>
        </p:txBody>
      </p:sp>
      <p:sp>
        <p:nvSpPr>
          <p:cNvPr id="10" name="Rectangle 9"/>
          <p:cNvSpPr/>
          <p:nvPr/>
        </p:nvSpPr>
        <p:spPr>
          <a:xfrm>
            <a:off x="2514600" y="1883664"/>
            <a:ext cx="8686800"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828800" y="1938528"/>
            <a:ext cx="457200" cy="3840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02</a:t>
            </a:r>
          </a:p>
        </p:txBody>
      </p:sp>
      <p:sp>
        <p:nvSpPr>
          <p:cNvPr id="12" name="TextBox 11"/>
          <p:cNvSpPr txBox="1"/>
          <p:nvPr/>
        </p:nvSpPr>
        <p:spPr>
          <a:xfrm>
            <a:off x="2514600" y="1984248"/>
            <a:ext cx="8686800" cy="365760"/>
          </a:xfrm>
          <a:prstGeom prst="rect">
            <a:avLst/>
          </a:prstGeom>
          <a:noFill/>
        </p:spPr>
        <p:txBody>
          <a:bodyPr wrap="square">
            <a:spAutoFit/>
          </a:bodyPr>
          <a:lstStyle/>
          <a:p>
            <a:pPr algn="l">
              <a:defRPr sz="1600" b="0" i="0">
                <a:solidFill>
                  <a:srgbClr val="333333"/>
                </a:solidFill>
              </a:defRPr>
            </a:pPr>
            <a:r>
              <a:t>Organisme d'accueil</a:t>
            </a:r>
          </a:p>
        </p:txBody>
      </p:sp>
      <p:sp>
        <p:nvSpPr>
          <p:cNvPr id="13" name="Rectangle 12"/>
          <p:cNvSpPr/>
          <p:nvPr/>
        </p:nvSpPr>
        <p:spPr>
          <a:xfrm>
            <a:off x="2514600" y="2359152"/>
            <a:ext cx="8686800"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828800" y="2414016"/>
            <a:ext cx="457200" cy="3840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03</a:t>
            </a:r>
          </a:p>
        </p:txBody>
      </p:sp>
      <p:sp>
        <p:nvSpPr>
          <p:cNvPr id="15" name="TextBox 14"/>
          <p:cNvSpPr txBox="1"/>
          <p:nvPr/>
        </p:nvSpPr>
        <p:spPr>
          <a:xfrm>
            <a:off x="2514600" y="2459736"/>
            <a:ext cx="8686800" cy="338554"/>
          </a:xfrm>
          <a:prstGeom prst="rect">
            <a:avLst/>
          </a:prstGeom>
          <a:noFill/>
        </p:spPr>
        <p:txBody>
          <a:bodyPr wrap="square">
            <a:spAutoFit/>
          </a:bodyPr>
          <a:lstStyle/>
          <a:p>
            <a:pPr algn="l">
              <a:defRPr sz="1600" b="0" i="0">
                <a:solidFill>
                  <a:srgbClr val="333333"/>
                </a:solidFill>
              </a:defRPr>
            </a:pPr>
            <a:r>
              <a:rPr dirty="0"/>
              <a:t>L'</a:t>
            </a:r>
            <a:r>
              <a:rPr lang="fr-CH" dirty="0"/>
              <a:t>é</a:t>
            </a:r>
            <a:r>
              <a:rPr dirty="0" err="1"/>
              <a:t>quipe</a:t>
            </a:r>
            <a:r>
              <a:rPr dirty="0"/>
              <a:t> et son </a:t>
            </a:r>
            <a:r>
              <a:rPr dirty="0" err="1"/>
              <a:t>fonctionnement</a:t>
            </a:r>
            <a:endParaRPr dirty="0"/>
          </a:p>
        </p:txBody>
      </p:sp>
      <p:sp>
        <p:nvSpPr>
          <p:cNvPr id="16" name="Rectangle 15"/>
          <p:cNvSpPr/>
          <p:nvPr/>
        </p:nvSpPr>
        <p:spPr>
          <a:xfrm>
            <a:off x="2514600" y="2834640"/>
            <a:ext cx="8686800"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828800" y="2889504"/>
            <a:ext cx="457200" cy="3840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04</a:t>
            </a:r>
          </a:p>
        </p:txBody>
      </p:sp>
      <p:sp>
        <p:nvSpPr>
          <p:cNvPr id="18" name="TextBox 17"/>
          <p:cNvSpPr txBox="1"/>
          <p:nvPr/>
        </p:nvSpPr>
        <p:spPr>
          <a:xfrm>
            <a:off x="2514600" y="2935224"/>
            <a:ext cx="8686800" cy="365760"/>
          </a:xfrm>
          <a:prstGeom prst="rect">
            <a:avLst/>
          </a:prstGeom>
          <a:noFill/>
        </p:spPr>
        <p:txBody>
          <a:bodyPr wrap="square">
            <a:spAutoFit/>
          </a:bodyPr>
          <a:lstStyle/>
          <a:p>
            <a:pPr algn="l">
              <a:defRPr sz="1600" b="0" i="0">
                <a:solidFill>
                  <a:srgbClr val="333333"/>
                </a:solidFill>
              </a:defRPr>
            </a:pPr>
            <a:r>
              <a:t>Missions du stage</a:t>
            </a:r>
          </a:p>
        </p:txBody>
      </p:sp>
      <p:sp>
        <p:nvSpPr>
          <p:cNvPr id="19" name="Rectangle 18"/>
          <p:cNvSpPr/>
          <p:nvPr/>
        </p:nvSpPr>
        <p:spPr>
          <a:xfrm>
            <a:off x="2514600" y="3310128"/>
            <a:ext cx="8686800"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828800" y="3364992"/>
            <a:ext cx="457200" cy="3840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05</a:t>
            </a:r>
          </a:p>
        </p:txBody>
      </p:sp>
      <p:sp>
        <p:nvSpPr>
          <p:cNvPr id="21" name="TextBox 20"/>
          <p:cNvSpPr txBox="1"/>
          <p:nvPr/>
        </p:nvSpPr>
        <p:spPr>
          <a:xfrm>
            <a:off x="2514600" y="3410712"/>
            <a:ext cx="8686800" cy="365760"/>
          </a:xfrm>
          <a:prstGeom prst="rect">
            <a:avLst/>
          </a:prstGeom>
          <a:noFill/>
        </p:spPr>
        <p:txBody>
          <a:bodyPr wrap="square">
            <a:spAutoFit/>
          </a:bodyPr>
          <a:lstStyle/>
          <a:p>
            <a:pPr algn="l">
              <a:defRPr sz="1600" b="0" i="0">
                <a:solidFill>
                  <a:srgbClr val="333333"/>
                </a:solidFill>
              </a:defRPr>
            </a:pPr>
            <a:r>
              <a:t>CS BAG v2</a:t>
            </a:r>
          </a:p>
        </p:txBody>
      </p:sp>
      <p:sp>
        <p:nvSpPr>
          <p:cNvPr id="22" name="Rectangle 21"/>
          <p:cNvSpPr/>
          <p:nvPr/>
        </p:nvSpPr>
        <p:spPr>
          <a:xfrm>
            <a:off x="2514600" y="3785616"/>
            <a:ext cx="8686800"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1828800" y="3840480"/>
            <a:ext cx="457200" cy="3840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06</a:t>
            </a:r>
          </a:p>
        </p:txBody>
      </p:sp>
      <p:sp>
        <p:nvSpPr>
          <p:cNvPr id="24" name="TextBox 23"/>
          <p:cNvSpPr txBox="1"/>
          <p:nvPr/>
        </p:nvSpPr>
        <p:spPr>
          <a:xfrm>
            <a:off x="2514600" y="3886200"/>
            <a:ext cx="8686800" cy="365760"/>
          </a:xfrm>
          <a:prstGeom prst="rect">
            <a:avLst/>
          </a:prstGeom>
          <a:noFill/>
        </p:spPr>
        <p:txBody>
          <a:bodyPr wrap="square">
            <a:spAutoFit/>
          </a:bodyPr>
          <a:lstStyle/>
          <a:p>
            <a:pPr algn="l">
              <a:defRPr sz="1600" b="0" i="0">
                <a:solidFill>
                  <a:srgbClr val="333333"/>
                </a:solidFill>
              </a:defRPr>
            </a:pPr>
            <a:r>
              <a:t>Mission Elium Sauvegarde</a:t>
            </a:r>
          </a:p>
        </p:txBody>
      </p:sp>
      <p:sp>
        <p:nvSpPr>
          <p:cNvPr id="25" name="Rectangle 24"/>
          <p:cNvSpPr/>
          <p:nvPr/>
        </p:nvSpPr>
        <p:spPr>
          <a:xfrm>
            <a:off x="2514600" y="4261104"/>
            <a:ext cx="8686800"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828800" y="4315968"/>
            <a:ext cx="457200" cy="3840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07</a:t>
            </a:r>
          </a:p>
        </p:txBody>
      </p:sp>
      <p:sp>
        <p:nvSpPr>
          <p:cNvPr id="27" name="TextBox 26"/>
          <p:cNvSpPr txBox="1"/>
          <p:nvPr/>
        </p:nvSpPr>
        <p:spPr>
          <a:xfrm>
            <a:off x="2514600" y="4361688"/>
            <a:ext cx="8686800" cy="338554"/>
          </a:xfrm>
          <a:prstGeom prst="rect">
            <a:avLst/>
          </a:prstGeom>
          <a:noFill/>
        </p:spPr>
        <p:txBody>
          <a:bodyPr wrap="square">
            <a:spAutoFit/>
          </a:bodyPr>
          <a:lstStyle/>
          <a:p>
            <a:pPr algn="l">
              <a:defRPr sz="1600" b="0" i="0">
                <a:solidFill>
                  <a:srgbClr val="333333"/>
                </a:solidFill>
              </a:defRPr>
            </a:pPr>
            <a:r>
              <a:rPr dirty="0"/>
              <a:t>R</a:t>
            </a:r>
            <a:r>
              <a:rPr lang="fr-CH" dirty="0"/>
              <a:t>é</a:t>
            </a:r>
            <a:r>
              <a:rPr dirty="0" err="1"/>
              <a:t>sultats</a:t>
            </a:r>
            <a:r>
              <a:rPr dirty="0"/>
              <a:t> </a:t>
            </a:r>
            <a:r>
              <a:rPr dirty="0" err="1"/>
              <a:t>obtenus</a:t>
            </a:r>
            <a:endParaRPr dirty="0"/>
          </a:p>
        </p:txBody>
      </p:sp>
      <p:sp>
        <p:nvSpPr>
          <p:cNvPr id="28" name="Rectangle 27"/>
          <p:cNvSpPr/>
          <p:nvPr/>
        </p:nvSpPr>
        <p:spPr>
          <a:xfrm>
            <a:off x="2514600" y="4736592"/>
            <a:ext cx="8686800"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1828800" y="4791456"/>
            <a:ext cx="457200" cy="3840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08</a:t>
            </a:r>
          </a:p>
        </p:txBody>
      </p:sp>
      <p:sp>
        <p:nvSpPr>
          <p:cNvPr id="30" name="TextBox 29"/>
          <p:cNvSpPr txBox="1"/>
          <p:nvPr/>
        </p:nvSpPr>
        <p:spPr>
          <a:xfrm>
            <a:off x="2514600" y="4837176"/>
            <a:ext cx="8686800" cy="365760"/>
          </a:xfrm>
          <a:prstGeom prst="rect">
            <a:avLst/>
          </a:prstGeom>
          <a:noFill/>
        </p:spPr>
        <p:txBody>
          <a:bodyPr wrap="square">
            <a:spAutoFit/>
          </a:bodyPr>
          <a:lstStyle/>
          <a:p>
            <a:pPr algn="l">
              <a:defRPr sz="1600" b="0" i="0">
                <a:solidFill>
                  <a:srgbClr val="333333"/>
                </a:solidFill>
              </a:defRPr>
            </a:pPr>
            <a:r>
              <a:t>Recul et compétences acquises</a:t>
            </a:r>
          </a:p>
        </p:txBody>
      </p:sp>
      <p:sp>
        <p:nvSpPr>
          <p:cNvPr id="31" name="Rectangle 30"/>
          <p:cNvSpPr/>
          <p:nvPr/>
        </p:nvSpPr>
        <p:spPr>
          <a:xfrm>
            <a:off x="2514600" y="5212080"/>
            <a:ext cx="8686800"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1828800" y="5266944"/>
            <a:ext cx="457200" cy="3840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09</a:t>
            </a:r>
          </a:p>
        </p:txBody>
      </p:sp>
      <p:sp>
        <p:nvSpPr>
          <p:cNvPr id="33" name="TextBox 32"/>
          <p:cNvSpPr txBox="1"/>
          <p:nvPr/>
        </p:nvSpPr>
        <p:spPr>
          <a:xfrm>
            <a:off x="2514600" y="5312664"/>
            <a:ext cx="8686800" cy="365760"/>
          </a:xfrm>
          <a:prstGeom prst="rect">
            <a:avLst/>
          </a:prstGeom>
          <a:noFill/>
        </p:spPr>
        <p:txBody>
          <a:bodyPr wrap="square">
            <a:spAutoFit/>
          </a:bodyPr>
          <a:lstStyle/>
          <a:p>
            <a:pPr algn="l">
              <a:defRPr sz="1600" b="0" i="0">
                <a:solidFill>
                  <a:srgbClr val="333333"/>
                </a:solidFill>
              </a:defRPr>
            </a:pPr>
            <a:r>
              <a:rPr dirty="0"/>
              <a:t>Conclusion et perspectives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41148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0"/>
            <a:ext cx="3200400" cy="2286000"/>
          </a:xfrm>
          <a:prstGeom prst="rect">
            <a:avLst/>
          </a:prstGeom>
          <a:noFill/>
        </p:spPr>
        <p:txBody>
          <a:bodyPr wrap="square">
            <a:spAutoFit/>
          </a:bodyPr>
          <a:lstStyle/>
          <a:p>
            <a:pPr algn="ctr">
              <a:defRPr sz="18000" b="1" i="0">
                <a:solidFill>
                  <a:srgbClr val="FFFFFF"/>
                </a:solidFill>
              </a:defRPr>
            </a:pPr>
            <a:r>
              <a:t>01</a:t>
            </a:r>
          </a:p>
        </p:txBody>
      </p:sp>
      <p:sp>
        <p:nvSpPr>
          <p:cNvPr id="4" name="Rectangle 3"/>
          <p:cNvSpPr/>
          <p:nvPr/>
        </p:nvSpPr>
        <p:spPr>
          <a:xfrm>
            <a:off x="4572000" y="2286000"/>
            <a:ext cx="36576" cy="2286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937760" y="2400300"/>
            <a:ext cx="6858000" cy="1371600"/>
          </a:xfrm>
          <a:prstGeom prst="rect">
            <a:avLst/>
          </a:prstGeom>
          <a:noFill/>
        </p:spPr>
        <p:txBody>
          <a:bodyPr wrap="square">
            <a:spAutoFit/>
          </a:bodyPr>
          <a:lstStyle/>
          <a:p>
            <a:pPr algn="l">
              <a:defRPr sz="4400" b="1" i="0">
                <a:solidFill>
                  <a:srgbClr val="003366"/>
                </a:solidFill>
              </a:defRPr>
            </a:pPr>
            <a:r>
              <a:t>Introduction</a:t>
            </a:r>
          </a:p>
        </p:txBody>
      </p:sp>
      <p:sp>
        <p:nvSpPr>
          <p:cNvPr id="6" name="TextBox 5"/>
          <p:cNvSpPr txBox="1"/>
          <p:nvPr/>
        </p:nvSpPr>
        <p:spPr>
          <a:xfrm>
            <a:off x="4937760" y="3566160"/>
            <a:ext cx="6858000" cy="369332"/>
          </a:xfrm>
          <a:prstGeom prst="rect">
            <a:avLst/>
          </a:prstGeom>
          <a:noFill/>
        </p:spPr>
        <p:txBody>
          <a:bodyPr wrap="square">
            <a:spAutoFit/>
          </a:bodyPr>
          <a:lstStyle/>
          <a:p>
            <a:pPr algn="l">
              <a:defRPr sz="1800" b="0" i="1">
                <a:solidFill>
                  <a:srgbClr val="666666"/>
                </a:solidFill>
              </a:defRPr>
            </a:pPr>
            <a:r>
              <a:rPr dirty="0" err="1"/>
              <a:t>Contexte</a:t>
            </a:r>
            <a:r>
              <a:rPr dirty="0"/>
              <a:t> et cadre g</a:t>
            </a:r>
            <a:r>
              <a:rPr lang="fr-CH" dirty="0"/>
              <a:t>é</a:t>
            </a:r>
            <a:r>
              <a:rPr dirty="0"/>
              <a:t>n</a:t>
            </a:r>
            <a:r>
              <a:rPr lang="fr-CH" dirty="0"/>
              <a:t>é</a:t>
            </a:r>
            <a:r>
              <a:rPr dirty="0" err="1"/>
              <a:t>ral</a:t>
            </a:r>
            <a:r>
              <a:rPr dirty="0"/>
              <a:t> du stage</a:t>
            </a:r>
          </a:p>
        </p:txBody>
      </p:sp>
      <p:sp>
        <p:nvSpPr>
          <p:cNvPr id="7" name="Freeform 10">
            <a:extLst>
              <a:ext uri="{FF2B5EF4-FFF2-40B4-BE49-F238E27FC236}">
                <a16:creationId xmlns:a16="http://schemas.microsoft.com/office/drawing/2014/main" id="{8DA345CD-702E-48A9-9158-1B85D002C80F}"/>
              </a:ext>
            </a:extLst>
          </p:cNvPr>
          <p:cNvSpPr/>
          <p:nvPr/>
        </p:nvSpPr>
        <p:spPr>
          <a:xfrm>
            <a:off x="9481132" y="108126"/>
            <a:ext cx="1107757" cy="415759"/>
          </a:xfrm>
          <a:custGeom>
            <a:avLst/>
            <a:gdLst/>
            <a:ahLst/>
            <a:cxnLst/>
            <a:rect l="l" t="t" r="r" b="b"/>
            <a:pathLst>
              <a:path w="4200742" h="1405571">
                <a:moveTo>
                  <a:pt x="0" y="0"/>
                </a:moveTo>
                <a:lnTo>
                  <a:pt x="4200742" y="0"/>
                </a:lnTo>
                <a:lnTo>
                  <a:pt x="4200742" y="1405571"/>
                </a:lnTo>
                <a:lnTo>
                  <a:pt x="0" y="1405571"/>
                </a:lnTo>
                <a:lnTo>
                  <a:pt x="0" y="0"/>
                </a:lnTo>
                <a:close/>
              </a:path>
            </a:pathLst>
          </a:custGeom>
          <a:blipFill>
            <a:blip r:embed="rId2"/>
            <a:stretch>
              <a:fillRect/>
            </a:stretch>
          </a:blipFill>
        </p:spPr>
        <p:txBody>
          <a:bodyPr/>
          <a:lstStyle/>
          <a:p>
            <a:endParaRPr/>
          </a:p>
        </p:txBody>
      </p:sp>
      <p:pic>
        <p:nvPicPr>
          <p:cNvPr id="8" name="Image 7">
            <a:extLst>
              <a:ext uri="{FF2B5EF4-FFF2-40B4-BE49-F238E27FC236}">
                <a16:creationId xmlns:a16="http://schemas.microsoft.com/office/drawing/2014/main" id="{E8D768F5-F84B-4424-90F5-BBF3DE1D3163}"/>
              </a:ext>
            </a:extLst>
          </p:cNvPr>
          <p:cNvPicPr>
            <a:picLocks noChangeAspect="1"/>
          </p:cNvPicPr>
          <p:nvPr/>
        </p:nvPicPr>
        <p:blipFill rotWithShape="1">
          <a:blip r:embed="rId3"/>
          <a:srcRect t="36165" b="33014"/>
          <a:stretch/>
        </p:blipFill>
        <p:spPr>
          <a:xfrm>
            <a:off x="10688355" y="89071"/>
            <a:ext cx="1348918" cy="4157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INTRODUCTION</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Contexte et enjeu</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4 / 32</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371600"/>
            <a:ext cx="10698480" cy="457200"/>
          </a:xfrm>
          <a:prstGeom prst="rect">
            <a:avLst/>
          </a:prstGeom>
          <a:noFill/>
        </p:spPr>
        <p:txBody>
          <a:bodyPr wrap="square">
            <a:spAutoFit/>
          </a:bodyPr>
          <a:lstStyle/>
          <a:p>
            <a:pPr algn="l">
              <a:defRPr sz="1800" b="1" i="0">
                <a:solidFill>
                  <a:srgbClr val="003366"/>
                </a:solidFill>
              </a:defRPr>
            </a:pPr>
            <a:r>
              <a:t>Un enjeu concret pour les SI d'entreprise</a:t>
            </a:r>
          </a:p>
        </p:txBody>
      </p:sp>
      <p:sp>
        <p:nvSpPr>
          <p:cNvPr id="10" name="TextBox 9"/>
          <p:cNvSpPr txBox="1"/>
          <p:nvPr/>
        </p:nvSpPr>
        <p:spPr>
          <a:xfrm>
            <a:off x="731520" y="1828800"/>
            <a:ext cx="10698480" cy="1188720"/>
          </a:xfrm>
          <a:prstGeom prst="rect">
            <a:avLst/>
          </a:prstGeom>
          <a:noFill/>
        </p:spPr>
        <p:txBody>
          <a:bodyPr wrap="square">
            <a:spAutoFit/>
          </a:bodyPr>
          <a:lstStyle/>
          <a:p>
            <a:pPr algn="l">
              <a:defRPr sz="1300" b="0" i="0">
                <a:solidFill>
                  <a:srgbClr val="333333"/>
                </a:solidFill>
              </a:defRPr>
            </a:pPr>
            <a:r>
              <a:rPr dirty="0"/>
              <a:t>Les </a:t>
            </a:r>
            <a:r>
              <a:rPr dirty="0" err="1"/>
              <a:t>systèmes</a:t>
            </a:r>
            <a:r>
              <a:rPr dirty="0"/>
              <a:t> </a:t>
            </a:r>
            <a:r>
              <a:rPr dirty="0" err="1"/>
              <a:t>d'information</a:t>
            </a:r>
            <a:r>
              <a:rPr dirty="0"/>
              <a:t> </a:t>
            </a:r>
            <a:r>
              <a:rPr dirty="0" err="1"/>
              <a:t>reposent</a:t>
            </a:r>
            <a:r>
              <a:rPr dirty="0"/>
              <a:t> sur un parc </a:t>
            </a:r>
            <a:r>
              <a:rPr dirty="0" err="1"/>
              <a:t>applicatif</a:t>
            </a:r>
            <a:r>
              <a:rPr dirty="0"/>
              <a:t> </a:t>
            </a:r>
            <a:r>
              <a:rPr dirty="0" err="1"/>
              <a:t>dont</a:t>
            </a:r>
            <a:r>
              <a:rPr dirty="0"/>
              <a:t> la </a:t>
            </a:r>
            <a:r>
              <a:rPr dirty="0" err="1"/>
              <a:t>complexite</a:t>
            </a:r>
            <a:endParaRPr dirty="0"/>
          </a:p>
          <a:p>
            <a:pPr algn="l">
              <a:defRPr sz="1300" b="0" i="0">
                <a:solidFill>
                  <a:srgbClr val="333333"/>
                </a:solidFill>
              </a:defRPr>
            </a:pPr>
            <a:r>
              <a:rPr dirty="0" err="1"/>
              <a:t>croit</a:t>
            </a:r>
            <a:r>
              <a:rPr dirty="0"/>
              <a:t> avec le temps : </a:t>
            </a:r>
            <a:r>
              <a:rPr dirty="0" err="1"/>
              <a:t>certificats</a:t>
            </a:r>
            <a:r>
              <a:rPr dirty="0"/>
              <a:t>, </a:t>
            </a:r>
            <a:r>
              <a:rPr dirty="0" err="1"/>
              <a:t>comptes</a:t>
            </a:r>
            <a:r>
              <a:rPr dirty="0"/>
              <a:t> de service, </a:t>
            </a:r>
            <a:r>
              <a:rPr dirty="0" err="1"/>
              <a:t>ressources</a:t>
            </a:r>
            <a:r>
              <a:rPr dirty="0"/>
              <a:t> cloud, bases</a:t>
            </a:r>
          </a:p>
          <a:p>
            <a:pPr algn="l">
              <a:defRPr sz="1300" b="0" i="0">
                <a:solidFill>
                  <a:srgbClr val="333333"/>
                </a:solidFill>
              </a:defRPr>
            </a:pPr>
            <a:r>
              <a:rPr dirty="0"/>
              <a:t>de </a:t>
            </a:r>
            <a:r>
              <a:rPr dirty="0" err="1"/>
              <a:t>donnees</a:t>
            </a:r>
            <a:r>
              <a:rPr dirty="0"/>
              <a:t>... Un </a:t>
            </a:r>
            <a:r>
              <a:rPr dirty="0" err="1"/>
              <a:t>certificat</a:t>
            </a:r>
            <a:r>
              <a:rPr dirty="0"/>
              <a:t> qui expire sans </a:t>
            </a:r>
            <a:r>
              <a:rPr dirty="0" err="1"/>
              <a:t>alerte</a:t>
            </a:r>
            <a:r>
              <a:rPr dirty="0"/>
              <a:t> = un service de production</a:t>
            </a:r>
          </a:p>
          <a:p>
            <a:pPr algn="l">
              <a:defRPr sz="1300" b="0" i="0">
                <a:solidFill>
                  <a:srgbClr val="333333"/>
                </a:solidFill>
              </a:defRPr>
            </a:pPr>
            <a:r>
              <a:rPr dirty="0"/>
              <a:t>qui </a:t>
            </a:r>
            <a:r>
              <a:rPr dirty="0" err="1"/>
              <a:t>s'interrompt</a:t>
            </a:r>
            <a:r>
              <a:rPr dirty="0"/>
              <a:t>. </a:t>
            </a:r>
            <a:r>
              <a:rPr dirty="0" err="1"/>
              <a:t>L'inventaire</a:t>
            </a:r>
            <a:r>
              <a:rPr dirty="0"/>
              <a:t> du </a:t>
            </a:r>
            <a:r>
              <a:rPr dirty="0" err="1"/>
              <a:t>patrimoine</a:t>
            </a:r>
            <a:r>
              <a:rPr dirty="0"/>
              <a:t> </a:t>
            </a:r>
            <a:r>
              <a:rPr dirty="0" err="1"/>
              <a:t>applicatif</a:t>
            </a:r>
            <a:r>
              <a:rPr dirty="0"/>
              <a:t> </a:t>
            </a:r>
            <a:r>
              <a:rPr dirty="0" err="1"/>
              <a:t>est</a:t>
            </a:r>
            <a:r>
              <a:rPr dirty="0"/>
              <a:t> </a:t>
            </a:r>
            <a:r>
              <a:rPr dirty="0" err="1"/>
              <a:t>une</a:t>
            </a:r>
            <a:r>
              <a:rPr dirty="0"/>
              <a:t> condition de</a:t>
            </a:r>
          </a:p>
          <a:p>
            <a:pPr algn="l">
              <a:defRPr sz="1300" b="0" i="0">
                <a:solidFill>
                  <a:srgbClr val="333333"/>
                </a:solidFill>
              </a:defRPr>
            </a:pPr>
            <a:r>
              <a:rPr dirty="0" err="1"/>
              <a:t>continuite</a:t>
            </a:r>
            <a:r>
              <a:rPr dirty="0"/>
              <a:t> de service.</a:t>
            </a:r>
          </a:p>
        </p:txBody>
      </p:sp>
      <p:sp>
        <p:nvSpPr>
          <p:cNvPr id="11" name="TextBox 10"/>
          <p:cNvSpPr txBox="1"/>
          <p:nvPr/>
        </p:nvSpPr>
        <p:spPr>
          <a:xfrm>
            <a:off x="731520" y="3383280"/>
            <a:ext cx="10698480" cy="338554"/>
          </a:xfrm>
          <a:prstGeom prst="rect">
            <a:avLst/>
          </a:prstGeom>
          <a:noFill/>
        </p:spPr>
        <p:txBody>
          <a:bodyPr wrap="square">
            <a:spAutoFit/>
          </a:bodyPr>
          <a:lstStyle/>
          <a:p>
            <a:pPr algn="l">
              <a:defRPr sz="1600" b="1" i="0">
                <a:solidFill>
                  <a:srgbClr val="003366"/>
                </a:solidFill>
              </a:defRPr>
            </a:pPr>
            <a:r>
              <a:rPr dirty="0"/>
              <a:t>Deux missions au sein de </a:t>
            </a:r>
            <a:r>
              <a:rPr lang="fr-MA" dirty="0"/>
              <a:t>équipe</a:t>
            </a:r>
            <a:r>
              <a:rPr dirty="0"/>
              <a:t> Group Collaborative Solutions (VESI)</a:t>
            </a:r>
          </a:p>
        </p:txBody>
      </p:sp>
      <p:sp>
        <p:nvSpPr>
          <p:cNvPr id="12" name="Rounded Rectangle 11"/>
          <p:cNvSpPr/>
          <p:nvPr/>
        </p:nvSpPr>
        <p:spPr>
          <a:xfrm>
            <a:off x="731520" y="3931920"/>
            <a:ext cx="5394960" cy="228600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31520" y="3931920"/>
            <a:ext cx="5394960" cy="5029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Mission principale</a:t>
            </a:r>
          </a:p>
        </p:txBody>
      </p:sp>
      <p:sp>
        <p:nvSpPr>
          <p:cNvPr id="14" name="TextBox 13"/>
          <p:cNvSpPr txBox="1"/>
          <p:nvPr/>
        </p:nvSpPr>
        <p:spPr>
          <a:xfrm>
            <a:off x="914400" y="4572000"/>
            <a:ext cx="5029200" cy="411480"/>
          </a:xfrm>
          <a:prstGeom prst="rect">
            <a:avLst/>
          </a:prstGeom>
          <a:noFill/>
        </p:spPr>
        <p:txBody>
          <a:bodyPr wrap="square">
            <a:spAutoFit/>
          </a:bodyPr>
          <a:lstStyle/>
          <a:p>
            <a:pPr algn="l">
              <a:defRPr sz="1500" b="1" i="0">
                <a:solidFill>
                  <a:srgbClr val="003366"/>
                </a:solidFill>
              </a:defRPr>
            </a:pPr>
            <a:r>
              <a:t>Refonte de CS BAG (version 2)</a:t>
            </a:r>
          </a:p>
        </p:txBody>
      </p:sp>
      <p:sp>
        <p:nvSpPr>
          <p:cNvPr id="15" name="TextBox 14"/>
          <p:cNvSpPr txBox="1"/>
          <p:nvPr/>
        </p:nvSpPr>
        <p:spPr>
          <a:xfrm>
            <a:off x="914400" y="5029200"/>
            <a:ext cx="4981576" cy="430887"/>
          </a:xfrm>
          <a:prstGeom prst="rect">
            <a:avLst/>
          </a:prstGeom>
          <a:noFill/>
        </p:spPr>
        <p:txBody>
          <a:bodyPr wrap="square">
            <a:spAutoFit/>
          </a:bodyPr>
          <a:lstStyle/>
          <a:p>
            <a:pPr algn="just">
              <a:defRPr sz="1100" b="0" i="0">
                <a:solidFill>
                  <a:srgbClr val="333333"/>
                </a:solidFill>
              </a:defRPr>
            </a:pPr>
            <a:r>
              <a:rPr dirty="0" err="1"/>
              <a:t>Outil</a:t>
            </a:r>
            <a:r>
              <a:rPr dirty="0"/>
              <a:t> interne </a:t>
            </a:r>
            <a:r>
              <a:rPr dirty="0" err="1"/>
              <a:t>d'inventaire</a:t>
            </a:r>
            <a:r>
              <a:rPr dirty="0"/>
              <a:t> du </a:t>
            </a:r>
            <a:r>
              <a:rPr dirty="0" err="1"/>
              <a:t>patrimoine</a:t>
            </a:r>
            <a:r>
              <a:rPr lang="fr-CH" dirty="0"/>
              <a:t> </a:t>
            </a:r>
            <a:r>
              <a:rPr dirty="0" err="1"/>
              <a:t>applicatif</a:t>
            </a:r>
            <a:r>
              <a:rPr dirty="0"/>
              <a:t> du service Collaborative Solutions,</a:t>
            </a:r>
          </a:p>
          <a:p>
            <a:pPr algn="just">
              <a:defRPr sz="1100" b="0" i="0">
                <a:solidFill>
                  <a:srgbClr val="333333"/>
                </a:solidFill>
              </a:defRPr>
            </a:pPr>
            <a:r>
              <a:rPr dirty="0" err="1"/>
              <a:t>decoupee</a:t>
            </a:r>
            <a:r>
              <a:rPr dirty="0"/>
              <a:t> </a:t>
            </a:r>
            <a:r>
              <a:rPr dirty="0" err="1"/>
              <a:t>en</a:t>
            </a:r>
            <a:r>
              <a:rPr dirty="0"/>
              <a:t> 3 lots de specifications.</a:t>
            </a:r>
          </a:p>
        </p:txBody>
      </p:sp>
      <p:sp>
        <p:nvSpPr>
          <p:cNvPr id="16" name="Rounded Rectangle 15"/>
          <p:cNvSpPr/>
          <p:nvPr/>
        </p:nvSpPr>
        <p:spPr>
          <a:xfrm>
            <a:off x="6309360" y="3931920"/>
            <a:ext cx="5394960" cy="2286000"/>
          </a:xfrm>
          <a:prstGeom prst="roundRect">
            <a:avLst/>
          </a:prstGeom>
          <a:solidFill>
            <a:srgbClr val="FFFFFF"/>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309360" y="3931920"/>
            <a:ext cx="5394960" cy="502920"/>
          </a:xfrm>
          <a:prstGeom prst="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Mission complémentaire</a:t>
            </a:r>
          </a:p>
        </p:txBody>
      </p:sp>
      <p:sp>
        <p:nvSpPr>
          <p:cNvPr id="18" name="TextBox 17"/>
          <p:cNvSpPr txBox="1"/>
          <p:nvPr/>
        </p:nvSpPr>
        <p:spPr>
          <a:xfrm>
            <a:off x="6492240" y="4572000"/>
            <a:ext cx="5029200" cy="411480"/>
          </a:xfrm>
          <a:prstGeom prst="rect">
            <a:avLst/>
          </a:prstGeom>
          <a:noFill/>
        </p:spPr>
        <p:txBody>
          <a:bodyPr wrap="square">
            <a:spAutoFit/>
          </a:bodyPr>
          <a:lstStyle/>
          <a:p>
            <a:pPr algn="l">
              <a:defRPr sz="1500" b="1" i="0">
                <a:solidFill>
                  <a:srgbClr val="2E8B3D"/>
                </a:solidFill>
              </a:defRPr>
            </a:pPr>
            <a:r>
              <a:t>Fiabilisation d'Elium Sauvegarde</a:t>
            </a:r>
          </a:p>
        </p:txBody>
      </p:sp>
      <p:sp>
        <p:nvSpPr>
          <p:cNvPr id="19" name="TextBox 18"/>
          <p:cNvSpPr txBox="1"/>
          <p:nvPr/>
        </p:nvSpPr>
        <p:spPr>
          <a:xfrm>
            <a:off x="6492240" y="5029200"/>
            <a:ext cx="5029200" cy="1188720"/>
          </a:xfrm>
          <a:prstGeom prst="rect">
            <a:avLst/>
          </a:prstGeom>
          <a:noFill/>
        </p:spPr>
        <p:txBody>
          <a:bodyPr wrap="square">
            <a:spAutoFit/>
          </a:bodyPr>
          <a:lstStyle/>
          <a:p>
            <a:pPr algn="l">
              <a:defRPr sz="1100" b="0" i="0">
                <a:solidFill>
                  <a:srgbClr val="333333"/>
                </a:solidFill>
              </a:defRPr>
            </a:pPr>
            <a:r>
              <a:t>Application console .NET qui archive</a:t>
            </a:r>
          </a:p>
          <a:p>
            <a:pPr algn="l">
              <a:defRPr sz="1100" b="0" i="0">
                <a:solidFill>
                  <a:srgbClr val="333333"/>
                </a:solidFill>
              </a:defRPr>
            </a:pPr>
            <a:r>
              <a:t>les articles Elium vers SharePoint Online.</a:t>
            </a:r>
          </a:p>
          <a:p>
            <a:pPr algn="l">
              <a:defRPr sz="1100" b="0" i="0">
                <a:solidFill>
                  <a:srgbClr val="333333"/>
                </a:solidFill>
              </a:defRPr>
            </a:pPr>
            <a:r>
              <a:t>Intervention pour fiabiliser un traitement</a:t>
            </a:r>
          </a:p>
          <a:p>
            <a:pPr algn="l">
              <a:defRPr sz="1100" b="0" i="0">
                <a:solidFill>
                  <a:srgbClr val="333333"/>
                </a:solidFill>
              </a:defRPr>
            </a:pPr>
            <a:r>
              <a:t>qui échouait en production.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41148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0"/>
            <a:ext cx="3200400" cy="2286000"/>
          </a:xfrm>
          <a:prstGeom prst="rect">
            <a:avLst/>
          </a:prstGeom>
          <a:noFill/>
        </p:spPr>
        <p:txBody>
          <a:bodyPr wrap="square">
            <a:spAutoFit/>
          </a:bodyPr>
          <a:lstStyle/>
          <a:p>
            <a:pPr algn="ctr">
              <a:defRPr sz="18000" b="1" i="0">
                <a:solidFill>
                  <a:srgbClr val="FFFFFF"/>
                </a:solidFill>
              </a:defRPr>
            </a:pPr>
            <a:r>
              <a:t>02</a:t>
            </a:r>
          </a:p>
        </p:txBody>
      </p:sp>
      <p:sp>
        <p:nvSpPr>
          <p:cNvPr id="4" name="Rectangle 3"/>
          <p:cNvSpPr/>
          <p:nvPr/>
        </p:nvSpPr>
        <p:spPr>
          <a:xfrm>
            <a:off x="4572000" y="2286000"/>
            <a:ext cx="36576" cy="2286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937760" y="2286000"/>
            <a:ext cx="6858000" cy="1371600"/>
          </a:xfrm>
          <a:prstGeom prst="rect">
            <a:avLst/>
          </a:prstGeom>
          <a:noFill/>
        </p:spPr>
        <p:txBody>
          <a:bodyPr wrap="square">
            <a:spAutoFit/>
          </a:bodyPr>
          <a:lstStyle/>
          <a:p>
            <a:pPr algn="l">
              <a:defRPr sz="4400" b="1" i="0">
                <a:solidFill>
                  <a:srgbClr val="003366"/>
                </a:solidFill>
              </a:defRPr>
            </a:pPr>
            <a:r>
              <a:t>Organisme d'accueil</a:t>
            </a:r>
          </a:p>
        </p:txBody>
      </p:sp>
      <p:sp>
        <p:nvSpPr>
          <p:cNvPr id="6" name="TextBox 5"/>
          <p:cNvSpPr txBox="1"/>
          <p:nvPr/>
        </p:nvSpPr>
        <p:spPr>
          <a:xfrm>
            <a:off x="4937760" y="3566160"/>
            <a:ext cx="6858000" cy="369332"/>
          </a:xfrm>
          <a:prstGeom prst="rect">
            <a:avLst/>
          </a:prstGeom>
          <a:noFill/>
        </p:spPr>
        <p:txBody>
          <a:bodyPr wrap="square">
            <a:spAutoFit/>
          </a:bodyPr>
          <a:lstStyle/>
          <a:p>
            <a:pPr algn="l">
              <a:defRPr sz="1800" b="0" i="1">
                <a:solidFill>
                  <a:srgbClr val="666666"/>
                </a:solidFill>
              </a:defRPr>
            </a:pPr>
            <a:r>
              <a:rPr dirty="0"/>
              <a:t>Du </a:t>
            </a:r>
            <a:r>
              <a:rPr dirty="0" err="1"/>
              <a:t>groupe</a:t>
            </a:r>
            <a:r>
              <a:rPr dirty="0"/>
              <a:t> VINCI a </a:t>
            </a:r>
            <a:r>
              <a:rPr lang="fr-MA" dirty="0"/>
              <a:t>équipe</a:t>
            </a:r>
            <a:r>
              <a:rPr dirty="0"/>
              <a:t> qui </a:t>
            </a:r>
            <a:r>
              <a:rPr dirty="0" err="1"/>
              <a:t>m'a</a:t>
            </a:r>
            <a:r>
              <a:rPr dirty="0"/>
              <a:t> </a:t>
            </a:r>
            <a:r>
              <a:rPr dirty="0" err="1"/>
              <a:t>accueilli</a:t>
            </a:r>
            <a:endParaRPr dirty="0"/>
          </a:p>
        </p:txBody>
      </p:sp>
      <p:sp>
        <p:nvSpPr>
          <p:cNvPr id="7" name="Freeform 10">
            <a:extLst>
              <a:ext uri="{FF2B5EF4-FFF2-40B4-BE49-F238E27FC236}">
                <a16:creationId xmlns:a16="http://schemas.microsoft.com/office/drawing/2014/main" id="{1FF4FD85-55F7-4641-85CA-EBA1E6D9022D}"/>
              </a:ext>
            </a:extLst>
          </p:cNvPr>
          <p:cNvSpPr/>
          <p:nvPr/>
        </p:nvSpPr>
        <p:spPr>
          <a:xfrm>
            <a:off x="9481132" y="108126"/>
            <a:ext cx="1107757" cy="415759"/>
          </a:xfrm>
          <a:custGeom>
            <a:avLst/>
            <a:gdLst/>
            <a:ahLst/>
            <a:cxnLst/>
            <a:rect l="l" t="t" r="r" b="b"/>
            <a:pathLst>
              <a:path w="4200742" h="1405571">
                <a:moveTo>
                  <a:pt x="0" y="0"/>
                </a:moveTo>
                <a:lnTo>
                  <a:pt x="4200742" y="0"/>
                </a:lnTo>
                <a:lnTo>
                  <a:pt x="4200742" y="1405571"/>
                </a:lnTo>
                <a:lnTo>
                  <a:pt x="0" y="1405571"/>
                </a:lnTo>
                <a:lnTo>
                  <a:pt x="0" y="0"/>
                </a:lnTo>
                <a:close/>
              </a:path>
            </a:pathLst>
          </a:custGeom>
          <a:blipFill>
            <a:blip r:embed="rId2"/>
            <a:stretch>
              <a:fillRect/>
            </a:stretch>
          </a:blipFill>
        </p:spPr>
        <p:txBody>
          <a:bodyPr/>
          <a:lstStyle/>
          <a:p>
            <a:endParaRPr/>
          </a:p>
        </p:txBody>
      </p:sp>
      <p:pic>
        <p:nvPicPr>
          <p:cNvPr id="8" name="Image 7">
            <a:extLst>
              <a:ext uri="{FF2B5EF4-FFF2-40B4-BE49-F238E27FC236}">
                <a16:creationId xmlns:a16="http://schemas.microsoft.com/office/drawing/2014/main" id="{66A3BBB7-0EAF-4B85-B086-7A43C3E49FE7}"/>
              </a:ext>
            </a:extLst>
          </p:cNvPr>
          <p:cNvPicPr>
            <a:picLocks noChangeAspect="1"/>
          </p:cNvPicPr>
          <p:nvPr/>
        </p:nvPicPr>
        <p:blipFill rotWithShape="1">
          <a:blip r:embed="rId3"/>
          <a:srcRect t="36165" b="33014"/>
          <a:stretch/>
        </p:blipFill>
        <p:spPr>
          <a:xfrm>
            <a:off x="10688355" y="89071"/>
            <a:ext cx="1348918" cy="4157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ORGANISME D'ACCUEIL</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Le groupe VINCI</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6 / 32</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65760"/>
          </a:xfrm>
          <a:prstGeom prst="rect">
            <a:avLst/>
          </a:prstGeom>
          <a:noFill/>
        </p:spPr>
        <p:txBody>
          <a:bodyPr wrap="square">
            <a:spAutoFit/>
          </a:bodyPr>
          <a:lstStyle/>
          <a:p>
            <a:pPr algn="ctr">
              <a:defRPr sz="1400" b="0" i="1">
                <a:solidFill>
                  <a:srgbClr val="666666"/>
                </a:solidFill>
              </a:defRPr>
            </a:pPr>
            <a:r>
              <a:t>Acteur mondial des concessions, de l'énergie et de la construction</a:t>
            </a:r>
          </a:p>
        </p:txBody>
      </p:sp>
      <p:sp>
        <p:nvSpPr>
          <p:cNvPr id="10" name="Rounded Rectangle 9"/>
          <p:cNvSpPr/>
          <p:nvPr/>
        </p:nvSpPr>
        <p:spPr>
          <a:xfrm>
            <a:off x="4937760" y="1783080"/>
            <a:ext cx="2286000" cy="64008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700" b="1">
                <a:solidFill>
                  <a:srgbClr val="FFFFFF"/>
                </a:solidFill>
              </a:defRPr>
            </a:pPr>
            <a:r>
              <a:t>GROUPE VINCI</a:t>
            </a:r>
          </a:p>
        </p:txBody>
      </p:sp>
      <p:sp>
        <p:nvSpPr>
          <p:cNvPr id="11" name="Rectangle 10"/>
          <p:cNvSpPr/>
          <p:nvPr/>
        </p:nvSpPr>
        <p:spPr>
          <a:xfrm>
            <a:off x="6035040" y="2423160"/>
            <a:ext cx="27432" cy="32004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346293" y="2720912"/>
            <a:ext cx="7390067" cy="82295"/>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383727" y="2743200"/>
            <a:ext cx="27432" cy="27432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914400" y="3004756"/>
            <a:ext cx="3200400" cy="77724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400" b="1">
                <a:solidFill>
                  <a:srgbClr val="FFFFFF"/>
                </a:solidFill>
              </a:defRPr>
            </a:pPr>
            <a:r>
              <a:t>VINCI</a:t>
            </a:r>
          </a:p>
          <a:p>
            <a:pPr algn="ctr">
              <a:defRPr sz="1400" b="1">
                <a:solidFill>
                  <a:srgbClr val="FFFFFF"/>
                </a:solidFill>
              </a:defRPr>
            </a:pPr>
            <a:r>
              <a:t>Concessions</a:t>
            </a:r>
          </a:p>
        </p:txBody>
      </p:sp>
      <p:sp>
        <p:nvSpPr>
          <p:cNvPr id="15" name="Rectangle 14"/>
          <p:cNvSpPr/>
          <p:nvPr/>
        </p:nvSpPr>
        <p:spPr>
          <a:xfrm>
            <a:off x="1143000" y="3919156"/>
            <a:ext cx="2743200" cy="384048"/>
          </a:xfrm>
          <a:prstGeom prst="rect">
            <a:avLst/>
          </a:prstGeom>
          <a:solidFill>
            <a:srgbClr val="E8F0F8"/>
          </a:solidFill>
          <a:ln w="6350">
            <a:solidFill>
              <a:srgbClr val="004D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0">
                <a:solidFill>
                  <a:srgbClr val="333333"/>
                </a:solidFill>
              </a:defRPr>
            </a:pPr>
            <a:r>
              <a:t>VINCI Autoroutes</a:t>
            </a:r>
          </a:p>
        </p:txBody>
      </p:sp>
      <p:sp>
        <p:nvSpPr>
          <p:cNvPr id="16" name="Rectangle 15"/>
          <p:cNvSpPr/>
          <p:nvPr/>
        </p:nvSpPr>
        <p:spPr>
          <a:xfrm>
            <a:off x="1143000" y="4422076"/>
            <a:ext cx="2743200" cy="384048"/>
          </a:xfrm>
          <a:prstGeom prst="rect">
            <a:avLst/>
          </a:prstGeom>
          <a:solidFill>
            <a:srgbClr val="E8F0F8"/>
          </a:solidFill>
          <a:ln w="6350">
            <a:solidFill>
              <a:srgbClr val="004D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0">
                <a:solidFill>
                  <a:srgbClr val="333333"/>
                </a:solidFill>
              </a:defRPr>
            </a:pPr>
            <a:r>
              <a:t>VINCI Airports</a:t>
            </a:r>
          </a:p>
        </p:txBody>
      </p:sp>
      <p:sp>
        <p:nvSpPr>
          <p:cNvPr id="17" name="Rectangle 16"/>
          <p:cNvSpPr/>
          <p:nvPr/>
        </p:nvSpPr>
        <p:spPr>
          <a:xfrm>
            <a:off x="6041327" y="2743200"/>
            <a:ext cx="27432" cy="27432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572000" y="3004756"/>
            <a:ext cx="3200400" cy="77724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400" b="1">
                <a:solidFill>
                  <a:srgbClr val="FFFFFF"/>
                </a:solidFill>
              </a:defRPr>
            </a:pPr>
            <a:r>
              <a:rPr lang="fr-MA" dirty="0"/>
              <a:t>Services à l'énergie </a:t>
            </a:r>
          </a:p>
        </p:txBody>
      </p:sp>
      <p:sp>
        <p:nvSpPr>
          <p:cNvPr id="19" name="Rectangle 18"/>
          <p:cNvSpPr/>
          <p:nvPr/>
        </p:nvSpPr>
        <p:spPr>
          <a:xfrm>
            <a:off x="4800600" y="3919156"/>
            <a:ext cx="2743200" cy="384048"/>
          </a:xfrm>
          <a:prstGeom prst="rect">
            <a:avLst/>
          </a:prstGeom>
          <a:solidFill>
            <a:srgbClr val="E8F5E9"/>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E8B3D"/>
                </a:solidFill>
              </a:defRPr>
            </a:pPr>
            <a:r>
              <a:t>VINCI Energies</a:t>
            </a:r>
          </a:p>
        </p:txBody>
      </p:sp>
      <p:sp>
        <p:nvSpPr>
          <p:cNvPr id="21" name="Rectangle 20"/>
          <p:cNvSpPr/>
          <p:nvPr/>
        </p:nvSpPr>
        <p:spPr>
          <a:xfrm>
            <a:off x="4800600" y="4505705"/>
            <a:ext cx="2743200" cy="384048"/>
          </a:xfrm>
          <a:prstGeom prst="rect">
            <a:avLst/>
          </a:prstGeom>
          <a:solidFill>
            <a:srgbClr val="E8F0F8"/>
          </a:solidFill>
          <a:ln w="6350">
            <a:solidFill>
              <a:srgbClr val="004D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0">
                <a:solidFill>
                  <a:srgbClr val="333333"/>
                </a:solidFill>
              </a:defRPr>
            </a:pPr>
            <a:r>
              <a:t>Cobra IS</a:t>
            </a:r>
          </a:p>
        </p:txBody>
      </p:sp>
      <p:sp>
        <p:nvSpPr>
          <p:cNvPr id="22" name="Rectangle 21"/>
          <p:cNvSpPr/>
          <p:nvPr/>
        </p:nvSpPr>
        <p:spPr>
          <a:xfrm>
            <a:off x="9698927" y="2743200"/>
            <a:ext cx="27432" cy="27432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8229600" y="3004756"/>
            <a:ext cx="3200400" cy="77724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400" b="1">
                <a:solidFill>
                  <a:srgbClr val="FFFFFF"/>
                </a:solidFill>
              </a:defRPr>
            </a:pPr>
            <a:r>
              <a:rPr dirty="0"/>
              <a:t>VINCI</a:t>
            </a:r>
          </a:p>
          <a:p>
            <a:pPr algn="ctr">
              <a:defRPr sz="1400" b="1">
                <a:solidFill>
                  <a:srgbClr val="FFFFFF"/>
                </a:solidFill>
              </a:defRPr>
            </a:pPr>
            <a:r>
              <a:rPr lang="fr-MA" dirty="0"/>
              <a:t>Construction</a:t>
            </a:r>
            <a:endParaRPr dirty="0"/>
          </a:p>
        </p:txBody>
      </p:sp>
      <p:sp>
        <p:nvSpPr>
          <p:cNvPr id="24" name="Rectangle 23"/>
          <p:cNvSpPr/>
          <p:nvPr/>
        </p:nvSpPr>
        <p:spPr>
          <a:xfrm>
            <a:off x="8458200" y="3919156"/>
            <a:ext cx="2743200" cy="384048"/>
          </a:xfrm>
          <a:prstGeom prst="rect">
            <a:avLst/>
          </a:prstGeom>
          <a:solidFill>
            <a:srgbClr val="E8F0F8"/>
          </a:solidFill>
          <a:ln w="6350">
            <a:solidFill>
              <a:srgbClr val="004D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0">
                <a:solidFill>
                  <a:srgbClr val="333333"/>
                </a:solidFill>
              </a:defRPr>
            </a:pPr>
            <a:r>
              <a:rPr lang="fr-MA" dirty="0"/>
              <a:t>VINCI Construction</a:t>
            </a:r>
          </a:p>
        </p:txBody>
      </p:sp>
      <p:sp>
        <p:nvSpPr>
          <p:cNvPr id="26" name="Rounded Rectangle 25"/>
          <p:cNvSpPr/>
          <p:nvPr/>
        </p:nvSpPr>
        <p:spPr>
          <a:xfrm>
            <a:off x="4114800" y="5989320"/>
            <a:ext cx="365760" cy="274320"/>
          </a:xfrm>
          <a:prstGeom prst="round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000" b="0">
                <a:solidFill>
                  <a:srgbClr val="FFFFFF"/>
                </a:solidFill>
              </a:defRPr>
            </a:pPr>
            <a:endParaRPr/>
          </a:p>
        </p:txBody>
      </p:sp>
      <p:sp>
        <p:nvSpPr>
          <p:cNvPr id="27" name="TextBox 26"/>
          <p:cNvSpPr txBox="1"/>
          <p:nvPr/>
        </p:nvSpPr>
        <p:spPr>
          <a:xfrm>
            <a:off x="4572000" y="5989320"/>
            <a:ext cx="6400800" cy="320040"/>
          </a:xfrm>
          <a:prstGeom prst="rect">
            <a:avLst/>
          </a:prstGeom>
          <a:noFill/>
        </p:spPr>
        <p:txBody>
          <a:bodyPr wrap="square">
            <a:spAutoFit/>
          </a:bodyPr>
          <a:lstStyle/>
          <a:p>
            <a:pPr algn="l">
              <a:defRPr sz="1300" b="1" i="1">
                <a:solidFill>
                  <a:srgbClr val="2E8B3D"/>
                </a:solidFill>
              </a:defRPr>
            </a:pPr>
            <a:r>
              <a:rPr dirty="0"/>
              <a:t>Pole </a:t>
            </a:r>
            <a:r>
              <a:rPr dirty="0" err="1"/>
              <a:t>d'accueil</a:t>
            </a:r>
            <a:r>
              <a:rPr dirty="0"/>
              <a:t> : VINCI Energies</a:t>
            </a:r>
          </a:p>
        </p:txBody>
      </p:sp>
      <p:sp>
        <p:nvSpPr>
          <p:cNvPr id="28" name="Rectangle 27">
            <a:extLst>
              <a:ext uri="{FF2B5EF4-FFF2-40B4-BE49-F238E27FC236}">
                <a16:creationId xmlns:a16="http://schemas.microsoft.com/office/drawing/2014/main" id="{D6862CE1-1D49-4CFA-9A12-E26EDDACAEF6}"/>
              </a:ext>
            </a:extLst>
          </p:cNvPr>
          <p:cNvSpPr/>
          <p:nvPr/>
        </p:nvSpPr>
        <p:spPr>
          <a:xfrm>
            <a:off x="1143000" y="4976525"/>
            <a:ext cx="2743200" cy="384048"/>
          </a:xfrm>
          <a:prstGeom prst="rect">
            <a:avLst/>
          </a:prstGeom>
          <a:solidFill>
            <a:srgbClr val="E8F0F8"/>
          </a:solidFill>
          <a:ln w="6350">
            <a:solidFill>
              <a:srgbClr val="004D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0">
                <a:solidFill>
                  <a:srgbClr val="333333"/>
                </a:solidFill>
              </a:defRPr>
            </a:pPr>
            <a:r>
              <a:rPr lang="fr-MA" dirty="0"/>
              <a:t>Autres concessions</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ORGANISME D'ACCUEIL</a:t>
            </a:r>
          </a:p>
        </p:txBody>
      </p:sp>
      <p:sp>
        <p:nvSpPr>
          <p:cNvPr id="4" name="TextBox 3"/>
          <p:cNvSpPr txBox="1"/>
          <p:nvPr/>
        </p:nvSpPr>
        <p:spPr>
          <a:xfrm>
            <a:off x="731520" y="457200"/>
            <a:ext cx="10515600" cy="492443"/>
          </a:xfrm>
          <a:prstGeom prst="rect">
            <a:avLst/>
          </a:prstGeom>
          <a:noFill/>
        </p:spPr>
        <p:txBody>
          <a:bodyPr wrap="square">
            <a:spAutoFit/>
          </a:bodyPr>
          <a:lstStyle/>
          <a:p>
            <a:pPr algn="l">
              <a:defRPr sz="2600" b="1" i="0">
                <a:solidFill>
                  <a:srgbClr val="003366"/>
                </a:solidFill>
              </a:defRPr>
            </a:pPr>
            <a:r>
              <a:rPr dirty="0"/>
              <a:t>VINCI - Chiffres cl</a:t>
            </a:r>
            <a:r>
              <a:rPr lang="fr-CH" dirty="0"/>
              <a:t>é</a:t>
            </a:r>
            <a:r>
              <a:rPr dirty="0"/>
              <a:t>s 2025</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7 / 32</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65760"/>
          </a:xfrm>
          <a:prstGeom prst="rect">
            <a:avLst/>
          </a:prstGeom>
          <a:noFill/>
        </p:spPr>
        <p:txBody>
          <a:bodyPr wrap="square">
            <a:spAutoFit/>
          </a:bodyPr>
          <a:lstStyle/>
          <a:p>
            <a:pPr algn="ctr">
              <a:defRPr sz="1400" b="0" i="1">
                <a:solidFill>
                  <a:srgbClr val="666666"/>
                </a:solidFill>
              </a:defRPr>
            </a:pPr>
            <a:r>
              <a:t>Groupe VINCI - Rapport annuel 2025</a:t>
            </a:r>
          </a:p>
        </p:txBody>
      </p:sp>
      <p:sp>
        <p:nvSpPr>
          <p:cNvPr id="10" name="Rounded Rectangle 9"/>
          <p:cNvSpPr/>
          <p:nvPr/>
        </p:nvSpPr>
        <p:spPr>
          <a:xfrm>
            <a:off x="731520" y="1828800"/>
            <a:ext cx="2651760" cy="1554480"/>
          </a:xfrm>
          <a:prstGeom prst="roundRect">
            <a:avLst/>
          </a:prstGeom>
          <a:solidFill>
            <a:srgbClr val="FFFFFF"/>
          </a:solidFill>
          <a:ln w="25400">
            <a:solidFill>
              <a:srgbClr val="003366"/>
            </a:solidFill>
          </a:ln>
        </p:spPr>
        <p:style>
          <a:lnRef idx="1">
            <a:schemeClr val="accent1"/>
          </a:lnRef>
          <a:fillRef idx="3">
            <a:schemeClr val="accent1"/>
          </a:fillRef>
          <a:effectRef idx="2">
            <a:schemeClr val="accent1"/>
          </a:effectRef>
          <a:fontRef idx="minor">
            <a:schemeClr val="lt1"/>
          </a:fontRef>
        </p:style>
        <p:txBody>
          <a:bodyPr wrap="square" tIns="274320" rtlCol="0" anchor="ctr"/>
          <a:lstStyle/>
          <a:p>
            <a:pPr algn="ctr">
              <a:defRPr sz="3200" b="1">
                <a:solidFill>
                  <a:srgbClr val="003366"/>
                </a:solidFill>
              </a:defRPr>
            </a:pPr>
            <a:r>
              <a:t>74,6 Mds</a:t>
            </a:r>
          </a:p>
          <a:p>
            <a:pPr algn="ctr">
              <a:defRPr sz="1200">
                <a:solidFill>
                  <a:srgbClr val="666666"/>
                </a:solidFill>
              </a:defRPr>
            </a:pPr>
            <a:r>
              <a:t>Chiffre d'affaires (€)</a:t>
            </a:r>
          </a:p>
        </p:txBody>
      </p:sp>
      <p:sp>
        <p:nvSpPr>
          <p:cNvPr id="11" name="Rectangle 10"/>
          <p:cNvSpPr/>
          <p:nvPr/>
        </p:nvSpPr>
        <p:spPr>
          <a:xfrm>
            <a:off x="731520" y="1828800"/>
            <a:ext cx="2651760" cy="7315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566160" y="1828800"/>
            <a:ext cx="2651760" cy="1554480"/>
          </a:xfrm>
          <a:prstGeom prst="roundRect">
            <a:avLst/>
          </a:prstGeom>
          <a:solidFill>
            <a:srgbClr val="FFFFFF"/>
          </a:solidFill>
          <a:ln w="25400">
            <a:solidFill>
              <a:srgbClr val="003366"/>
            </a:solidFill>
          </a:ln>
        </p:spPr>
        <p:style>
          <a:lnRef idx="1">
            <a:schemeClr val="accent1"/>
          </a:lnRef>
          <a:fillRef idx="3">
            <a:schemeClr val="accent1"/>
          </a:fillRef>
          <a:effectRef idx="2">
            <a:schemeClr val="accent1"/>
          </a:effectRef>
          <a:fontRef idx="minor">
            <a:schemeClr val="lt1"/>
          </a:fontRef>
        </p:style>
        <p:txBody>
          <a:bodyPr wrap="square" tIns="274320" rtlCol="0" anchor="ctr"/>
          <a:lstStyle/>
          <a:p>
            <a:pPr algn="ctr">
              <a:defRPr sz="3200" b="1">
                <a:solidFill>
                  <a:srgbClr val="003366"/>
                </a:solidFill>
              </a:defRPr>
            </a:pPr>
            <a:r>
              <a:t>293 800</a:t>
            </a:r>
          </a:p>
          <a:p>
            <a:pPr algn="ctr">
              <a:defRPr sz="1200">
                <a:solidFill>
                  <a:srgbClr val="666666"/>
                </a:solidFill>
              </a:defRPr>
            </a:pPr>
            <a:r>
              <a:t>Collaborateurs</a:t>
            </a:r>
          </a:p>
        </p:txBody>
      </p:sp>
      <p:sp>
        <p:nvSpPr>
          <p:cNvPr id="13" name="Rectangle 12"/>
          <p:cNvSpPr/>
          <p:nvPr/>
        </p:nvSpPr>
        <p:spPr>
          <a:xfrm>
            <a:off x="3566160" y="1828800"/>
            <a:ext cx="2651760" cy="7315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400800" y="1828800"/>
            <a:ext cx="2651760" cy="1554480"/>
          </a:xfrm>
          <a:prstGeom prst="roundRect">
            <a:avLst/>
          </a:prstGeom>
          <a:solidFill>
            <a:srgbClr val="FFFFFF"/>
          </a:solidFill>
          <a:ln w="25400">
            <a:solidFill>
              <a:srgbClr val="003366"/>
            </a:solidFill>
          </a:ln>
        </p:spPr>
        <p:style>
          <a:lnRef idx="1">
            <a:schemeClr val="accent1"/>
          </a:lnRef>
          <a:fillRef idx="3">
            <a:schemeClr val="accent1"/>
          </a:fillRef>
          <a:effectRef idx="2">
            <a:schemeClr val="accent1"/>
          </a:effectRef>
          <a:fontRef idx="minor">
            <a:schemeClr val="lt1"/>
          </a:fontRef>
        </p:style>
        <p:txBody>
          <a:bodyPr wrap="square" tIns="274320" rtlCol="0" anchor="ctr"/>
          <a:lstStyle/>
          <a:p>
            <a:pPr algn="ctr">
              <a:defRPr sz="3200" b="1">
                <a:solidFill>
                  <a:srgbClr val="003366"/>
                </a:solidFill>
              </a:defRPr>
            </a:pPr>
            <a:r>
              <a:t>120+</a:t>
            </a:r>
          </a:p>
          <a:p>
            <a:pPr algn="ctr">
              <a:defRPr sz="1200">
                <a:solidFill>
                  <a:srgbClr val="666666"/>
                </a:solidFill>
              </a:defRPr>
            </a:pPr>
            <a:r>
              <a:t>Pays d'implantation</a:t>
            </a:r>
          </a:p>
        </p:txBody>
      </p:sp>
      <p:sp>
        <p:nvSpPr>
          <p:cNvPr id="15" name="Rectangle 14"/>
          <p:cNvSpPr/>
          <p:nvPr/>
        </p:nvSpPr>
        <p:spPr>
          <a:xfrm>
            <a:off x="6400800" y="1828800"/>
            <a:ext cx="2651760" cy="7315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9235440" y="1828800"/>
            <a:ext cx="2651760" cy="1554480"/>
          </a:xfrm>
          <a:prstGeom prst="roundRect">
            <a:avLst/>
          </a:prstGeom>
          <a:solidFill>
            <a:srgbClr val="FFFFFF"/>
          </a:solidFill>
          <a:ln w="25400">
            <a:solidFill>
              <a:srgbClr val="003366"/>
            </a:solidFill>
          </a:ln>
        </p:spPr>
        <p:style>
          <a:lnRef idx="1">
            <a:schemeClr val="accent1"/>
          </a:lnRef>
          <a:fillRef idx="3">
            <a:schemeClr val="accent1"/>
          </a:fillRef>
          <a:effectRef idx="2">
            <a:schemeClr val="accent1"/>
          </a:effectRef>
          <a:fontRef idx="minor">
            <a:schemeClr val="lt1"/>
          </a:fontRef>
        </p:style>
        <p:txBody>
          <a:bodyPr wrap="square" tIns="274320" rtlCol="0" anchor="ctr"/>
          <a:lstStyle/>
          <a:p>
            <a:pPr algn="ctr">
              <a:defRPr sz="3200" b="1">
                <a:solidFill>
                  <a:srgbClr val="003366"/>
                </a:solidFill>
              </a:defRPr>
            </a:pPr>
            <a:r>
              <a:t>4,9 Mds</a:t>
            </a:r>
          </a:p>
          <a:p>
            <a:pPr algn="ctr">
              <a:defRPr sz="1200">
                <a:solidFill>
                  <a:srgbClr val="666666"/>
                </a:solidFill>
              </a:defRPr>
            </a:pPr>
            <a:r>
              <a:t>Résultat net (€)</a:t>
            </a:r>
          </a:p>
        </p:txBody>
      </p:sp>
      <p:sp>
        <p:nvSpPr>
          <p:cNvPr id="17" name="Rectangle 16"/>
          <p:cNvSpPr/>
          <p:nvPr/>
        </p:nvSpPr>
        <p:spPr>
          <a:xfrm>
            <a:off x="9235440" y="1828800"/>
            <a:ext cx="2651760" cy="7315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3657600"/>
            <a:ext cx="10698480" cy="365760"/>
          </a:xfrm>
          <a:prstGeom prst="rect">
            <a:avLst/>
          </a:prstGeom>
          <a:noFill/>
        </p:spPr>
        <p:txBody>
          <a:bodyPr wrap="square">
            <a:spAutoFit/>
          </a:bodyPr>
          <a:lstStyle/>
          <a:p>
            <a:pPr algn="ctr">
              <a:defRPr sz="1600" b="1" i="0">
                <a:solidFill>
                  <a:srgbClr val="2E8B3D"/>
                </a:solidFill>
              </a:defRPr>
            </a:pPr>
            <a:r>
              <a:t>Zoom sur VINCI Energies (pôle d'accueil)</a:t>
            </a:r>
          </a:p>
        </p:txBody>
      </p:sp>
      <p:sp>
        <p:nvSpPr>
          <p:cNvPr id="19" name="Rounded Rectangle 18"/>
          <p:cNvSpPr/>
          <p:nvPr/>
        </p:nvSpPr>
        <p:spPr>
          <a:xfrm>
            <a:off x="731520" y="4206240"/>
            <a:ext cx="2651760" cy="1280160"/>
          </a:xfrm>
          <a:prstGeom prst="roundRect">
            <a:avLst/>
          </a:prstGeom>
          <a:solidFill>
            <a:srgbClr val="E8F5E9"/>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wrap="square" tIns="182880" rtlCol="0" anchor="ctr"/>
          <a:lstStyle/>
          <a:p>
            <a:pPr algn="ctr">
              <a:defRPr sz="2600" b="1">
                <a:solidFill>
                  <a:srgbClr val="2E8B3D"/>
                </a:solidFill>
              </a:defRPr>
            </a:pPr>
            <a:r>
              <a:t>21,6 Mds</a:t>
            </a:r>
          </a:p>
          <a:p>
            <a:pPr algn="ctr">
              <a:defRPr sz="1100">
                <a:solidFill>
                  <a:srgbClr val="333333"/>
                </a:solidFill>
              </a:defRPr>
            </a:pPr>
            <a:r>
              <a:t>CA (€)</a:t>
            </a:r>
          </a:p>
        </p:txBody>
      </p:sp>
      <p:sp>
        <p:nvSpPr>
          <p:cNvPr id="20" name="Rounded Rectangle 19"/>
          <p:cNvSpPr/>
          <p:nvPr/>
        </p:nvSpPr>
        <p:spPr>
          <a:xfrm>
            <a:off x="3566160" y="4206240"/>
            <a:ext cx="2651760" cy="1280160"/>
          </a:xfrm>
          <a:prstGeom prst="roundRect">
            <a:avLst/>
          </a:prstGeom>
          <a:solidFill>
            <a:srgbClr val="E8F5E9"/>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wrap="square" tIns="182880" rtlCol="0" anchor="ctr"/>
          <a:lstStyle/>
          <a:p>
            <a:pPr algn="ctr">
              <a:defRPr sz="2600" b="1">
                <a:solidFill>
                  <a:srgbClr val="2E8B3D"/>
                </a:solidFill>
              </a:defRPr>
            </a:pPr>
            <a:r>
              <a:t>109 000</a:t>
            </a:r>
          </a:p>
          <a:p>
            <a:pPr algn="ctr">
              <a:defRPr sz="1100">
                <a:solidFill>
                  <a:srgbClr val="333333"/>
                </a:solidFill>
              </a:defRPr>
            </a:pPr>
            <a:r>
              <a:t>Collaborateurs</a:t>
            </a:r>
          </a:p>
        </p:txBody>
      </p:sp>
      <p:sp>
        <p:nvSpPr>
          <p:cNvPr id="21" name="Rounded Rectangle 20"/>
          <p:cNvSpPr/>
          <p:nvPr/>
        </p:nvSpPr>
        <p:spPr>
          <a:xfrm>
            <a:off x="6400800" y="4206240"/>
            <a:ext cx="2651760" cy="1280160"/>
          </a:xfrm>
          <a:prstGeom prst="roundRect">
            <a:avLst/>
          </a:prstGeom>
          <a:solidFill>
            <a:srgbClr val="E8F5E9"/>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wrap="square" tIns="182880" rtlCol="0" anchor="ctr"/>
          <a:lstStyle/>
          <a:p>
            <a:pPr algn="ctr">
              <a:defRPr sz="2600" b="1">
                <a:solidFill>
                  <a:srgbClr val="2E8B3D"/>
                </a:solidFill>
              </a:defRPr>
            </a:pPr>
            <a:r>
              <a:t>60</a:t>
            </a:r>
          </a:p>
          <a:p>
            <a:pPr algn="ctr">
              <a:defRPr sz="1100">
                <a:solidFill>
                  <a:srgbClr val="333333"/>
                </a:solidFill>
              </a:defRPr>
            </a:pPr>
            <a:r>
              <a:t>Pays</a:t>
            </a:r>
          </a:p>
        </p:txBody>
      </p:sp>
      <p:sp>
        <p:nvSpPr>
          <p:cNvPr id="22" name="Rounded Rectangle 21"/>
          <p:cNvSpPr/>
          <p:nvPr/>
        </p:nvSpPr>
        <p:spPr>
          <a:xfrm>
            <a:off x="9235440" y="4206240"/>
            <a:ext cx="2651760" cy="1280160"/>
          </a:xfrm>
          <a:prstGeom prst="roundRect">
            <a:avLst/>
          </a:prstGeom>
          <a:solidFill>
            <a:srgbClr val="E8F5E9"/>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wrap="square" tIns="182880" rtlCol="0" anchor="ctr"/>
          <a:lstStyle/>
          <a:p>
            <a:pPr algn="ctr">
              <a:defRPr sz="2600" b="1">
                <a:solidFill>
                  <a:srgbClr val="2E8B3D"/>
                </a:solidFill>
              </a:defRPr>
            </a:pPr>
            <a:r>
              <a:t>~ 2 200</a:t>
            </a:r>
          </a:p>
          <a:p>
            <a:pPr algn="ctr">
              <a:defRPr sz="1100">
                <a:solidFill>
                  <a:srgbClr val="333333"/>
                </a:solidFill>
              </a:defRPr>
            </a:pPr>
            <a:r>
              <a:t>Entreprises</a:t>
            </a:r>
          </a:p>
        </p:txBody>
      </p:sp>
      <p:sp>
        <p:nvSpPr>
          <p:cNvPr id="23" name="TextBox 22"/>
          <p:cNvSpPr txBox="1"/>
          <p:nvPr/>
        </p:nvSpPr>
        <p:spPr>
          <a:xfrm>
            <a:off x="731520" y="5715000"/>
            <a:ext cx="10698480" cy="365760"/>
          </a:xfrm>
          <a:prstGeom prst="rect">
            <a:avLst/>
          </a:prstGeom>
          <a:noFill/>
        </p:spPr>
        <p:txBody>
          <a:bodyPr wrap="square">
            <a:spAutoFit/>
          </a:bodyPr>
          <a:lstStyle/>
          <a:p>
            <a:pPr algn="ctr">
              <a:defRPr sz="1200" b="0" i="1">
                <a:solidFill>
                  <a:srgbClr val="666666"/>
                </a:solidFill>
              </a:defRPr>
            </a:pPr>
            <a:r>
              <a:t>Marques transverses : Actemium, Axians, Omexom, Citeos, VINCI Facilities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41148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0"/>
            <a:ext cx="3200400" cy="2286000"/>
          </a:xfrm>
          <a:prstGeom prst="rect">
            <a:avLst/>
          </a:prstGeom>
          <a:noFill/>
        </p:spPr>
        <p:txBody>
          <a:bodyPr wrap="square">
            <a:spAutoFit/>
          </a:bodyPr>
          <a:lstStyle/>
          <a:p>
            <a:pPr algn="ctr">
              <a:defRPr sz="18000" b="1" i="0">
                <a:solidFill>
                  <a:srgbClr val="FFFFFF"/>
                </a:solidFill>
              </a:defRPr>
            </a:pPr>
            <a:r>
              <a:t>03</a:t>
            </a:r>
          </a:p>
        </p:txBody>
      </p:sp>
      <p:sp>
        <p:nvSpPr>
          <p:cNvPr id="4" name="Rectangle 3"/>
          <p:cNvSpPr/>
          <p:nvPr/>
        </p:nvSpPr>
        <p:spPr>
          <a:xfrm>
            <a:off x="4572000" y="2286000"/>
            <a:ext cx="36576" cy="2286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937760" y="2286000"/>
            <a:ext cx="6858000" cy="1446550"/>
          </a:xfrm>
          <a:prstGeom prst="rect">
            <a:avLst/>
          </a:prstGeom>
          <a:noFill/>
        </p:spPr>
        <p:txBody>
          <a:bodyPr wrap="square">
            <a:spAutoFit/>
          </a:bodyPr>
          <a:lstStyle/>
          <a:p>
            <a:pPr algn="l">
              <a:defRPr sz="4400" b="1" i="0">
                <a:solidFill>
                  <a:srgbClr val="003366"/>
                </a:solidFill>
              </a:defRPr>
            </a:pPr>
            <a:r>
              <a:rPr dirty="0"/>
              <a:t>L'</a:t>
            </a:r>
            <a:r>
              <a:rPr lang="fr-CH" dirty="0"/>
              <a:t>é</a:t>
            </a:r>
            <a:r>
              <a:rPr dirty="0" err="1"/>
              <a:t>quipe</a:t>
            </a:r>
            <a:r>
              <a:rPr dirty="0"/>
              <a:t> et son </a:t>
            </a:r>
            <a:r>
              <a:rPr dirty="0" err="1"/>
              <a:t>fonctionnement</a:t>
            </a:r>
            <a:endParaRPr dirty="0"/>
          </a:p>
        </p:txBody>
      </p:sp>
      <p:sp>
        <p:nvSpPr>
          <p:cNvPr id="6" name="TextBox 5"/>
          <p:cNvSpPr txBox="1"/>
          <p:nvPr/>
        </p:nvSpPr>
        <p:spPr>
          <a:xfrm>
            <a:off x="4937760" y="3566160"/>
            <a:ext cx="6858000" cy="1371600"/>
          </a:xfrm>
          <a:prstGeom prst="rect">
            <a:avLst/>
          </a:prstGeom>
          <a:noFill/>
        </p:spPr>
        <p:txBody>
          <a:bodyPr wrap="square">
            <a:spAutoFit/>
          </a:bodyPr>
          <a:lstStyle/>
          <a:p>
            <a:pPr algn="l">
              <a:defRPr sz="1800" b="0" i="1">
                <a:solidFill>
                  <a:srgbClr val="666666"/>
                </a:solidFill>
              </a:defRPr>
            </a:pPr>
            <a:r>
              <a:t>VESI, la direction Custom Applications et le squad M365</a:t>
            </a:r>
          </a:p>
        </p:txBody>
      </p:sp>
      <p:sp>
        <p:nvSpPr>
          <p:cNvPr id="7" name="Freeform 10">
            <a:extLst>
              <a:ext uri="{FF2B5EF4-FFF2-40B4-BE49-F238E27FC236}">
                <a16:creationId xmlns:a16="http://schemas.microsoft.com/office/drawing/2014/main" id="{83BEE508-6F37-41CE-8C1B-F182AC3FD7C3}"/>
              </a:ext>
            </a:extLst>
          </p:cNvPr>
          <p:cNvSpPr/>
          <p:nvPr/>
        </p:nvSpPr>
        <p:spPr>
          <a:xfrm>
            <a:off x="9481132" y="108126"/>
            <a:ext cx="1107757" cy="415759"/>
          </a:xfrm>
          <a:custGeom>
            <a:avLst/>
            <a:gdLst/>
            <a:ahLst/>
            <a:cxnLst/>
            <a:rect l="l" t="t" r="r" b="b"/>
            <a:pathLst>
              <a:path w="4200742" h="1405571">
                <a:moveTo>
                  <a:pt x="0" y="0"/>
                </a:moveTo>
                <a:lnTo>
                  <a:pt x="4200742" y="0"/>
                </a:lnTo>
                <a:lnTo>
                  <a:pt x="4200742" y="1405571"/>
                </a:lnTo>
                <a:lnTo>
                  <a:pt x="0" y="1405571"/>
                </a:lnTo>
                <a:lnTo>
                  <a:pt x="0" y="0"/>
                </a:lnTo>
                <a:close/>
              </a:path>
            </a:pathLst>
          </a:custGeom>
          <a:blipFill>
            <a:blip r:embed="rId2"/>
            <a:stretch>
              <a:fillRect/>
            </a:stretch>
          </a:blipFill>
        </p:spPr>
        <p:txBody>
          <a:bodyPr/>
          <a:lstStyle/>
          <a:p>
            <a:endParaRPr/>
          </a:p>
        </p:txBody>
      </p:sp>
      <p:pic>
        <p:nvPicPr>
          <p:cNvPr id="8" name="Image 7">
            <a:extLst>
              <a:ext uri="{FF2B5EF4-FFF2-40B4-BE49-F238E27FC236}">
                <a16:creationId xmlns:a16="http://schemas.microsoft.com/office/drawing/2014/main" id="{31381C66-FF9B-4B4D-8A30-953214EE4C35}"/>
              </a:ext>
            </a:extLst>
          </p:cNvPr>
          <p:cNvPicPr>
            <a:picLocks noChangeAspect="1"/>
          </p:cNvPicPr>
          <p:nvPr/>
        </p:nvPicPr>
        <p:blipFill rotWithShape="1">
          <a:blip r:embed="rId3"/>
          <a:srcRect t="36165" b="33014"/>
          <a:stretch/>
        </p:blipFill>
        <p:spPr>
          <a:xfrm>
            <a:off x="10688355" y="89071"/>
            <a:ext cx="1348918" cy="4157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L'ÉQUIPE</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VESI - De la DSI au squad M365</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2000"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840" y="6611112"/>
            <a:ext cx="1097280" cy="228600"/>
          </a:xfrm>
          <a:prstGeom prst="rect">
            <a:avLst/>
          </a:prstGeom>
          <a:noFill/>
        </p:spPr>
        <p:txBody>
          <a:bodyPr wrap="square">
            <a:spAutoFit/>
          </a:bodyPr>
          <a:lstStyle/>
          <a:p>
            <a:pPr algn="r">
              <a:defRPr sz="1000" b="0" i="0">
                <a:solidFill>
                  <a:srgbClr val="FFFFFF"/>
                </a:solidFill>
              </a:defRPr>
            </a:pPr>
            <a:r>
              <a:t>9 / 32</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457200" y="1234440"/>
            <a:ext cx="11247120" cy="274320"/>
          </a:xfrm>
          <a:prstGeom prst="rect">
            <a:avLst/>
          </a:prstGeom>
          <a:noFill/>
        </p:spPr>
        <p:txBody>
          <a:bodyPr wrap="square">
            <a:spAutoFit/>
          </a:bodyPr>
          <a:lstStyle/>
          <a:p>
            <a:pPr algn="ctr">
              <a:defRPr sz="1200" b="0" i="1">
                <a:solidFill>
                  <a:srgbClr val="666666"/>
                </a:solidFill>
              </a:defRPr>
            </a:pPr>
            <a:r>
              <a:t>Positionnement du squad M365 dans l'organisation de VESI</a:t>
            </a:r>
          </a:p>
        </p:txBody>
      </p:sp>
      <p:sp>
        <p:nvSpPr>
          <p:cNvPr id="10" name="Rounded Rectangle 9"/>
          <p:cNvSpPr/>
          <p:nvPr/>
        </p:nvSpPr>
        <p:spPr>
          <a:xfrm>
            <a:off x="4937760" y="1554480"/>
            <a:ext cx="2286000" cy="45720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500" b="1">
                <a:solidFill>
                  <a:srgbClr val="FFFFFF"/>
                </a:solidFill>
              </a:defRPr>
            </a:pPr>
            <a:r>
              <a:t>VESI</a:t>
            </a:r>
          </a:p>
        </p:txBody>
      </p:sp>
      <p:sp>
        <p:nvSpPr>
          <p:cNvPr id="11" name="Rectangle 10"/>
          <p:cNvSpPr/>
          <p:nvPr/>
        </p:nvSpPr>
        <p:spPr>
          <a:xfrm>
            <a:off x="6035040" y="2011680"/>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2286000"/>
            <a:ext cx="11247120" cy="228600"/>
          </a:xfrm>
          <a:prstGeom prst="rect">
            <a:avLst/>
          </a:prstGeom>
          <a:noFill/>
        </p:spPr>
        <p:txBody>
          <a:bodyPr wrap="square">
            <a:spAutoFit/>
          </a:bodyPr>
          <a:lstStyle/>
          <a:p>
            <a:pPr algn="ctr">
              <a:defRPr sz="1000" b="1" i="0">
                <a:solidFill>
                  <a:srgbClr val="004D99"/>
                </a:solidFill>
              </a:defRPr>
            </a:pPr>
            <a:r>
              <a:t>Directions VESI</a:t>
            </a:r>
          </a:p>
        </p:txBody>
      </p:sp>
      <p:sp>
        <p:nvSpPr>
          <p:cNvPr id="13" name="Rectangle 12"/>
          <p:cNvSpPr/>
          <p:nvPr/>
        </p:nvSpPr>
        <p:spPr>
          <a:xfrm>
            <a:off x="1554480" y="2606040"/>
            <a:ext cx="9052560" cy="27432"/>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035040" y="2240280"/>
            <a:ext cx="27432" cy="36576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318004" y="2606040"/>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1280160" y="2834640"/>
            <a:ext cx="2103120" cy="54864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0">
                <a:solidFill>
                  <a:srgbClr val="333333"/>
                </a:solidFill>
              </a:defRPr>
            </a:pPr>
            <a:r>
              <a:t>Direction</a:t>
            </a:r>
          </a:p>
          <a:p>
            <a:pPr algn="ctr">
              <a:defRPr sz="1100" b="0">
                <a:solidFill>
                  <a:srgbClr val="333333"/>
                </a:solidFill>
              </a:defRPr>
            </a:pPr>
            <a:r>
              <a:t>Infrastructure</a:t>
            </a:r>
          </a:p>
        </p:txBody>
      </p:sp>
      <p:sp>
        <p:nvSpPr>
          <p:cNvPr id="17" name="Rectangle 16"/>
          <p:cNvSpPr/>
          <p:nvPr/>
        </p:nvSpPr>
        <p:spPr>
          <a:xfrm>
            <a:off x="4832604" y="2606040"/>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3794760" y="2834640"/>
            <a:ext cx="2103120" cy="54864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Direction</a:t>
            </a:r>
          </a:p>
          <a:p>
            <a:pPr algn="ctr">
              <a:defRPr sz="1100" b="1">
                <a:solidFill>
                  <a:srgbClr val="FFFFFF"/>
                </a:solidFill>
              </a:defRPr>
            </a:pPr>
            <a:r>
              <a:t>Custom Applications</a:t>
            </a:r>
          </a:p>
        </p:txBody>
      </p:sp>
      <p:sp>
        <p:nvSpPr>
          <p:cNvPr id="19" name="Rectangle 18"/>
          <p:cNvSpPr/>
          <p:nvPr/>
        </p:nvSpPr>
        <p:spPr>
          <a:xfrm>
            <a:off x="7347204" y="2606040"/>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6309360" y="2834640"/>
            <a:ext cx="2103120" cy="54864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0">
                <a:solidFill>
                  <a:srgbClr val="333333"/>
                </a:solidFill>
              </a:defRPr>
            </a:pPr>
            <a:r>
              <a:t>Direction</a:t>
            </a:r>
          </a:p>
          <a:p>
            <a:pPr algn="ctr">
              <a:defRPr sz="1100" b="0">
                <a:solidFill>
                  <a:srgbClr val="333333"/>
                </a:solidFill>
              </a:defRPr>
            </a:pPr>
            <a:r>
              <a:t>Data &amp; BI</a:t>
            </a:r>
          </a:p>
        </p:txBody>
      </p:sp>
      <p:sp>
        <p:nvSpPr>
          <p:cNvPr id="21" name="Rectangle 20"/>
          <p:cNvSpPr/>
          <p:nvPr/>
        </p:nvSpPr>
        <p:spPr>
          <a:xfrm>
            <a:off x="9861804" y="2606040"/>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8823960" y="2834640"/>
            <a:ext cx="2103120" cy="54864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0">
                <a:solidFill>
                  <a:srgbClr val="333333"/>
                </a:solidFill>
              </a:defRPr>
            </a:pPr>
            <a:r>
              <a:t>Direction</a:t>
            </a:r>
          </a:p>
          <a:p>
            <a:pPr algn="ctr">
              <a:defRPr sz="1100" b="0">
                <a:solidFill>
                  <a:srgbClr val="333333"/>
                </a:solidFill>
              </a:defRPr>
            </a:pPr>
            <a:r>
              <a:t>Support</a:t>
            </a:r>
          </a:p>
        </p:txBody>
      </p:sp>
      <p:sp>
        <p:nvSpPr>
          <p:cNvPr id="23" name="Rectangle 22"/>
          <p:cNvSpPr/>
          <p:nvPr/>
        </p:nvSpPr>
        <p:spPr>
          <a:xfrm>
            <a:off x="4832604" y="3383280"/>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7200" y="3611880"/>
            <a:ext cx="11247120" cy="228600"/>
          </a:xfrm>
          <a:prstGeom prst="rect">
            <a:avLst/>
          </a:prstGeom>
          <a:noFill/>
        </p:spPr>
        <p:txBody>
          <a:bodyPr wrap="square">
            <a:spAutoFit/>
          </a:bodyPr>
          <a:lstStyle/>
          <a:p>
            <a:pPr algn="ctr">
              <a:defRPr sz="1000" b="1" i="0">
                <a:solidFill>
                  <a:srgbClr val="004D99"/>
                </a:solidFill>
              </a:defRPr>
            </a:pPr>
            <a:r>
              <a:t>Services de la direction Custom Applications</a:t>
            </a:r>
          </a:p>
        </p:txBody>
      </p:sp>
      <p:sp>
        <p:nvSpPr>
          <p:cNvPr id="25" name="Rectangle 24"/>
          <p:cNvSpPr/>
          <p:nvPr/>
        </p:nvSpPr>
        <p:spPr>
          <a:xfrm>
            <a:off x="1554480" y="3931920"/>
            <a:ext cx="9052560" cy="27432"/>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2318004" y="3931920"/>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1280160" y="4160520"/>
            <a:ext cx="2103120" cy="54864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0">
                <a:solidFill>
                  <a:srgbClr val="333333"/>
                </a:solidFill>
              </a:defRPr>
            </a:pPr>
            <a:r>
              <a:t>Web &amp; Mobile</a:t>
            </a:r>
          </a:p>
          <a:p>
            <a:pPr algn="ctr">
              <a:defRPr sz="1100" b="0">
                <a:solidFill>
                  <a:srgbClr val="333333"/>
                </a:solidFill>
              </a:defRPr>
            </a:pPr>
            <a:r>
              <a:t>Applications</a:t>
            </a:r>
          </a:p>
        </p:txBody>
      </p:sp>
      <p:sp>
        <p:nvSpPr>
          <p:cNvPr id="28" name="Rectangle 27"/>
          <p:cNvSpPr/>
          <p:nvPr/>
        </p:nvSpPr>
        <p:spPr>
          <a:xfrm>
            <a:off x="4832604" y="3931920"/>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3794760" y="4160520"/>
            <a:ext cx="2103120" cy="54864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Collaborative</a:t>
            </a:r>
          </a:p>
          <a:p>
            <a:pPr algn="ctr">
              <a:defRPr sz="1100" b="1">
                <a:solidFill>
                  <a:srgbClr val="FFFFFF"/>
                </a:solidFill>
              </a:defRPr>
            </a:pPr>
            <a:r>
              <a:t>Solutions</a:t>
            </a:r>
          </a:p>
        </p:txBody>
      </p:sp>
      <p:sp>
        <p:nvSpPr>
          <p:cNvPr id="30" name="Rectangle 29"/>
          <p:cNvSpPr/>
          <p:nvPr/>
        </p:nvSpPr>
        <p:spPr>
          <a:xfrm>
            <a:off x="7347204" y="3931920"/>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6309360" y="4160520"/>
            <a:ext cx="2103120" cy="54864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0">
                <a:solidFill>
                  <a:srgbClr val="333333"/>
                </a:solidFill>
              </a:defRPr>
            </a:pPr>
            <a:r>
              <a:t>Payroll</a:t>
            </a:r>
          </a:p>
          <a:p>
            <a:pPr algn="ctr">
              <a:defRPr sz="1100" b="0">
                <a:solidFill>
                  <a:srgbClr val="333333"/>
                </a:solidFill>
              </a:defRPr>
            </a:pPr>
            <a:r>
              <a:t>Solutions</a:t>
            </a:r>
          </a:p>
        </p:txBody>
      </p:sp>
      <p:sp>
        <p:nvSpPr>
          <p:cNvPr id="32" name="Rectangle 31"/>
          <p:cNvSpPr/>
          <p:nvPr/>
        </p:nvSpPr>
        <p:spPr>
          <a:xfrm>
            <a:off x="9861804" y="3931920"/>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8823960" y="4160520"/>
            <a:ext cx="2103120" cy="54864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0">
                <a:solidFill>
                  <a:srgbClr val="333333"/>
                </a:solidFill>
              </a:defRPr>
            </a:pPr>
            <a:r>
              <a:t>HRIS</a:t>
            </a:r>
          </a:p>
        </p:txBody>
      </p:sp>
      <p:sp>
        <p:nvSpPr>
          <p:cNvPr id="34" name="Rectangle 33"/>
          <p:cNvSpPr/>
          <p:nvPr/>
        </p:nvSpPr>
        <p:spPr>
          <a:xfrm>
            <a:off x="4832604" y="4709160"/>
            <a:ext cx="27432" cy="27432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57200" y="4983480"/>
            <a:ext cx="11247120" cy="228600"/>
          </a:xfrm>
          <a:prstGeom prst="rect">
            <a:avLst/>
          </a:prstGeom>
          <a:noFill/>
        </p:spPr>
        <p:txBody>
          <a:bodyPr wrap="square">
            <a:spAutoFit/>
          </a:bodyPr>
          <a:lstStyle/>
          <a:p>
            <a:pPr algn="ctr">
              <a:defRPr sz="1000" b="1" i="0">
                <a:solidFill>
                  <a:srgbClr val="004D99"/>
                </a:solidFill>
              </a:defRPr>
            </a:pPr>
            <a:r>
              <a:t>Équipes du service Collaborative Solutions</a:t>
            </a:r>
          </a:p>
        </p:txBody>
      </p:sp>
      <p:sp>
        <p:nvSpPr>
          <p:cNvPr id="36" name="Rectangle 35"/>
          <p:cNvSpPr/>
          <p:nvPr/>
        </p:nvSpPr>
        <p:spPr>
          <a:xfrm>
            <a:off x="3017520" y="5303520"/>
            <a:ext cx="6126480" cy="27432"/>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192524" y="5303520"/>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3017520" y="5532120"/>
            <a:ext cx="2377440" cy="502920"/>
          </a:xfrm>
          <a:prstGeom prst="round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Group</a:t>
            </a:r>
          </a:p>
          <a:p>
            <a:pPr algn="ctr">
              <a:defRPr sz="1100" b="1">
                <a:solidFill>
                  <a:srgbClr val="FFFFFF"/>
                </a:solidFill>
              </a:defRPr>
            </a:pPr>
            <a:r>
              <a:t>Collaborative Solutions</a:t>
            </a:r>
          </a:p>
        </p:txBody>
      </p:sp>
      <p:sp>
        <p:nvSpPr>
          <p:cNvPr id="39" name="Rectangle 38"/>
          <p:cNvSpPr/>
          <p:nvPr/>
        </p:nvSpPr>
        <p:spPr>
          <a:xfrm>
            <a:off x="7941564" y="5303520"/>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6766560" y="5532120"/>
            <a:ext cx="2377440" cy="50292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0">
                <a:solidFill>
                  <a:srgbClr val="333333"/>
                </a:solidFill>
              </a:defRPr>
            </a:pPr>
            <a:r>
              <a:t>BU</a:t>
            </a:r>
          </a:p>
          <a:p>
            <a:pPr algn="ctr">
              <a:defRPr sz="1100" b="0">
                <a:solidFill>
                  <a:srgbClr val="333333"/>
                </a:solidFill>
              </a:defRPr>
            </a:pPr>
            <a:r>
              <a:t>Collaborative Solutions</a:t>
            </a:r>
          </a:p>
        </p:txBody>
      </p:sp>
      <p:sp>
        <p:nvSpPr>
          <p:cNvPr id="41" name="Rectangle 40"/>
          <p:cNvSpPr/>
          <p:nvPr/>
        </p:nvSpPr>
        <p:spPr>
          <a:xfrm>
            <a:off x="4192524" y="6035040"/>
            <a:ext cx="27432" cy="137160"/>
          </a:xfrm>
          <a:prstGeom prst="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3017520" y="6172200"/>
            <a:ext cx="2468880" cy="27432"/>
          </a:xfrm>
          <a:prstGeom prst="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3552444" y="6172200"/>
            <a:ext cx="27432" cy="137160"/>
          </a:xfrm>
          <a:prstGeom prst="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3017520" y="6309360"/>
            <a:ext cx="1097280" cy="32004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000" b="0">
                <a:solidFill>
                  <a:srgbClr val="2E8B3D"/>
                </a:solidFill>
              </a:defRPr>
            </a:pPr>
            <a:r>
              <a:t>Squad MyVIEW</a:t>
            </a:r>
          </a:p>
        </p:txBody>
      </p:sp>
      <p:sp>
        <p:nvSpPr>
          <p:cNvPr id="45" name="Rectangle 44"/>
          <p:cNvSpPr/>
          <p:nvPr/>
        </p:nvSpPr>
        <p:spPr>
          <a:xfrm>
            <a:off x="4924044" y="6172200"/>
            <a:ext cx="27432" cy="137160"/>
          </a:xfrm>
          <a:prstGeom prst="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ounded Rectangle 45"/>
          <p:cNvSpPr/>
          <p:nvPr/>
        </p:nvSpPr>
        <p:spPr>
          <a:xfrm>
            <a:off x="4389120" y="6309360"/>
            <a:ext cx="1097280" cy="320040"/>
          </a:xfrm>
          <a:prstGeom prst="round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000" b="1">
                <a:solidFill>
                  <a:srgbClr val="FFFFFF"/>
                </a:solidFill>
              </a:defRPr>
            </a:pPr>
            <a:r>
              <a:t>Squad M365</a:t>
            </a:r>
          </a:p>
        </p:txBody>
      </p:sp>
      <p:sp>
        <p:nvSpPr>
          <p:cNvPr id="47" name="Rounded Rectangle 46"/>
          <p:cNvSpPr/>
          <p:nvPr/>
        </p:nvSpPr>
        <p:spPr>
          <a:xfrm>
            <a:off x="8961120" y="5532120"/>
            <a:ext cx="2834640" cy="1005840"/>
          </a:xfrm>
          <a:prstGeom prst="roundRect">
            <a:avLst/>
          </a:prstGeom>
          <a:solidFill>
            <a:srgbClr val="FFFFFF"/>
          </a:solidFill>
          <a:ln w="1270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9144000" y="5577840"/>
            <a:ext cx="2560320" cy="274320"/>
          </a:xfrm>
          <a:prstGeom prst="rect">
            <a:avLst/>
          </a:prstGeom>
          <a:noFill/>
        </p:spPr>
        <p:txBody>
          <a:bodyPr wrap="square">
            <a:spAutoFit/>
          </a:bodyPr>
          <a:lstStyle/>
          <a:p>
            <a:pPr algn="l">
              <a:defRPr sz="1000" b="1" i="0">
                <a:solidFill>
                  <a:srgbClr val="2E8B3D"/>
                </a:solidFill>
              </a:defRPr>
            </a:pPr>
            <a:r>
              <a:t>Périmètre d'accueil</a:t>
            </a:r>
          </a:p>
        </p:txBody>
      </p:sp>
      <p:sp>
        <p:nvSpPr>
          <p:cNvPr id="49" name="TextBox 48"/>
          <p:cNvSpPr txBox="1"/>
          <p:nvPr/>
        </p:nvSpPr>
        <p:spPr>
          <a:xfrm>
            <a:off x="9144000" y="5852160"/>
            <a:ext cx="2560320" cy="640080"/>
          </a:xfrm>
          <a:prstGeom prst="rect">
            <a:avLst/>
          </a:prstGeom>
          <a:noFill/>
        </p:spPr>
        <p:txBody>
          <a:bodyPr wrap="square">
            <a:spAutoFit/>
          </a:bodyPr>
          <a:lstStyle/>
          <a:p>
            <a:pPr algn="l">
              <a:defRPr sz="900" b="0" i="1">
                <a:solidFill>
                  <a:srgbClr val="333333"/>
                </a:solidFill>
              </a:defRPr>
            </a:pPr>
            <a:r>
              <a:t>Squad M365 - refonte CS BAG</a:t>
            </a:r>
          </a:p>
          <a:p>
            <a:pPr algn="l">
              <a:defRPr sz="900" b="0" i="1">
                <a:solidFill>
                  <a:srgbClr val="333333"/>
                </a:solidFill>
              </a:defRPr>
            </a:pPr>
            <a:r>
              <a:t>et missions sur applications M365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61610"/>
          </a:xfrm>
          <a:prstGeom prst="rect">
            <a:avLst/>
          </a:prstGeom>
          <a:noFill/>
        </p:spPr>
        <p:txBody>
          <a:bodyPr wrap="square">
            <a:spAutoFit/>
          </a:bodyPr>
          <a:lstStyle/>
          <a:p>
            <a:pPr algn="l">
              <a:defRPr sz="1100" b="1" i="0">
                <a:solidFill>
                  <a:srgbClr val="004D99"/>
                </a:solidFill>
              </a:defRPr>
            </a:pPr>
            <a:r>
              <a:rPr lang="fr-MA" dirty="0"/>
              <a:t>équipe</a:t>
            </a:r>
            <a:endParaRPr dirty="0"/>
          </a:p>
        </p:txBody>
      </p:sp>
      <p:sp>
        <p:nvSpPr>
          <p:cNvPr id="4" name="TextBox 3"/>
          <p:cNvSpPr txBox="1"/>
          <p:nvPr/>
        </p:nvSpPr>
        <p:spPr>
          <a:xfrm>
            <a:off x="731520" y="457200"/>
            <a:ext cx="10515600" cy="492443"/>
          </a:xfrm>
          <a:prstGeom prst="rect">
            <a:avLst/>
          </a:prstGeom>
          <a:noFill/>
        </p:spPr>
        <p:txBody>
          <a:bodyPr wrap="square">
            <a:spAutoFit/>
          </a:bodyPr>
          <a:lstStyle/>
          <a:p>
            <a:pPr algn="l">
              <a:defRPr sz="2600" b="1" i="0">
                <a:solidFill>
                  <a:srgbClr val="003366"/>
                </a:solidFill>
              </a:defRPr>
            </a:pPr>
            <a:r>
              <a:rPr dirty="0"/>
              <a:t>Applications ger</a:t>
            </a:r>
            <a:r>
              <a:rPr lang="fr-CH" dirty="0"/>
              <a:t>é</a:t>
            </a:r>
            <a:r>
              <a:rPr dirty="0"/>
              <a:t>es par l'</a:t>
            </a:r>
            <a:r>
              <a:rPr lang="fr-CH" dirty="0"/>
              <a:t>é</a:t>
            </a:r>
            <a:r>
              <a:rPr dirty="0" err="1"/>
              <a:t>quipe</a:t>
            </a:r>
            <a:endParaRPr dirty="0"/>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10 / 32</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07777"/>
          </a:xfrm>
          <a:prstGeom prst="rect">
            <a:avLst/>
          </a:prstGeom>
          <a:noFill/>
        </p:spPr>
        <p:txBody>
          <a:bodyPr wrap="square">
            <a:spAutoFit/>
          </a:bodyPr>
          <a:lstStyle/>
          <a:p>
            <a:pPr algn="l">
              <a:defRPr sz="1400" b="0" i="1">
                <a:solidFill>
                  <a:srgbClr val="666666"/>
                </a:solidFill>
              </a:defRPr>
            </a:pPr>
            <a:r>
              <a:rPr dirty="0" err="1"/>
              <a:t>Portefeuille</a:t>
            </a:r>
            <a:r>
              <a:rPr dirty="0"/>
              <a:t> de l'</a:t>
            </a:r>
            <a:r>
              <a:rPr lang="fr-CH" dirty="0"/>
              <a:t>é</a:t>
            </a:r>
            <a:r>
              <a:rPr dirty="0" err="1"/>
              <a:t>quipe</a:t>
            </a:r>
            <a:r>
              <a:rPr dirty="0"/>
              <a:t> Group Collaborative Solutions</a:t>
            </a:r>
          </a:p>
        </p:txBody>
      </p:sp>
      <p:sp>
        <p:nvSpPr>
          <p:cNvPr id="10" name="Rounded Rectangle 9"/>
          <p:cNvSpPr/>
          <p:nvPr/>
        </p:nvSpPr>
        <p:spPr>
          <a:xfrm>
            <a:off x="731520" y="1828800"/>
            <a:ext cx="3566160" cy="173736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914400" y="2011680"/>
            <a:ext cx="1097280" cy="1371600"/>
          </a:xfrm>
          <a:prstGeom prst="rect">
            <a:avLst/>
          </a:prstGeom>
          <a:solidFill>
            <a:srgbClr val="F0F0F0"/>
          </a:solidFill>
          <a:ln w="12700">
            <a:solidFill>
              <a:srgbClr val="CCCCCC"/>
            </a:solidFill>
            <a:prstDash val="lg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i="1">
                <a:solidFill>
                  <a:srgbClr val="666666"/>
                </a:solidFill>
              </a:defRPr>
            </a:pPr>
            <a:r>
              <a:rPr dirty="0"/>
              <a:t>[ Logo ]</a:t>
            </a:r>
          </a:p>
        </p:txBody>
      </p:sp>
      <p:sp>
        <p:nvSpPr>
          <p:cNvPr id="12" name="TextBox 11"/>
          <p:cNvSpPr txBox="1"/>
          <p:nvPr/>
        </p:nvSpPr>
        <p:spPr>
          <a:xfrm>
            <a:off x="2148840" y="2057400"/>
            <a:ext cx="2057400" cy="548640"/>
          </a:xfrm>
          <a:prstGeom prst="rect">
            <a:avLst/>
          </a:prstGeom>
          <a:noFill/>
        </p:spPr>
        <p:txBody>
          <a:bodyPr wrap="square">
            <a:spAutoFit/>
          </a:bodyPr>
          <a:lstStyle/>
          <a:p>
            <a:pPr algn="l">
              <a:defRPr sz="1400" b="1" i="0">
                <a:solidFill>
                  <a:srgbClr val="003366"/>
                </a:solidFill>
              </a:defRPr>
            </a:pPr>
            <a:r>
              <a:t>MyVIEW</a:t>
            </a:r>
          </a:p>
        </p:txBody>
      </p:sp>
      <p:sp>
        <p:nvSpPr>
          <p:cNvPr id="13" name="TextBox 12"/>
          <p:cNvSpPr txBox="1"/>
          <p:nvPr/>
        </p:nvSpPr>
        <p:spPr>
          <a:xfrm>
            <a:off x="2148840" y="2651760"/>
            <a:ext cx="2057400" cy="822960"/>
          </a:xfrm>
          <a:prstGeom prst="rect">
            <a:avLst/>
          </a:prstGeom>
          <a:noFill/>
        </p:spPr>
        <p:txBody>
          <a:bodyPr wrap="square">
            <a:spAutoFit/>
          </a:bodyPr>
          <a:lstStyle/>
          <a:p>
            <a:pPr algn="l">
              <a:defRPr sz="1000" b="0" i="0">
                <a:solidFill>
                  <a:srgbClr val="666666"/>
                </a:solidFill>
              </a:defRPr>
            </a:pPr>
            <a:r>
              <a:t>Intranet du groupe VINCI Energies</a:t>
            </a:r>
          </a:p>
        </p:txBody>
      </p:sp>
      <p:sp>
        <p:nvSpPr>
          <p:cNvPr id="14" name="Rounded Rectangle 13"/>
          <p:cNvSpPr/>
          <p:nvPr/>
        </p:nvSpPr>
        <p:spPr>
          <a:xfrm>
            <a:off x="4572000" y="1828800"/>
            <a:ext cx="3566160" cy="173736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754880" y="2011680"/>
            <a:ext cx="1097280" cy="1371600"/>
          </a:xfrm>
          <a:prstGeom prst="rect">
            <a:avLst/>
          </a:prstGeom>
          <a:solidFill>
            <a:srgbClr val="F0F0F0"/>
          </a:solidFill>
          <a:ln w="12700">
            <a:solidFill>
              <a:srgbClr val="CCCCCC"/>
            </a:solidFill>
            <a:prstDash val="lg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i="1">
                <a:solidFill>
                  <a:srgbClr val="666666"/>
                </a:solidFill>
              </a:defRPr>
            </a:pPr>
            <a:r>
              <a:t>[ Logo ]</a:t>
            </a:r>
          </a:p>
        </p:txBody>
      </p:sp>
      <p:sp>
        <p:nvSpPr>
          <p:cNvPr id="16" name="TextBox 15"/>
          <p:cNvSpPr txBox="1"/>
          <p:nvPr/>
        </p:nvSpPr>
        <p:spPr>
          <a:xfrm>
            <a:off x="5989320" y="2057400"/>
            <a:ext cx="2057400" cy="548640"/>
          </a:xfrm>
          <a:prstGeom prst="rect">
            <a:avLst/>
          </a:prstGeom>
          <a:noFill/>
        </p:spPr>
        <p:txBody>
          <a:bodyPr wrap="square">
            <a:spAutoFit/>
          </a:bodyPr>
          <a:lstStyle/>
          <a:p>
            <a:pPr algn="l">
              <a:defRPr sz="1400" b="1" i="0">
                <a:solidFill>
                  <a:srgbClr val="003366"/>
                </a:solidFill>
              </a:defRPr>
            </a:pPr>
            <a:r>
              <a:t>Connect</a:t>
            </a:r>
          </a:p>
        </p:txBody>
      </p:sp>
      <p:sp>
        <p:nvSpPr>
          <p:cNvPr id="17" name="TextBox 16"/>
          <p:cNvSpPr txBox="1"/>
          <p:nvPr/>
        </p:nvSpPr>
        <p:spPr>
          <a:xfrm>
            <a:off x="5989320" y="2651760"/>
            <a:ext cx="2057400" cy="822960"/>
          </a:xfrm>
          <a:prstGeom prst="rect">
            <a:avLst/>
          </a:prstGeom>
          <a:noFill/>
        </p:spPr>
        <p:txBody>
          <a:bodyPr wrap="square">
            <a:spAutoFit/>
          </a:bodyPr>
          <a:lstStyle/>
          <a:p>
            <a:pPr algn="l">
              <a:defRPr sz="1000" b="0" i="0">
                <a:solidFill>
                  <a:srgbClr val="666666"/>
                </a:solidFill>
              </a:defRPr>
            </a:pPr>
            <a:r>
              <a:t>Moteur de recherche et annuaire</a:t>
            </a:r>
          </a:p>
        </p:txBody>
      </p:sp>
      <p:sp>
        <p:nvSpPr>
          <p:cNvPr id="18" name="Rounded Rectangle 17"/>
          <p:cNvSpPr/>
          <p:nvPr/>
        </p:nvSpPr>
        <p:spPr>
          <a:xfrm>
            <a:off x="8412480" y="1828800"/>
            <a:ext cx="3566160" cy="173736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595360" y="2011680"/>
            <a:ext cx="1097280" cy="1371600"/>
          </a:xfrm>
          <a:prstGeom prst="rect">
            <a:avLst/>
          </a:prstGeom>
          <a:solidFill>
            <a:srgbClr val="F0F0F0"/>
          </a:solidFill>
          <a:ln w="12700">
            <a:solidFill>
              <a:srgbClr val="CCCCCC"/>
            </a:solidFill>
            <a:prstDash val="lg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i="1">
                <a:solidFill>
                  <a:srgbClr val="666666"/>
                </a:solidFill>
              </a:defRPr>
            </a:pPr>
            <a:r>
              <a:t>[ Logo ]</a:t>
            </a:r>
          </a:p>
        </p:txBody>
      </p:sp>
      <p:sp>
        <p:nvSpPr>
          <p:cNvPr id="20" name="TextBox 19"/>
          <p:cNvSpPr txBox="1"/>
          <p:nvPr/>
        </p:nvSpPr>
        <p:spPr>
          <a:xfrm>
            <a:off x="9829800" y="2057400"/>
            <a:ext cx="2057400" cy="307777"/>
          </a:xfrm>
          <a:prstGeom prst="rect">
            <a:avLst/>
          </a:prstGeom>
          <a:noFill/>
        </p:spPr>
        <p:txBody>
          <a:bodyPr wrap="square">
            <a:spAutoFit/>
          </a:bodyPr>
          <a:lstStyle/>
          <a:p>
            <a:pPr algn="l">
              <a:defRPr sz="1400" b="1" i="0">
                <a:solidFill>
                  <a:srgbClr val="003366"/>
                </a:solidFill>
              </a:defRPr>
            </a:pPr>
            <a:r>
              <a:rPr lang="fr-MA" dirty="0" err="1"/>
              <a:t>Alert</a:t>
            </a:r>
            <a:r>
              <a:rPr lang="fr-MA" dirty="0"/>
              <a:t> SSI</a:t>
            </a:r>
            <a:endParaRPr dirty="0"/>
          </a:p>
        </p:txBody>
      </p:sp>
      <p:sp>
        <p:nvSpPr>
          <p:cNvPr id="21" name="TextBox 20"/>
          <p:cNvSpPr txBox="1"/>
          <p:nvPr/>
        </p:nvSpPr>
        <p:spPr>
          <a:xfrm>
            <a:off x="9829800" y="2651760"/>
            <a:ext cx="2057400" cy="246221"/>
          </a:xfrm>
          <a:prstGeom prst="rect">
            <a:avLst/>
          </a:prstGeom>
          <a:noFill/>
        </p:spPr>
        <p:txBody>
          <a:bodyPr wrap="square">
            <a:spAutoFit/>
          </a:bodyPr>
          <a:lstStyle/>
          <a:p>
            <a:pPr algn="l">
              <a:defRPr sz="1000" b="0" i="0">
                <a:solidFill>
                  <a:srgbClr val="666666"/>
                </a:solidFill>
              </a:defRPr>
            </a:pPr>
            <a:r>
              <a:rPr lang="fr-MA" dirty="0"/>
              <a:t>Report Spam mail</a:t>
            </a:r>
            <a:endParaRPr dirty="0"/>
          </a:p>
        </p:txBody>
      </p:sp>
      <p:sp>
        <p:nvSpPr>
          <p:cNvPr id="22" name="Rounded Rectangle 21"/>
          <p:cNvSpPr/>
          <p:nvPr/>
        </p:nvSpPr>
        <p:spPr>
          <a:xfrm>
            <a:off x="731520" y="3840480"/>
            <a:ext cx="3566160" cy="173736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14400" y="4023360"/>
            <a:ext cx="1097280" cy="1371600"/>
          </a:xfrm>
          <a:prstGeom prst="rect">
            <a:avLst/>
          </a:prstGeom>
          <a:solidFill>
            <a:srgbClr val="F0F0F0"/>
          </a:solidFill>
          <a:ln w="12700">
            <a:solidFill>
              <a:srgbClr val="CCCCCC"/>
            </a:solidFill>
            <a:prstDash val="lg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i="1">
                <a:solidFill>
                  <a:srgbClr val="666666"/>
                </a:solidFill>
              </a:defRPr>
            </a:pPr>
            <a:r>
              <a:t>[ Logo ]</a:t>
            </a:r>
          </a:p>
        </p:txBody>
      </p:sp>
      <p:sp>
        <p:nvSpPr>
          <p:cNvPr id="24" name="TextBox 23"/>
          <p:cNvSpPr txBox="1"/>
          <p:nvPr/>
        </p:nvSpPr>
        <p:spPr>
          <a:xfrm>
            <a:off x="2148840" y="4069080"/>
            <a:ext cx="2057400" cy="548640"/>
          </a:xfrm>
          <a:prstGeom prst="rect">
            <a:avLst/>
          </a:prstGeom>
          <a:noFill/>
        </p:spPr>
        <p:txBody>
          <a:bodyPr wrap="square">
            <a:spAutoFit/>
          </a:bodyPr>
          <a:lstStyle/>
          <a:p>
            <a:pPr algn="l">
              <a:defRPr sz="1400" b="1" i="0">
                <a:solidFill>
                  <a:srgbClr val="003366"/>
                </a:solidFill>
              </a:defRPr>
            </a:pPr>
            <a:r>
              <a:t>CS BAG</a:t>
            </a:r>
          </a:p>
        </p:txBody>
      </p:sp>
      <p:sp>
        <p:nvSpPr>
          <p:cNvPr id="25" name="TextBox 24"/>
          <p:cNvSpPr txBox="1"/>
          <p:nvPr/>
        </p:nvSpPr>
        <p:spPr>
          <a:xfrm>
            <a:off x="2148840" y="4663440"/>
            <a:ext cx="2057400" cy="822960"/>
          </a:xfrm>
          <a:prstGeom prst="rect">
            <a:avLst/>
          </a:prstGeom>
          <a:noFill/>
        </p:spPr>
        <p:txBody>
          <a:bodyPr wrap="square">
            <a:spAutoFit/>
          </a:bodyPr>
          <a:lstStyle/>
          <a:p>
            <a:pPr algn="l">
              <a:defRPr sz="1000" b="0" i="0">
                <a:solidFill>
                  <a:srgbClr val="666666"/>
                </a:solidFill>
              </a:defRPr>
            </a:pPr>
            <a:r>
              <a:t>Inventaire du patrimoine applicatif interne</a:t>
            </a:r>
          </a:p>
        </p:txBody>
      </p:sp>
      <p:sp>
        <p:nvSpPr>
          <p:cNvPr id="26" name="Rounded Rectangle 25"/>
          <p:cNvSpPr/>
          <p:nvPr/>
        </p:nvSpPr>
        <p:spPr>
          <a:xfrm>
            <a:off x="4572000" y="3840480"/>
            <a:ext cx="3566160" cy="173736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754880" y="4023360"/>
            <a:ext cx="1097280" cy="1371600"/>
          </a:xfrm>
          <a:prstGeom prst="rect">
            <a:avLst/>
          </a:prstGeom>
          <a:solidFill>
            <a:srgbClr val="F0F0F0"/>
          </a:solidFill>
          <a:ln w="12700">
            <a:solidFill>
              <a:srgbClr val="CCCCCC"/>
            </a:solidFill>
            <a:prstDash val="lg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i="1">
                <a:solidFill>
                  <a:srgbClr val="666666"/>
                </a:solidFill>
              </a:defRPr>
            </a:pPr>
            <a:r>
              <a:t>[ Logo ]</a:t>
            </a:r>
          </a:p>
        </p:txBody>
      </p:sp>
      <p:sp>
        <p:nvSpPr>
          <p:cNvPr id="28" name="TextBox 27"/>
          <p:cNvSpPr txBox="1"/>
          <p:nvPr/>
        </p:nvSpPr>
        <p:spPr>
          <a:xfrm>
            <a:off x="5989320" y="4069080"/>
            <a:ext cx="2057400" cy="548640"/>
          </a:xfrm>
          <a:prstGeom prst="rect">
            <a:avLst/>
          </a:prstGeom>
          <a:noFill/>
        </p:spPr>
        <p:txBody>
          <a:bodyPr wrap="square">
            <a:spAutoFit/>
          </a:bodyPr>
          <a:lstStyle/>
          <a:p>
            <a:pPr algn="l">
              <a:defRPr sz="1400" b="1" i="0">
                <a:solidFill>
                  <a:srgbClr val="003366"/>
                </a:solidFill>
              </a:defRPr>
            </a:pPr>
            <a:r>
              <a:t>Elium</a:t>
            </a:r>
          </a:p>
          <a:p>
            <a:pPr algn="l">
              <a:defRPr sz="1400" b="1" i="0">
                <a:solidFill>
                  <a:srgbClr val="003366"/>
                </a:solidFill>
              </a:defRPr>
            </a:pPr>
            <a:r>
              <a:t>Sauvegarde</a:t>
            </a:r>
          </a:p>
        </p:txBody>
      </p:sp>
      <p:sp>
        <p:nvSpPr>
          <p:cNvPr id="29" name="TextBox 28"/>
          <p:cNvSpPr txBox="1"/>
          <p:nvPr/>
        </p:nvSpPr>
        <p:spPr>
          <a:xfrm>
            <a:off x="5989320" y="4663440"/>
            <a:ext cx="2057400" cy="822960"/>
          </a:xfrm>
          <a:prstGeom prst="rect">
            <a:avLst/>
          </a:prstGeom>
          <a:noFill/>
        </p:spPr>
        <p:txBody>
          <a:bodyPr wrap="square">
            <a:spAutoFit/>
          </a:bodyPr>
          <a:lstStyle/>
          <a:p>
            <a:pPr algn="l">
              <a:defRPr sz="1000" b="0" i="0">
                <a:solidFill>
                  <a:srgbClr val="666666"/>
                </a:solidFill>
              </a:defRPr>
            </a:pPr>
            <a:r>
              <a:t>Archivage des articles Elium vers SharePoint</a:t>
            </a:r>
          </a:p>
        </p:txBody>
      </p:sp>
      <p:sp>
        <p:nvSpPr>
          <p:cNvPr id="30" name="Rounded Rectangle 29"/>
          <p:cNvSpPr/>
          <p:nvPr/>
        </p:nvSpPr>
        <p:spPr>
          <a:xfrm>
            <a:off x="8412480" y="3840480"/>
            <a:ext cx="3566160" cy="173736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595360" y="4023360"/>
            <a:ext cx="1097280" cy="1371600"/>
          </a:xfrm>
          <a:prstGeom prst="rect">
            <a:avLst/>
          </a:prstGeom>
          <a:solidFill>
            <a:srgbClr val="F0F0F0"/>
          </a:solidFill>
          <a:ln w="12700">
            <a:solidFill>
              <a:srgbClr val="CCCCCC"/>
            </a:solidFill>
            <a:prstDash val="lg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i="1">
                <a:solidFill>
                  <a:srgbClr val="666666"/>
                </a:solidFill>
              </a:defRPr>
            </a:pPr>
            <a:r>
              <a:t>[ Logo ]</a:t>
            </a:r>
          </a:p>
        </p:txBody>
      </p:sp>
      <p:sp>
        <p:nvSpPr>
          <p:cNvPr id="32" name="TextBox 31"/>
          <p:cNvSpPr txBox="1"/>
          <p:nvPr/>
        </p:nvSpPr>
        <p:spPr>
          <a:xfrm>
            <a:off x="9829800" y="4069080"/>
            <a:ext cx="2057400" cy="307777"/>
          </a:xfrm>
          <a:prstGeom prst="rect">
            <a:avLst/>
          </a:prstGeom>
          <a:noFill/>
        </p:spPr>
        <p:txBody>
          <a:bodyPr wrap="square">
            <a:spAutoFit/>
          </a:bodyPr>
          <a:lstStyle/>
          <a:p>
            <a:pPr algn="l">
              <a:defRPr sz="1400" b="1" i="0">
                <a:solidFill>
                  <a:srgbClr val="003366"/>
                </a:solidFill>
              </a:defRPr>
            </a:pPr>
            <a:r>
              <a:rPr lang="fr-CH" dirty="0"/>
              <a:t>Gouvernance Office 365</a:t>
            </a:r>
            <a:endParaRPr dirty="0"/>
          </a:p>
        </p:txBody>
      </p:sp>
      <p:sp>
        <p:nvSpPr>
          <p:cNvPr id="33" name="TextBox 32"/>
          <p:cNvSpPr txBox="1"/>
          <p:nvPr/>
        </p:nvSpPr>
        <p:spPr>
          <a:xfrm>
            <a:off x="9829800" y="4663440"/>
            <a:ext cx="2057400" cy="553998"/>
          </a:xfrm>
          <a:prstGeom prst="rect">
            <a:avLst/>
          </a:prstGeom>
          <a:noFill/>
        </p:spPr>
        <p:txBody>
          <a:bodyPr wrap="square">
            <a:spAutoFit/>
          </a:bodyPr>
          <a:lstStyle/>
          <a:p>
            <a:pPr algn="l">
              <a:defRPr sz="1000" b="0" i="0">
                <a:solidFill>
                  <a:srgbClr val="666666"/>
                </a:solidFill>
              </a:defRPr>
            </a:pPr>
            <a:r>
              <a:rPr lang="fr-FR" dirty="0"/>
              <a:t>Garant de la gouvernance</a:t>
            </a:r>
          </a:p>
          <a:p>
            <a:pPr algn="l">
              <a:defRPr sz="1000" b="0" i="0">
                <a:solidFill>
                  <a:srgbClr val="666666"/>
                </a:solidFill>
              </a:defRPr>
            </a:pPr>
            <a:r>
              <a:rPr lang="fr-FR" dirty="0"/>
              <a:t>des droits / Console</a:t>
            </a:r>
          </a:p>
          <a:p>
            <a:pPr algn="l">
              <a:defRPr sz="1000" b="0" i="0">
                <a:solidFill>
                  <a:srgbClr val="666666"/>
                </a:solidFill>
              </a:defRPr>
            </a:pPr>
            <a:r>
              <a:rPr lang="fr-FR" dirty="0"/>
              <a:t>d’administration</a:t>
            </a:r>
            <a:endParaRPr dirty="0"/>
          </a:p>
        </p:txBody>
      </p:sp>
      <p:pic>
        <p:nvPicPr>
          <p:cNvPr id="35" name="Image 34">
            <a:extLst>
              <a:ext uri="{FF2B5EF4-FFF2-40B4-BE49-F238E27FC236}">
                <a16:creationId xmlns:a16="http://schemas.microsoft.com/office/drawing/2014/main" id="{CD0B1270-1CC7-479D-A55C-0437BFDAE769}"/>
              </a:ext>
            </a:extLst>
          </p:cNvPr>
          <p:cNvPicPr>
            <a:picLocks noChangeAspect="1"/>
          </p:cNvPicPr>
          <p:nvPr/>
        </p:nvPicPr>
        <p:blipFill>
          <a:blip r:embed="rId2"/>
          <a:stretch>
            <a:fillRect/>
          </a:stretch>
        </p:blipFill>
        <p:spPr>
          <a:xfrm>
            <a:off x="995367" y="2453352"/>
            <a:ext cx="926236" cy="503492"/>
          </a:xfrm>
          <a:prstGeom prst="rect">
            <a:avLst/>
          </a:prstGeom>
        </p:spPr>
      </p:pic>
      <p:pic>
        <p:nvPicPr>
          <p:cNvPr id="37" name="Image 36">
            <a:extLst>
              <a:ext uri="{FF2B5EF4-FFF2-40B4-BE49-F238E27FC236}">
                <a16:creationId xmlns:a16="http://schemas.microsoft.com/office/drawing/2014/main" id="{698AF155-067A-4951-8E08-5EE3A5AF133F}"/>
              </a:ext>
            </a:extLst>
          </p:cNvPr>
          <p:cNvPicPr>
            <a:picLocks noChangeAspect="1"/>
          </p:cNvPicPr>
          <p:nvPr/>
        </p:nvPicPr>
        <p:blipFill>
          <a:blip r:embed="rId3"/>
          <a:stretch>
            <a:fillRect/>
          </a:stretch>
        </p:blipFill>
        <p:spPr>
          <a:xfrm>
            <a:off x="4990143" y="2401912"/>
            <a:ext cx="626754" cy="606371"/>
          </a:xfrm>
          <a:prstGeom prst="rect">
            <a:avLst/>
          </a:prstGeom>
        </p:spPr>
      </p:pic>
      <p:pic>
        <p:nvPicPr>
          <p:cNvPr id="41" name="Image 40">
            <a:extLst>
              <a:ext uri="{FF2B5EF4-FFF2-40B4-BE49-F238E27FC236}">
                <a16:creationId xmlns:a16="http://schemas.microsoft.com/office/drawing/2014/main" id="{B925C211-2871-4409-A7D8-65140A70EC78}"/>
              </a:ext>
            </a:extLst>
          </p:cNvPr>
          <p:cNvPicPr>
            <a:picLocks noChangeAspect="1"/>
          </p:cNvPicPr>
          <p:nvPr/>
        </p:nvPicPr>
        <p:blipFill>
          <a:blip r:embed="rId4"/>
          <a:stretch>
            <a:fillRect/>
          </a:stretch>
        </p:blipFill>
        <p:spPr>
          <a:xfrm>
            <a:off x="8906826" y="2429218"/>
            <a:ext cx="557214" cy="579065"/>
          </a:xfrm>
          <a:prstGeom prst="rect">
            <a:avLst/>
          </a:prstGeom>
        </p:spPr>
      </p:pic>
      <p:pic>
        <p:nvPicPr>
          <p:cNvPr id="43" name="Image 42">
            <a:extLst>
              <a:ext uri="{FF2B5EF4-FFF2-40B4-BE49-F238E27FC236}">
                <a16:creationId xmlns:a16="http://schemas.microsoft.com/office/drawing/2014/main" id="{CEBBE783-DED3-4F47-BAFB-616FF48C67C9}"/>
              </a:ext>
            </a:extLst>
          </p:cNvPr>
          <p:cNvPicPr>
            <a:picLocks noChangeAspect="1"/>
          </p:cNvPicPr>
          <p:nvPr/>
        </p:nvPicPr>
        <p:blipFill>
          <a:blip r:embed="rId5"/>
          <a:stretch>
            <a:fillRect/>
          </a:stretch>
        </p:blipFill>
        <p:spPr>
          <a:xfrm>
            <a:off x="4860604" y="4571999"/>
            <a:ext cx="885831" cy="381003"/>
          </a:xfrm>
          <a:prstGeom prst="rect">
            <a:avLst/>
          </a:prstGeom>
        </p:spPr>
      </p:pic>
      <p:pic>
        <p:nvPicPr>
          <p:cNvPr id="45" name="Image 44">
            <a:extLst>
              <a:ext uri="{FF2B5EF4-FFF2-40B4-BE49-F238E27FC236}">
                <a16:creationId xmlns:a16="http://schemas.microsoft.com/office/drawing/2014/main" id="{CED47314-03C1-4DA0-9DB2-A8DB25F600A5}"/>
              </a:ext>
            </a:extLst>
          </p:cNvPr>
          <p:cNvPicPr>
            <a:picLocks noChangeAspect="1"/>
          </p:cNvPicPr>
          <p:nvPr/>
        </p:nvPicPr>
        <p:blipFill>
          <a:blip r:embed="rId6"/>
          <a:stretch>
            <a:fillRect/>
          </a:stretch>
        </p:blipFill>
        <p:spPr>
          <a:xfrm>
            <a:off x="1007196" y="4537708"/>
            <a:ext cx="914407" cy="342903"/>
          </a:xfrm>
          <a:prstGeom prst="rect">
            <a:avLst/>
          </a:prstGeom>
        </p:spPr>
      </p:pic>
      <p:pic>
        <p:nvPicPr>
          <p:cNvPr id="47" name="Image 46">
            <a:extLst>
              <a:ext uri="{FF2B5EF4-FFF2-40B4-BE49-F238E27FC236}">
                <a16:creationId xmlns:a16="http://schemas.microsoft.com/office/drawing/2014/main" id="{ECAE1D79-CB25-40CC-9916-B7B7FF34E18F}"/>
              </a:ext>
            </a:extLst>
          </p:cNvPr>
          <p:cNvPicPr>
            <a:picLocks noChangeAspect="1"/>
          </p:cNvPicPr>
          <p:nvPr/>
        </p:nvPicPr>
        <p:blipFill>
          <a:blip r:embed="rId7"/>
          <a:stretch>
            <a:fillRect/>
          </a:stretch>
        </p:blipFill>
        <p:spPr>
          <a:xfrm>
            <a:off x="8692515" y="4510917"/>
            <a:ext cx="902970" cy="44494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61610"/>
          </a:xfrm>
          <a:prstGeom prst="rect">
            <a:avLst/>
          </a:prstGeom>
          <a:noFill/>
        </p:spPr>
        <p:txBody>
          <a:bodyPr wrap="square">
            <a:spAutoFit/>
          </a:bodyPr>
          <a:lstStyle/>
          <a:p>
            <a:pPr algn="l">
              <a:defRPr sz="1100" b="1" i="0">
                <a:solidFill>
                  <a:srgbClr val="004D99"/>
                </a:solidFill>
              </a:defRPr>
            </a:pPr>
            <a:r>
              <a:rPr lang="fr-MA" dirty="0"/>
              <a:t>équipe</a:t>
            </a:r>
            <a:endParaRPr dirty="0"/>
          </a:p>
        </p:txBody>
      </p:sp>
      <p:sp>
        <p:nvSpPr>
          <p:cNvPr id="4" name="TextBox 3"/>
          <p:cNvSpPr txBox="1"/>
          <p:nvPr/>
        </p:nvSpPr>
        <p:spPr>
          <a:xfrm>
            <a:off x="731520" y="457200"/>
            <a:ext cx="10515600" cy="492443"/>
          </a:xfrm>
          <a:prstGeom prst="rect">
            <a:avLst/>
          </a:prstGeom>
          <a:noFill/>
        </p:spPr>
        <p:txBody>
          <a:bodyPr wrap="square">
            <a:spAutoFit/>
          </a:bodyPr>
          <a:lstStyle/>
          <a:p>
            <a:pPr algn="l">
              <a:defRPr sz="2600" b="1" i="0">
                <a:solidFill>
                  <a:srgbClr val="003366"/>
                </a:solidFill>
              </a:defRPr>
            </a:pPr>
            <a:r>
              <a:rPr lang="fr-MA" dirty="0"/>
              <a:t>équipe</a:t>
            </a:r>
            <a:r>
              <a:rPr dirty="0"/>
              <a:t> </a:t>
            </a:r>
            <a:r>
              <a:rPr dirty="0" err="1"/>
              <a:t>projet</a:t>
            </a:r>
            <a:r>
              <a:rPr dirty="0"/>
              <a:t> CS BAG v2</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11 / 32</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65760"/>
          </a:xfrm>
          <a:prstGeom prst="rect">
            <a:avLst/>
          </a:prstGeom>
          <a:noFill/>
        </p:spPr>
        <p:txBody>
          <a:bodyPr wrap="square">
            <a:spAutoFit/>
          </a:bodyPr>
          <a:lstStyle/>
          <a:p>
            <a:pPr algn="ctr">
              <a:defRPr sz="1400" b="0" i="1">
                <a:solidFill>
                  <a:srgbClr val="666666"/>
                </a:solidFill>
              </a:defRPr>
            </a:pPr>
            <a:r>
              <a:t>4 rôles autour de la refonte, chacun avec une responsabilité propre</a:t>
            </a:r>
          </a:p>
        </p:txBody>
      </p:sp>
      <p:sp>
        <p:nvSpPr>
          <p:cNvPr id="10" name="Rounded Rectangle 9"/>
          <p:cNvSpPr/>
          <p:nvPr/>
        </p:nvSpPr>
        <p:spPr>
          <a:xfrm>
            <a:off x="731520" y="1920240"/>
            <a:ext cx="5394960" cy="1828800"/>
          </a:xfrm>
          <a:prstGeom prst="roundRect">
            <a:avLst/>
          </a:prstGeom>
          <a:solidFill>
            <a:srgbClr val="FFFFFF"/>
          </a:solidFill>
          <a:ln w="22225">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1920240"/>
            <a:ext cx="5394960" cy="7315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2103120"/>
            <a:ext cx="4937760" cy="457200"/>
          </a:xfrm>
          <a:prstGeom prst="rect">
            <a:avLst/>
          </a:prstGeom>
          <a:noFill/>
        </p:spPr>
        <p:txBody>
          <a:bodyPr wrap="square">
            <a:spAutoFit/>
          </a:bodyPr>
          <a:lstStyle/>
          <a:p>
            <a:pPr algn="l">
              <a:defRPr sz="1800" b="1" i="0">
                <a:solidFill>
                  <a:srgbClr val="003366"/>
                </a:solidFill>
              </a:defRPr>
            </a:pPr>
            <a:r>
              <a:t>Chef de projet</a:t>
            </a:r>
          </a:p>
        </p:txBody>
      </p:sp>
      <p:sp>
        <p:nvSpPr>
          <p:cNvPr id="13" name="TextBox 12"/>
          <p:cNvSpPr txBox="1"/>
          <p:nvPr/>
        </p:nvSpPr>
        <p:spPr>
          <a:xfrm>
            <a:off x="1005840" y="2606040"/>
            <a:ext cx="4937760" cy="365760"/>
          </a:xfrm>
          <a:prstGeom prst="rect">
            <a:avLst/>
          </a:prstGeom>
          <a:noFill/>
        </p:spPr>
        <p:txBody>
          <a:bodyPr wrap="square">
            <a:spAutoFit/>
          </a:bodyPr>
          <a:lstStyle/>
          <a:p>
            <a:pPr algn="l">
              <a:defRPr sz="1200" b="1" i="0">
                <a:solidFill>
                  <a:srgbClr val="333333"/>
                </a:solidFill>
              </a:defRPr>
            </a:pPr>
            <a:r>
              <a:t>Pilotage, planning, arbitrages</a:t>
            </a:r>
          </a:p>
        </p:txBody>
      </p:sp>
      <p:sp>
        <p:nvSpPr>
          <p:cNvPr id="14" name="TextBox 13"/>
          <p:cNvSpPr txBox="1"/>
          <p:nvPr/>
        </p:nvSpPr>
        <p:spPr>
          <a:xfrm>
            <a:off x="1005840" y="2971800"/>
            <a:ext cx="4937760" cy="685800"/>
          </a:xfrm>
          <a:prstGeom prst="rect">
            <a:avLst/>
          </a:prstGeom>
          <a:noFill/>
        </p:spPr>
        <p:txBody>
          <a:bodyPr wrap="square">
            <a:spAutoFit/>
          </a:bodyPr>
          <a:lstStyle/>
          <a:p>
            <a:pPr algn="l">
              <a:defRPr sz="1100" b="0" i="1">
                <a:solidFill>
                  <a:srgbClr val="666666"/>
                </a:solidFill>
              </a:defRPr>
            </a:pPr>
            <a:r>
              <a:t>Interface avec le métier, priorisation des lots</a:t>
            </a:r>
          </a:p>
        </p:txBody>
      </p:sp>
      <p:sp>
        <p:nvSpPr>
          <p:cNvPr id="15" name="Rounded Rectangle 14"/>
          <p:cNvSpPr/>
          <p:nvPr/>
        </p:nvSpPr>
        <p:spPr>
          <a:xfrm>
            <a:off x="6400800" y="1920240"/>
            <a:ext cx="5394960" cy="1828800"/>
          </a:xfrm>
          <a:prstGeom prst="roundRect">
            <a:avLst/>
          </a:prstGeom>
          <a:solidFill>
            <a:srgbClr val="FFFFFF"/>
          </a:solidFill>
          <a:ln w="22225">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400800" y="1920240"/>
            <a:ext cx="5394960" cy="7315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0" y="2103120"/>
            <a:ext cx="4937760" cy="457200"/>
          </a:xfrm>
          <a:prstGeom prst="rect">
            <a:avLst/>
          </a:prstGeom>
          <a:noFill/>
        </p:spPr>
        <p:txBody>
          <a:bodyPr wrap="square">
            <a:spAutoFit/>
          </a:bodyPr>
          <a:lstStyle/>
          <a:p>
            <a:pPr algn="l">
              <a:defRPr sz="1800" b="1" i="0">
                <a:solidFill>
                  <a:srgbClr val="003366"/>
                </a:solidFill>
              </a:defRPr>
            </a:pPr>
            <a:r>
              <a:t>Référent technique</a:t>
            </a:r>
          </a:p>
        </p:txBody>
      </p:sp>
      <p:sp>
        <p:nvSpPr>
          <p:cNvPr id="18" name="TextBox 17"/>
          <p:cNvSpPr txBox="1"/>
          <p:nvPr/>
        </p:nvSpPr>
        <p:spPr>
          <a:xfrm>
            <a:off x="6675120" y="2606040"/>
            <a:ext cx="4937760" cy="365760"/>
          </a:xfrm>
          <a:prstGeom prst="rect">
            <a:avLst/>
          </a:prstGeom>
          <a:noFill/>
        </p:spPr>
        <p:txBody>
          <a:bodyPr wrap="square">
            <a:spAutoFit/>
          </a:bodyPr>
          <a:lstStyle/>
          <a:p>
            <a:pPr algn="l">
              <a:defRPr sz="1200" b="1" i="0">
                <a:solidFill>
                  <a:srgbClr val="333333"/>
                </a:solidFill>
              </a:defRPr>
            </a:pPr>
            <a:r>
              <a:t>Architecture et revue de code</a:t>
            </a:r>
          </a:p>
        </p:txBody>
      </p:sp>
      <p:sp>
        <p:nvSpPr>
          <p:cNvPr id="19" name="TextBox 18"/>
          <p:cNvSpPr txBox="1"/>
          <p:nvPr/>
        </p:nvSpPr>
        <p:spPr>
          <a:xfrm>
            <a:off x="6675120" y="2971800"/>
            <a:ext cx="4937760" cy="685800"/>
          </a:xfrm>
          <a:prstGeom prst="rect">
            <a:avLst/>
          </a:prstGeom>
          <a:noFill/>
        </p:spPr>
        <p:txBody>
          <a:bodyPr wrap="square">
            <a:spAutoFit/>
          </a:bodyPr>
          <a:lstStyle/>
          <a:p>
            <a:pPr algn="l">
              <a:defRPr sz="1100" b="0" i="1">
                <a:solidFill>
                  <a:srgbClr val="666666"/>
                </a:solidFill>
              </a:defRPr>
            </a:pPr>
            <a:r>
              <a:t>Validation des choix techniques lors du point du vendredi</a:t>
            </a:r>
          </a:p>
        </p:txBody>
      </p:sp>
      <p:sp>
        <p:nvSpPr>
          <p:cNvPr id="20" name="Rounded Rectangle 19"/>
          <p:cNvSpPr/>
          <p:nvPr/>
        </p:nvSpPr>
        <p:spPr>
          <a:xfrm>
            <a:off x="731520" y="4114800"/>
            <a:ext cx="5394960" cy="1828800"/>
          </a:xfrm>
          <a:prstGeom prst="roundRect">
            <a:avLst/>
          </a:prstGeom>
          <a:solidFill>
            <a:srgbClr val="FFFFFF"/>
          </a:solidFill>
          <a:ln w="22225">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31520" y="4114800"/>
            <a:ext cx="5394960" cy="7315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05840" y="4297680"/>
            <a:ext cx="4937760" cy="457200"/>
          </a:xfrm>
          <a:prstGeom prst="rect">
            <a:avLst/>
          </a:prstGeom>
          <a:noFill/>
        </p:spPr>
        <p:txBody>
          <a:bodyPr wrap="square">
            <a:spAutoFit/>
          </a:bodyPr>
          <a:lstStyle/>
          <a:p>
            <a:pPr algn="l">
              <a:defRPr sz="1800" b="1" i="0">
                <a:solidFill>
                  <a:srgbClr val="003366"/>
                </a:solidFill>
              </a:defRPr>
            </a:pPr>
            <a:r>
              <a:t>Analyste fonctionnelle</a:t>
            </a:r>
          </a:p>
        </p:txBody>
      </p:sp>
      <p:sp>
        <p:nvSpPr>
          <p:cNvPr id="23" name="TextBox 22"/>
          <p:cNvSpPr txBox="1"/>
          <p:nvPr/>
        </p:nvSpPr>
        <p:spPr>
          <a:xfrm>
            <a:off x="1005840" y="4800600"/>
            <a:ext cx="4937760" cy="365760"/>
          </a:xfrm>
          <a:prstGeom prst="rect">
            <a:avLst/>
          </a:prstGeom>
          <a:noFill/>
        </p:spPr>
        <p:txBody>
          <a:bodyPr wrap="square">
            <a:spAutoFit/>
          </a:bodyPr>
          <a:lstStyle/>
          <a:p>
            <a:pPr algn="l">
              <a:defRPr sz="1200" b="1" i="0">
                <a:solidFill>
                  <a:srgbClr val="333333"/>
                </a:solidFill>
              </a:defRPr>
            </a:pPr>
            <a:r>
              <a:t>Rédaction des spécifications et recette</a:t>
            </a:r>
          </a:p>
        </p:txBody>
      </p:sp>
      <p:sp>
        <p:nvSpPr>
          <p:cNvPr id="24" name="TextBox 23"/>
          <p:cNvSpPr txBox="1"/>
          <p:nvPr/>
        </p:nvSpPr>
        <p:spPr>
          <a:xfrm>
            <a:off x="1005840" y="5166360"/>
            <a:ext cx="4937760" cy="685800"/>
          </a:xfrm>
          <a:prstGeom prst="rect">
            <a:avLst/>
          </a:prstGeom>
          <a:noFill/>
        </p:spPr>
        <p:txBody>
          <a:bodyPr wrap="square">
            <a:spAutoFit/>
          </a:bodyPr>
          <a:lstStyle/>
          <a:p>
            <a:pPr algn="l">
              <a:defRPr sz="1100" b="0" i="1">
                <a:solidFill>
                  <a:srgbClr val="666666"/>
                </a:solidFill>
              </a:defRPr>
            </a:pPr>
            <a:r>
              <a:t>Rédige les 3 lots, tient le cahier d'anomalies après chaque livraison</a:t>
            </a:r>
          </a:p>
        </p:txBody>
      </p:sp>
      <p:sp>
        <p:nvSpPr>
          <p:cNvPr id="25" name="Rounded Rectangle 24"/>
          <p:cNvSpPr/>
          <p:nvPr/>
        </p:nvSpPr>
        <p:spPr>
          <a:xfrm>
            <a:off x="6400800" y="4114800"/>
            <a:ext cx="5394960" cy="1828800"/>
          </a:xfrm>
          <a:prstGeom prst="roundRect">
            <a:avLst/>
          </a:prstGeom>
          <a:solidFill>
            <a:srgbClr val="FFFFFF"/>
          </a:solidFill>
          <a:ln w="22225">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400800" y="4114800"/>
            <a:ext cx="5394960" cy="73152"/>
          </a:xfrm>
          <a:prstGeom prst="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675120" y="4297680"/>
            <a:ext cx="4937760" cy="457200"/>
          </a:xfrm>
          <a:prstGeom prst="rect">
            <a:avLst/>
          </a:prstGeom>
          <a:noFill/>
        </p:spPr>
        <p:txBody>
          <a:bodyPr wrap="square">
            <a:spAutoFit/>
          </a:bodyPr>
          <a:lstStyle/>
          <a:p>
            <a:pPr algn="l">
              <a:defRPr sz="1800" b="1" i="0">
                <a:solidFill>
                  <a:srgbClr val="2E8B3D"/>
                </a:solidFill>
              </a:defRPr>
            </a:pPr>
            <a:r>
              <a:rPr dirty="0" err="1"/>
              <a:t>Analyste</a:t>
            </a:r>
            <a:r>
              <a:rPr dirty="0"/>
              <a:t> </a:t>
            </a:r>
            <a:r>
              <a:rPr dirty="0" err="1"/>
              <a:t>developpeur</a:t>
            </a:r>
            <a:endParaRPr dirty="0"/>
          </a:p>
        </p:txBody>
      </p:sp>
      <p:sp>
        <p:nvSpPr>
          <p:cNvPr id="28" name="TextBox 27"/>
          <p:cNvSpPr txBox="1"/>
          <p:nvPr/>
        </p:nvSpPr>
        <p:spPr>
          <a:xfrm>
            <a:off x="6675120" y="4800600"/>
            <a:ext cx="4937760" cy="365760"/>
          </a:xfrm>
          <a:prstGeom prst="rect">
            <a:avLst/>
          </a:prstGeom>
          <a:noFill/>
        </p:spPr>
        <p:txBody>
          <a:bodyPr wrap="square">
            <a:spAutoFit/>
          </a:bodyPr>
          <a:lstStyle/>
          <a:p>
            <a:pPr algn="l">
              <a:defRPr sz="1200" b="1" i="0">
                <a:solidFill>
                  <a:srgbClr val="333333"/>
                </a:solidFill>
              </a:defRPr>
            </a:pPr>
            <a:r>
              <a:t>Conception, développement, tests, déploiement</a:t>
            </a:r>
          </a:p>
        </p:txBody>
      </p:sp>
      <p:sp>
        <p:nvSpPr>
          <p:cNvPr id="29" name="TextBox 28"/>
          <p:cNvSpPr txBox="1"/>
          <p:nvPr/>
        </p:nvSpPr>
        <p:spPr>
          <a:xfrm>
            <a:off x="6675120" y="5166360"/>
            <a:ext cx="4937760" cy="685800"/>
          </a:xfrm>
          <a:prstGeom prst="rect">
            <a:avLst/>
          </a:prstGeom>
          <a:noFill/>
        </p:spPr>
        <p:txBody>
          <a:bodyPr wrap="square">
            <a:spAutoFit/>
          </a:bodyPr>
          <a:lstStyle/>
          <a:p>
            <a:pPr algn="l">
              <a:defRPr sz="1100" b="0" i="1">
                <a:solidFill>
                  <a:srgbClr val="666666"/>
                </a:solidFill>
              </a:defRPr>
            </a:pPr>
            <a:r>
              <a:t>Rôle occupé pendant mon PFE - 252 des 255 livraisons de code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61610"/>
          </a:xfrm>
          <a:prstGeom prst="rect">
            <a:avLst/>
          </a:prstGeom>
          <a:noFill/>
        </p:spPr>
        <p:txBody>
          <a:bodyPr wrap="square">
            <a:spAutoFit/>
          </a:bodyPr>
          <a:lstStyle/>
          <a:p>
            <a:pPr algn="l">
              <a:defRPr sz="1100" b="1" i="0">
                <a:solidFill>
                  <a:srgbClr val="004D99"/>
                </a:solidFill>
              </a:defRPr>
            </a:pPr>
            <a:r>
              <a:rPr lang="fr-MA" dirty="0"/>
              <a:t>équipe</a:t>
            </a:r>
            <a:endParaRPr dirty="0"/>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Méthode agile et environnement technique</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12 / 32</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5303520" cy="365760"/>
          </a:xfrm>
          <a:prstGeom prst="rect">
            <a:avLst/>
          </a:prstGeom>
          <a:noFill/>
        </p:spPr>
        <p:txBody>
          <a:bodyPr wrap="square">
            <a:spAutoFit/>
          </a:bodyPr>
          <a:lstStyle/>
          <a:p>
            <a:pPr algn="l">
              <a:defRPr sz="1600" b="1" i="0">
                <a:solidFill>
                  <a:srgbClr val="003366"/>
                </a:solidFill>
              </a:defRPr>
            </a:pPr>
            <a:r>
              <a:t>Rituels de la semaine</a:t>
            </a:r>
          </a:p>
        </p:txBody>
      </p:sp>
      <p:sp>
        <p:nvSpPr>
          <p:cNvPr id="10" name="Rounded Rectangle 9"/>
          <p:cNvSpPr/>
          <p:nvPr/>
        </p:nvSpPr>
        <p:spPr>
          <a:xfrm>
            <a:off x="731520" y="1783080"/>
            <a:ext cx="1280160" cy="548640"/>
          </a:xfrm>
          <a:prstGeom prst="roundRect">
            <a:avLst/>
          </a:prstGeom>
          <a:solidFill>
            <a:srgbClr val="004D99"/>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Quotidien</a:t>
            </a:r>
          </a:p>
        </p:txBody>
      </p:sp>
      <p:sp>
        <p:nvSpPr>
          <p:cNvPr id="11" name="TextBox 10"/>
          <p:cNvSpPr txBox="1"/>
          <p:nvPr/>
        </p:nvSpPr>
        <p:spPr>
          <a:xfrm>
            <a:off x="2194560" y="1783080"/>
            <a:ext cx="4114800" cy="320040"/>
          </a:xfrm>
          <a:prstGeom prst="rect">
            <a:avLst/>
          </a:prstGeom>
          <a:noFill/>
        </p:spPr>
        <p:txBody>
          <a:bodyPr wrap="square">
            <a:spAutoFit/>
          </a:bodyPr>
          <a:lstStyle/>
          <a:p>
            <a:pPr algn="l">
              <a:defRPr sz="1300" b="1" i="0">
                <a:solidFill>
                  <a:srgbClr val="003366"/>
                </a:solidFill>
              </a:defRPr>
            </a:pPr>
            <a:r>
              <a:t>Daily squad</a:t>
            </a:r>
          </a:p>
        </p:txBody>
      </p:sp>
      <p:sp>
        <p:nvSpPr>
          <p:cNvPr id="12" name="TextBox 11"/>
          <p:cNvSpPr txBox="1"/>
          <p:nvPr/>
        </p:nvSpPr>
        <p:spPr>
          <a:xfrm>
            <a:off x="2194560" y="2103120"/>
            <a:ext cx="4114800" cy="320040"/>
          </a:xfrm>
          <a:prstGeom prst="rect">
            <a:avLst/>
          </a:prstGeom>
          <a:noFill/>
        </p:spPr>
        <p:txBody>
          <a:bodyPr wrap="square">
            <a:spAutoFit/>
          </a:bodyPr>
          <a:lstStyle/>
          <a:p>
            <a:pPr algn="l">
              <a:defRPr sz="1000" b="0" i="0">
                <a:solidFill>
                  <a:srgbClr val="666666"/>
                </a:solidFill>
              </a:defRPr>
            </a:pPr>
            <a:r>
              <a:t>Point veille / jour / bloquants</a:t>
            </a:r>
          </a:p>
        </p:txBody>
      </p:sp>
      <p:sp>
        <p:nvSpPr>
          <p:cNvPr id="13" name="Rounded Rectangle 12"/>
          <p:cNvSpPr/>
          <p:nvPr/>
        </p:nvSpPr>
        <p:spPr>
          <a:xfrm>
            <a:off x="731520" y="2560320"/>
            <a:ext cx="1280160" cy="548640"/>
          </a:xfrm>
          <a:prstGeom prst="roundRect">
            <a:avLst/>
          </a:prstGeom>
          <a:solidFill>
            <a:srgbClr val="004D99"/>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Lundi</a:t>
            </a:r>
          </a:p>
        </p:txBody>
      </p:sp>
      <p:sp>
        <p:nvSpPr>
          <p:cNvPr id="14" name="TextBox 13"/>
          <p:cNvSpPr txBox="1"/>
          <p:nvPr/>
        </p:nvSpPr>
        <p:spPr>
          <a:xfrm>
            <a:off x="2194560" y="2560320"/>
            <a:ext cx="4114800" cy="292388"/>
          </a:xfrm>
          <a:prstGeom prst="rect">
            <a:avLst/>
          </a:prstGeom>
          <a:noFill/>
        </p:spPr>
        <p:txBody>
          <a:bodyPr wrap="square">
            <a:spAutoFit/>
          </a:bodyPr>
          <a:lstStyle/>
          <a:p>
            <a:pPr algn="l">
              <a:defRPr sz="1300" b="1" i="0">
                <a:solidFill>
                  <a:srgbClr val="003366"/>
                </a:solidFill>
              </a:defRPr>
            </a:pPr>
            <a:r>
              <a:rPr dirty="0"/>
              <a:t>Point d'</a:t>
            </a:r>
            <a:r>
              <a:rPr lang="fr-MA" dirty="0"/>
              <a:t>équipe</a:t>
            </a:r>
            <a:endParaRPr dirty="0"/>
          </a:p>
        </p:txBody>
      </p:sp>
      <p:sp>
        <p:nvSpPr>
          <p:cNvPr id="15" name="TextBox 14"/>
          <p:cNvSpPr txBox="1"/>
          <p:nvPr/>
        </p:nvSpPr>
        <p:spPr>
          <a:xfrm>
            <a:off x="2194560" y="2880360"/>
            <a:ext cx="4114800" cy="320040"/>
          </a:xfrm>
          <a:prstGeom prst="rect">
            <a:avLst/>
          </a:prstGeom>
          <a:noFill/>
        </p:spPr>
        <p:txBody>
          <a:bodyPr wrap="square">
            <a:spAutoFit/>
          </a:bodyPr>
          <a:lstStyle/>
          <a:p>
            <a:pPr algn="l">
              <a:defRPr sz="1000" b="0" i="0">
                <a:solidFill>
                  <a:srgbClr val="666666"/>
                </a:solidFill>
              </a:defRPr>
            </a:pPr>
            <a:r>
              <a:t>Coordination Group Collaborative Solutions</a:t>
            </a:r>
          </a:p>
        </p:txBody>
      </p:sp>
      <p:sp>
        <p:nvSpPr>
          <p:cNvPr id="16" name="Rounded Rectangle 15"/>
          <p:cNvSpPr/>
          <p:nvPr/>
        </p:nvSpPr>
        <p:spPr>
          <a:xfrm>
            <a:off x="731520" y="3337560"/>
            <a:ext cx="1280160" cy="548640"/>
          </a:xfrm>
          <a:prstGeom prst="roundRect">
            <a:avLst/>
          </a:prstGeom>
          <a:solidFill>
            <a:srgbClr val="004D99"/>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Mardi</a:t>
            </a:r>
          </a:p>
        </p:txBody>
      </p:sp>
      <p:sp>
        <p:nvSpPr>
          <p:cNvPr id="17" name="TextBox 16"/>
          <p:cNvSpPr txBox="1"/>
          <p:nvPr/>
        </p:nvSpPr>
        <p:spPr>
          <a:xfrm>
            <a:off x="2194560" y="3337560"/>
            <a:ext cx="4114800" cy="320040"/>
          </a:xfrm>
          <a:prstGeom prst="rect">
            <a:avLst/>
          </a:prstGeom>
          <a:noFill/>
        </p:spPr>
        <p:txBody>
          <a:bodyPr wrap="square">
            <a:spAutoFit/>
          </a:bodyPr>
          <a:lstStyle/>
          <a:p>
            <a:pPr algn="l">
              <a:defRPr sz="1300" b="1" i="0">
                <a:solidFill>
                  <a:srgbClr val="003366"/>
                </a:solidFill>
              </a:defRPr>
            </a:pPr>
            <a:r>
              <a:t>Point de squad</a:t>
            </a:r>
          </a:p>
        </p:txBody>
      </p:sp>
      <p:sp>
        <p:nvSpPr>
          <p:cNvPr id="18" name="TextBox 17"/>
          <p:cNvSpPr txBox="1"/>
          <p:nvPr/>
        </p:nvSpPr>
        <p:spPr>
          <a:xfrm>
            <a:off x="2194560" y="3657600"/>
            <a:ext cx="4114800" cy="320040"/>
          </a:xfrm>
          <a:prstGeom prst="rect">
            <a:avLst/>
          </a:prstGeom>
          <a:noFill/>
        </p:spPr>
        <p:txBody>
          <a:bodyPr wrap="square">
            <a:spAutoFit/>
          </a:bodyPr>
          <a:lstStyle/>
          <a:p>
            <a:pPr algn="l">
              <a:defRPr sz="1000" b="0" i="0">
                <a:solidFill>
                  <a:srgbClr val="666666"/>
                </a:solidFill>
              </a:defRPr>
            </a:pPr>
            <a:r>
              <a:t>Avancement du squad M365</a:t>
            </a:r>
          </a:p>
        </p:txBody>
      </p:sp>
      <p:sp>
        <p:nvSpPr>
          <p:cNvPr id="19" name="Rounded Rectangle 18"/>
          <p:cNvSpPr/>
          <p:nvPr/>
        </p:nvSpPr>
        <p:spPr>
          <a:xfrm>
            <a:off x="731520" y="4114800"/>
            <a:ext cx="1280160" cy="548640"/>
          </a:xfrm>
          <a:prstGeom prst="roundRect">
            <a:avLst/>
          </a:prstGeom>
          <a:solidFill>
            <a:srgbClr val="004D99"/>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Vendredi</a:t>
            </a:r>
          </a:p>
        </p:txBody>
      </p:sp>
      <p:sp>
        <p:nvSpPr>
          <p:cNvPr id="20" name="TextBox 19"/>
          <p:cNvSpPr txBox="1"/>
          <p:nvPr/>
        </p:nvSpPr>
        <p:spPr>
          <a:xfrm>
            <a:off x="2194560" y="4114800"/>
            <a:ext cx="4114800" cy="320040"/>
          </a:xfrm>
          <a:prstGeom prst="rect">
            <a:avLst/>
          </a:prstGeom>
          <a:noFill/>
        </p:spPr>
        <p:txBody>
          <a:bodyPr wrap="square">
            <a:spAutoFit/>
          </a:bodyPr>
          <a:lstStyle/>
          <a:p>
            <a:pPr algn="l">
              <a:defRPr sz="1300" b="1" i="0">
                <a:solidFill>
                  <a:srgbClr val="003366"/>
                </a:solidFill>
              </a:defRPr>
            </a:pPr>
            <a:r>
              <a:t>Point technique</a:t>
            </a:r>
          </a:p>
        </p:txBody>
      </p:sp>
      <p:sp>
        <p:nvSpPr>
          <p:cNvPr id="21" name="TextBox 20"/>
          <p:cNvSpPr txBox="1"/>
          <p:nvPr/>
        </p:nvSpPr>
        <p:spPr>
          <a:xfrm>
            <a:off x="2194560" y="4434840"/>
            <a:ext cx="4114800" cy="320040"/>
          </a:xfrm>
          <a:prstGeom prst="rect">
            <a:avLst/>
          </a:prstGeom>
          <a:noFill/>
        </p:spPr>
        <p:txBody>
          <a:bodyPr wrap="square">
            <a:spAutoFit/>
          </a:bodyPr>
          <a:lstStyle/>
          <a:p>
            <a:pPr algn="l">
              <a:defRPr sz="1000" b="0" i="0">
                <a:solidFill>
                  <a:srgbClr val="666666"/>
                </a:solidFill>
              </a:defRPr>
            </a:pPr>
            <a:r>
              <a:t>Validation avec le référent technique (Nathan)</a:t>
            </a:r>
          </a:p>
        </p:txBody>
      </p:sp>
      <p:sp>
        <p:nvSpPr>
          <p:cNvPr id="22" name="TextBox 21"/>
          <p:cNvSpPr txBox="1"/>
          <p:nvPr/>
        </p:nvSpPr>
        <p:spPr>
          <a:xfrm>
            <a:off x="6400800" y="1280160"/>
            <a:ext cx="5029200" cy="365760"/>
          </a:xfrm>
          <a:prstGeom prst="rect">
            <a:avLst/>
          </a:prstGeom>
          <a:noFill/>
        </p:spPr>
        <p:txBody>
          <a:bodyPr wrap="square">
            <a:spAutoFit/>
          </a:bodyPr>
          <a:lstStyle/>
          <a:p>
            <a:pPr algn="l">
              <a:defRPr sz="1600" b="1" i="0">
                <a:solidFill>
                  <a:srgbClr val="003366"/>
                </a:solidFill>
              </a:defRPr>
            </a:pPr>
            <a:r>
              <a:rPr dirty="0" err="1"/>
              <a:t>Environnement</a:t>
            </a:r>
            <a:r>
              <a:rPr dirty="0"/>
              <a:t> technique</a:t>
            </a:r>
          </a:p>
        </p:txBody>
      </p:sp>
      <p:sp>
        <p:nvSpPr>
          <p:cNvPr id="23" name="TextBox 22"/>
          <p:cNvSpPr txBox="1"/>
          <p:nvPr/>
        </p:nvSpPr>
        <p:spPr>
          <a:xfrm>
            <a:off x="6400800" y="1783080"/>
            <a:ext cx="1645920" cy="274320"/>
          </a:xfrm>
          <a:prstGeom prst="rect">
            <a:avLst/>
          </a:prstGeom>
          <a:noFill/>
        </p:spPr>
        <p:txBody>
          <a:bodyPr wrap="square">
            <a:spAutoFit/>
          </a:bodyPr>
          <a:lstStyle/>
          <a:p>
            <a:pPr algn="l">
              <a:defRPr sz="1100" b="1" i="0">
                <a:solidFill>
                  <a:srgbClr val="003366"/>
                </a:solidFill>
              </a:defRPr>
            </a:pPr>
            <a:r>
              <a:t>Back-end</a:t>
            </a:r>
          </a:p>
        </p:txBody>
      </p:sp>
      <p:sp>
        <p:nvSpPr>
          <p:cNvPr id="24" name="TextBox 23"/>
          <p:cNvSpPr txBox="1"/>
          <p:nvPr/>
        </p:nvSpPr>
        <p:spPr>
          <a:xfrm>
            <a:off x="8229600" y="1783080"/>
            <a:ext cx="1767840" cy="261610"/>
          </a:xfrm>
          <a:prstGeom prst="rect">
            <a:avLst/>
          </a:prstGeom>
          <a:noFill/>
        </p:spPr>
        <p:txBody>
          <a:bodyPr wrap="square">
            <a:spAutoFit/>
          </a:bodyPr>
          <a:lstStyle/>
          <a:p>
            <a:pPr algn="l">
              <a:defRPr sz="1100" b="0" i="0">
                <a:solidFill>
                  <a:srgbClr val="333333"/>
                </a:solidFill>
              </a:defRPr>
            </a:pPr>
            <a:r>
              <a:rPr dirty="0"/>
              <a:t>C#, ASP.NET Core</a:t>
            </a:r>
          </a:p>
        </p:txBody>
      </p:sp>
      <p:sp>
        <p:nvSpPr>
          <p:cNvPr id="25" name="TextBox 24"/>
          <p:cNvSpPr txBox="1"/>
          <p:nvPr/>
        </p:nvSpPr>
        <p:spPr>
          <a:xfrm>
            <a:off x="6400800" y="2286000"/>
            <a:ext cx="1645920" cy="274320"/>
          </a:xfrm>
          <a:prstGeom prst="rect">
            <a:avLst/>
          </a:prstGeom>
          <a:noFill/>
        </p:spPr>
        <p:txBody>
          <a:bodyPr wrap="square">
            <a:spAutoFit/>
          </a:bodyPr>
          <a:lstStyle/>
          <a:p>
            <a:pPr algn="l">
              <a:defRPr sz="1100" b="1" i="0">
                <a:solidFill>
                  <a:srgbClr val="003366"/>
                </a:solidFill>
              </a:defRPr>
            </a:pPr>
            <a:r>
              <a:t>Front-end</a:t>
            </a:r>
          </a:p>
        </p:txBody>
      </p:sp>
      <p:sp>
        <p:nvSpPr>
          <p:cNvPr id="26" name="TextBox 25"/>
          <p:cNvSpPr txBox="1"/>
          <p:nvPr/>
        </p:nvSpPr>
        <p:spPr>
          <a:xfrm>
            <a:off x="8229600" y="2286000"/>
            <a:ext cx="1905000" cy="261610"/>
          </a:xfrm>
          <a:prstGeom prst="rect">
            <a:avLst/>
          </a:prstGeom>
          <a:noFill/>
        </p:spPr>
        <p:txBody>
          <a:bodyPr wrap="square">
            <a:spAutoFit/>
          </a:bodyPr>
          <a:lstStyle/>
          <a:p>
            <a:pPr algn="l">
              <a:defRPr sz="1100" b="0" i="0">
                <a:solidFill>
                  <a:srgbClr val="333333"/>
                </a:solidFill>
              </a:defRPr>
            </a:pPr>
            <a:r>
              <a:rPr dirty="0"/>
              <a:t>Angular 20, Angular Material</a:t>
            </a:r>
          </a:p>
        </p:txBody>
      </p:sp>
      <p:sp>
        <p:nvSpPr>
          <p:cNvPr id="27" name="TextBox 26"/>
          <p:cNvSpPr txBox="1"/>
          <p:nvPr/>
        </p:nvSpPr>
        <p:spPr>
          <a:xfrm>
            <a:off x="6400800" y="2788920"/>
            <a:ext cx="1645920" cy="274320"/>
          </a:xfrm>
          <a:prstGeom prst="rect">
            <a:avLst/>
          </a:prstGeom>
          <a:noFill/>
        </p:spPr>
        <p:txBody>
          <a:bodyPr wrap="square">
            <a:spAutoFit/>
          </a:bodyPr>
          <a:lstStyle/>
          <a:p>
            <a:pPr algn="l">
              <a:defRPr sz="1100" b="1" i="0">
                <a:solidFill>
                  <a:srgbClr val="003366"/>
                </a:solidFill>
              </a:defRPr>
            </a:pPr>
            <a:r>
              <a:t>Base de données</a:t>
            </a:r>
          </a:p>
        </p:txBody>
      </p:sp>
      <p:sp>
        <p:nvSpPr>
          <p:cNvPr id="28" name="TextBox 27"/>
          <p:cNvSpPr txBox="1"/>
          <p:nvPr/>
        </p:nvSpPr>
        <p:spPr>
          <a:xfrm>
            <a:off x="8229600" y="2788920"/>
            <a:ext cx="2143125" cy="261610"/>
          </a:xfrm>
          <a:prstGeom prst="rect">
            <a:avLst/>
          </a:prstGeom>
          <a:noFill/>
        </p:spPr>
        <p:txBody>
          <a:bodyPr wrap="square">
            <a:spAutoFit/>
          </a:bodyPr>
          <a:lstStyle/>
          <a:p>
            <a:pPr algn="l">
              <a:defRPr sz="1100" b="0" i="0">
                <a:solidFill>
                  <a:srgbClr val="333333"/>
                </a:solidFill>
              </a:defRPr>
            </a:pPr>
            <a:r>
              <a:t>Microsoft SQL Server, EF Core 10</a:t>
            </a:r>
          </a:p>
        </p:txBody>
      </p:sp>
      <p:sp>
        <p:nvSpPr>
          <p:cNvPr id="29" name="TextBox 28"/>
          <p:cNvSpPr txBox="1"/>
          <p:nvPr/>
        </p:nvSpPr>
        <p:spPr>
          <a:xfrm>
            <a:off x="6400800" y="3291840"/>
            <a:ext cx="1645920" cy="274320"/>
          </a:xfrm>
          <a:prstGeom prst="rect">
            <a:avLst/>
          </a:prstGeom>
          <a:noFill/>
        </p:spPr>
        <p:txBody>
          <a:bodyPr wrap="square">
            <a:spAutoFit/>
          </a:bodyPr>
          <a:lstStyle/>
          <a:p>
            <a:pPr algn="l">
              <a:defRPr sz="1100" b="1" i="0">
                <a:solidFill>
                  <a:srgbClr val="003366"/>
                </a:solidFill>
              </a:defRPr>
            </a:pPr>
            <a:r>
              <a:t>Cloud</a:t>
            </a:r>
          </a:p>
        </p:txBody>
      </p:sp>
      <p:sp>
        <p:nvSpPr>
          <p:cNvPr id="30" name="TextBox 29"/>
          <p:cNvSpPr txBox="1"/>
          <p:nvPr/>
        </p:nvSpPr>
        <p:spPr>
          <a:xfrm>
            <a:off x="8229600" y="3291840"/>
            <a:ext cx="2795588" cy="261610"/>
          </a:xfrm>
          <a:prstGeom prst="rect">
            <a:avLst/>
          </a:prstGeom>
          <a:noFill/>
        </p:spPr>
        <p:txBody>
          <a:bodyPr wrap="square">
            <a:spAutoFit/>
          </a:bodyPr>
          <a:lstStyle/>
          <a:p>
            <a:pPr algn="l">
              <a:defRPr sz="1100" b="0" i="0">
                <a:solidFill>
                  <a:srgbClr val="333333"/>
                </a:solidFill>
              </a:defRPr>
            </a:pPr>
            <a:r>
              <a:rPr dirty="0"/>
              <a:t>Microsoft Azure, Azure Key Vault, </a:t>
            </a:r>
            <a:r>
              <a:rPr dirty="0" err="1"/>
              <a:t>Entra</a:t>
            </a:r>
            <a:r>
              <a:rPr dirty="0"/>
              <a:t> ID</a:t>
            </a:r>
          </a:p>
        </p:txBody>
      </p:sp>
      <p:sp>
        <p:nvSpPr>
          <p:cNvPr id="31" name="TextBox 30"/>
          <p:cNvSpPr txBox="1"/>
          <p:nvPr/>
        </p:nvSpPr>
        <p:spPr>
          <a:xfrm>
            <a:off x="6400800" y="3794760"/>
            <a:ext cx="1645920" cy="274320"/>
          </a:xfrm>
          <a:prstGeom prst="rect">
            <a:avLst/>
          </a:prstGeom>
          <a:noFill/>
        </p:spPr>
        <p:txBody>
          <a:bodyPr wrap="square">
            <a:spAutoFit/>
          </a:bodyPr>
          <a:lstStyle/>
          <a:p>
            <a:pPr algn="l">
              <a:defRPr sz="1100" b="1" i="0">
                <a:solidFill>
                  <a:srgbClr val="003366"/>
                </a:solidFill>
              </a:defRPr>
            </a:pPr>
            <a:r>
              <a:t>Gestion de code</a:t>
            </a:r>
          </a:p>
        </p:txBody>
      </p:sp>
      <p:sp>
        <p:nvSpPr>
          <p:cNvPr id="32" name="TextBox 31"/>
          <p:cNvSpPr txBox="1"/>
          <p:nvPr/>
        </p:nvSpPr>
        <p:spPr>
          <a:xfrm>
            <a:off x="8229600" y="3794760"/>
            <a:ext cx="2200275" cy="261610"/>
          </a:xfrm>
          <a:prstGeom prst="rect">
            <a:avLst/>
          </a:prstGeom>
          <a:noFill/>
        </p:spPr>
        <p:txBody>
          <a:bodyPr wrap="square">
            <a:spAutoFit/>
          </a:bodyPr>
          <a:lstStyle/>
          <a:p>
            <a:pPr algn="l">
              <a:defRPr sz="1100" b="0" i="0">
                <a:solidFill>
                  <a:srgbClr val="333333"/>
                </a:solidFill>
              </a:defRPr>
            </a:pPr>
            <a:r>
              <a:rPr dirty="0"/>
              <a:t>GitLab (instance auto-</a:t>
            </a:r>
            <a:r>
              <a:rPr dirty="0" err="1"/>
              <a:t>hebergee</a:t>
            </a:r>
            <a:r>
              <a:rPr dirty="0"/>
              <a:t>)</a:t>
            </a:r>
          </a:p>
        </p:txBody>
      </p:sp>
      <p:sp>
        <p:nvSpPr>
          <p:cNvPr id="33" name="TextBox 32"/>
          <p:cNvSpPr txBox="1"/>
          <p:nvPr/>
        </p:nvSpPr>
        <p:spPr>
          <a:xfrm>
            <a:off x="6400800" y="4297680"/>
            <a:ext cx="1645920" cy="274320"/>
          </a:xfrm>
          <a:prstGeom prst="rect">
            <a:avLst/>
          </a:prstGeom>
          <a:noFill/>
        </p:spPr>
        <p:txBody>
          <a:bodyPr wrap="square">
            <a:spAutoFit/>
          </a:bodyPr>
          <a:lstStyle/>
          <a:p>
            <a:pPr algn="l">
              <a:defRPr sz="1100" b="1" i="0">
                <a:solidFill>
                  <a:srgbClr val="003366"/>
                </a:solidFill>
              </a:defRPr>
            </a:pPr>
            <a:r>
              <a:t>Suivi de projet</a:t>
            </a:r>
          </a:p>
        </p:txBody>
      </p:sp>
      <p:sp>
        <p:nvSpPr>
          <p:cNvPr id="34" name="TextBox 33"/>
          <p:cNvSpPr txBox="1"/>
          <p:nvPr/>
        </p:nvSpPr>
        <p:spPr>
          <a:xfrm>
            <a:off x="8229600" y="4297680"/>
            <a:ext cx="2290763" cy="261610"/>
          </a:xfrm>
          <a:prstGeom prst="rect">
            <a:avLst/>
          </a:prstGeom>
          <a:noFill/>
        </p:spPr>
        <p:txBody>
          <a:bodyPr wrap="square">
            <a:spAutoFit/>
          </a:bodyPr>
          <a:lstStyle/>
          <a:p>
            <a:pPr algn="l">
              <a:defRPr sz="1100" b="0" i="0">
                <a:solidFill>
                  <a:srgbClr val="333333"/>
                </a:solidFill>
              </a:defRPr>
            </a:pPr>
            <a:r>
              <a:t>Wrike (backlog, tâches, sous-tâches)</a:t>
            </a:r>
          </a:p>
        </p:txBody>
      </p:sp>
      <p:sp>
        <p:nvSpPr>
          <p:cNvPr id="35" name="TextBox 34"/>
          <p:cNvSpPr txBox="1"/>
          <p:nvPr/>
        </p:nvSpPr>
        <p:spPr>
          <a:xfrm>
            <a:off x="6400800" y="4800600"/>
            <a:ext cx="1645920" cy="274320"/>
          </a:xfrm>
          <a:prstGeom prst="rect">
            <a:avLst/>
          </a:prstGeom>
          <a:noFill/>
        </p:spPr>
        <p:txBody>
          <a:bodyPr wrap="square">
            <a:spAutoFit/>
          </a:bodyPr>
          <a:lstStyle/>
          <a:p>
            <a:pPr algn="l">
              <a:defRPr sz="1100" b="1" i="0">
                <a:solidFill>
                  <a:srgbClr val="003366"/>
                </a:solidFill>
              </a:defRPr>
            </a:pPr>
            <a:r>
              <a:t>Assistance IA</a:t>
            </a:r>
          </a:p>
        </p:txBody>
      </p:sp>
      <p:sp>
        <p:nvSpPr>
          <p:cNvPr id="36" name="TextBox 35"/>
          <p:cNvSpPr txBox="1"/>
          <p:nvPr/>
        </p:nvSpPr>
        <p:spPr>
          <a:xfrm>
            <a:off x="8229600" y="4800600"/>
            <a:ext cx="2290763" cy="261610"/>
          </a:xfrm>
          <a:prstGeom prst="rect">
            <a:avLst/>
          </a:prstGeom>
          <a:noFill/>
        </p:spPr>
        <p:txBody>
          <a:bodyPr wrap="square">
            <a:spAutoFit/>
          </a:bodyPr>
          <a:lstStyle/>
          <a:p>
            <a:pPr algn="l">
              <a:defRPr sz="1100" b="0" i="0">
                <a:solidFill>
                  <a:srgbClr val="333333"/>
                </a:solidFill>
              </a:defRPr>
            </a:pPr>
            <a:r>
              <a:rPr dirty="0"/>
              <a:t>GitHub Copilot</a:t>
            </a:r>
            <a:r>
              <a:rPr lang="fr-CH" dirty="0"/>
              <a:t>, Claude</a:t>
            </a:r>
            <a:endParaRPr dirty="0"/>
          </a:p>
        </p:txBody>
      </p:sp>
      <p:sp>
        <p:nvSpPr>
          <p:cNvPr id="37" name="Rounded Rectangle 36"/>
          <p:cNvSpPr/>
          <p:nvPr/>
        </p:nvSpPr>
        <p:spPr>
          <a:xfrm>
            <a:off x="731520" y="5852160"/>
            <a:ext cx="10698480" cy="502920"/>
          </a:xfrm>
          <a:prstGeom prst="roundRect">
            <a:avLst/>
          </a:prstGeom>
          <a:solidFill>
            <a:srgbClr val="E8F0F8"/>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14400" y="5897880"/>
            <a:ext cx="10332720" cy="457200"/>
          </a:xfrm>
          <a:prstGeom prst="rect">
            <a:avLst/>
          </a:prstGeom>
          <a:noFill/>
        </p:spPr>
        <p:txBody>
          <a:bodyPr wrap="square">
            <a:spAutoFit/>
          </a:bodyPr>
          <a:lstStyle/>
          <a:p>
            <a:pPr algn="ctr">
              <a:defRPr sz="1100" b="0" i="1">
                <a:solidFill>
                  <a:srgbClr val="003366"/>
                </a:solidFill>
              </a:defRPr>
            </a:pPr>
            <a:r>
              <a:t>Suivi Wrike : chaque lot de CS BAG = un projet dédié découpé en tâches tracées sur un tableau agile (Kanban).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41148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0"/>
            <a:ext cx="3200400" cy="2286000"/>
          </a:xfrm>
          <a:prstGeom prst="rect">
            <a:avLst/>
          </a:prstGeom>
          <a:noFill/>
        </p:spPr>
        <p:txBody>
          <a:bodyPr wrap="square">
            <a:spAutoFit/>
          </a:bodyPr>
          <a:lstStyle/>
          <a:p>
            <a:pPr algn="ctr">
              <a:defRPr sz="18000" b="1" i="0">
                <a:solidFill>
                  <a:srgbClr val="FFFFFF"/>
                </a:solidFill>
              </a:defRPr>
            </a:pPr>
            <a:r>
              <a:t>04</a:t>
            </a:r>
          </a:p>
        </p:txBody>
      </p:sp>
      <p:sp>
        <p:nvSpPr>
          <p:cNvPr id="4" name="Rectangle 3"/>
          <p:cNvSpPr/>
          <p:nvPr/>
        </p:nvSpPr>
        <p:spPr>
          <a:xfrm>
            <a:off x="4572000" y="2286000"/>
            <a:ext cx="36576" cy="2286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937760" y="2286000"/>
            <a:ext cx="6858000" cy="1371600"/>
          </a:xfrm>
          <a:prstGeom prst="rect">
            <a:avLst/>
          </a:prstGeom>
          <a:noFill/>
        </p:spPr>
        <p:txBody>
          <a:bodyPr wrap="square">
            <a:spAutoFit/>
          </a:bodyPr>
          <a:lstStyle/>
          <a:p>
            <a:pPr algn="l">
              <a:defRPr sz="4400" b="1" i="0">
                <a:solidFill>
                  <a:srgbClr val="003366"/>
                </a:solidFill>
              </a:defRPr>
            </a:pPr>
            <a:r>
              <a:t>Missions du stage</a:t>
            </a:r>
          </a:p>
        </p:txBody>
      </p:sp>
      <p:sp>
        <p:nvSpPr>
          <p:cNvPr id="6" name="Freeform 10">
            <a:extLst>
              <a:ext uri="{FF2B5EF4-FFF2-40B4-BE49-F238E27FC236}">
                <a16:creationId xmlns:a16="http://schemas.microsoft.com/office/drawing/2014/main" id="{CEA0BD7F-0E83-4C92-9767-5537BB0D603C}"/>
              </a:ext>
            </a:extLst>
          </p:cNvPr>
          <p:cNvSpPr/>
          <p:nvPr/>
        </p:nvSpPr>
        <p:spPr>
          <a:xfrm>
            <a:off x="9481132" y="108126"/>
            <a:ext cx="1107757" cy="415759"/>
          </a:xfrm>
          <a:custGeom>
            <a:avLst/>
            <a:gdLst/>
            <a:ahLst/>
            <a:cxnLst/>
            <a:rect l="l" t="t" r="r" b="b"/>
            <a:pathLst>
              <a:path w="4200742" h="1405571">
                <a:moveTo>
                  <a:pt x="0" y="0"/>
                </a:moveTo>
                <a:lnTo>
                  <a:pt x="4200742" y="0"/>
                </a:lnTo>
                <a:lnTo>
                  <a:pt x="4200742" y="1405571"/>
                </a:lnTo>
                <a:lnTo>
                  <a:pt x="0" y="1405571"/>
                </a:lnTo>
                <a:lnTo>
                  <a:pt x="0" y="0"/>
                </a:lnTo>
                <a:close/>
              </a:path>
            </a:pathLst>
          </a:custGeom>
          <a:blipFill>
            <a:blip r:embed="rId2"/>
            <a:stretch>
              <a:fillRect/>
            </a:stretch>
          </a:blipFill>
        </p:spPr>
        <p:txBody>
          <a:bodyPr/>
          <a:lstStyle/>
          <a:p>
            <a:endParaRPr/>
          </a:p>
        </p:txBody>
      </p:sp>
      <p:pic>
        <p:nvPicPr>
          <p:cNvPr id="7" name="Image 6">
            <a:extLst>
              <a:ext uri="{FF2B5EF4-FFF2-40B4-BE49-F238E27FC236}">
                <a16:creationId xmlns:a16="http://schemas.microsoft.com/office/drawing/2014/main" id="{41830F97-7DFD-484D-B4BE-57B54F0B98A8}"/>
              </a:ext>
            </a:extLst>
          </p:cNvPr>
          <p:cNvPicPr>
            <a:picLocks noChangeAspect="1"/>
          </p:cNvPicPr>
          <p:nvPr/>
        </p:nvPicPr>
        <p:blipFill rotWithShape="1">
          <a:blip r:embed="rId3"/>
          <a:srcRect t="36165" b="33014"/>
          <a:stretch/>
        </p:blipFill>
        <p:spPr>
          <a:xfrm>
            <a:off x="10688355" y="89071"/>
            <a:ext cx="1348918" cy="41576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41148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0"/>
            <a:ext cx="3200400" cy="2286000"/>
          </a:xfrm>
          <a:prstGeom prst="rect">
            <a:avLst/>
          </a:prstGeom>
          <a:noFill/>
        </p:spPr>
        <p:txBody>
          <a:bodyPr wrap="square">
            <a:spAutoFit/>
          </a:bodyPr>
          <a:lstStyle/>
          <a:p>
            <a:pPr algn="ctr">
              <a:defRPr sz="18000" b="1" i="0">
                <a:solidFill>
                  <a:srgbClr val="FFFFFF"/>
                </a:solidFill>
              </a:defRPr>
            </a:pPr>
            <a:r>
              <a:t>05</a:t>
            </a:r>
          </a:p>
        </p:txBody>
      </p:sp>
      <p:sp>
        <p:nvSpPr>
          <p:cNvPr id="4" name="Rectangle 3"/>
          <p:cNvSpPr/>
          <p:nvPr/>
        </p:nvSpPr>
        <p:spPr>
          <a:xfrm>
            <a:off x="4572000" y="2286000"/>
            <a:ext cx="36576" cy="2286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937760" y="2286000"/>
            <a:ext cx="6858000" cy="769441"/>
          </a:xfrm>
          <a:prstGeom prst="rect">
            <a:avLst/>
          </a:prstGeom>
          <a:noFill/>
        </p:spPr>
        <p:txBody>
          <a:bodyPr wrap="square">
            <a:spAutoFit/>
          </a:bodyPr>
          <a:lstStyle/>
          <a:p>
            <a:pPr algn="l">
              <a:defRPr sz="4400" b="1" i="0">
                <a:solidFill>
                  <a:srgbClr val="003366"/>
                </a:solidFill>
              </a:defRPr>
            </a:pPr>
            <a:r>
              <a:rPr dirty="0"/>
              <a:t>CS B</a:t>
            </a:r>
            <a:r>
              <a:rPr lang="fr-CH" dirty="0"/>
              <a:t>ag</a:t>
            </a:r>
            <a:r>
              <a:rPr dirty="0"/>
              <a:t> v2</a:t>
            </a:r>
          </a:p>
        </p:txBody>
      </p:sp>
      <p:sp>
        <p:nvSpPr>
          <p:cNvPr id="6" name="TextBox 5"/>
          <p:cNvSpPr txBox="1"/>
          <p:nvPr/>
        </p:nvSpPr>
        <p:spPr>
          <a:xfrm>
            <a:off x="4937760" y="3566160"/>
            <a:ext cx="6858000" cy="369332"/>
          </a:xfrm>
          <a:prstGeom prst="rect">
            <a:avLst/>
          </a:prstGeom>
          <a:noFill/>
        </p:spPr>
        <p:txBody>
          <a:bodyPr wrap="square">
            <a:spAutoFit/>
          </a:bodyPr>
          <a:lstStyle/>
          <a:p>
            <a:pPr algn="l">
              <a:defRPr sz="1800" b="0" i="1">
                <a:solidFill>
                  <a:srgbClr val="666666"/>
                </a:solidFill>
              </a:defRPr>
            </a:pPr>
            <a:r>
              <a:rPr dirty="0"/>
              <a:t>Mission </a:t>
            </a:r>
            <a:r>
              <a:rPr dirty="0" err="1"/>
              <a:t>principale</a:t>
            </a:r>
            <a:r>
              <a:rPr dirty="0"/>
              <a:t> : </a:t>
            </a:r>
            <a:r>
              <a:rPr dirty="0" err="1"/>
              <a:t>refonte</a:t>
            </a:r>
            <a:r>
              <a:rPr dirty="0"/>
              <a:t> de </a:t>
            </a:r>
            <a:r>
              <a:rPr lang="fr-CH" dirty="0"/>
              <a:t>CS Bag</a:t>
            </a:r>
            <a:endParaRPr dirty="0"/>
          </a:p>
        </p:txBody>
      </p:sp>
      <p:sp>
        <p:nvSpPr>
          <p:cNvPr id="7" name="Freeform 10">
            <a:extLst>
              <a:ext uri="{FF2B5EF4-FFF2-40B4-BE49-F238E27FC236}">
                <a16:creationId xmlns:a16="http://schemas.microsoft.com/office/drawing/2014/main" id="{0E8DA6EE-B778-4E9E-8890-A293B2DB680D}"/>
              </a:ext>
            </a:extLst>
          </p:cNvPr>
          <p:cNvSpPr/>
          <p:nvPr/>
        </p:nvSpPr>
        <p:spPr>
          <a:xfrm>
            <a:off x="9481132" y="108126"/>
            <a:ext cx="1107757" cy="415759"/>
          </a:xfrm>
          <a:custGeom>
            <a:avLst/>
            <a:gdLst/>
            <a:ahLst/>
            <a:cxnLst/>
            <a:rect l="l" t="t" r="r" b="b"/>
            <a:pathLst>
              <a:path w="4200742" h="1405571">
                <a:moveTo>
                  <a:pt x="0" y="0"/>
                </a:moveTo>
                <a:lnTo>
                  <a:pt x="4200742" y="0"/>
                </a:lnTo>
                <a:lnTo>
                  <a:pt x="4200742" y="1405571"/>
                </a:lnTo>
                <a:lnTo>
                  <a:pt x="0" y="1405571"/>
                </a:lnTo>
                <a:lnTo>
                  <a:pt x="0" y="0"/>
                </a:lnTo>
                <a:close/>
              </a:path>
            </a:pathLst>
          </a:custGeom>
          <a:blipFill>
            <a:blip r:embed="rId2"/>
            <a:stretch>
              <a:fillRect/>
            </a:stretch>
          </a:blipFill>
        </p:spPr>
        <p:txBody>
          <a:bodyPr/>
          <a:lstStyle/>
          <a:p>
            <a:endParaRPr/>
          </a:p>
        </p:txBody>
      </p:sp>
      <p:pic>
        <p:nvPicPr>
          <p:cNvPr id="8" name="Image 7">
            <a:extLst>
              <a:ext uri="{FF2B5EF4-FFF2-40B4-BE49-F238E27FC236}">
                <a16:creationId xmlns:a16="http://schemas.microsoft.com/office/drawing/2014/main" id="{76B21298-AB70-42AB-9D87-91C8FD10FDD4}"/>
              </a:ext>
            </a:extLst>
          </p:cNvPr>
          <p:cNvPicPr>
            <a:picLocks noChangeAspect="1"/>
          </p:cNvPicPr>
          <p:nvPr/>
        </p:nvPicPr>
        <p:blipFill rotWithShape="1">
          <a:blip r:embed="rId3"/>
          <a:srcRect t="36165" b="33014"/>
          <a:stretch/>
        </p:blipFill>
        <p:spPr>
          <a:xfrm>
            <a:off x="10688355" y="89071"/>
            <a:ext cx="1348918" cy="41576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CS BAG - Présentation de l'application</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15 / 32</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Rectangle 8"/>
          <p:cNvSpPr/>
          <p:nvPr/>
        </p:nvSpPr>
        <p:spPr>
          <a:xfrm>
            <a:off x="731520" y="1463040"/>
            <a:ext cx="2743200" cy="2286000"/>
          </a:xfrm>
          <a:prstGeom prst="rect">
            <a:avLst/>
          </a:prstGeom>
          <a:solidFill>
            <a:srgbClr val="F0F0F0"/>
          </a:solidFill>
          <a:ln w="12700">
            <a:solidFill>
              <a:srgbClr val="CCCCCC"/>
            </a:solidFill>
            <a:prstDash val="lg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i="1">
                <a:solidFill>
                  <a:srgbClr val="666666"/>
                </a:solidFill>
              </a:defRPr>
            </a:pPr>
            <a:r>
              <a:t>[ Logo CS BAG ]</a:t>
            </a:r>
          </a:p>
        </p:txBody>
      </p:sp>
      <p:sp>
        <p:nvSpPr>
          <p:cNvPr id="10" name="TextBox 9"/>
          <p:cNvSpPr txBox="1"/>
          <p:nvPr/>
        </p:nvSpPr>
        <p:spPr>
          <a:xfrm>
            <a:off x="3840480" y="1463040"/>
            <a:ext cx="7589520" cy="457200"/>
          </a:xfrm>
          <a:prstGeom prst="rect">
            <a:avLst/>
          </a:prstGeom>
          <a:noFill/>
        </p:spPr>
        <p:txBody>
          <a:bodyPr wrap="square">
            <a:spAutoFit/>
          </a:bodyPr>
          <a:lstStyle/>
          <a:p>
            <a:pPr algn="l">
              <a:defRPr sz="2200" b="1" i="0">
                <a:solidFill>
                  <a:srgbClr val="003366"/>
                </a:solidFill>
              </a:defRPr>
            </a:pPr>
            <a:r>
              <a:t>CS BAG (Inventory)</a:t>
            </a:r>
          </a:p>
        </p:txBody>
      </p:sp>
      <p:sp>
        <p:nvSpPr>
          <p:cNvPr id="11" name="TextBox 10"/>
          <p:cNvSpPr txBox="1"/>
          <p:nvPr/>
        </p:nvSpPr>
        <p:spPr>
          <a:xfrm>
            <a:off x="3840480" y="2011680"/>
            <a:ext cx="7589520" cy="365760"/>
          </a:xfrm>
          <a:prstGeom prst="rect">
            <a:avLst/>
          </a:prstGeom>
          <a:noFill/>
        </p:spPr>
        <p:txBody>
          <a:bodyPr wrap="square">
            <a:spAutoFit/>
          </a:bodyPr>
          <a:lstStyle/>
          <a:p>
            <a:pPr algn="l">
              <a:defRPr sz="1200" b="1" i="1">
                <a:solidFill>
                  <a:srgbClr val="2E8B3D"/>
                </a:solidFill>
              </a:defRPr>
            </a:pPr>
            <a:r>
              <a:t>Outil interne de cartographie applicative du service Collaborative Solutions</a:t>
            </a:r>
          </a:p>
        </p:txBody>
      </p:sp>
      <p:sp>
        <p:nvSpPr>
          <p:cNvPr id="12" name="TextBox 11"/>
          <p:cNvSpPr txBox="1"/>
          <p:nvPr/>
        </p:nvSpPr>
        <p:spPr>
          <a:xfrm>
            <a:off x="3840480" y="2468880"/>
            <a:ext cx="7589520" cy="1280160"/>
          </a:xfrm>
          <a:prstGeom prst="rect">
            <a:avLst/>
          </a:prstGeom>
          <a:noFill/>
        </p:spPr>
        <p:txBody>
          <a:bodyPr wrap="square">
            <a:spAutoFit/>
          </a:bodyPr>
          <a:lstStyle/>
          <a:p>
            <a:pPr algn="l">
              <a:defRPr sz="1200" b="0" i="0">
                <a:solidFill>
                  <a:srgbClr val="333333"/>
                </a:solidFill>
              </a:defRPr>
            </a:pPr>
            <a:r>
              <a:t>Recense les applications gérées par le service ainsi que leurs modules et les ressources techniques mobilisées. Constitue la source de vérité consultée lors des mises en production, des audits de sécurité et des renouvellements de certificats. Accès restreint aux comptes d'administration (ADM).</a:t>
            </a:r>
          </a:p>
        </p:txBody>
      </p:sp>
      <p:sp>
        <p:nvSpPr>
          <p:cNvPr id="13" name="TextBox 12"/>
          <p:cNvSpPr txBox="1"/>
          <p:nvPr/>
        </p:nvSpPr>
        <p:spPr>
          <a:xfrm>
            <a:off x="-1708786" y="5020190"/>
            <a:ext cx="6276023" cy="323165"/>
          </a:xfrm>
          <a:prstGeom prst="rect">
            <a:avLst/>
          </a:prstGeom>
          <a:noFill/>
        </p:spPr>
        <p:txBody>
          <a:bodyPr wrap="square">
            <a:spAutoFit/>
          </a:bodyPr>
          <a:lstStyle/>
          <a:p>
            <a:pPr algn="ctr">
              <a:defRPr sz="1500" b="1" i="0">
                <a:solidFill>
                  <a:srgbClr val="003366"/>
                </a:solidFill>
              </a:defRPr>
            </a:pPr>
            <a:r>
              <a:rPr dirty="0"/>
              <a:t>Mod</a:t>
            </a:r>
            <a:r>
              <a:rPr lang="fr-CH" dirty="0"/>
              <a:t>é</a:t>
            </a:r>
            <a:r>
              <a:rPr dirty="0"/>
              <a:t>le m</a:t>
            </a:r>
            <a:r>
              <a:rPr lang="fr-CH" dirty="0"/>
              <a:t>é</a:t>
            </a:r>
            <a:r>
              <a:rPr dirty="0"/>
              <a:t>tier</a:t>
            </a:r>
            <a:r>
              <a:rPr lang="fr-CH" dirty="0"/>
              <a:t> : </a:t>
            </a:r>
            <a:endParaRPr dirty="0"/>
          </a:p>
        </p:txBody>
      </p:sp>
      <p:pic>
        <p:nvPicPr>
          <p:cNvPr id="29" name="Image 28">
            <a:extLst>
              <a:ext uri="{FF2B5EF4-FFF2-40B4-BE49-F238E27FC236}">
                <a16:creationId xmlns:a16="http://schemas.microsoft.com/office/drawing/2014/main" id="{DD55970F-0F76-43CB-AFF9-C9E7420CD96A}"/>
              </a:ext>
            </a:extLst>
          </p:cNvPr>
          <p:cNvPicPr>
            <a:picLocks noChangeAspect="1"/>
          </p:cNvPicPr>
          <p:nvPr/>
        </p:nvPicPr>
        <p:blipFill>
          <a:blip r:embed="rId2"/>
          <a:stretch>
            <a:fillRect/>
          </a:stretch>
        </p:blipFill>
        <p:spPr>
          <a:xfrm>
            <a:off x="1485132" y="2358199"/>
            <a:ext cx="1235975" cy="463491"/>
          </a:xfrm>
          <a:prstGeom prst="rect">
            <a:avLst/>
          </a:prstGeom>
        </p:spPr>
      </p:pic>
      <p:pic>
        <p:nvPicPr>
          <p:cNvPr id="31" name="Image 30">
            <a:extLst>
              <a:ext uri="{FF2B5EF4-FFF2-40B4-BE49-F238E27FC236}">
                <a16:creationId xmlns:a16="http://schemas.microsoft.com/office/drawing/2014/main" id="{ECF22AB6-4BE7-43C3-8729-AC2659C9B1EF}"/>
              </a:ext>
            </a:extLst>
          </p:cNvPr>
          <p:cNvPicPr>
            <a:picLocks noChangeAspect="1"/>
          </p:cNvPicPr>
          <p:nvPr/>
        </p:nvPicPr>
        <p:blipFill>
          <a:blip r:embed="rId3"/>
          <a:stretch>
            <a:fillRect/>
          </a:stretch>
        </p:blipFill>
        <p:spPr>
          <a:xfrm>
            <a:off x="4393882" y="3741419"/>
            <a:ext cx="5650230" cy="254745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492443"/>
          </a:xfrm>
          <a:prstGeom prst="rect">
            <a:avLst/>
          </a:prstGeom>
          <a:noFill/>
        </p:spPr>
        <p:txBody>
          <a:bodyPr wrap="square">
            <a:spAutoFit/>
          </a:bodyPr>
          <a:lstStyle/>
          <a:p>
            <a:pPr algn="l">
              <a:defRPr sz="2600" b="1" i="0">
                <a:solidFill>
                  <a:srgbClr val="003366"/>
                </a:solidFill>
              </a:defRPr>
            </a:pPr>
            <a:r>
              <a:rPr dirty="0"/>
              <a:t>Cahier des charges </a:t>
            </a:r>
            <a:r>
              <a:rPr lang="fr-CH" dirty="0"/>
              <a:t>:</a:t>
            </a:r>
            <a:r>
              <a:rPr dirty="0"/>
              <a:t> 3 lots </a:t>
            </a:r>
            <a:r>
              <a:rPr dirty="0" err="1"/>
              <a:t>complementaires</a:t>
            </a:r>
            <a:endParaRPr dirty="0"/>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17 / 32</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65760"/>
          </a:xfrm>
          <a:prstGeom prst="rect">
            <a:avLst/>
          </a:prstGeom>
          <a:noFill/>
        </p:spPr>
        <p:txBody>
          <a:bodyPr wrap="square">
            <a:spAutoFit/>
          </a:bodyPr>
          <a:lstStyle/>
          <a:p>
            <a:pPr algn="ctr">
              <a:defRPr sz="1400" b="0" i="1">
                <a:solidFill>
                  <a:srgbClr val="666666"/>
                </a:solidFill>
              </a:defRPr>
            </a:pPr>
            <a:r>
              <a:t>Livraison incrémentale : chaque lot s'appuie sur le précédent</a:t>
            </a:r>
          </a:p>
        </p:txBody>
      </p:sp>
      <p:sp>
        <p:nvSpPr>
          <p:cNvPr id="10" name="Rounded Rectangle 9"/>
          <p:cNvSpPr/>
          <p:nvPr/>
        </p:nvSpPr>
        <p:spPr>
          <a:xfrm>
            <a:off x="731520" y="1828800"/>
            <a:ext cx="3520440" cy="438912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1828800"/>
            <a:ext cx="3520440" cy="8229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Lot 1</a:t>
            </a:r>
          </a:p>
          <a:p>
            <a:pPr algn="ctr">
              <a:defRPr sz="1300">
                <a:solidFill>
                  <a:srgbClr val="FFFFFF"/>
                </a:solidFill>
              </a:defRPr>
            </a:pPr>
            <a:r>
              <a:t>Socle de la refonte</a:t>
            </a:r>
          </a:p>
        </p:txBody>
      </p:sp>
      <p:sp>
        <p:nvSpPr>
          <p:cNvPr id="12" name="Oval 11"/>
          <p:cNvSpPr/>
          <p:nvPr/>
        </p:nvSpPr>
        <p:spPr>
          <a:xfrm>
            <a:off x="1005840" y="299008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34440" y="2880360"/>
            <a:ext cx="2926080" cy="685800"/>
          </a:xfrm>
          <a:prstGeom prst="rect">
            <a:avLst/>
          </a:prstGeom>
          <a:noFill/>
        </p:spPr>
        <p:txBody>
          <a:bodyPr wrap="square">
            <a:spAutoFit/>
          </a:bodyPr>
          <a:lstStyle/>
          <a:p>
            <a:pPr algn="l">
              <a:defRPr sz="1100" b="0" i="0">
                <a:solidFill>
                  <a:srgbClr val="333333"/>
                </a:solidFill>
              </a:defRPr>
            </a:pPr>
            <a:r>
              <a:t>Recherche et filtres transverses</a:t>
            </a:r>
          </a:p>
        </p:txBody>
      </p:sp>
      <p:sp>
        <p:nvSpPr>
          <p:cNvPr id="14" name="Oval 13"/>
          <p:cNvSpPr/>
          <p:nvPr/>
        </p:nvSpPr>
        <p:spPr>
          <a:xfrm>
            <a:off x="1005840" y="376732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34440" y="3657600"/>
            <a:ext cx="2926080" cy="685800"/>
          </a:xfrm>
          <a:prstGeom prst="rect">
            <a:avLst/>
          </a:prstGeom>
          <a:noFill/>
        </p:spPr>
        <p:txBody>
          <a:bodyPr wrap="square">
            <a:spAutoFit/>
          </a:bodyPr>
          <a:lstStyle/>
          <a:p>
            <a:pPr algn="l">
              <a:defRPr sz="1100" b="0" i="0">
                <a:solidFill>
                  <a:srgbClr val="333333"/>
                </a:solidFill>
              </a:defRPr>
            </a:pPr>
            <a:r>
              <a:t>Indicateurs de chargement</a:t>
            </a:r>
          </a:p>
        </p:txBody>
      </p:sp>
      <p:sp>
        <p:nvSpPr>
          <p:cNvPr id="16" name="Oval 15"/>
          <p:cNvSpPr/>
          <p:nvPr/>
        </p:nvSpPr>
        <p:spPr>
          <a:xfrm>
            <a:off x="1005840" y="454456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234440" y="4434840"/>
            <a:ext cx="2926080" cy="685800"/>
          </a:xfrm>
          <a:prstGeom prst="rect">
            <a:avLst/>
          </a:prstGeom>
          <a:noFill/>
        </p:spPr>
        <p:txBody>
          <a:bodyPr wrap="square">
            <a:spAutoFit/>
          </a:bodyPr>
          <a:lstStyle/>
          <a:p>
            <a:pPr algn="l">
              <a:defRPr sz="1100" b="0" i="0">
                <a:solidFill>
                  <a:srgbClr val="333333"/>
                </a:solidFill>
              </a:defRPr>
            </a:pPr>
            <a:r>
              <a:t>Cycle de vie des applications</a:t>
            </a:r>
          </a:p>
        </p:txBody>
      </p:sp>
      <p:sp>
        <p:nvSpPr>
          <p:cNvPr id="18" name="Oval 17"/>
          <p:cNvSpPr/>
          <p:nvPr/>
        </p:nvSpPr>
        <p:spPr>
          <a:xfrm>
            <a:off x="1005840" y="532180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234440" y="5212080"/>
            <a:ext cx="2926080" cy="261610"/>
          </a:xfrm>
          <a:prstGeom prst="rect">
            <a:avLst/>
          </a:prstGeom>
          <a:noFill/>
        </p:spPr>
        <p:txBody>
          <a:bodyPr wrap="square">
            <a:spAutoFit/>
          </a:bodyPr>
          <a:lstStyle/>
          <a:p>
            <a:pPr algn="l">
              <a:defRPr sz="1100" b="0" i="0">
                <a:solidFill>
                  <a:srgbClr val="333333"/>
                </a:solidFill>
              </a:defRPr>
            </a:pPr>
            <a:r>
              <a:rPr dirty="0"/>
              <a:t>Multi-</a:t>
            </a:r>
            <a:r>
              <a:rPr lang="fr-MA" dirty="0"/>
              <a:t>équipe</a:t>
            </a:r>
            <a:r>
              <a:rPr dirty="0"/>
              <a:t>s et </a:t>
            </a:r>
            <a:r>
              <a:rPr dirty="0" err="1"/>
              <a:t>archivage</a:t>
            </a:r>
            <a:endParaRPr dirty="0"/>
          </a:p>
        </p:txBody>
      </p:sp>
      <p:sp>
        <p:nvSpPr>
          <p:cNvPr id="20" name="Rounded Rectangle 19"/>
          <p:cNvSpPr/>
          <p:nvPr/>
        </p:nvSpPr>
        <p:spPr>
          <a:xfrm>
            <a:off x="4480559" y="1828800"/>
            <a:ext cx="3520440" cy="438912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480559" y="1828800"/>
            <a:ext cx="3520440" cy="8229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Lot 2</a:t>
            </a:r>
          </a:p>
          <a:p>
            <a:pPr algn="ctr">
              <a:defRPr sz="1300">
                <a:solidFill>
                  <a:srgbClr val="FFFFFF"/>
                </a:solidFill>
              </a:defRPr>
            </a:pPr>
            <a:r>
              <a:t>Amélioration de l'outil</a:t>
            </a:r>
          </a:p>
        </p:txBody>
      </p:sp>
      <p:sp>
        <p:nvSpPr>
          <p:cNvPr id="22" name="Oval 21"/>
          <p:cNvSpPr/>
          <p:nvPr/>
        </p:nvSpPr>
        <p:spPr>
          <a:xfrm>
            <a:off x="4754879" y="299008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983479" y="2880360"/>
            <a:ext cx="2926080" cy="685800"/>
          </a:xfrm>
          <a:prstGeom prst="rect">
            <a:avLst/>
          </a:prstGeom>
          <a:noFill/>
        </p:spPr>
        <p:txBody>
          <a:bodyPr wrap="square">
            <a:spAutoFit/>
          </a:bodyPr>
          <a:lstStyle/>
          <a:p>
            <a:pPr algn="l">
              <a:defRPr sz="1100" b="0" i="0">
                <a:solidFill>
                  <a:srgbClr val="333333"/>
                </a:solidFill>
              </a:defRPr>
            </a:pPr>
            <a:r>
              <a:t>Traçabilité des livraisons</a:t>
            </a:r>
          </a:p>
        </p:txBody>
      </p:sp>
      <p:sp>
        <p:nvSpPr>
          <p:cNvPr id="24" name="Oval 23"/>
          <p:cNvSpPr/>
          <p:nvPr/>
        </p:nvSpPr>
        <p:spPr>
          <a:xfrm>
            <a:off x="4754879" y="376732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983479" y="3657600"/>
            <a:ext cx="2926080" cy="685800"/>
          </a:xfrm>
          <a:prstGeom prst="rect">
            <a:avLst/>
          </a:prstGeom>
          <a:noFill/>
        </p:spPr>
        <p:txBody>
          <a:bodyPr wrap="square">
            <a:spAutoFit/>
          </a:bodyPr>
          <a:lstStyle/>
          <a:p>
            <a:pPr algn="l">
              <a:defRPr sz="1100" b="0" i="0">
                <a:solidFill>
                  <a:srgbClr val="333333"/>
                </a:solidFill>
              </a:defRPr>
            </a:pPr>
            <a:r>
              <a:t>Historique et documents</a:t>
            </a:r>
          </a:p>
        </p:txBody>
      </p:sp>
      <p:sp>
        <p:nvSpPr>
          <p:cNvPr id="26" name="Oval 25"/>
          <p:cNvSpPr/>
          <p:nvPr/>
        </p:nvSpPr>
        <p:spPr>
          <a:xfrm>
            <a:off x="4754879" y="454456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983479" y="4434840"/>
            <a:ext cx="2926080" cy="685800"/>
          </a:xfrm>
          <a:prstGeom prst="rect">
            <a:avLst/>
          </a:prstGeom>
          <a:noFill/>
        </p:spPr>
        <p:txBody>
          <a:bodyPr wrap="square">
            <a:spAutoFit/>
          </a:bodyPr>
          <a:lstStyle/>
          <a:p>
            <a:pPr algn="l">
              <a:defRPr sz="1100" b="0" i="0">
                <a:solidFill>
                  <a:srgbClr val="333333"/>
                </a:solidFill>
              </a:defRPr>
            </a:pPr>
            <a:r>
              <a:t>Suivi des ressources sensibles</a:t>
            </a:r>
          </a:p>
        </p:txBody>
      </p:sp>
      <p:sp>
        <p:nvSpPr>
          <p:cNvPr id="28" name="Oval 27"/>
          <p:cNvSpPr/>
          <p:nvPr/>
        </p:nvSpPr>
        <p:spPr>
          <a:xfrm>
            <a:off x="4754879" y="532180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983479" y="5212080"/>
            <a:ext cx="2926080" cy="685800"/>
          </a:xfrm>
          <a:prstGeom prst="rect">
            <a:avLst/>
          </a:prstGeom>
          <a:noFill/>
        </p:spPr>
        <p:txBody>
          <a:bodyPr wrap="square">
            <a:spAutoFit/>
          </a:bodyPr>
          <a:lstStyle/>
          <a:p>
            <a:pPr algn="l">
              <a:defRPr sz="1100" b="0" i="0">
                <a:solidFill>
                  <a:srgbClr val="333333"/>
                </a:solidFill>
              </a:defRPr>
            </a:pPr>
            <a:r>
              <a:t>Notifications d'expiration</a:t>
            </a:r>
          </a:p>
        </p:txBody>
      </p:sp>
      <p:sp>
        <p:nvSpPr>
          <p:cNvPr id="30" name="Rounded Rectangle 29"/>
          <p:cNvSpPr/>
          <p:nvPr/>
        </p:nvSpPr>
        <p:spPr>
          <a:xfrm>
            <a:off x="8229598" y="1828800"/>
            <a:ext cx="3520440" cy="438912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229598" y="1828800"/>
            <a:ext cx="3520440" cy="8229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Lot 3</a:t>
            </a:r>
          </a:p>
          <a:p>
            <a:pPr algn="ctr">
              <a:defRPr sz="1300">
                <a:solidFill>
                  <a:srgbClr val="FFFFFF"/>
                </a:solidFill>
              </a:defRPr>
            </a:pPr>
            <a:r>
              <a:t>Enrichissement fonctionnel</a:t>
            </a:r>
          </a:p>
        </p:txBody>
      </p:sp>
      <p:sp>
        <p:nvSpPr>
          <p:cNvPr id="32" name="Oval 31"/>
          <p:cNvSpPr/>
          <p:nvPr/>
        </p:nvSpPr>
        <p:spPr>
          <a:xfrm>
            <a:off x="8503918" y="299008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732518" y="2880360"/>
            <a:ext cx="2926080" cy="685800"/>
          </a:xfrm>
          <a:prstGeom prst="rect">
            <a:avLst/>
          </a:prstGeom>
          <a:noFill/>
        </p:spPr>
        <p:txBody>
          <a:bodyPr wrap="square">
            <a:spAutoFit/>
          </a:bodyPr>
          <a:lstStyle/>
          <a:p>
            <a:pPr algn="l">
              <a:defRPr sz="1100" b="0" i="0">
                <a:solidFill>
                  <a:srgbClr val="333333"/>
                </a:solidFill>
              </a:defRPr>
            </a:pPr>
            <a:r>
              <a:t>Administration des referentiels</a:t>
            </a:r>
          </a:p>
          <a:p>
            <a:pPr algn="l">
              <a:defRPr sz="1100" b="0" i="0">
                <a:solidFill>
                  <a:srgbClr val="333333"/>
                </a:solidFill>
              </a:defRPr>
            </a:pPr>
            <a:r>
              <a:t>(8 ecrans)</a:t>
            </a:r>
          </a:p>
        </p:txBody>
      </p:sp>
      <p:sp>
        <p:nvSpPr>
          <p:cNvPr id="34" name="Oval 33"/>
          <p:cNvSpPr/>
          <p:nvPr/>
        </p:nvSpPr>
        <p:spPr>
          <a:xfrm>
            <a:off x="8503918" y="376732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732518" y="3657600"/>
            <a:ext cx="2926080" cy="685800"/>
          </a:xfrm>
          <a:prstGeom prst="rect">
            <a:avLst/>
          </a:prstGeom>
          <a:noFill/>
        </p:spPr>
        <p:txBody>
          <a:bodyPr wrap="square">
            <a:spAutoFit/>
          </a:bodyPr>
          <a:lstStyle/>
          <a:p>
            <a:pPr algn="l">
              <a:defRPr sz="1100" b="0" i="0">
                <a:solidFill>
                  <a:srgbClr val="333333"/>
                </a:solidFill>
              </a:defRPr>
            </a:pPr>
            <a:r>
              <a:t>Auditabilité des actions utilisateur</a:t>
            </a:r>
          </a:p>
        </p:txBody>
      </p:sp>
      <p:sp>
        <p:nvSpPr>
          <p:cNvPr id="36" name="Oval 35"/>
          <p:cNvSpPr/>
          <p:nvPr/>
        </p:nvSpPr>
        <p:spPr>
          <a:xfrm>
            <a:off x="8503918" y="454456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732518" y="4434840"/>
            <a:ext cx="2926080" cy="685800"/>
          </a:xfrm>
          <a:prstGeom prst="rect">
            <a:avLst/>
          </a:prstGeom>
          <a:noFill/>
        </p:spPr>
        <p:txBody>
          <a:bodyPr wrap="square">
            <a:spAutoFit/>
          </a:bodyPr>
          <a:lstStyle/>
          <a:p>
            <a:pPr algn="l">
              <a:defRPr sz="1100" b="0" i="0">
                <a:solidFill>
                  <a:srgbClr val="333333"/>
                </a:solidFill>
              </a:defRPr>
            </a:pPr>
            <a:r>
              <a:t>Taxonomies (marquage / filtrage)</a:t>
            </a:r>
          </a:p>
        </p:txBody>
      </p:sp>
      <p:sp>
        <p:nvSpPr>
          <p:cNvPr id="38" name="Oval 37"/>
          <p:cNvSpPr/>
          <p:nvPr/>
        </p:nvSpPr>
        <p:spPr>
          <a:xfrm>
            <a:off x="8503918" y="532180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732518" y="5212080"/>
            <a:ext cx="2926080" cy="685800"/>
          </a:xfrm>
          <a:prstGeom prst="rect">
            <a:avLst/>
          </a:prstGeom>
          <a:noFill/>
        </p:spPr>
        <p:txBody>
          <a:bodyPr wrap="square">
            <a:spAutoFit/>
          </a:bodyPr>
          <a:lstStyle/>
          <a:p>
            <a:pPr algn="l">
              <a:defRPr sz="1100" b="0" i="0">
                <a:solidFill>
                  <a:srgbClr val="333333"/>
                </a:solidFill>
              </a:defRPr>
            </a:pPr>
            <a:r>
              <a:t>Extensions ressources sensibles</a:t>
            </a:r>
          </a:p>
        </p:txBody>
      </p:sp>
      <p:sp>
        <p:nvSpPr>
          <p:cNvPr id="40" name="Right Arrow 39"/>
          <p:cNvSpPr/>
          <p:nvPr/>
        </p:nvSpPr>
        <p:spPr>
          <a:xfrm>
            <a:off x="4251960" y="3840480"/>
            <a:ext cx="320040" cy="320040"/>
          </a:xfrm>
          <a:prstGeom prst="rightArrow">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ight Arrow 40"/>
          <p:cNvSpPr/>
          <p:nvPr/>
        </p:nvSpPr>
        <p:spPr>
          <a:xfrm>
            <a:off x="8000999" y="3840480"/>
            <a:ext cx="320040" cy="320040"/>
          </a:xfrm>
          <a:prstGeom prst="rightArrow">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31520" y="6309360"/>
            <a:ext cx="10698480" cy="274320"/>
          </a:xfrm>
          <a:prstGeom prst="rect">
            <a:avLst/>
          </a:prstGeom>
          <a:noFill/>
        </p:spPr>
        <p:txBody>
          <a:bodyPr wrap="square">
            <a:spAutoFit/>
          </a:bodyPr>
          <a:lstStyle/>
          <a:p>
            <a:pPr algn="ctr">
              <a:defRPr sz="1100" b="0" i="1">
                <a:solidFill>
                  <a:srgbClr val="666666"/>
                </a:solidFill>
              </a:defRPr>
            </a:pPr>
            <a:r>
              <a:t>Chaque lot est formalisé dans un document de spécifications propre.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Diagnostic personnel de l'existant</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18 / 32</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65760"/>
          </a:xfrm>
          <a:prstGeom prst="rect">
            <a:avLst/>
          </a:prstGeom>
          <a:noFill/>
        </p:spPr>
        <p:txBody>
          <a:bodyPr wrap="square">
            <a:spAutoFit/>
          </a:bodyPr>
          <a:lstStyle/>
          <a:p>
            <a:pPr algn="ctr">
              <a:defRPr sz="1400" b="0" i="1">
                <a:solidFill>
                  <a:srgbClr val="666666"/>
                </a:solidFill>
              </a:defRPr>
            </a:pPr>
            <a:r>
              <a:t>Analyse menée avant tout développement : 3 formes de dette identifiées</a:t>
            </a:r>
          </a:p>
        </p:txBody>
      </p:sp>
      <p:sp>
        <p:nvSpPr>
          <p:cNvPr id="10" name="Rounded Rectangle 9"/>
          <p:cNvSpPr/>
          <p:nvPr/>
        </p:nvSpPr>
        <p:spPr>
          <a:xfrm>
            <a:off x="731520" y="1828800"/>
            <a:ext cx="3429000" cy="246888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914400" y="2011680"/>
            <a:ext cx="457200" cy="45720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1</a:t>
            </a:r>
          </a:p>
        </p:txBody>
      </p:sp>
      <p:sp>
        <p:nvSpPr>
          <p:cNvPr id="12" name="TextBox 11"/>
          <p:cNvSpPr txBox="1"/>
          <p:nvPr/>
        </p:nvSpPr>
        <p:spPr>
          <a:xfrm>
            <a:off x="1508760" y="2011680"/>
            <a:ext cx="2468880" cy="822960"/>
          </a:xfrm>
          <a:prstGeom prst="rect">
            <a:avLst/>
          </a:prstGeom>
          <a:noFill/>
        </p:spPr>
        <p:txBody>
          <a:bodyPr wrap="square">
            <a:spAutoFit/>
          </a:bodyPr>
          <a:lstStyle/>
          <a:p>
            <a:pPr algn="l">
              <a:defRPr sz="1300" b="1" i="0">
                <a:solidFill>
                  <a:srgbClr val="003366"/>
                </a:solidFill>
              </a:defRPr>
            </a:pPr>
            <a:r>
              <a:t>Dette technique de version</a:t>
            </a:r>
          </a:p>
        </p:txBody>
      </p:sp>
      <p:sp>
        <p:nvSpPr>
          <p:cNvPr id="13" name="TextBox 12"/>
          <p:cNvSpPr txBox="1"/>
          <p:nvPr/>
        </p:nvSpPr>
        <p:spPr>
          <a:xfrm>
            <a:off x="1005840" y="2926080"/>
            <a:ext cx="2926080" cy="1280160"/>
          </a:xfrm>
          <a:prstGeom prst="rect">
            <a:avLst/>
          </a:prstGeom>
          <a:noFill/>
        </p:spPr>
        <p:txBody>
          <a:bodyPr wrap="square">
            <a:spAutoFit/>
          </a:bodyPr>
          <a:lstStyle/>
          <a:p>
            <a:pPr algn="l">
              <a:defRPr sz="1000" b="0" i="0">
                <a:solidFill>
                  <a:srgbClr val="666666"/>
                </a:solidFill>
              </a:defRPr>
            </a:pPr>
            <a:r>
              <a:rPr dirty="0"/>
              <a:t>Angular 14.2 et .NET 6.0 hors support </a:t>
            </a:r>
            <a:r>
              <a:rPr dirty="0" err="1"/>
              <a:t>actif</a:t>
            </a:r>
            <a:r>
              <a:rPr dirty="0"/>
              <a:t>.</a:t>
            </a:r>
          </a:p>
          <a:p>
            <a:pPr algn="l">
              <a:defRPr sz="1000" b="0" i="0">
                <a:solidFill>
                  <a:srgbClr val="666666"/>
                </a:solidFill>
              </a:defRPr>
            </a:pPr>
            <a:r>
              <a:rPr dirty="0" err="1"/>
              <a:t>Vulnerabilites</a:t>
            </a:r>
            <a:r>
              <a:rPr dirty="0"/>
              <a:t> </a:t>
            </a:r>
            <a:r>
              <a:rPr dirty="0" err="1"/>
              <a:t>remontees</a:t>
            </a:r>
            <a:r>
              <a:rPr dirty="0"/>
              <a:t> par les </a:t>
            </a:r>
            <a:r>
              <a:rPr dirty="0" err="1"/>
              <a:t>outils</a:t>
            </a:r>
            <a:r>
              <a:rPr dirty="0"/>
              <a:t> </a:t>
            </a:r>
            <a:r>
              <a:rPr dirty="0" err="1"/>
              <a:t>d'analyse</a:t>
            </a:r>
            <a:r>
              <a:rPr dirty="0"/>
              <a:t>, </a:t>
            </a:r>
            <a:r>
              <a:rPr dirty="0" err="1"/>
              <a:t>impossibles</a:t>
            </a:r>
            <a:r>
              <a:rPr dirty="0"/>
              <a:t> a </a:t>
            </a:r>
            <a:r>
              <a:rPr dirty="0" err="1"/>
              <a:t>corriger</a:t>
            </a:r>
            <a:r>
              <a:rPr dirty="0"/>
              <a:t>.</a:t>
            </a:r>
          </a:p>
        </p:txBody>
      </p:sp>
      <p:sp>
        <p:nvSpPr>
          <p:cNvPr id="14" name="Rounded Rectangle 13"/>
          <p:cNvSpPr/>
          <p:nvPr/>
        </p:nvSpPr>
        <p:spPr>
          <a:xfrm>
            <a:off x="4480560" y="1828800"/>
            <a:ext cx="3429000" cy="246888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4663440" y="2011680"/>
            <a:ext cx="457200" cy="45720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2</a:t>
            </a:r>
          </a:p>
        </p:txBody>
      </p:sp>
      <p:sp>
        <p:nvSpPr>
          <p:cNvPr id="16" name="TextBox 15"/>
          <p:cNvSpPr txBox="1"/>
          <p:nvPr/>
        </p:nvSpPr>
        <p:spPr>
          <a:xfrm>
            <a:off x="5257800" y="2011680"/>
            <a:ext cx="2468880" cy="822960"/>
          </a:xfrm>
          <a:prstGeom prst="rect">
            <a:avLst/>
          </a:prstGeom>
          <a:noFill/>
        </p:spPr>
        <p:txBody>
          <a:bodyPr wrap="square">
            <a:spAutoFit/>
          </a:bodyPr>
          <a:lstStyle/>
          <a:p>
            <a:pPr algn="l">
              <a:defRPr sz="1300" b="1" i="0">
                <a:solidFill>
                  <a:srgbClr val="003366"/>
                </a:solidFill>
              </a:defRPr>
            </a:pPr>
            <a:r>
              <a:t>Dette du modèle de données</a:t>
            </a:r>
          </a:p>
        </p:txBody>
      </p:sp>
      <p:sp>
        <p:nvSpPr>
          <p:cNvPr id="17" name="TextBox 16"/>
          <p:cNvSpPr txBox="1"/>
          <p:nvPr/>
        </p:nvSpPr>
        <p:spPr>
          <a:xfrm>
            <a:off x="4732020" y="2862072"/>
            <a:ext cx="2926080" cy="1280160"/>
          </a:xfrm>
          <a:prstGeom prst="rect">
            <a:avLst/>
          </a:prstGeom>
          <a:noFill/>
        </p:spPr>
        <p:txBody>
          <a:bodyPr wrap="square">
            <a:spAutoFit/>
          </a:bodyPr>
          <a:lstStyle/>
          <a:p>
            <a:pPr algn="l">
              <a:defRPr sz="1000" b="0" i="0">
                <a:solidFill>
                  <a:srgbClr val="666666"/>
                </a:solidFill>
              </a:defRPr>
            </a:pPr>
            <a:r>
              <a:rPr dirty="0" err="1"/>
              <a:t>Ressources</a:t>
            </a:r>
            <a:r>
              <a:rPr dirty="0"/>
              <a:t> </a:t>
            </a:r>
            <a:r>
              <a:rPr dirty="0" err="1"/>
              <a:t>en</a:t>
            </a:r>
            <a:r>
              <a:rPr dirty="0"/>
              <a:t> </a:t>
            </a:r>
            <a:r>
              <a:rPr dirty="0" err="1"/>
              <a:t>texte</a:t>
            </a:r>
            <a:r>
              <a:rPr dirty="0"/>
              <a:t> libre : meme framework sous </a:t>
            </a:r>
            <a:r>
              <a:rPr dirty="0" err="1"/>
              <a:t>plusieurs</a:t>
            </a:r>
            <a:r>
              <a:rPr dirty="0"/>
              <a:t> </a:t>
            </a:r>
            <a:r>
              <a:rPr dirty="0" err="1"/>
              <a:t>orthographes</a:t>
            </a:r>
            <a:r>
              <a:rPr dirty="0"/>
              <a:t>.</a:t>
            </a:r>
          </a:p>
          <a:p>
            <a:pPr algn="l">
              <a:defRPr sz="1000" b="0" i="0">
                <a:solidFill>
                  <a:srgbClr val="666666"/>
                </a:solidFill>
              </a:defRPr>
            </a:pPr>
            <a:r>
              <a:rPr dirty="0"/>
              <a:t>Absence de </a:t>
            </a:r>
            <a:r>
              <a:rPr dirty="0" err="1"/>
              <a:t>contraintes</a:t>
            </a:r>
            <a:r>
              <a:rPr dirty="0"/>
              <a:t> </a:t>
            </a:r>
            <a:r>
              <a:rPr dirty="0" err="1"/>
              <a:t>d'unicite</a:t>
            </a:r>
            <a:r>
              <a:rPr dirty="0"/>
              <a:t>, tables sans </a:t>
            </a:r>
            <a:r>
              <a:rPr dirty="0" err="1"/>
              <a:t>cle</a:t>
            </a:r>
            <a:r>
              <a:rPr dirty="0"/>
              <a:t> </a:t>
            </a:r>
            <a:r>
              <a:rPr dirty="0" err="1"/>
              <a:t>primaire</a:t>
            </a:r>
            <a:r>
              <a:rPr dirty="0"/>
              <a:t>.</a:t>
            </a:r>
          </a:p>
        </p:txBody>
      </p:sp>
      <p:sp>
        <p:nvSpPr>
          <p:cNvPr id="18" name="Rounded Rectangle 17"/>
          <p:cNvSpPr/>
          <p:nvPr/>
        </p:nvSpPr>
        <p:spPr>
          <a:xfrm>
            <a:off x="8229600" y="1828800"/>
            <a:ext cx="3429000" cy="246888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412480" y="2011680"/>
            <a:ext cx="457200" cy="45720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3</a:t>
            </a:r>
          </a:p>
        </p:txBody>
      </p:sp>
      <p:sp>
        <p:nvSpPr>
          <p:cNvPr id="20" name="TextBox 19"/>
          <p:cNvSpPr txBox="1"/>
          <p:nvPr/>
        </p:nvSpPr>
        <p:spPr>
          <a:xfrm>
            <a:off x="9006840" y="2011680"/>
            <a:ext cx="2468880" cy="822960"/>
          </a:xfrm>
          <a:prstGeom prst="rect">
            <a:avLst/>
          </a:prstGeom>
          <a:noFill/>
        </p:spPr>
        <p:txBody>
          <a:bodyPr wrap="square">
            <a:spAutoFit/>
          </a:bodyPr>
          <a:lstStyle/>
          <a:p>
            <a:pPr algn="l">
              <a:defRPr sz="1300" b="1" i="0">
                <a:solidFill>
                  <a:srgbClr val="003366"/>
                </a:solidFill>
              </a:defRPr>
            </a:pPr>
            <a:r>
              <a:t>Dette ergonomique</a:t>
            </a:r>
          </a:p>
        </p:txBody>
      </p:sp>
      <p:sp>
        <p:nvSpPr>
          <p:cNvPr id="21" name="TextBox 20"/>
          <p:cNvSpPr txBox="1"/>
          <p:nvPr/>
        </p:nvSpPr>
        <p:spPr>
          <a:xfrm>
            <a:off x="8503920" y="2926080"/>
            <a:ext cx="2926080" cy="400110"/>
          </a:xfrm>
          <a:prstGeom prst="rect">
            <a:avLst/>
          </a:prstGeom>
          <a:noFill/>
        </p:spPr>
        <p:txBody>
          <a:bodyPr wrap="square">
            <a:spAutoFit/>
          </a:bodyPr>
          <a:lstStyle/>
          <a:p>
            <a:pPr algn="l">
              <a:defRPr sz="1000" b="0" i="0">
                <a:solidFill>
                  <a:srgbClr val="666666"/>
                </a:solidFill>
              </a:defRPr>
            </a:pPr>
            <a:r>
              <a:rPr lang="fr-CH" dirty="0"/>
              <a:t>Pas de </a:t>
            </a:r>
            <a:r>
              <a:rPr lang="fr-CH" dirty="0" err="1"/>
              <a:t>coherences</a:t>
            </a:r>
            <a:r>
              <a:rPr lang="fr-CH" dirty="0"/>
              <a:t>, pas d’organisation. Formulaires désorganisés</a:t>
            </a:r>
            <a:endParaRPr dirty="0"/>
          </a:p>
        </p:txBody>
      </p:sp>
      <p:sp>
        <p:nvSpPr>
          <p:cNvPr id="22" name="TextBox 21"/>
          <p:cNvSpPr txBox="1"/>
          <p:nvPr/>
        </p:nvSpPr>
        <p:spPr>
          <a:xfrm>
            <a:off x="731520" y="4572000"/>
            <a:ext cx="10698480" cy="365760"/>
          </a:xfrm>
          <a:prstGeom prst="rect">
            <a:avLst/>
          </a:prstGeom>
          <a:noFill/>
        </p:spPr>
        <p:txBody>
          <a:bodyPr wrap="square">
            <a:spAutoFit/>
          </a:bodyPr>
          <a:lstStyle/>
          <a:p>
            <a:pPr algn="ctr">
              <a:defRPr sz="1600" b="1" i="0">
                <a:solidFill>
                  <a:srgbClr val="2E8B3D"/>
                </a:solidFill>
              </a:defRPr>
            </a:pPr>
            <a:r>
              <a:t>Élargissement du périmètre initial (validé par le chef de projet)</a:t>
            </a:r>
          </a:p>
        </p:txBody>
      </p:sp>
      <p:sp>
        <p:nvSpPr>
          <p:cNvPr id="23" name="Rounded Rectangle 22"/>
          <p:cNvSpPr/>
          <p:nvPr/>
        </p:nvSpPr>
        <p:spPr>
          <a:xfrm>
            <a:off x="1371600" y="5029200"/>
            <a:ext cx="4480560" cy="1097280"/>
          </a:xfrm>
          <a:prstGeom prst="roundRect">
            <a:avLst/>
          </a:prstGeom>
          <a:solidFill>
            <a:srgbClr val="E8F5E9"/>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554480" y="5166360"/>
            <a:ext cx="4206240" cy="365760"/>
          </a:xfrm>
          <a:prstGeom prst="rect">
            <a:avLst/>
          </a:prstGeom>
          <a:noFill/>
        </p:spPr>
        <p:txBody>
          <a:bodyPr wrap="square">
            <a:spAutoFit/>
          </a:bodyPr>
          <a:lstStyle/>
          <a:p>
            <a:pPr algn="l">
              <a:defRPr sz="1300" b="1" i="0">
                <a:solidFill>
                  <a:srgbClr val="2E8B3D"/>
                </a:solidFill>
              </a:defRPr>
            </a:pPr>
            <a:r>
              <a:t>+ Normalisation de la base de données</a:t>
            </a:r>
          </a:p>
        </p:txBody>
      </p:sp>
      <p:sp>
        <p:nvSpPr>
          <p:cNvPr id="25" name="TextBox 24"/>
          <p:cNvSpPr txBox="1"/>
          <p:nvPr/>
        </p:nvSpPr>
        <p:spPr>
          <a:xfrm>
            <a:off x="1554480" y="5577840"/>
            <a:ext cx="4206240" cy="457200"/>
          </a:xfrm>
          <a:prstGeom prst="rect">
            <a:avLst/>
          </a:prstGeom>
          <a:noFill/>
        </p:spPr>
        <p:txBody>
          <a:bodyPr wrap="square">
            <a:spAutoFit/>
          </a:bodyPr>
          <a:lstStyle/>
          <a:p>
            <a:pPr algn="l">
              <a:defRPr sz="1100" b="0" i="1">
                <a:solidFill>
                  <a:srgbClr val="333333"/>
                </a:solidFill>
              </a:defRPr>
            </a:pPr>
            <a:r>
              <a:t>au sens des formes normales de Codd</a:t>
            </a:r>
          </a:p>
        </p:txBody>
      </p:sp>
      <p:sp>
        <p:nvSpPr>
          <p:cNvPr id="26" name="Rounded Rectangle 25"/>
          <p:cNvSpPr/>
          <p:nvPr/>
        </p:nvSpPr>
        <p:spPr>
          <a:xfrm>
            <a:off x="6400800" y="5029200"/>
            <a:ext cx="4480560" cy="1097280"/>
          </a:xfrm>
          <a:prstGeom prst="roundRect">
            <a:avLst/>
          </a:prstGeom>
          <a:solidFill>
            <a:srgbClr val="E8F5E9"/>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583680" y="5166360"/>
            <a:ext cx="4206240" cy="365760"/>
          </a:xfrm>
          <a:prstGeom prst="rect">
            <a:avLst/>
          </a:prstGeom>
          <a:noFill/>
        </p:spPr>
        <p:txBody>
          <a:bodyPr wrap="square">
            <a:spAutoFit/>
          </a:bodyPr>
          <a:lstStyle/>
          <a:p>
            <a:pPr algn="l">
              <a:defRPr sz="1300" b="1" i="0">
                <a:solidFill>
                  <a:srgbClr val="2E8B3D"/>
                </a:solidFill>
              </a:defRPr>
            </a:pPr>
            <a:r>
              <a:t>+ Mise en conformité REST de l'API</a:t>
            </a:r>
          </a:p>
        </p:txBody>
      </p:sp>
      <p:sp>
        <p:nvSpPr>
          <p:cNvPr id="28" name="TextBox 27"/>
          <p:cNvSpPr txBox="1"/>
          <p:nvPr/>
        </p:nvSpPr>
        <p:spPr>
          <a:xfrm>
            <a:off x="6583680" y="5577840"/>
            <a:ext cx="4206240" cy="457200"/>
          </a:xfrm>
          <a:prstGeom prst="rect">
            <a:avLst/>
          </a:prstGeom>
          <a:noFill/>
        </p:spPr>
        <p:txBody>
          <a:bodyPr wrap="square">
            <a:spAutoFit/>
          </a:bodyPr>
          <a:lstStyle/>
          <a:p>
            <a:pPr algn="l">
              <a:defRPr sz="1100" b="0" i="1">
                <a:solidFill>
                  <a:srgbClr val="333333"/>
                </a:solidFill>
              </a:defRPr>
            </a:pPr>
            <a:r>
              <a:t>au sens des principes de Fielding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Démarche de réalisation</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19 / 32</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65760"/>
          </a:xfrm>
          <a:prstGeom prst="rect">
            <a:avLst/>
          </a:prstGeom>
          <a:noFill/>
        </p:spPr>
        <p:txBody>
          <a:bodyPr wrap="square">
            <a:spAutoFit/>
          </a:bodyPr>
          <a:lstStyle/>
          <a:p>
            <a:pPr algn="ctr">
              <a:defRPr sz="1400" b="0" i="1">
                <a:solidFill>
                  <a:srgbClr val="666666"/>
                </a:solidFill>
              </a:defRPr>
            </a:pPr>
            <a:r>
              <a:t>Démarche appliquée à chaque livraison, du cadrage à la supervision</a:t>
            </a:r>
          </a:p>
        </p:txBody>
      </p:sp>
      <p:sp>
        <p:nvSpPr>
          <p:cNvPr id="10" name="Rounded Rectangle 9"/>
          <p:cNvSpPr/>
          <p:nvPr/>
        </p:nvSpPr>
        <p:spPr>
          <a:xfrm>
            <a:off x="731520" y="1828800"/>
            <a:ext cx="1828800" cy="457200"/>
          </a:xfrm>
          <a:prstGeom prst="round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CADRAGE</a:t>
            </a:r>
          </a:p>
        </p:txBody>
      </p:sp>
      <p:sp>
        <p:nvSpPr>
          <p:cNvPr id="11" name="Rectangle 10"/>
          <p:cNvSpPr/>
          <p:nvPr/>
        </p:nvSpPr>
        <p:spPr>
          <a:xfrm>
            <a:off x="2743200" y="1828800"/>
            <a:ext cx="7315200" cy="457200"/>
          </a:xfrm>
          <a:prstGeom prst="rect">
            <a:avLst/>
          </a:prstGeom>
          <a:solidFill>
            <a:srgbClr val="FFFFFF"/>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743200" y="1828800"/>
            <a:ext cx="73152" cy="45720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926080" y="1920240"/>
            <a:ext cx="7132320" cy="320040"/>
          </a:xfrm>
          <a:prstGeom prst="rect">
            <a:avLst/>
          </a:prstGeom>
          <a:noFill/>
        </p:spPr>
        <p:txBody>
          <a:bodyPr wrap="square">
            <a:spAutoFit/>
          </a:bodyPr>
          <a:lstStyle/>
          <a:p>
            <a:pPr algn="l">
              <a:defRPr sz="1100" b="0" i="0">
                <a:solidFill>
                  <a:srgbClr val="333333"/>
                </a:solidFill>
              </a:defRPr>
            </a:pPr>
            <a:r>
              <a:t>1. Cadrage du besoin (analyste fonctionnelle)</a:t>
            </a:r>
          </a:p>
        </p:txBody>
      </p:sp>
      <p:sp>
        <p:nvSpPr>
          <p:cNvPr id="14" name="Rounded Rectangle 13"/>
          <p:cNvSpPr/>
          <p:nvPr/>
        </p:nvSpPr>
        <p:spPr>
          <a:xfrm>
            <a:off x="731520" y="2286000"/>
            <a:ext cx="1828800" cy="45720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DÉVELOPPEMENT</a:t>
            </a:r>
          </a:p>
        </p:txBody>
      </p:sp>
      <p:sp>
        <p:nvSpPr>
          <p:cNvPr id="15" name="Rectangle 14"/>
          <p:cNvSpPr/>
          <p:nvPr/>
        </p:nvSpPr>
        <p:spPr>
          <a:xfrm>
            <a:off x="2743200" y="2286000"/>
            <a:ext cx="7315200" cy="457200"/>
          </a:xfrm>
          <a:prstGeom prst="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743200" y="2286000"/>
            <a:ext cx="73152" cy="4572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926080" y="2377440"/>
            <a:ext cx="7132320" cy="320040"/>
          </a:xfrm>
          <a:prstGeom prst="rect">
            <a:avLst/>
          </a:prstGeom>
          <a:noFill/>
        </p:spPr>
        <p:txBody>
          <a:bodyPr wrap="square">
            <a:spAutoFit/>
          </a:bodyPr>
          <a:lstStyle/>
          <a:p>
            <a:pPr algn="l">
              <a:defRPr sz="1100" b="0" i="0">
                <a:solidFill>
                  <a:srgbClr val="333333"/>
                </a:solidFill>
              </a:defRPr>
            </a:pPr>
            <a:r>
              <a:t>2. Conception et développement (local)</a:t>
            </a:r>
          </a:p>
        </p:txBody>
      </p:sp>
      <p:sp>
        <p:nvSpPr>
          <p:cNvPr id="18" name="Rectangle 17"/>
          <p:cNvSpPr/>
          <p:nvPr/>
        </p:nvSpPr>
        <p:spPr>
          <a:xfrm>
            <a:off x="2743200" y="2670048"/>
            <a:ext cx="7315200" cy="457200"/>
          </a:xfrm>
          <a:prstGeom prst="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743200" y="2670048"/>
            <a:ext cx="73152" cy="4572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926080" y="2761488"/>
            <a:ext cx="7132320" cy="320040"/>
          </a:xfrm>
          <a:prstGeom prst="rect">
            <a:avLst/>
          </a:prstGeom>
          <a:noFill/>
        </p:spPr>
        <p:txBody>
          <a:bodyPr wrap="square">
            <a:spAutoFit/>
          </a:bodyPr>
          <a:lstStyle/>
          <a:p>
            <a:pPr algn="l">
              <a:defRPr sz="1100" b="0" i="0">
                <a:solidFill>
                  <a:srgbClr val="333333"/>
                </a:solidFill>
              </a:defRPr>
            </a:pPr>
            <a:r>
              <a:t>3. Déploiement sur ressources Azure DEV</a:t>
            </a:r>
          </a:p>
        </p:txBody>
      </p:sp>
      <p:sp>
        <p:nvSpPr>
          <p:cNvPr id="21" name="Rectangle 20"/>
          <p:cNvSpPr/>
          <p:nvPr/>
        </p:nvSpPr>
        <p:spPr>
          <a:xfrm>
            <a:off x="2743200" y="3054096"/>
            <a:ext cx="7315200" cy="457200"/>
          </a:xfrm>
          <a:prstGeom prst="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2743200" y="3054096"/>
            <a:ext cx="73152" cy="4572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926080" y="3145536"/>
            <a:ext cx="7132320" cy="320040"/>
          </a:xfrm>
          <a:prstGeom prst="rect">
            <a:avLst/>
          </a:prstGeom>
          <a:noFill/>
        </p:spPr>
        <p:txBody>
          <a:bodyPr wrap="square">
            <a:spAutoFit/>
          </a:bodyPr>
          <a:lstStyle/>
          <a:p>
            <a:pPr algn="l">
              <a:defRPr sz="1100" b="0" i="0">
                <a:solidFill>
                  <a:srgbClr val="333333"/>
                </a:solidFill>
              </a:defRPr>
            </a:pPr>
            <a:r>
              <a:t>4. Tests développeur en DEV</a:t>
            </a:r>
          </a:p>
        </p:txBody>
      </p:sp>
      <p:sp>
        <p:nvSpPr>
          <p:cNvPr id="24" name="Rounded Rectangle 23"/>
          <p:cNvSpPr/>
          <p:nvPr/>
        </p:nvSpPr>
        <p:spPr>
          <a:xfrm>
            <a:off x="731520" y="3511296"/>
            <a:ext cx="1828800" cy="45720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RECETTE</a:t>
            </a:r>
          </a:p>
        </p:txBody>
      </p:sp>
      <p:sp>
        <p:nvSpPr>
          <p:cNvPr id="25" name="Rectangle 24"/>
          <p:cNvSpPr/>
          <p:nvPr/>
        </p:nvSpPr>
        <p:spPr>
          <a:xfrm>
            <a:off x="2743200" y="3511296"/>
            <a:ext cx="7315200" cy="457200"/>
          </a:xfrm>
          <a:prstGeom prst="rect">
            <a:avLst/>
          </a:prstGeom>
          <a:solidFill>
            <a:srgbClr val="FFFFFF"/>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2743200" y="3511296"/>
            <a:ext cx="73152" cy="4572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926080" y="3602736"/>
            <a:ext cx="7132320" cy="320040"/>
          </a:xfrm>
          <a:prstGeom prst="rect">
            <a:avLst/>
          </a:prstGeom>
          <a:noFill/>
        </p:spPr>
        <p:txBody>
          <a:bodyPr wrap="square">
            <a:spAutoFit/>
          </a:bodyPr>
          <a:lstStyle/>
          <a:p>
            <a:pPr algn="l">
              <a:defRPr sz="1100" b="0" i="0">
                <a:solidFill>
                  <a:srgbClr val="333333"/>
                </a:solidFill>
              </a:defRPr>
            </a:pPr>
            <a:r>
              <a:t>5. Mise en recette (UAT)</a:t>
            </a:r>
          </a:p>
        </p:txBody>
      </p:sp>
      <p:sp>
        <p:nvSpPr>
          <p:cNvPr id="28" name="Rectangle 27"/>
          <p:cNvSpPr/>
          <p:nvPr/>
        </p:nvSpPr>
        <p:spPr>
          <a:xfrm>
            <a:off x="2743200" y="3895344"/>
            <a:ext cx="7315200" cy="457200"/>
          </a:xfrm>
          <a:prstGeom prst="rect">
            <a:avLst/>
          </a:prstGeom>
          <a:solidFill>
            <a:srgbClr val="FFFFFF"/>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2743200" y="3895344"/>
            <a:ext cx="73152" cy="4572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926080" y="3986784"/>
            <a:ext cx="7132320" cy="320040"/>
          </a:xfrm>
          <a:prstGeom prst="rect">
            <a:avLst/>
          </a:prstGeom>
          <a:noFill/>
        </p:spPr>
        <p:txBody>
          <a:bodyPr wrap="square">
            <a:spAutoFit/>
          </a:bodyPr>
          <a:lstStyle/>
          <a:p>
            <a:pPr algn="l">
              <a:defRPr sz="1100" b="0" i="0">
                <a:solidFill>
                  <a:srgbClr val="333333"/>
                </a:solidFill>
              </a:defRPr>
            </a:pPr>
            <a:r>
              <a:t>6. Tests AF - cahier d'anomalies</a:t>
            </a:r>
          </a:p>
        </p:txBody>
      </p:sp>
      <p:sp>
        <p:nvSpPr>
          <p:cNvPr id="31" name="Rectangle 30"/>
          <p:cNvSpPr/>
          <p:nvPr/>
        </p:nvSpPr>
        <p:spPr>
          <a:xfrm>
            <a:off x="2743200" y="4279392"/>
            <a:ext cx="7315200" cy="457200"/>
          </a:xfrm>
          <a:prstGeom prst="rect">
            <a:avLst/>
          </a:prstGeom>
          <a:solidFill>
            <a:srgbClr val="FFFFFF"/>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2743200" y="4279392"/>
            <a:ext cx="73152" cy="4572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926080" y="4370832"/>
            <a:ext cx="7132320" cy="320040"/>
          </a:xfrm>
          <a:prstGeom prst="rect">
            <a:avLst/>
          </a:prstGeom>
          <a:noFill/>
        </p:spPr>
        <p:txBody>
          <a:bodyPr wrap="square">
            <a:spAutoFit/>
          </a:bodyPr>
          <a:lstStyle/>
          <a:p>
            <a:pPr algn="l">
              <a:defRPr sz="1100" b="0" i="0">
                <a:solidFill>
                  <a:srgbClr val="333333"/>
                </a:solidFill>
              </a:defRPr>
            </a:pPr>
            <a:r>
              <a:t>7. Correction des retours</a:t>
            </a:r>
          </a:p>
        </p:txBody>
      </p:sp>
      <p:sp>
        <p:nvSpPr>
          <p:cNvPr id="34" name="Rectangle 33"/>
          <p:cNvSpPr/>
          <p:nvPr/>
        </p:nvSpPr>
        <p:spPr>
          <a:xfrm>
            <a:off x="2743200" y="4663440"/>
            <a:ext cx="7315200" cy="457200"/>
          </a:xfrm>
          <a:prstGeom prst="rect">
            <a:avLst/>
          </a:prstGeom>
          <a:solidFill>
            <a:srgbClr val="FFFFFF"/>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2743200" y="4663440"/>
            <a:ext cx="73152" cy="4572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926080" y="4754880"/>
            <a:ext cx="7132320" cy="320040"/>
          </a:xfrm>
          <a:prstGeom prst="rect">
            <a:avLst/>
          </a:prstGeom>
          <a:noFill/>
        </p:spPr>
        <p:txBody>
          <a:bodyPr wrap="square">
            <a:spAutoFit/>
          </a:bodyPr>
          <a:lstStyle/>
          <a:p>
            <a:pPr algn="l">
              <a:defRPr sz="1100" b="0" i="0">
                <a:solidFill>
                  <a:srgbClr val="333333"/>
                </a:solidFill>
              </a:defRPr>
            </a:pPr>
            <a:r>
              <a:t>8. Tests finaux par l'analyste fonctionnelle</a:t>
            </a:r>
          </a:p>
        </p:txBody>
      </p:sp>
      <p:sp>
        <p:nvSpPr>
          <p:cNvPr id="37" name="Rounded Rectangle 36"/>
          <p:cNvSpPr/>
          <p:nvPr/>
        </p:nvSpPr>
        <p:spPr>
          <a:xfrm>
            <a:off x="731520" y="5120640"/>
            <a:ext cx="1828800" cy="457200"/>
          </a:xfrm>
          <a:prstGeom prst="round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PRODUCTION</a:t>
            </a:r>
          </a:p>
        </p:txBody>
      </p:sp>
      <p:sp>
        <p:nvSpPr>
          <p:cNvPr id="38" name="Rectangle 37"/>
          <p:cNvSpPr/>
          <p:nvPr/>
        </p:nvSpPr>
        <p:spPr>
          <a:xfrm>
            <a:off x="2743200" y="5120640"/>
            <a:ext cx="7315200" cy="457200"/>
          </a:xfrm>
          <a:prstGeom prst="rect">
            <a:avLst/>
          </a:prstGeom>
          <a:solidFill>
            <a:srgbClr val="FFFFFF"/>
          </a:solidFill>
          <a:ln w="1270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2743200" y="5120640"/>
            <a:ext cx="73152" cy="457200"/>
          </a:xfrm>
          <a:prstGeom prst="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926080" y="5212080"/>
            <a:ext cx="7132320" cy="320040"/>
          </a:xfrm>
          <a:prstGeom prst="rect">
            <a:avLst/>
          </a:prstGeom>
          <a:noFill/>
        </p:spPr>
        <p:txBody>
          <a:bodyPr wrap="square">
            <a:spAutoFit/>
          </a:bodyPr>
          <a:lstStyle/>
          <a:p>
            <a:pPr algn="l">
              <a:defRPr sz="1100" b="0" i="0">
                <a:solidFill>
                  <a:srgbClr val="333333"/>
                </a:solidFill>
              </a:defRPr>
            </a:pPr>
            <a:r>
              <a:t>9. Mise en production</a:t>
            </a:r>
          </a:p>
        </p:txBody>
      </p:sp>
      <p:sp>
        <p:nvSpPr>
          <p:cNvPr id="41" name="Rectangle 40"/>
          <p:cNvSpPr/>
          <p:nvPr/>
        </p:nvSpPr>
        <p:spPr>
          <a:xfrm>
            <a:off x="2743200" y="5504688"/>
            <a:ext cx="7315200" cy="457200"/>
          </a:xfrm>
          <a:prstGeom prst="rect">
            <a:avLst/>
          </a:prstGeom>
          <a:solidFill>
            <a:srgbClr val="FFFFFF"/>
          </a:solidFill>
          <a:ln w="1270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2743200" y="5504688"/>
            <a:ext cx="73152" cy="457200"/>
          </a:xfrm>
          <a:prstGeom prst="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926080" y="5596128"/>
            <a:ext cx="7132320" cy="320040"/>
          </a:xfrm>
          <a:prstGeom prst="rect">
            <a:avLst/>
          </a:prstGeom>
          <a:noFill/>
        </p:spPr>
        <p:txBody>
          <a:bodyPr wrap="square">
            <a:spAutoFit/>
          </a:bodyPr>
          <a:lstStyle/>
          <a:p>
            <a:pPr algn="l">
              <a:defRPr sz="1100" b="0" i="0">
                <a:solidFill>
                  <a:srgbClr val="333333"/>
                </a:solidFill>
              </a:defRPr>
            </a:pPr>
            <a:r>
              <a:t>10. Supervision (monitoring)</a:t>
            </a:r>
          </a:p>
        </p:txBody>
      </p:sp>
      <p:sp>
        <p:nvSpPr>
          <p:cNvPr id="44" name="TextBox 43"/>
          <p:cNvSpPr txBox="1"/>
          <p:nvPr/>
        </p:nvSpPr>
        <p:spPr>
          <a:xfrm>
            <a:off x="10332720" y="4206240"/>
            <a:ext cx="1737360" cy="457200"/>
          </a:xfrm>
          <a:prstGeom prst="rect">
            <a:avLst/>
          </a:prstGeom>
          <a:noFill/>
        </p:spPr>
        <p:txBody>
          <a:bodyPr wrap="square">
            <a:spAutoFit/>
          </a:bodyPr>
          <a:lstStyle/>
          <a:p>
            <a:pPr algn="ctr">
              <a:defRPr sz="900" b="1" i="1">
                <a:solidFill>
                  <a:srgbClr val="E2001A"/>
                </a:solidFill>
              </a:defRPr>
            </a:pPr>
            <a:r>
              <a:t>Boucle si</a:t>
            </a:r>
          </a:p>
          <a:p>
            <a:pPr algn="ctr">
              <a:defRPr sz="900" b="1" i="1">
                <a:solidFill>
                  <a:srgbClr val="E2001A"/>
                </a:solidFill>
              </a:defRPr>
            </a:pPr>
            <a:r>
              <a:t>anomalies</a:t>
            </a:r>
          </a:p>
          <a:p>
            <a:pPr algn="ctr">
              <a:defRPr sz="900" b="1" i="1">
                <a:solidFill>
                  <a:srgbClr val="E2001A"/>
                </a:solidFill>
              </a:defRPr>
            </a:pPr>
            <a:r>
              <a:t>restantes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Modernisation du socle technique</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20 / 32</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07777"/>
          </a:xfrm>
          <a:prstGeom prst="rect">
            <a:avLst/>
          </a:prstGeom>
          <a:noFill/>
        </p:spPr>
        <p:txBody>
          <a:bodyPr wrap="square">
            <a:spAutoFit/>
          </a:bodyPr>
          <a:lstStyle/>
          <a:p>
            <a:pPr algn="ctr">
              <a:defRPr sz="1400" b="0" i="1">
                <a:solidFill>
                  <a:srgbClr val="666666"/>
                </a:solidFill>
              </a:defRPr>
            </a:pPr>
            <a:r>
              <a:rPr dirty="0" err="1"/>
              <a:t>montées</a:t>
            </a:r>
            <a:r>
              <a:rPr dirty="0"/>
              <a:t> de version </a:t>
            </a:r>
            <a:r>
              <a:rPr dirty="0" err="1"/>
              <a:t>incrémentales</a:t>
            </a:r>
            <a:endParaRPr dirty="0"/>
          </a:p>
        </p:txBody>
      </p:sp>
      <p:sp>
        <p:nvSpPr>
          <p:cNvPr id="10" name="Rectangle 9"/>
          <p:cNvSpPr/>
          <p:nvPr/>
        </p:nvSpPr>
        <p:spPr>
          <a:xfrm>
            <a:off x="731520" y="1828800"/>
            <a:ext cx="10698480" cy="4572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1874519"/>
            <a:ext cx="2103120" cy="365760"/>
          </a:xfrm>
          <a:prstGeom prst="rect">
            <a:avLst/>
          </a:prstGeom>
          <a:noFill/>
        </p:spPr>
        <p:txBody>
          <a:bodyPr wrap="square">
            <a:spAutoFit/>
          </a:bodyPr>
          <a:lstStyle/>
          <a:p>
            <a:pPr algn="l">
              <a:defRPr sz="1200" b="1" i="0">
                <a:solidFill>
                  <a:srgbClr val="FFFFFF"/>
                </a:solidFill>
              </a:defRPr>
            </a:pPr>
            <a:r>
              <a:t>Composant</a:t>
            </a:r>
          </a:p>
        </p:txBody>
      </p:sp>
      <p:sp>
        <p:nvSpPr>
          <p:cNvPr id="12" name="TextBox 11"/>
          <p:cNvSpPr txBox="1"/>
          <p:nvPr/>
        </p:nvSpPr>
        <p:spPr>
          <a:xfrm>
            <a:off x="3474720" y="1874519"/>
            <a:ext cx="2103120" cy="365760"/>
          </a:xfrm>
          <a:prstGeom prst="rect">
            <a:avLst/>
          </a:prstGeom>
          <a:noFill/>
        </p:spPr>
        <p:txBody>
          <a:bodyPr wrap="square">
            <a:spAutoFit/>
          </a:bodyPr>
          <a:lstStyle/>
          <a:p>
            <a:pPr algn="l">
              <a:defRPr sz="1200" b="1" i="0">
                <a:solidFill>
                  <a:srgbClr val="FFFFFF"/>
                </a:solidFill>
              </a:defRPr>
            </a:pPr>
            <a:r>
              <a:t>Avant</a:t>
            </a:r>
          </a:p>
        </p:txBody>
      </p:sp>
      <p:sp>
        <p:nvSpPr>
          <p:cNvPr id="13" name="TextBox 12"/>
          <p:cNvSpPr txBox="1"/>
          <p:nvPr/>
        </p:nvSpPr>
        <p:spPr>
          <a:xfrm>
            <a:off x="6035040" y="1874519"/>
            <a:ext cx="2103120" cy="365760"/>
          </a:xfrm>
          <a:prstGeom prst="rect">
            <a:avLst/>
          </a:prstGeom>
          <a:noFill/>
        </p:spPr>
        <p:txBody>
          <a:bodyPr wrap="square">
            <a:spAutoFit/>
          </a:bodyPr>
          <a:lstStyle/>
          <a:p>
            <a:pPr algn="l">
              <a:defRPr sz="1200" b="1" i="0">
                <a:solidFill>
                  <a:srgbClr val="FFFFFF"/>
                </a:solidFill>
              </a:defRPr>
            </a:pPr>
            <a:r>
              <a:t>Après</a:t>
            </a:r>
          </a:p>
        </p:txBody>
      </p:sp>
      <p:sp>
        <p:nvSpPr>
          <p:cNvPr id="14" name="TextBox 13"/>
          <p:cNvSpPr txBox="1"/>
          <p:nvPr/>
        </p:nvSpPr>
        <p:spPr>
          <a:xfrm>
            <a:off x="8595360" y="1874519"/>
            <a:ext cx="2743200" cy="365760"/>
          </a:xfrm>
          <a:prstGeom prst="rect">
            <a:avLst/>
          </a:prstGeom>
          <a:noFill/>
        </p:spPr>
        <p:txBody>
          <a:bodyPr wrap="square">
            <a:spAutoFit/>
          </a:bodyPr>
          <a:lstStyle/>
          <a:p>
            <a:pPr algn="l">
              <a:defRPr sz="1200" b="1" i="0">
                <a:solidFill>
                  <a:srgbClr val="FFFFFF"/>
                </a:solidFill>
              </a:defRPr>
            </a:pPr>
            <a:r>
              <a:t>Enjeu principal</a:t>
            </a:r>
          </a:p>
        </p:txBody>
      </p:sp>
      <p:sp>
        <p:nvSpPr>
          <p:cNvPr id="15" name="Rectangle 14"/>
          <p:cNvSpPr/>
          <p:nvPr/>
        </p:nvSpPr>
        <p:spPr>
          <a:xfrm>
            <a:off x="731520" y="2286000"/>
            <a:ext cx="10698480" cy="457200"/>
          </a:xfrm>
          <a:prstGeom prst="rect">
            <a:avLst/>
          </a:prstGeom>
          <a:solidFill>
            <a:srgbClr val="F0F0F0"/>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 y="2377440"/>
            <a:ext cx="2560320" cy="365760"/>
          </a:xfrm>
          <a:prstGeom prst="rect">
            <a:avLst/>
          </a:prstGeom>
          <a:noFill/>
        </p:spPr>
        <p:txBody>
          <a:bodyPr wrap="square">
            <a:spAutoFit/>
          </a:bodyPr>
          <a:lstStyle/>
          <a:p>
            <a:pPr algn="l">
              <a:defRPr sz="1100" b="1" i="0">
                <a:solidFill>
                  <a:srgbClr val="003366"/>
                </a:solidFill>
              </a:defRPr>
            </a:pPr>
            <a:r>
              <a:t>Front-end</a:t>
            </a:r>
          </a:p>
        </p:txBody>
      </p:sp>
      <p:sp>
        <p:nvSpPr>
          <p:cNvPr id="17" name="TextBox 16"/>
          <p:cNvSpPr txBox="1"/>
          <p:nvPr/>
        </p:nvSpPr>
        <p:spPr>
          <a:xfrm>
            <a:off x="3474720" y="2377440"/>
            <a:ext cx="2560320" cy="365760"/>
          </a:xfrm>
          <a:prstGeom prst="rect">
            <a:avLst/>
          </a:prstGeom>
          <a:noFill/>
        </p:spPr>
        <p:txBody>
          <a:bodyPr wrap="square">
            <a:spAutoFit/>
          </a:bodyPr>
          <a:lstStyle/>
          <a:p>
            <a:pPr algn="l">
              <a:defRPr sz="1100" b="0" i="0">
                <a:solidFill>
                  <a:srgbClr val="666666"/>
                </a:solidFill>
              </a:defRPr>
            </a:pPr>
            <a:r>
              <a:t>Angular 14.2</a:t>
            </a:r>
          </a:p>
        </p:txBody>
      </p:sp>
      <p:sp>
        <p:nvSpPr>
          <p:cNvPr id="18" name="TextBox 17"/>
          <p:cNvSpPr txBox="1"/>
          <p:nvPr/>
        </p:nvSpPr>
        <p:spPr>
          <a:xfrm>
            <a:off x="6035040" y="2377440"/>
            <a:ext cx="2560320" cy="365760"/>
          </a:xfrm>
          <a:prstGeom prst="rect">
            <a:avLst/>
          </a:prstGeom>
          <a:noFill/>
        </p:spPr>
        <p:txBody>
          <a:bodyPr wrap="square">
            <a:spAutoFit/>
          </a:bodyPr>
          <a:lstStyle/>
          <a:p>
            <a:pPr algn="l">
              <a:defRPr sz="1100" b="1" i="0">
                <a:solidFill>
                  <a:srgbClr val="2E8B3D"/>
                </a:solidFill>
              </a:defRPr>
            </a:pPr>
            <a:r>
              <a:t>Angular 20.0</a:t>
            </a:r>
          </a:p>
        </p:txBody>
      </p:sp>
      <p:sp>
        <p:nvSpPr>
          <p:cNvPr id="19" name="TextBox 18"/>
          <p:cNvSpPr txBox="1"/>
          <p:nvPr/>
        </p:nvSpPr>
        <p:spPr>
          <a:xfrm>
            <a:off x="8595360" y="2377440"/>
            <a:ext cx="2743200" cy="365760"/>
          </a:xfrm>
          <a:prstGeom prst="rect">
            <a:avLst/>
          </a:prstGeom>
          <a:noFill/>
        </p:spPr>
        <p:txBody>
          <a:bodyPr wrap="square">
            <a:spAutoFit/>
          </a:bodyPr>
          <a:lstStyle/>
          <a:p>
            <a:pPr algn="l">
              <a:defRPr sz="1000" b="0" i="0">
                <a:solidFill>
                  <a:srgbClr val="333333"/>
                </a:solidFill>
              </a:defRPr>
            </a:pPr>
            <a:r>
              <a:t>Support actif, correctifs de sécurité</a:t>
            </a:r>
          </a:p>
        </p:txBody>
      </p:sp>
      <p:sp>
        <p:nvSpPr>
          <p:cNvPr id="20" name="Rectangle 19"/>
          <p:cNvSpPr/>
          <p:nvPr/>
        </p:nvSpPr>
        <p:spPr>
          <a:xfrm>
            <a:off x="731520" y="2788920"/>
            <a:ext cx="10698480" cy="45720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4400" y="2880360"/>
            <a:ext cx="2560320" cy="365760"/>
          </a:xfrm>
          <a:prstGeom prst="rect">
            <a:avLst/>
          </a:prstGeom>
          <a:noFill/>
        </p:spPr>
        <p:txBody>
          <a:bodyPr wrap="square">
            <a:spAutoFit/>
          </a:bodyPr>
          <a:lstStyle/>
          <a:p>
            <a:pPr algn="l">
              <a:defRPr sz="1100" b="1" i="0">
                <a:solidFill>
                  <a:srgbClr val="003366"/>
                </a:solidFill>
              </a:defRPr>
            </a:pPr>
            <a:r>
              <a:t>Back-end</a:t>
            </a:r>
          </a:p>
        </p:txBody>
      </p:sp>
      <p:sp>
        <p:nvSpPr>
          <p:cNvPr id="22" name="TextBox 21"/>
          <p:cNvSpPr txBox="1"/>
          <p:nvPr/>
        </p:nvSpPr>
        <p:spPr>
          <a:xfrm>
            <a:off x="3474720" y="2880360"/>
            <a:ext cx="2560320" cy="365760"/>
          </a:xfrm>
          <a:prstGeom prst="rect">
            <a:avLst/>
          </a:prstGeom>
          <a:noFill/>
        </p:spPr>
        <p:txBody>
          <a:bodyPr wrap="square">
            <a:spAutoFit/>
          </a:bodyPr>
          <a:lstStyle/>
          <a:p>
            <a:pPr algn="l">
              <a:defRPr sz="1100" b="0" i="0">
                <a:solidFill>
                  <a:srgbClr val="666666"/>
                </a:solidFill>
              </a:defRPr>
            </a:pPr>
            <a:r>
              <a:t>.NET 6.0</a:t>
            </a:r>
          </a:p>
        </p:txBody>
      </p:sp>
      <p:sp>
        <p:nvSpPr>
          <p:cNvPr id="23" name="TextBox 22"/>
          <p:cNvSpPr txBox="1"/>
          <p:nvPr/>
        </p:nvSpPr>
        <p:spPr>
          <a:xfrm>
            <a:off x="6035040" y="2880360"/>
            <a:ext cx="2560320" cy="365760"/>
          </a:xfrm>
          <a:prstGeom prst="rect">
            <a:avLst/>
          </a:prstGeom>
          <a:noFill/>
        </p:spPr>
        <p:txBody>
          <a:bodyPr wrap="square">
            <a:spAutoFit/>
          </a:bodyPr>
          <a:lstStyle/>
          <a:p>
            <a:pPr algn="l">
              <a:defRPr sz="1100" b="1" i="0">
                <a:solidFill>
                  <a:srgbClr val="2E8B3D"/>
                </a:solidFill>
              </a:defRPr>
            </a:pPr>
            <a:r>
              <a:t>.NET 10.0</a:t>
            </a:r>
          </a:p>
        </p:txBody>
      </p:sp>
      <p:sp>
        <p:nvSpPr>
          <p:cNvPr id="24" name="TextBox 23"/>
          <p:cNvSpPr txBox="1"/>
          <p:nvPr/>
        </p:nvSpPr>
        <p:spPr>
          <a:xfrm>
            <a:off x="8595360" y="2880360"/>
            <a:ext cx="2743200" cy="365760"/>
          </a:xfrm>
          <a:prstGeom prst="rect">
            <a:avLst/>
          </a:prstGeom>
          <a:noFill/>
        </p:spPr>
        <p:txBody>
          <a:bodyPr wrap="square">
            <a:spAutoFit/>
          </a:bodyPr>
          <a:lstStyle/>
          <a:p>
            <a:pPr algn="l">
              <a:defRPr sz="1000" b="0" i="0">
                <a:solidFill>
                  <a:srgbClr val="333333"/>
                </a:solidFill>
              </a:defRPr>
            </a:pPr>
            <a:r>
              <a:t>Support actif, performances</a:t>
            </a:r>
          </a:p>
        </p:txBody>
      </p:sp>
      <p:sp>
        <p:nvSpPr>
          <p:cNvPr id="25" name="Rectangle 24"/>
          <p:cNvSpPr/>
          <p:nvPr/>
        </p:nvSpPr>
        <p:spPr>
          <a:xfrm>
            <a:off x="731520" y="3291840"/>
            <a:ext cx="10698480" cy="457200"/>
          </a:xfrm>
          <a:prstGeom prst="rect">
            <a:avLst/>
          </a:prstGeom>
          <a:solidFill>
            <a:srgbClr val="F0F0F0"/>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14400" y="3383280"/>
            <a:ext cx="2560320" cy="365760"/>
          </a:xfrm>
          <a:prstGeom prst="rect">
            <a:avLst/>
          </a:prstGeom>
          <a:noFill/>
        </p:spPr>
        <p:txBody>
          <a:bodyPr wrap="square">
            <a:spAutoFit/>
          </a:bodyPr>
          <a:lstStyle/>
          <a:p>
            <a:pPr algn="l">
              <a:defRPr sz="1100" b="1" i="0">
                <a:solidFill>
                  <a:srgbClr val="003366"/>
                </a:solidFill>
              </a:defRPr>
            </a:pPr>
            <a:r>
              <a:t>Accès données</a:t>
            </a:r>
          </a:p>
        </p:txBody>
      </p:sp>
      <p:sp>
        <p:nvSpPr>
          <p:cNvPr id="27" name="TextBox 26"/>
          <p:cNvSpPr txBox="1"/>
          <p:nvPr/>
        </p:nvSpPr>
        <p:spPr>
          <a:xfrm>
            <a:off x="3474720" y="3383280"/>
            <a:ext cx="2560320" cy="365760"/>
          </a:xfrm>
          <a:prstGeom prst="rect">
            <a:avLst/>
          </a:prstGeom>
          <a:noFill/>
        </p:spPr>
        <p:txBody>
          <a:bodyPr wrap="square">
            <a:spAutoFit/>
          </a:bodyPr>
          <a:lstStyle/>
          <a:p>
            <a:pPr algn="l">
              <a:defRPr sz="1100" b="0" i="0">
                <a:solidFill>
                  <a:srgbClr val="666666"/>
                </a:solidFill>
              </a:defRPr>
            </a:pPr>
            <a:r>
              <a:t>EF Core 6.0.35</a:t>
            </a:r>
          </a:p>
        </p:txBody>
      </p:sp>
      <p:sp>
        <p:nvSpPr>
          <p:cNvPr id="28" name="TextBox 27"/>
          <p:cNvSpPr txBox="1"/>
          <p:nvPr/>
        </p:nvSpPr>
        <p:spPr>
          <a:xfrm>
            <a:off x="6035040" y="3383280"/>
            <a:ext cx="2560320" cy="365760"/>
          </a:xfrm>
          <a:prstGeom prst="rect">
            <a:avLst/>
          </a:prstGeom>
          <a:noFill/>
        </p:spPr>
        <p:txBody>
          <a:bodyPr wrap="square">
            <a:spAutoFit/>
          </a:bodyPr>
          <a:lstStyle/>
          <a:p>
            <a:pPr algn="l">
              <a:defRPr sz="1100" b="1" i="0">
                <a:solidFill>
                  <a:srgbClr val="2E8B3D"/>
                </a:solidFill>
              </a:defRPr>
            </a:pPr>
            <a:r>
              <a:t>EF Core 10.0.5</a:t>
            </a:r>
          </a:p>
        </p:txBody>
      </p:sp>
      <p:sp>
        <p:nvSpPr>
          <p:cNvPr id="29" name="TextBox 28"/>
          <p:cNvSpPr txBox="1"/>
          <p:nvPr/>
        </p:nvSpPr>
        <p:spPr>
          <a:xfrm>
            <a:off x="8595360" y="3383280"/>
            <a:ext cx="2743200" cy="365760"/>
          </a:xfrm>
          <a:prstGeom prst="rect">
            <a:avLst/>
          </a:prstGeom>
          <a:noFill/>
        </p:spPr>
        <p:txBody>
          <a:bodyPr wrap="square">
            <a:spAutoFit/>
          </a:bodyPr>
          <a:lstStyle/>
          <a:p>
            <a:pPr algn="l">
              <a:defRPr sz="1000" b="0" i="0">
                <a:solidFill>
                  <a:srgbClr val="333333"/>
                </a:solidFill>
              </a:defRPr>
            </a:pPr>
            <a:r>
              <a:t>Cohérence avec .NET 10, requêtes fractionnées</a:t>
            </a:r>
          </a:p>
        </p:txBody>
      </p:sp>
      <p:sp>
        <p:nvSpPr>
          <p:cNvPr id="30" name="Rectangle 29"/>
          <p:cNvSpPr/>
          <p:nvPr/>
        </p:nvSpPr>
        <p:spPr>
          <a:xfrm>
            <a:off x="731520" y="3794760"/>
            <a:ext cx="10698480" cy="45720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14400" y="3886200"/>
            <a:ext cx="2560320" cy="365760"/>
          </a:xfrm>
          <a:prstGeom prst="rect">
            <a:avLst/>
          </a:prstGeom>
          <a:noFill/>
        </p:spPr>
        <p:txBody>
          <a:bodyPr wrap="square">
            <a:spAutoFit/>
          </a:bodyPr>
          <a:lstStyle/>
          <a:p>
            <a:pPr algn="l">
              <a:defRPr sz="1100" b="1" i="0">
                <a:solidFill>
                  <a:srgbClr val="003366"/>
                </a:solidFill>
              </a:defRPr>
            </a:pPr>
            <a:r>
              <a:t>Format projet</a:t>
            </a:r>
          </a:p>
        </p:txBody>
      </p:sp>
      <p:sp>
        <p:nvSpPr>
          <p:cNvPr id="32" name="TextBox 31"/>
          <p:cNvSpPr txBox="1"/>
          <p:nvPr/>
        </p:nvSpPr>
        <p:spPr>
          <a:xfrm>
            <a:off x="3474720" y="3886200"/>
            <a:ext cx="2560320" cy="365760"/>
          </a:xfrm>
          <a:prstGeom prst="rect">
            <a:avLst/>
          </a:prstGeom>
          <a:noFill/>
        </p:spPr>
        <p:txBody>
          <a:bodyPr wrap="square">
            <a:spAutoFit/>
          </a:bodyPr>
          <a:lstStyle/>
          <a:p>
            <a:pPr algn="l">
              <a:defRPr sz="1100" b="0" i="0">
                <a:solidFill>
                  <a:srgbClr val="666666"/>
                </a:solidFill>
              </a:defRPr>
            </a:pPr>
            <a:r>
              <a:t>packages.config</a:t>
            </a:r>
          </a:p>
        </p:txBody>
      </p:sp>
      <p:sp>
        <p:nvSpPr>
          <p:cNvPr id="33" name="TextBox 32"/>
          <p:cNvSpPr txBox="1"/>
          <p:nvPr/>
        </p:nvSpPr>
        <p:spPr>
          <a:xfrm>
            <a:off x="6035040" y="3886200"/>
            <a:ext cx="2560320" cy="365760"/>
          </a:xfrm>
          <a:prstGeom prst="rect">
            <a:avLst/>
          </a:prstGeom>
          <a:noFill/>
        </p:spPr>
        <p:txBody>
          <a:bodyPr wrap="square">
            <a:spAutoFit/>
          </a:bodyPr>
          <a:lstStyle/>
          <a:p>
            <a:pPr algn="l">
              <a:defRPr sz="1100" b="1" i="0">
                <a:solidFill>
                  <a:srgbClr val="2E8B3D"/>
                </a:solidFill>
              </a:defRPr>
            </a:pPr>
            <a:r>
              <a:t>SDK-style</a:t>
            </a:r>
          </a:p>
        </p:txBody>
      </p:sp>
      <p:sp>
        <p:nvSpPr>
          <p:cNvPr id="34" name="TextBox 33"/>
          <p:cNvSpPr txBox="1"/>
          <p:nvPr/>
        </p:nvSpPr>
        <p:spPr>
          <a:xfrm>
            <a:off x="8595360" y="3886200"/>
            <a:ext cx="2743200" cy="365760"/>
          </a:xfrm>
          <a:prstGeom prst="rect">
            <a:avLst/>
          </a:prstGeom>
          <a:noFill/>
        </p:spPr>
        <p:txBody>
          <a:bodyPr wrap="square">
            <a:spAutoFit/>
          </a:bodyPr>
          <a:lstStyle/>
          <a:p>
            <a:pPr algn="l">
              <a:defRPr sz="1000" b="0" i="0">
                <a:solidFill>
                  <a:srgbClr val="333333"/>
                </a:solidFill>
              </a:defRPr>
            </a:pPr>
            <a:r>
              <a:t>Gestion transitive des dépendances</a:t>
            </a:r>
          </a:p>
        </p:txBody>
      </p:sp>
      <p:sp>
        <p:nvSpPr>
          <p:cNvPr id="35" name="TextBox 34"/>
          <p:cNvSpPr txBox="1"/>
          <p:nvPr/>
        </p:nvSpPr>
        <p:spPr>
          <a:xfrm>
            <a:off x="731520" y="4754880"/>
            <a:ext cx="10698480" cy="365760"/>
          </a:xfrm>
          <a:prstGeom prst="rect">
            <a:avLst/>
          </a:prstGeom>
          <a:noFill/>
        </p:spPr>
        <p:txBody>
          <a:bodyPr wrap="square">
            <a:spAutoFit/>
          </a:bodyPr>
          <a:lstStyle/>
          <a:p>
            <a:pPr algn="l">
              <a:defRPr sz="1500" b="1" i="0">
                <a:solidFill>
                  <a:srgbClr val="003366"/>
                </a:solidFill>
              </a:defRPr>
            </a:pPr>
            <a:r>
              <a:t>Points clés de la migration</a:t>
            </a:r>
          </a:p>
        </p:txBody>
      </p:sp>
      <p:sp>
        <p:nvSpPr>
          <p:cNvPr id="36" name="Oval 35"/>
          <p:cNvSpPr/>
          <p:nvPr/>
        </p:nvSpPr>
        <p:spPr>
          <a:xfrm>
            <a:off x="822960" y="5303520"/>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97280" y="5212080"/>
            <a:ext cx="3657600" cy="320040"/>
          </a:xfrm>
          <a:prstGeom prst="rect">
            <a:avLst/>
          </a:prstGeom>
          <a:noFill/>
        </p:spPr>
        <p:txBody>
          <a:bodyPr wrap="square">
            <a:spAutoFit/>
          </a:bodyPr>
          <a:lstStyle/>
          <a:p>
            <a:pPr algn="l">
              <a:defRPr sz="1100" b="1" i="0">
                <a:solidFill>
                  <a:srgbClr val="003366"/>
                </a:solidFill>
              </a:defRPr>
            </a:pPr>
            <a:r>
              <a:t>Migration palier par palier</a:t>
            </a:r>
          </a:p>
        </p:txBody>
      </p:sp>
      <p:sp>
        <p:nvSpPr>
          <p:cNvPr id="38" name="TextBox 37"/>
          <p:cNvSpPr txBox="1"/>
          <p:nvPr/>
        </p:nvSpPr>
        <p:spPr>
          <a:xfrm>
            <a:off x="4846320" y="5212080"/>
            <a:ext cx="6858000" cy="320040"/>
          </a:xfrm>
          <a:prstGeom prst="rect">
            <a:avLst/>
          </a:prstGeom>
          <a:noFill/>
        </p:spPr>
        <p:txBody>
          <a:bodyPr wrap="square">
            <a:spAutoFit/>
          </a:bodyPr>
          <a:lstStyle/>
          <a:p>
            <a:pPr algn="l">
              <a:defRPr sz="1100" b="0" i="0">
                <a:solidFill>
                  <a:srgbClr val="666666"/>
                </a:solidFill>
              </a:defRPr>
            </a:pPr>
            <a:r>
              <a:t>14 → 15 → … → 20 pour Angular ; 6 → 8 → 10 pour .NET</a:t>
            </a:r>
          </a:p>
        </p:txBody>
      </p:sp>
      <p:sp>
        <p:nvSpPr>
          <p:cNvPr id="39" name="Oval 38"/>
          <p:cNvSpPr/>
          <p:nvPr/>
        </p:nvSpPr>
        <p:spPr>
          <a:xfrm>
            <a:off x="822960" y="5669280"/>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097280" y="5577840"/>
            <a:ext cx="3657600" cy="320040"/>
          </a:xfrm>
          <a:prstGeom prst="rect">
            <a:avLst/>
          </a:prstGeom>
          <a:noFill/>
        </p:spPr>
        <p:txBody>
          <a:bodyPr wrap="square">
            <a:spAutoFit/>
          </a:bodyPr>
          <a:lstStyle/>
          <a:p>
            <a:pPr algn="l">
              <a:defRPr sz="1100" b="1" i="0">
                <a:solidFill>
                  <a:srgbClr val="003366"/>
                </a:solidFill>
              </a:defRPr>
            </a:pPr>
            <a:r>
              <a:t>Versions finales uniquement</a:t>
            </a:r>
          </a:p>
        </p:txBody>
      </p:sp>
      <p:sp>
        <p:nvSpPr>
          <p:cNvPr id="41" name="TextBox 40"/>
          <p:cNvSpPr txBox="1"/>
          <p:nvPr/>
        </p:nvSpPr>
        <p:spPr>
          <a:xfrm>
            <a:off x="4846320" y="5577840"/>
            <a:ext cx="6858000" cy="320040"/>
          </a:xfrm>
          <a:prstGeom prst="rect">
            <a:avLst/>
          </a:prstGeom>
          <a:noFill/>
        </p:spPr>
        <p:txBody>
          <a:bodyPr wrap="square">
            <a:spAutoFit/>
          </a:bodyPr>
          <a:lstStyle/>
          <a:p>
            <a:pPr algn="l">
              <a:defRPr sz="1100" b="0" i="0">
                <a:solidFill>
                  <a:srgbClr val="666666"/>
                </a:solidFill>
              </a:defRPr>
            </a:pPr>
            <a:r>
              <a:t>Aucune préversion : condition posée par le service pour production</a:t>
            </a:r>
          </a:p>
        </p:txBody>
      </p:sp>
      <p:sp>
        <p:nvSpPr>
          <p:cNvPr id="42" name="Oval 41"/>
          <p:cNvSpPr/>
          <p:nvPr/>
        </p:nvSpPr>
        <p:spPr>
          <a:xfrm>
            <a:off x="822960" y="6035040"/>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97280" y="5943600"/>
            <a:ext cx="3657600" cy="320040"/>
          </a:xfrm>
          <a:prstGeom prst="rect">
            <a:avLst/>
          </a:prstGeom>
          <a:noFill/>
        </p:spPr>
        <p:txBody>
          <a:bodyPr wrap="square">
            <a:spAutoFit/>
          </a:bodyPr>
          <a:lstStyle/>
          <a:p>
            <a:pPr algn="l">
              <a:defRPr sz="1100" b="1" i="0">
                <a:solidFill>
                  <a:srgbClr val="003366"/>
                </a:solidFill>
              </a:defRPr>
            </a:pPr>
            <a:r>
              <a:t>Mise en conformité REST</a:t>
            </a:r>
          </a:p>
        </p:txBody>
      </p:sp>
      <p:sp>
        <p:nvSpPr>
          <p:cNvPr id="44" name="TextBox 43"/>
          <p:cNvSpPr txBox="1"/>
          <p:nvPr/>
        </p:nvSpPr>
        <p:spPr>
          <a:xfrm>
            <a:off x="4846320" y="5943600"/>
            <a:ext cx="6858000" cy="320040"/>
          </a:xfrm>
          <a:prstGeom prst="rect">
            <a:avLst/>
          </a:prstGeom>
          <a:noFill/>
        </p:spPr>
        <p:txBody>
          <a:bodyPr wrap="square">
            <a:spAutoFit/>
          </a:bodyPr>
          <a:lstStyle/>
          <a:p>
            <a:pPr algn="l">
              <a:defRPr sz="1100" b="0" i="0">
                <a:solidFill>
                  <a:srgbClr val="666666"/>
                </a:solidFill>
              </a:defRPr>
            </a:pPr>
            <a:r>
              <a:t>Réorganisation par ressource, verbes HTTP corrects, secrets retirés des réponses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rPr dirty="0" err="1"/>
              <a:t>Refonte</a:t>
            </a:r>
            <a:r>
              <a:rPr dirty="0"/>
              <a:t> du </a:t>
            </a:r>
            <a:r>
              <a:rPr dirty="0" err="1"/>
              <a:t>modèle</a:t>
            </a:r>
            <a:r>
              <a:rPr dirty="0"/>
              <a:t> de </a:t>
            </a:r>
            <a:r>
              <a:rPr dirty="0" err="1"/>
              <a:t>données</a:t>
            </a:r>
            <a:r>
              <a:rPr dirty="0"/>
              <a:t> - Diagnostic</a:t>
            </a: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21 / 32</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pic>
        <p:nvPicPr>
          <p:cNvPr id="30" name="Image 29">
            <a:extLst>
              <a:ext uri="{FF2B5EF4-FFF2-40B4-BE49-F238E27FC236}">
                <a16:creationId xmlns:a16="http://schemas.microsoft.com/office/drawing/2014/main" id="{00139A5C-402E-484A-9B36-63EEDA06E515}"/>
              </a:ext>
            </a:extLst>
          </p:cNvPr>
          <p:cNvPicPr>
            <a:picLocks noChangeAspect="1"/>
          </p:cNvPicPr>
          <p:nvPr/>
        </p:nvPicPr>
        <p:blipFill>
          <a:blip r:embed="rId2"/>
          <a:stretch>
            <a:fillRect/>
          </a:stretch>
        </p:blipFill>
        <p:spPr>
          <a:xfrm>
            <a:off x="1871663" y="1133856"/>
            <a:ext cx="8345259" cy="5200955"/>
          </a:xfrm>
          <a:prstGeom prst="rect">
            <a:avLst/>
          </a:prstGeom>
        </p:spPr>
      </p:pic>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3401094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rPr dirty="0" err="1"/>
              <a:t>Refonte</a:t>
            </a:r>
            <a:r>
              <a:rPr dirty="0"/>
              <a:t> du </a:t>
            </a:r>
            <a:r>
              <a:rPr dirty="0" err="1"/>
              <a:t>modèle</a:t>
            </a:r>
            <a:r>
              <a:rPr dirty="0"/>
              <a:t> de </a:t>
            </a:r>
            <a:r>
              <a:rPr dirty="0" err="1"/>
              <a:t>données</a:t>
            </a:r>
            <a:r>
              <a:rPr dirty="0"/>
              <a:t> - Diagnostic</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21 / 32</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65760"/>
          </a:xfrm>
          <a:prstGeom prst="rect">
            <a:avLst/>
          </a:prstGeom>
          <a:noFill/>
        </p:spPr>
        <p:txBody>
          <a:bodyPr wrap="square">
            <a:spAutoFit/>
          </a:bodyPr>
          <a:lstStyle/>
          <a:p>
            <a:pPr algn="ctr">
              <a:defRPr sz="1400" b="0" i="1">
                <a:solidFill>
                  <a:srgbClr val="666666"/>
                </a:solidFill>
              </a:defRPr>
            </a:pPr>
            <a:r>
              <a:t>Requêtes menées sur les données réelles avant toute décision technique</a:t>
            </a:r>
          </a:p>
        </p:txBody>
      </p:sp>
      <p:sp>
        <p:nvSpPr>
          <p:cNvPr id="10" name="TextBox 9"/>
          <p:cNvSpPr txBox="1"/>
          <p:nvPr/>
        </p:nvSpPr>
        <p:spPr>
          <a:xfrm>
            <a:off x="731520" y="1828800"/>
            <a:ext cx="5303520" cy="365760"/>
          </a:xfrm>
          <a:prstGeom prst="rect">
            <a:avLst/>
          </a:prstGeom>
          <a:noFill/>
        </p:spPr>
        <p:txBody>
          <a:bodyPr wrap="square">
            <a:spAutoFit/>
          </a:bodyPr>
          <a:lstStyle/>
          <a:p>
            <a:pPr algn="l">
              <a:defRPr sz="1500" b="1" i="0">
                <a:solidFill>
                  <a:srgbClr val="003366"/>
                </a:solidFill>
              </a:defRPr>
            </a:pPr>
            <a:r>
              <a:t>Problèmes structurels</a:t>
            </a:r>
          </a:p>
        </p:txBody>
      </p:sp>
      <p:sp>
        <p:nvSpPr>
          <p:cNvPr id="11" name="Oval 10"/>
          <p:cNvSpPr/>
          <p:nvPr/>
        </p:nvSpPr>
        <p:spPr>
          <a:xfrm>
            <a:off x="822960" y="2450592"/>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97280" y="2331720"/>
            <a:ext cx="4937760" cy="365760"/>
          </a:xfrm>
          <a:prstGeom prst="rect">
            <a:avLst/>
          </a:prstGeom>
          <a:noFill/>
        </p:spPr>
        <p:txBody>
          <a:bodyPr wrap="square">
            <a:spAutoFit/>
          </a:bodyPr>
          <a:lstStyle/>
          <a:p>
            <a:pPr algn="l">
              <a:defRPr sz="1100" b="0" i="0">
                <a:solidFill>
                  <a:srgbClr val="333333"/>
                </a:solidFill>
              </a:defRPr>
            </a:pPr>
            <a:r>
              <a:t>7 tables de référence sans contrainte d'unicité</a:t>
            </a:r>
          </a:p>
        </p:txBody>
      </p:sp>
      <p:sp>
        <p:nvSpPr>
          <p:cNvPr id="13" name="Oval 12"/>
          <p:cNvSpPr/>
          <p:nvPr/>
        </p:nvSpPr>
        <p:spPr>
          <a:xfrm>
            <a:off x="822960" y="2907792"/>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97280" y="2788920"/>
            <a:ext cx="4937760" cy="365760"/>
          </a:xfrm>
          <a:prstGeom prst="rect">
            <a:avLst/>
          </a:prstGeom>
          <a:noFill/>
        </p:spPr>
        <p:txBody>
          <a:bodyPr wrap="square">
            <a:spAutoFit/>
          </a:bodyPr>
          <a:lstStyle/>
          <a:p>
            <a:pPr algn="l">
              <a:defRPr sz="1100" b="0" i="0">
                <a:solidFill>
                  <a:srgbClr val="333333"/>
                </a:solidFill>
              </a:defRPr>
            </a:pPr>
            <a:r>
              <a:t>Certaines tables d'association sans clé primaire</a:t>
            </a:r>
          </a:p>
        </p:txBody>
      </p:sp>
      <p:sp>
        <p:nvSpPr>
          <p:cNvPr id="17" name="Oval 16"/>
          <p:cNvSpPr/>
          <p:nvPr/>
        </p:nvSpPr>
        <p:spPr>
          <a:xfrm>
            <a:off x="822960" y="3332797"/>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97280" y="3289607"/>
            <a:ext cx="4937760" cy="261610"/>
          </a:xfrm>
          <a:prstGeom prst="rect">
            <a:avLst/>
          </a:prstGeom>
          <a:noFill/>
        </p:spPr>
        <p:txBody>
          <a:bodyPr wrap="square">
            <a:spAutoFit/>
          </a:bodyPr>
          <a:lstStyle/>
          <a:p>
            <a:pPr algn="l">
              <a:defRPr sz="1100" b="0" i="0">
                <a:solidFill>
                  <a:srgbClr val="333333"/>
                </a:solidFill>
              </a:defRPr>
            </a:pPr>
            <a:r>
              <a:rPr dirty="0" err="1"/>
              <a:t>Nommage</a:t>
            </a:r>
            <a:r>
              <a:rPr dirty="0"/>
              <a:t> non </a:t>
            </a:r>
            <a:r>
              <a:rPr dirty="0" err="1"/>
              <a:t>harmonisé</a:t>
            </a:r>
            <a:r>
              <a:rPr dirty="0"/>
              <a:t> (</a:t>
            </a:r>
            <a:r>
              <a:rPr dirty="0" err="1"/>
              <a:t>fr</a:t>
            </a:r>
            <a:r>
              <a:rPr dirty="0"/>
              <a:t> / </a:t>
            </a:r>
            <a:r>
              <a:rPr lang="fr-CH" dirty="0" err="1"/>
              <a:t>ang</a:t>
            </a:r>
            <a:r>
              <a:rPr dirty="0"/>
              <a:t>)</a:t>
            </a:r>
          </a:p>
        </p:txBody>
      </p:sp>
      <p:sp>
        <p:nvSpPr>
          <p:cNvPr id="19" name="TextBox 18"/>
          <p:cNvSpPr txBox="1"/>
          <p:nvPr/>
        </p:nvSpPr>
        <p:spPr>
          <a:xfrm>
            <a:off x="5424487" y="1721929"/>
            <a:ext cx="5303520" cy="365760"/>
          </a:xfrm>
          <a:prstGeom prst="rect">
            <a:avLst/>
          </a:prstGeom>
          <a:noFill/>
        </p:spPr>
        <p:txBody>
          <a:bodyPr wrap="square">
            <a:spAutoFit/>
          </a:bodyPr>
          <a:lstStyle/>
          <a:p>
            <a:pPr algn="l">
              <a:defRPr sz="1500" b="1" i="0">
                <a:solidFill>
                  <a:srgbClr val="003366"/>
                </a:solidFill>
              </a:defRPr>
            </a:pPr>
            <a:r>
              <a:t>Exemples concrets</a:t>
            </a:r>
          </a:p>
        </p:txBody>
      </p:sp>
      <p:sp>
        <p:nvSpPr>
          <p:cNvPr id="20" name="Rounded Rectangle 19"/>
          <p:cNvSpPr/>
          <p:nvPr/>
        </p:nvSpPr>
        <p:spPr>
          <a:xfrm>
            <a:off x="5424487" y="2231136"/>
            <a:ext cx="5212080" cy="1005840"/>
          </a:xfrm>
          <a:prstGeom prst="roundRect">
            <a:avLst/>
          </a:prstGeom>
          <a:solidFill>
            <a:srgbClr val="F0F0F0"/>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607367" y="2276856"/>
            <a:ext cx="4937760" cy="274320"/>
          </a:xfrm>
          <a:prstGeom prst="rect">
            <a:avLst/>
          </a:prstGeom>
          <a:noFill/>
        </p:spPr>
        <p:txBody>
          <a:bodyPr wrap="square">
            <a:spAutoFit/>
          </a:bodyPr>
          <a:lstStyle/>
          <a:p>
            <a:pPr algn="l">
              <a:defRPr sz="1100" b="1" i="0">
                <a:solidFill>
                  <a:srgbClr val="003366"/>
                </a:solidFill>
              </a:defRPr>
            </a:pPr>
            <a:r>
              <a:t>Framework .NET (1 seule technologie) :</a:t>
            </a:r>
          </a:p>
        </p:txBody>
      </p:sp>
      <p:sp>
        <p:nvSpPr>
          <p:cNvPr id="22" name="TextBox 21"/>
          <p:cNvSpPr txBox="1"/>
          <p:nvPr/>
        </p:nvSpPr>
        <p:spPr>
          <a:xfrm>
            <a:off x="5607367" y="2551176"/>
            <a:ext cx="4937760" cy="640080"/>
          </a:xfrm>
          <a:prstGeom prst="rect">
            <a:avLst/>
          </a:prstGeom>
          <a:noFill/>
        </p:spPr>
        <p:txBody>
          <a:bodyPr wrap="square">
            <a:spAutoFit/>
          </a:bodyPr>
          <a:lstStyle/>
          <a:p>
            <a:pPr algn="l">
              <a:defRPr sz="1000" b="0" i="1">
                <a:solidFill>
                  <a:srgbClr val="333333"/>
                </a:solidFill>
              </a:defRPr>
            </a:pPr>
            <a:r>
              <a:t>".NET Core"  ".NET Standard"  ".NET"</a:t>
            </a:r>
          </a:p>
          <a:p>
            <a:pPr algn="l">
              <a:defRPr sz="1000" b="0" i="1">
                <a:solidFill>
                  <a:srgbClr val="333333"/>
                </a:solidFill>
              </a:defRPr>
            </a:pPr>
            <a:r>
              <a:t>→ 3 lignes distinctes en base</a:t>
            </a:r>
          </a:p>
        </p:txBody>
      </p:sp>
      <p:sp>
        <p:nvSpPr>
          <p:cNvPr id="23" name="Rounded Rectangle 22"/>
          <p:cNvSpPr/>
          <p:nvPr/>
        </p:nvSpPr>
        <p:spPr>
          <a:xfrm>
            <a:off x="5424487" y="3328416"/>
            <a:ext cx="5212080" cy="1005840"/>
          </a:xfrm>
          <a:prstGeom prst="roundRect">
            <a:avLst/>
          </a:prstGeom>
          <a:solidFill>
            <a:srgbClr val="F0F0F0"/>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607367" y="3374136"/>
            <a:ext cx="4937760" cy="274320"/>
          </a:xfrm>
          <a:prstGeom prst="rect">
            <a:avLst/>
          </a:prstGeom>
          <a:noFill/>
        </p:spPr>
        <p:txBody>
          <a:bodyPr wrap="square">
            <a:spAutoFit/>
          </a:bodyPr>
          <a:lstStyle/>
          <a:p>
            <a:pPr algn="l">
              <a:defRPr sz="1100" b="1" i="0">
                <a:solidFill>
                  <a:srgbClr val="003366"/>
                </a:solidFill>
              </a:defRPr>
            </a:pPr>
            <a:r>
              <a:t>Fonctions Azure (1 seul service) :</a:t>
            </a:r>
          </a:p>
        </p:txBody>
      </p:sp>
      <p:sp>
        <p:nvSpPr>
          <p:cNvPr id="25" name="TextBox 24"/>
          <p:cNvSpPr txBox="1"/>
          <p:nvPr/>
        </p:nvSpPr>
        <p:spPr>
          <a:xfrm>
            <a:off x="5607367" y="3648455"/>
            <a:ext cx="4937760" cy="640080"/>
          </a:xfrm>
          <a:prstGeom prst="rect">
            <a:avLst/>
          </a:prstGeom>
          <a:noFill/>
        </p:spPr>
        <p:txBody>
          <a:bodyPr wrap="square">
            <a:spAutoFit/>
          </a:bodyPr>
          <a:lstStyle/>
          <a:p>
            <a:pPr algn="l">
              <a:defRPr sz="1000" b="0" i="1">
                <a:solidFill>
                  <a:srgbClr val="333333"/>
                </a:solidFill>
              </a:defRPr>
            </a:pPr>
            <a:r>
              <a:t>"Azure Functions"  "AzureFunctions"  "Fonctions Azure"</a:t>
            </a:r>
          </a:p>
          <a:p>
            <a:pPr algn="l">
              <a:defRPr sz="1000" b="0" i="1">
                <a:solidFill>
                  <a:srgbClr val="333333"/>
                </a:solidFill>
              </a:defRPr>
            </a:pPr>
            <a:r>
              <a:t>→ 3 lignes distinctes en base</a:t>
            </a:r>
          </a:p>
        </p:txBody>
      </p:sp>
      <p:sp>
        <p:nvSpPr>
          <p:cNvPr id="26" name="Rounded Rectangle 25"/>
          <p:cNvSpPr/>
          <p:nvPr/>
        </p:nvSpPr>
        <p:spPr>
          <a:xfrm>
            <a:off x="731520" y="4572000"/>
            <a:ext cx="10881360" cy="1737360"/>
          </a:xfrm>
          <a:prstGeom prst="roundRect">
            <a:avLst/>
          </a:prstGeom>
          <a:solidFill>
            <a:srgbClr val="E8F5E9"/>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4400" y="4663440"/>
            <a:ext cx="10515600" cy="365760"/>
          </a:xfrm>
          <a:prstGeom prst="rect">
            <a:avLst/>
          </a:prstGeom>
          <a:noFill/>
        </p:spPr>
        <p:txBody>
          <a:bodyPr wrap="square">
            <a:spAutoFit/>
          </a:bodyPr>
          <a:lstStyle/>
          <a:p>
            <a:pPr algn="l">
              <a:defRPr sz="1500" b="1" i="0">
                <a:solidFill>
                  <a:srgbClr val="2E8B3D"/>
                </a:solidFill>
              </a:defRPr>
            </a:pPr>
            <a:r>
              <a:t>Impact critique : les alertes d'expiration</a:t>
            </a:r>
          </a:p>
        </p:txBody>
      </p:sp>
      <p:sp>
        <p:nvSpPr>
          <p:cNvPr id="28" name="TextBox 27"/>
          <p:cNvSpPr txBox="1"/>
          <p:nvPr/>
        </p:nvSpPr>
        <p:spPr>
          <a:xfrm>
            <a:off x="914400" y="5074920"/>
            <a:ext cx="10515600" cy="1188720"/>
          </a:xfrm>
          <a:prstGeom prst="rect">
            <a:avLst/>
          </a:prstGeom>
          <a:noFill/>
        </p:spPr>
        <p:txBody>
          <a:bodyPr wrap="square">
            <a:spAutoFit/>
          </a:bodyPr>
          <a:lstStyle/>
          <a:p>
            <a:pPr algn="l">
              <a:defRPr sz="1100" b="0" i="0">
                <a:solidFill>
                  <a:srgbClr val="333333"/>
                </a:solidFill>
              </a:defRPr>
            </a:pPr>
            <a:r>
              <a:t>Le batch mensuel ne remonte une clé que si elle porte une date d'expiration ET un module rattaché.</a:t>
            </a:r>
          </a:p>
          <a:p>
            <a:pPr algn="l">
              <a:defRPr sz="1100" b="0" i="0">
                <a:solidFill>
                  <a:srgbClr val="333333"/>
                </a:solidFill>
              </a:defRPr>
            </a:pPr>
            <a:r>
              <a:t>Or l'héritage de v1 avait multiplié les enregistrements : la même clé Azure pouvait figurer jusqu'à 11 fois</a:t>
            </a:r>
          </a:p>
          <a:p>
            <a:pPr algn="l">
              <a:defRPr sz="1100" b="0" i="0">
                <a:solidFill>
                  <a:srgbClr val="333333"/>
                </a:solidFill>
              </a:defRPr>
            </a:pPr>
            <a:r>
              <a:t>(une par module rattaché), avec la date renseignée sur une seule ligne.</a:t>
            </a:r>
          </a:p>
          <a:p>
            <a:pPr algn="l">
              <a:defRPr sz="1100" b="0" i="0">
                <a:solidFill>
                  <a:srgbClr val="333333"/>
                </a:solidFill>
              </a:defRPr>
            </a:pPr>
            <a:r>
              <a:t>→ Sans normalisation : les alertes restaient structurellement fragiles.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2000"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840" y="6611112"/>
            <a:ext cx="1097280" cy="228600"/>
          </a:xfrm>
          <a:prstGeom prst="rect">
            <a:avLst/>
          </a:prstGeom>
          <a:noFill/>
        </p:spPr>
        <p:txBody>
          <a:bodyPr wrap="square">
            <a:spAutoFit/>
          </a:bodyPr>
          <a:lstStyle/>
          <a:p>
            <a:pPr algn="r">
              <a:defRPr sz="1000" b="0" i="0">
                <a:solidFill>
                  <a:srgbClr val="FFFFFF"/>
                </a:solidFill>
              </a:defRPr>
            </a:pPr>
            <a:r>
              <a:t>16 / 32</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pic>
        <p:nvPicPr>
          <p:cNvPr id="98" name="Image 97">
            <a:extLst>
              <a:ext uri="{FF2B5EF4-FFF2-40B4-BE49-F238E27FC236}">
                <a16:creationId xmlns:a16="http://schemas.microsoft.com/office/drawing/2014/main" id="{E96DC83C-D58F-415C-9410-F2B6A59D209A}"/>
              </a:ext>
            </a:extLst>
          </p:cNvPr>
          <p:cNvPicPr>
            <a:picLocks noChangeAspect="1"/>
          </p:cNvPicPr>
          <p:nvPr/>
        </p:nvPicPr>
        <p:blipFill>
          <a:blip r:embed="rId2"/>
          <a:stretch>
            <a:fillRect/>
          </a:stretch>
        </p:blipFill>
        <p:spPr>
          <a:xfrm>
            <a:off x="1059558" y="182880"/>
            <a:ext cx="10400922" cy="6353932"/>
          </a:xfrm>
          <a:prstGeom prst="rect">
            <a:avLst/>
          </a:prstGeom>
        </p:spPr>
      </p:pic>
      <p:sp>
        <p:nvSpPr>
          <p:cNvPr id="3" name="TextBox 2"/>
          <p:cNvSpPr txBox="1"/>
          <p:nvPr/>
        </p:nvSpPr>
        <p:spPr>
          <a:xfrm>
            <a:off x="704850" y="182880"/>
            <a:ext cx="5513070" cy="261610"/>
          </a:xfrm>
          <a:prstGeom prst="rect">
            <a:avLst/>
          </a:prstGeom>
          <a:noFill/>
        </p:spPr>
        <p:txBody>
          <a:bodyPr wrap="square">
            <a:spAutoFit/>
          </a:bodyPr>
          <a:lstStyle/>
          <a:p>
            <a:pPr algn="l">
              <a:defRPr sz="1100" b="1" i="0">
                <a:solidFill>
                  <a:srgbClr val="004D99"/>
                </a:solidFill>
              </a:defRPr>
            </a:pPr>
            <a:r>
              <a:rPr dirty="0"/>
              <a:t>CS BAG V2</a:t>
            </a:r>
          </a:p>
        </p:txBody>
      </p:sp>
      <p:sp>
        <p:nvSpPr>
          <p:cNvPr id="4" name="TextBox 3"/>
          <p:cNvSpPr txBox="1"/>
          <p:nvPr/>
        </p:nvSpPr>
        <p:spPr>
          <a:xfrm>
            <a:off x="774700" y="457200"/>
            <a:ext cx="10472420" cy="492443"/>
          </a:xfrm>
          <a:prstGeom prst="rect">
            <a:avLst/>
          </a:prstGeom>
          <a:noFill/>
        </p:spPr>
        <p:txBody>
          <a:bodyPr wrap="square">
            <a:spAutoFit/>
          </a:bodyPr>
          <a:lstStyle/>
          <a:p>
            <a:pPr algn="l">
              <a:defRPr sz="2600" b="1" i="0">
                <a:solidFill>
                  <a:srgbClr val="003366"/>
                </a:solidFill>
              </a:defRPr>
            </a:pPr>
            <a:r>
              <a:rPr lang="fr-CH" dirty="0"/>
              <a:t>MLD</a:t>
            </a:r>
            <a:endParaRPr dirty="0"/>
          </a:p>
        </p:txBody>
      </p:sp>
      <p:sp>
        <p:nvSpPr>
          <p:cNvPr id="5" name="Rectangle 4"/>
          <p:cNvSpPr/>
          <p:nvPr/>
        </p:nvSpPr>
        <p:spPr>
          <a:xfrm flipV="1">
            <a:off x="731520" y="996510"/>
            <a:ext cx="887730" cy="100769"/>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9854110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Refonte du modèle de données - Solutions</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22 / 32</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65760"/>
          </a:xfrm>
          <a:prstGeom prst="rect">
            <a:avLst/>
          </a:prstGeom>
          <a:noFill/>
        </p:spPr>
        <p:txBody>
          <a:bodyPr wrap="square">
            <a:spAutoFit/>
          </a:bodyPr>
          <a:lstStyle/>
          <a:p>
            <a:pPr algn="ctr">
              <a:defRPr sz="1400" b="0" i="1">
                <a:solidFill>
                  <a:srgbClr val="666666"/>
                </a:solidFill>
              </a:defRPr>
            </a:pPr>
            <a:r>
              <a:t>Normalisation selon les formes normales de Codd (7 migrations)</a:t>
            </a:r>
          </a:p>
        </p:txBody>
      </p:sp>
      <p:sp>
        <p:nvSpPr>
          <p:cNvPr id="10" name="TextBox 9"/>
          <p:cNvSpPr txBox="1"/>
          <p:nvPr/>
        </p:nvSpPr>
        <p:spPr>
          <a:xfrm>
            <a:off x="731520" y="1783080"/>
            <a:ext cx="10698480" cy="365760"/>
          </a:xfrm>
          <a:prstGeom prst="rect">
            <a:avLst/>
          </a:prstGeom>
          <a:noFill/>
        </p:spPr>
        <p:txBody>
          <a:bodyPr wrap="square">
            <a:spAutoFit/>
          </a:bodyPr>
          <a:lstStyle/>
          <a:p>
            <a:pPr algn="l">
              <a:defRPr sz="1500" b="1" i="0">
                <a:solidFill>
                  <a:srgbClr val="003366"/>
                </a:solidFill>
              </a:defRPr>
            </a:pPr>
            <a:r>
              <a:t>Principe appliqué</a:t>
            </a:r>
          </a:p>
        </p:txBody>
      </p:sp>
      <p:sp>
        <p:nvSpPr>
          <p:cNvPr id="11" name="TextBox 10"/>
          <p:cNvSpPr txBox="1"/>
          <p:nvPr/>
        </p:nvSpPr>
        <p:spPr>
          <a:xfrm>
            <a:off x="731520" y="2194560"/>
            <a:ext cx="10698480" cy="457200"/>
          </a:xfrm>
          <a:prstGeom prst="rect">
            <a:avLst/>
          </a:prstGeom>
          <a:noFill/>
        </p:spPr>
        <p:txBody>
          <a:bodyPr wrap="square">
            <a:spAutoFit/>
          </a:bodyPr>
          <a:lstStyle/>
          <a:p>
            <a:pPr algn="l">
              <a:defRPr sz="1200" b="0" i="1">
                <a:solidFill>
                  <a:srgbClr val="333333"/>
                </a:solidFill>
              </a:defRPr>
            </a:pPr>
            <a:r>
              <a:t>Remplacer chaque champ de texte libre par une clé étrangère pointant vers une table de référence dédiée, dotée d'une contrainte d'unicité.</a:t>
            </a:r>
          </a:p>
        </p:txBody>
      </p:sp>
      <p:sp>
        <p:nvSpPr>
          <p:cNvPr id="12" name="Rectangle 11"/>
          <p:cNvSpPr/>
          <p:nvPr/>
        </p:nvSpPr>
        <p:spPr>
          <a:xfrm>
            <a:off x="731520" y="2880360"/>
            <a:ext cx="10698480"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2926080"/>
            <a:ext cx="1188720" cy="274320"/>
          </a:xfrm>
          <a:prstGeom prst="rect">
            <a:avLst/>
          </a:prstGeom>
          <a:noFill/>
        </p:spPr>
        <p:txBody>
          <a:bodyPr wrap="square">
            <a:spAutoFit/>
          </a:bodyPr>
          <a:lstStyle/>
          <a:p>
            <a:pPr algn="l">
              <a:defRPr sz="1100" b="1" i="0">
                <a:solidFill>
                  <a:srgbClr val="FFFFFF"/>
                </a:solidFill>
              </a:defRPr>
            </a:pPr>
            <a:r>
              <a:t>Migration</a:t>
            </a:r>
          </a:p>
        </p:txBody>
      </p:sp>
      <p:sp>
        <p:nvSpPr>
          <p:cNvPr id="14" name="TextBox 13"/>
          <p:cNvSpPr txBox="1"/>
          <p:nvPr/>
        </p:nvSpPr>
        <p:spPr>
          <a:xfrm>
            <a:off x="2377440" y="2926080"/>
            <a:ext cx="3200400" cy="274320"/>
          </a:xfrm>
          <a:prstGeom prst="rect">
            <a:avLst/>
          </a:prstGeom>
          <a:noFill/>
        </p:spPr>
        <p:txBody>
          <a:bodyPr wrap="square">
            <a:spAutoFit/>
          </a:bodyPr>
          <a:lstStyle/>
          <a:p>
            <a:pPr algn="l">
              <a:defRPr sz="1100" b="1" i="0">
                <a:solidFill>
                  <a:srgbClr val="FFFFFF"/>
                </a:solidFill>
              </a:defRPr>
            </a:pPr>
            <a:r>
              <a:t>Table de référence</a:t>
            </a:r>
          </a:p>
        </p:txBody>
      </p:sp>
      <p:sp>
        <p:nvSpPr>
          <p:cNvPr id="15" name="TextBox 14"/>
          <p:cNvSpPr txBox="1"/>
          <p:nvPr/>
        </p:nvSpPr>
        <p:spPr>
          <a:xfrm>
            <a:off x="5760720" y="2926080"/>
            <a:ext cx="5760720" cy="274320"/>
          </a:xfrm>
          <a:prstGeom prst="rect">
            <a:avLst/>
          </a:prstGeom>
          <a:noFill/>
        </p:spPr>
        <p:txBody>
          <a:bodyPr wrap="square">
            <a:spAutoFit/>
          </a:bodyPr>
          <a:lstStyle/>
          <a:p>
            <a:pPr algn="l">
              <a:defRPr sz="1100" b="1" i="0">
                <a:solidFill>
                  <a:srgbClr val="FFFFFF"/>
                </a:solidFill>
              </a:defRPr>
            </a:pPr>
            <a:r>
              <a:t>Apport</a:t>
            </a:r>
          </a:p>
        </p:txBody>
      </p:sp>
      <p:sp>
        <p:nvSpPr>
          <p:cNvPr id="16" name="Rectangle 15"/>
          <p:cNvSpPr/>
          <p:nvPr/>
        </p:nvSpPr>
        <p:spPr>
          <a:xfrm>
            <a:off x="731520" y="3246120"/>
            <a:ext cx="10698480" cy="310896"/>
          </a:xfrm>
          <a:prstGeom prst="rect">
            <a:avLst/>
          </a:prstGeom>
          <a:solidFill>
            <a:srgbClr val="F0F0F0"/>
          </a:solidFill>
          <a:ln w="381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3291840"/>
            <a:ext cx="1188720" cy="274320"/>
          </a:xfrm>
          <a:prstGeom prst="rect">
            <a:avLst/>
          </a:prstGeom>
          <a:noFill/>
        </p:spPr>
        <p:txBody>
          <a:bodyPr wrap="square">
            <a:spAutoFit/>
          </a:bodyPr>
          <a:lstStyle/>
          <a:p>
            <a:pPr algn="l">
              <a:defRPr sz="1000" b="1" i="0">
                <a:solidFill>
                  <a:srgbClr val="003366"/>
                </a:solidFill>
              </a:defRPr>
            </a:pPr>
            <a:r>
              <a:t>V011</a:t>
            </a:r>
          </a:p>
        </p:txBody>
      </p:sp>
      <p:sp>
        <p:nvSpPr>
          <p:cNvPr id="18" name="TextBox 17"/>
          <p:cNvSpPr txBox="1"/>
          <p:nvPr/>
        </p:nvSpPr>
        <p:spPr>
          <a:xfrm>
            <a:off x="2377440" y="3291840"/>
            <a:ext cx="3200400" cy="274320"/>
          </a:xfrm>
          <a:prstGeom prst="rect">
            <a:avLst/>
          </a:prstGeom>
          <a:noFill/>
        </p:spPr>
        <p:txBody>
          <a:bodyPr wrap="square">
            <a:spAutoFit/>
          </a:bodyPr>
          <a:lstStyle/>
          <a:p>
            <a:pPr algn="l">
              <a:defRPr sz="1000" b="1" i="0">
                <a:solidFill>
                  <a:srgbClr val="333333"/>
                </a:solidFill>
              </a:defRPr>
            </a:pPr>
            <a:r>
              <a:t>Frameworks</a:t>
            </a:r>
          </a:p>
        </p:txBody>
      </p:sp>
      <p:sp>
        <p:nvSpPr>
          <p:cNvPr id="19" name="TextBox 18"/>
          <p:cNvSpPr txBox="1"/>
          <p:nvPr/>
        </p:nvSpPr>
        <p:spPr>
          <a:xfrm>
            <a:off x="5760720" y="3291840"/>
            <a:ext cx="5760720" cy="274320"/>
          </a:xfrm>
          <a:prstGeom prst="rect">
            <a:avLst/>
          </a:prstGeom>
          <a:noFill/>
        </p:spPr>
        <p:txBody>
          <a:bodyPr wrap="square">
            <a:spAutoFit/>
          </a:bodyPr>
          <a:lstStyle/>
          <a:p>
            <a:pPr algn="l">
              <a:defRPr sz="1000" b="0" i="0">
                <a:solidFill>
                  <a:srgbClr val="666666"/>
                </a:solidFill>
              </a:defRPr>
            </a:pPr>
            <a:r>
              <a:rPr dirty="0" err="1"/>
              <a:t>Unicité</a:t>
            </a:r>
            <a:r>
              <a:rPr dirty="0"/>
              <a:t> du couple framework / version</a:t>
            </a:r>
          </a:p>
        </p:txBody>
      </p:sp>
      <p:sp>
        <p:nvSpPr>
          <p:cNvPr id="20" name="Rectangle 19"/>
          <p:cNvSpPr/>
          <p:nvPr/>
        </p:nvSpPr>
        <p:spPr>
          <a:xfrm>
            <a:off x="731520" y="3575304"/>
            <a:ext cx="10698480" cy="310896"/>
          </a:xfrm>
          <a:prstGeom prst="rect">
            <a:avLst/>
          </a:prstGeom>
          <a:solidFill>
            <a:srgbClr val="FFFFFF"/>
          </a:solidFill>
          <a:ln w="381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4400" y="3621024"/>
            <a:ext cx="1188720" cy="274320"/>
          </a:xfrm>
          <a:prstGeom prst="rect">
            <a:avLst/>
          </a:prstGeom>
          <a:noFill/>
        </p:spPr>
        <p:txBody>
          <a:bodyPr wrap="square">
            <a:spAutoFit/>
          </a:bodyPr>
          <a:lstStyle/>
          <a:p>
            <a:pPr algn="l">
              <a:defRPr sz="1000" b="1" i="0">
                <a:solidFill>
                  <a:srgbClr val="003366"/>
                </a:solidFill>
              </a:defRPr>
            </a:pPr>
            <a:r>
              <a:t>V012</a:t>
            </a:r>
          </a:p>
        </p:txBody>
      </p:sp>
      <p:sp>
        <p:nvSpPr>
          <p:cNvPr id="22" name="TextBox 21"/>
          <p:cNvSpPr txBox="1"/>
          <p:nvPr/>
        </p:nvSpPr>
        <p:spPr>
          <a:xfrm>
            <a:off x="2377440" y="3621024"/>
            <a:ext cx="3200400" cy="274320"/>
          </a:xfrm>
          <a:prstGeom prst="rect">
            <a:avLst/>
          </a:prstGeom>
          <a:noFill/>
        </p:spPr>
        <p:txBody>
          <a:bodyPr wrap="square">
            <a:spAutoFit/>
          </a:bodyPr>
          <a:lstStyle/>
          <a:p>
            <a:pPr algn="l">
              <a:defRPr sz="1000" b="1" i="0">
                <a:solidFill>
                  <a:srgbClr val="333333"/>
                </a:solidFill>
              </a:defRPr>
            </a:pPr>
            <a:r>
              <a:t>TypeModule</a:t>
            </a:r>
          </a:p>
        </p:txBody>
      </p:sp>
      <p:sp>
        <p:nvSpPr>
          <p:cNvPr id="23" name="TextBox 22"/>
          <p:cNvSpPr txBox="1"/>
          <p:nvPr/>
        </p:nvSpPr>
        <p:spPr>
          <a:xfrm>
            <a:off x="5760720" y="3621024"/>
            <a:ext cx="5760720" cy="274320"/>
          </a:xfrm>
          <a:prstGeom prst="rect">
            <a:avLst/>
          </a:prstGeom>
          <a:noFill/>
        </p:spPr>
        <p:txBody>
          <a:bodyPr wrap="square">
            <a:spAutoFit/>
          </a:bodyPr>
          <a:lstStyle/>
          <a:p>
            <a:pPr algn="l">
              <a:defRPr sz="1000" b="0" i="0">
                <a:solidFill>
                  <a:srgbClr val="666666"/>
                </a:solidFill>
              </a:defRPr>
            </a:pPr>
            <a:r>
              <a:t>Typage fiable des modules</a:t>
            </a:r>
          </a:p>
        </p:txBody>
      </p:sp>
      <p:sp>
        <p:nvSpPr>
          <p:cNvPr id="24" name="Rectangle 23"/>
          <p:cNvSpPr/>
          <p:nvPr/>
        </p:nvSpPr>
        <p:spPr>
          <a:xfrm>
            <a:off x="731520" y="3904488"/>
            <a:ext cx="10698480" cy="310896"/>
          </a:xfrm>
          <a:prstGeom prst="rect">
            <a:avLst/>
          </a:prstGeom>
          <a:solidFill>
            <a:srgbClr val="F0F0F0"/>
          </a:solidFill>
          <a:ln w="381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4400" y="3950208"/>
            <a:ext cx="1188720" cy="274320"/>
          </a:xfrm>
          <a:prstGeom prst="rect">
            <a:avLst/>
          </a:prstGeom>
          <a:noFill/>
        </p:spPr>
        <p:txBody>
          <a:bodyPr wrap="square">
            <a:spAutoFit/>
          </a:bodyPr>
          <a:lstStyle/>
          <a:p>
            <a:pPr algn="l">
              <a:defRPr sz="1000" b="1" i="0">
                <a:solidFill>
                  <a:srgbClr val="003366"/>
                </a:solidFill>
              </a:defRPr>
            </a:pPr>
            <a:r>
              <a:t>V013</a:t>
            </a:r>
          </a:p>
        </p:txBody>
      </p:sp>
      <p:sp>
        <p:nvSpPr>
          <p:cNvPr id="26" name="TextBox 25"/>
          <p:cNvSpPr txBox="1"/>
          <p:nvPr/>
        </p:nvSpPr>
        <p:spPr>
          <a:xfrm>
            <a:off x="2377440" y="3950208"/>
            <a:ext cx="3200400" cy="274320"/>
          </a:xfrm>
          <a:prstGeom prst="rect">
            <a:avLst/>
          </a:prstGeom>
          <a:noFill/>
        </p:spPr>
        <p:txBody>
          <a:bodyPr wrap="square">
            <a:spAutoFit/>
          </a:bodyPr>
          <a:lstStyle/>
          <a:p>
            <a:pPr algn="l">
              <a:defRPr sz="1000" b="1" i="0">
                <a:solidFill>
                  <a:srgbClr val="333333"/>
                </a:solidFill>
              </a:defRPr>
            </a:pPr>
            <a:r>
              <a:t>ComptesServices</a:t>
            </a:r>
          </a:p>
        </p:txBody>
      </p:sp>
      <p:sp>
        <p:nvSpPr>
          <p:cNvPr id="27" name="TextBox 26"/>
          <p:cNvSpPr txBox="1"/>
          <p:nvPr/>
        </p:nvSpPr>
        <p:spPr>
          <a:xfrm>
            <a:off x="5760720" y="3950208"/>
            <a:ext cx="5760720" cy="274320"/>
          </a:xfrm>
          <a:prstGeom prst="rect">
            <a:avLst/>
          </a:prstGeom>
          <a:noFill/>
        </p:spPr>
        <p:txBody>
          <a:bodyPr wrap="square">
            <a:spAutoFit/>
          </a:bodyPr>
          <a:lstStyle/>
          <a:p>
            <a:pPr algn="l">
              <a:defRPr sz="1000" b="0" i="0">
                <a:solidFill>
                  <a:srgbClr val="666666"/>
                </a:solidFill>
              </a:defRPr>
            </a:pPr>
            <a:r>
              <a:t>Suivi des dates d'expiration</a:t>
            </a:r>
          </a:p>
        </p:txBody>
      </p:sp>
      <p:sp>
        <p:nvSpPr>
          <p:cNvPr id="28" name="Rectangle 27"/>
          <p:cNvSpPr/>
          <p:nvPr/>
        </p:nvSpPr>
        <p:spPr>
          <a:xfrm>
            <a:off x="731520" y="4233672"/>
            <a:ext cx="10698480" cy="310896"/>
          </a:xfrm>
          <a:prstGeom prst="rect">
            <a:avLst/>
          </a:prstGeom>
          <a:solidFill>
            <a:srgbClr val="FFFFFF"/>
          </a:solidFill>
          <a:ln w="381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4400" y="4279392"/>
            <a:ext cx="1188720" cy="274320"/>
          </a:xfrm>
          <a:prstGeom prst="rect">
            <a:avLst/>
          </a:prstGeom>
          <a:noFill/>
        </p:spPr>
        <p:txBody>
          <a:bodyPr wrap="square">
            <a:spAutoFit/>
          </a:bodyPr>
          <a:lstStyle/>
          <a:p>
            <a:pPr algn="l">
              <a:defRPr sz="1000" b="1" i="0">
                <a:solidFill>
                  <a:srgbClr val="003366"/>
                </a:solidFill>
              </a:defRPr>
            </a:pPr>
            <a:r>
              <a:t>V015</a:t>
            </a:r>
          </a:p>
        </p:txBody>
      </p:sp>
      <p:sp>
        <p:nvSpPr>
          <p:cNvPr id="30" name="TextBox 29"/>
          <p:cNvSpPr txBox="1"/>
          <p:nvPr/>
        </p:nvSpPr>
        <p:spPr>
          <a:xfrm>
            <a:off x="2377440" y="4279392"/>
            <a:ext cx="3200400" cy="274320"/>
          </a:xfrm>
          <a:prstGeom prst="rect">
            <a:avLst/>
          </a:prstGeom>
          <a:noFill/>
        </p:spPr>
        <p:txBody>
          <a:bodyPr wrap="square">
            <a:spAutoFit/>
          </a:bodyPr>
          <a:lstStyle/>
          <a:p>
            <a:pPr algn="l">
              <a:defRPr sz="1000" b="1" i="0">
                <a:solidFill>
                  <a:srgbClr val="333333"/>
                </a:solidFill>
              </a:defRPr>
            </a:pPr>
            <a:r>
              <a:t>ServeursExploitation</a:t>
            </a:r>
          </a:p>
        </p:txBody>
      </p:sp>
      <p:sp>
        <p:nvSpPr>
          <p:cNvPr id="31" name="TextBox 30"/>
          <p:cNvSpPr txBox="1"/>
          <p:nvPr/>
        </p:nvSpPr>
        <p:spPr>
          <a:xfrm>
            <a:off x="5760720" y="4279392"/>
            <a:ext cx="5760720" cy="274320"/>
          </a:xfrm>
          <a:prstGeom prst="rect">
            <a:avLst/>
          </a:prstGeom>
          <a:noFill/>
        </p:spPr>
        <p:txBody>
          <a:bodyPr wrap="square">
            <a:spAutoFit/>
          </a:bodyPr>
          <a:lstStyle/>
          <a:p>
            <a:pPr algn="l">
              <a:defRPr sz="1000" b="0" i="0">
                <a:solidFill>
                  <a:srgbClr val="666666"/>
                </a:solidFill>
              </a:defRPr>
            </a:pPr>
            <a:r>
              <a:t>Rattachement VM / dossier VM</a:t>
            </a:r>
          </a:p>
        </p:txBody>
      </p:sp>
      <p:sp>
        <p:nvSpPr>
          <p:cNvPr id="32" name="Rectangle 31"/>
          <p:cNvSpPr/>
          <p:nvPr/>
        </p:nvSpPr>
        <p:spPr>
          <a:xfrm>
            <a:off x="731520" y="4562856"/>
            <a:ext cx="10698480" cy="310896"/>
          </a:xfrm>
          <a:prstGeom prst="rect">
            <a:avLst/>
          </a:prstGeom>
          <a:solidFill>
            <a:srgbClr val="F0F0F0"/>
          </a:solidFill>
          <a:ln w="381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14400" y="4608576"/>
            <a:ext cx="1188720" cy="274320"/>
          </a:xfrm>
          <a:prstGeom prst="rect">
            <a:avLst/>
          </a:prstGeom>
          <a:noFill/>
        </p:spPr>
        <p:txBody>
          <a:bodyPr wrap="square">
            <a:spAutoFit/>
          </a:bodyPr>
          <a:lstStyle/>
          <a:p>
            <a:pPr algn="l">
              <a:defRPr sz="1000" b="1" i="0">
                <a:solidFill>
                  <a:srgbClr val="003366"/>
                </a:solidFill>
              </a:defRPr>
            </a:pPr>
            <a:r>
              <a:t>V016</a:t>
            </a:r>
          </a:p>
        </p:txBody>
      </p:sp>
      <p:sp>
        <p:nvSpPr>
          <p:cNvPr id="34" name="TextBox 33"/>
          <p:cNvSpPr txBox="1"/>
          <p:nvPr/>
        </p:nvSpPr>
        <p:spPr>
          <a:xfrm>
            <a:off x="2377440" y="4608576"/>
            <a:ext cx="3200400" cy="274320"/>
          </a:xfrm>
          <a:prstGeom prst="rect">
            <a:avLst/>
          </a:prstGeom>
          <a:noFill/>
        </p:spPr>
        <p:txBody>
          <a:bodyPr wrap="square">
            <a:spAutoFit/>
          </a:bodyPr>
          <a:lstStyle/>
          <a:p>
            <a:pPr algn="l">
              <a:defRPr sz="1000" b="1" i="0">
                <a:solidFill>
                  <a:srgbClr val="333333"/>
                </a:solidFill>
              </a:defRPr>
            </a:pPr>
            <a:r>
              <a:t>ApplicationsAzure</a:t>
            </a:r>
          </a:p>
        </p:txBody>
      </p:sp>
      <p:sp>
        <p:nvSpPr>
          <p:cNvPr id="35" name="TextBox 34"/>
          <p:cNvSpPr txBox="1"/>
          <p:nvPr/>
        </p:nvSpPr>
        <p:spPr>
          <a:xfrm>
            <a:off x="5760720" y="4608576"/>
            <a:ext cx="5760720" cy="274320"/>
          </a:xfrm>
          <a:prstGeom prst="rect">
            <a:avLst/>
          </a:prstGeom>
          <a:noFill/>
        </p:spPr>
        <p:txBody>
          <a:bodyPr wrap="square">
            <a:spAutoFit/>
          </a:bodyPr>
          <a:lstStyle/>
          <a:p>
            <a:pPr algn="l">
              <a:defRPr sz="1000" b="0" i="0">
                <a:solidFill>
                  <a:srgbClr val="666666"/>
                </a:solidFill>
              </a:defRPr>
            </a:pPr>
            <a:r>
              <a:t>Nom et description structurés</a:t>
            </a:r>
          </a:p>
        </p:txBody>
      </p:sp>
      <p:sp>
        <p:nvSpPr>
          <p:cNvPr id="36" name="Rectangle 35"/>
          <p:cNvSpPr/>
          <p:nvPr/>
        </p:nvSpPr>
        <p:spPr>
          <a:xfrm>
            <a:off x="731520" y="4892040"/>
            <a:ext cx="10698480" cy="310896"/>
          </a:xfrm>
          <a:prstGeom prst="rect">
            <a:avLst/>
          </a:prstGeom>
          <a:solidFill>
            <a:srgbClr val="FFFFFF"/>
          </a:solidFill>
          <a:ln w="381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14400" y="4937760"/>
            <a:ext cx="1188720" cy="274320"/>
          </a:xfrm>
          <a:prstGeom prst="rect">
            <a:avLst/>
          </a:prstGeom>
          <a:noFill/>
        </p:spPr>
        <p:txBody>
          <a:bodyPr wrap="square">
            <a:spAutoFit/>
          </a:bodyPr>
          <a:lstStyle/>
          <a:p>
            <a:pPr algn="l">
              <a:defRPr sz="1000" b="1" i="0">
                <a:solidFill>
                  <a:srgbClr val="003366"/>
                </a:solidFill>
              </a:defRPr>
            </a:pPr>
            <a:r>
              <a:t>V017</a:t>
            </a:r>
          </a:p>
        </p:txBody>
      </p:sp>
      <p:sp>
        <p:nvSpPr>
          <p:cNvPr id="38" name="TextBox 37"/>
          <p:cNvSpPr txBox="1"/>
          <p:nvPr/>
        </p:nvSpPr>
        <p:spPr>
          <a:xfrm>
            <a:off x="2377440" y="4937760"/>
            <a:ext cx="3200400" cy="274320"/>
          </a:xfrm>
          <a:prstGeom prst="rect">
            <a:avLst/>
          </a:prstGeom>
          <a:noFill/>
        </p:spPr>
        <p:txBody>
          <a:bodyPr wrap="square">
            <a:spAutoFit/>
          </a:bodyPr>
          <a:lstStyle/>
          <a:p>
            <a:pPr algn="l">
              <a:defRPr sz="1000" b="1" i="0">
                <a:solidFill>
                  <a:srgbClr val="333333"/>
                </a:solidFill>
              </a:defRPr>
            </a:pPr>
            <a:r>
              <a:t>BddUtilise</a:t>
            </a:r>
          </a:p>
        </p:txBody>
      </p:sp>
      <p:sp>
        <p:nvSpPr>
          <p:cNvPr id="39" name="TextBox 38"/>
          <p:cNvSpPr txBox="1"/>
          <p:nvPr/>
        </p:nvSpPr>
        <p:spPr>
          <a:xfrm>
            <a:off x="5760720" y="4937760"/>
            <a:ext cx="5760720" cy="274320"/>
          </a:xfrm>
          <a:prstGeom prst="rect">
            <a:avLst/>
          </a:prstGeom>
          <a:noFill/>
        </p:spPr>
        <p:txBody>
          <a:bodyPr wrap="square">
            <a:spAutoFit/>
          </a:bodyPr>
          <a:lstStyle/>
          <a:p>
            <a:pPr algn="l">
              <a:defRPr sz="1000" b="0" i="0">
                <a:solidFill>
                  <a:srgbClr val="666666"/>
                </a:solidFill>
              </a:defRPr>
            </a:pPr>
            <a:r>
              <a:t>Inventaire fiable des bases</a:t>
            </a:r>
          </a:p>
        </p:txBody>
      </p:sp>
      <p:sp>
        <p:nvSpPr>
          <p:cNvPr id="40" name="Rectangle 39"/>
          <p:cNvSpPr/>
          <p:nvPr/>
        </p:nvSpPr>
        <p:spPr>
          <a:xfrm>
            <a:off x="731520" y="5221224"/>
            <a:ext cx="10698480" cy="310896"/>
          </a:xfrm>
          <a:prstGeom prst="rect">
            <a:avLst/>
          </a:prstGeom>
          <a:solidFill>
            <a:srgbClr val="F0F0F0"/>
          </a:solidFill>
          <a:ln w="381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14400" y="5266944"/>
            <a:ext cx="1188720" cy="274320"/>
          </a:xfrm>
          <a:prstGeom prst="rect">
            <a:avLst/>
          </a:prstGeom>
          <a:noFill/>
        </p:spPr>
        <p:txBody>
          <a:bodyPr wrap="square">
            <a:spAutoFit/>
          </a:bodyPr>
          <a:lstStyle/>
          <a:p>
            <a:pPr algn="l">
              <a:defRPr sz="1000" b="1" i="0">
                <a:solidFill>
                  <a:srgbClr val="003366"/>
                </a:solidFill>
              </a:defRPr>
            </a:pPr>
            <a:r>
              <a:t>V019</a:t>
            </a:r>
          </a:p>
        </p:txBody>
      </p:sp>
      <p:sp>
        <p:nvSpPr>
          <p:cNvPr id="42" name="TextBox 41"/>
          <p:cNvSpPr txBox="1"/>
          <p:nvPr/>
        </p:nvSpPr>
        <p:spPr>
          <a:xfrm>
            <a:off x="2377440" y="5266944"/>
            <a:ext cx="3200400" cy="274320"/>
          </a:xfrm>
          <a:prstGeom prst="rect">
            <a:avLst/>
          </a:prstGeom>
          <a:noFill/>
        </p:spPr>
        <p:txBody>
          <a:bodyPr wrap="square">
            <a:spAutoFit/>
          </a:bodyPr>
          <a:lstStyle/>
          <a:p>
            <a:pPr algn="l">
              <a:defRPr sz="1000" b="1" i="0">
                <a:solidFill>
                  <a:srgbClr val="333333"/>
                </a:solidFill>
              </a:defRPr>
            </a:pPr>
            <a:r>
              <a:t>(transverse)</a:t>
            </a:r>
          </a:p>
        </p:txBody>
      </p:sp>
      <p:sp>
        <p:nvSpPr>
          <p:cNvPr id="43" name="TextBox 42"/>
          <p:cNvSpPr txBox="1"/>
          <p:nvPr/>
        </p:nvSpPr>
        <p:spPr>
          <a:xfrm>
            <a:off x="5760720" y="5266944"/>
            <a:ext cx="5760720" cy="274320"/>
          </a:xfrm>
          <a:prstGeom prst="rect">
            <a:avLst/>
          </a:prstGeom>
          <a:noFill/>
        </p:spPr>
        <p:txBody>
          <a:bodyPr wrap="square">
            <a:spAutoFit/>
          </a:bodyPr>
          <a:lstStyle/>
          <a:p>
            <a:pPr algn="l">
              <a:defRPr sz="1000" b="0" i="0">
                <a:solidFill>
                  <a:srgbClr val="666666"/>
                </a:solidFill>
              </a:defRPr>
            </a:pPr>
            <a:r>
              <a:t>Dédoublonnage + clés primaires manquantes</a:t>
            </a:r>
          </a:p>
        </p:txBody>
      </p:sp>
      <p:sp>
        <p:nvSpPr>
          <p:cNvPr id="44" name="TextBox 43"/>
          <p:cNvSpPr txBox="1"/>
          <p:nvPr/>
        </p:nvSpPr>
        <p:spPr>
          <a:xfrm>
            <a:off x="731520" y="5623560"/>
            <a:ext cx="10698480" cy="365760"/>
          </a:xfrm>
          <a:prstGeom prst="rect">
            <a:avLst/>
          </a:prstGeom>
          <a:noFill/>
        </p:spPr>
        <p:txBody>
          <a:bodyPr wrap="square">
            <a:spAutoFit/>
          </a:bodyPr>
          <a:lstStyle/>
          <a:p>
            <a:pPr algn="ctr">
              <a:defRPr sz="1300" b="1" i="0">
                <a:solidFill>
                  <a:srgbClr val="2E8B3D"/>
                </a:solidFill>
              </a:defRPr>
            </a:pPr>
            <a:r>
              <a:t>Gouvernance des migrations (données de production)</a:t>
            </a:r>
          </a:p>
        </p:txBody>
      </p:sp>
      <p:sp>
        <p:nvSpPr>
          <p:cNvPr id="45" name="Rounded Rectangle 44"/>
          <p:cNvSpPr/>
          <p:nvPr/>
        </p:nvSpPr>
        <p:spPr>
          <a:xfrm>
            <a:off x="914400" y="5989320"/>
            <a:ext cx="3383280" cy="457200"/>
          </a:xfrm>
          <a:prstGeom prst="roundRect">
            <a:avLst/>
          </a:prstGeom>
          <a:solidFill>
            <a:srgbClr val="E8F5E9"/>
          </a:solidFill>
          <a:ln w="1270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051560" y="6035040"/>
            <a:ext cx="1645920" cy="320040"/>
          </a:xfrm>
          <a:prstGeom prst="rect">
            <a:avLst/>
          </a:prstGeom>
          <a:noFill/>
        </p:spPr>
        <p:txBody>
          <a:bodyPr wrap="square">
            <a:spAutoFit/>
          </a:bodyPr>
          <a:lstStyle/>
          <a:p>
            <a:pPr algn="l">
              <a:defRPr sz="1000" b="1" i="0">
                <a:solidFill>
                  <a:srgbClr val="2E8B3D"/>
                </a:solidFill>
              </a:defRPr>
            </a:pPr>
            <a:r>
              <a:t>Scripts versionnés</a:t>
            </a:r>
          </a:p>
        </p:txBody>
      </p:sp>
      <p:sp>
        <p:nvSpPr>
          <p:cNvPr id="47" name="TextBox 46"/>
          <p:cNvSpPr txBox="1"/>
          <p:nvPr/>
        </p:nvSpPr>
        <p:spPr>
          <a:xfrm>
            <a:off x="2606040" y="6035040"/>
            <a:ext cx="1600200" cy="320040"/>
          </a:xfrm>
          <a:prstGeom prst="rect">
            <a:avLst/>
          </a:prstGeom>
          <a:noFill/>
        </p:spPr>
        <p:txBody>
          <a:bodyPr wrap="square">
            <a:spAutoFit/>
          </a:bodyPr>
          <a:lstStyle/>
          <a:p>
            <a:pPr algn="l">
              <a:defRPr sz="1000" b="0" i="1">
                <a:solidFill>
                  <a:srgbClr val="333333"/>
                </a:solidFill>
              </a:defRPr>
            </a:pPr>
            <a:r>
              <a:t>V001 à V026</a:t>
            </a:r>
          </a:p>
        </p:txBody>
      </p:sp>
      <p:sp>
        <p:nvSpPr>
          <p:cNvPr id="48" name="Rounded Rectangle 47"/>
          <p:cNvSpPr/>
          <p:nvPr/>
        </p:nvSpPr>
        <p:spPr>
          <a:xfrm>
            <a:off x="4572000" y="5989320"/>
            <a:ext cx="3383280" cy="457200"/>
          </a:xfrm>
          <a:prstGeom prst="roundRect">
            <a:avLst/>
          </a:prstGeom>
          <a:solidFill>
            <a:srgbClr val="E8F5E9"/>
          </a:solidFill>
          <a:ln w="1270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709160" y="6035040"/>
            <a:ext cx="1645920" cy="320040"/>
          </a:xfrm>
          <a:prstGeom prst="rect">
            <a:avLst/>
          </a:prstGeom>
          <a:noFill/>
        </p:spPr>
        <p:txBody>
          <a:bodyPr wrap="square">
            <a:spAutoFit/>
          </a:bodyPr>
          <a:lstStyle/>
          <a:p>
            <a:pPr algn="l">
              <a:defRPr sz="1000" b="1" i="0">
                <a:solidFill>
                  <a:srgbClr val="2E8B3D"/>
                </a:solidFill>
              </a:defRPr>
            </a:pPr>
            <a:r>
              <a:t>Retour arrière</a:t>
            </a:r>
          </a:p>
        </p:txBody>
      </p:sp>
      <p:sp>
        <p:nvSpPr>
          <p:cNvPr id="50" name="TextBox 49"/>
          <p:cNvSpPr txBox="1"/>
          <p:nvPr/>
        </p:nvSpPr>
        <p:spPr>
          <a:xfrm>
            <a:off x="6263640" y="6035040"/>
            <a:ext cx="1600200" cy="320040"/>
          </a:xfrm>
          <a:prstGeom prst="rect">
            <a:avLst/>
          </a:prstGeom>
          <a:noFill/>
        </p:spPr>
        <p:txBody>
          <a:bodyPr wrap="square">
            <a:spAutoFit/>
          </a:bodyPr>
          <a:lstStyle/>
          <a:p>
            <a:pPr algn="l">
              <a:defRPr sz="1000" b="0" i="1">
                <a:solidFill>
                  <a:srgbClr val="333333"/>
                </a:solidFill>
              </a:defRPr>
            </a:pPr>
            <a:r>
              <a:t>Un rollback par migration</a:t>
            </a:r>
          </a:p>
        </p:txBody>
      </p:sp>
      <p:sp>
        <p:nvSpPr>
          <p:cNvPr id="51" name="Rounded Rectangle 50"/>
          <p:cNvSpPr/>
          <p:nvPr/>
        </p:nvSpPr>
        <p:spPr>
          <a:xfrm>
            <a:off x="8229600" y="5989320"/>
            <a:ext cx="3383280" cy="457200"/>
          </a:xfrm>
          <a:prstGeom prst="roundRect">
            <a:avLst/>
          </a:prstGeom>
          <a:solidFill>
            <a:srgbClr val="E8F5E9"/>
          </a:solidFill>
          <a:ln w="1270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366760" y="6035040"/>
            <a:ext cx="1645920" cy="320040"/>
          </a:xfrm>
          <a:prstGeom prst="rect">
            <a:avLst/>
          </a:prstGeom>
          <a:noFill/>
        </p:spPr>
        <p:txBody>
          <a:bodyPr wrap="square">
            <a:spAutoFit/>
          </a:bodyPr>
          <a:lstStyle/>
          <a:p>
            <a:pPr algn="l">
              <a:defRPr sz="1000" b="1" i="0">
                <a:solidFill>
                  <a:srgbClr val="2E8B3D"/>
                </a:solidFill>
              </a:defRPr>
            </a:pPr>
            <a:r>
              <a:t>Contrôle préalable</a:t>
            </a:r>
          </a:p>
        </p:txBody>
      </p:sp>
      <p:sp>
        <p:nvSpPr>
          <p:cNvPr id="53" name="TextBox 52"/>
          <p:cNvSpPr txBox="1"/>
          <p:nvPr/>
        </p:nvSpPr>
        <p:spPr>
          <a:xfrm>
            <a:off x="9921240" y="6035040"/>
            <a:ext cx="1600200" cy="320040"/>
          </a:xfrm>
          <a:prstGeom prst="rect">
            <a:avLst/>
          </a:prstGeom>
          <a:noFill/>
        </p:spPr>
        <p:txBody>
          <a:bodyPr wrap="square">
            <a:spAutoFit/>
          </a:bodyPr>
          <a:lstStyle/>
          <a:p>
            <a:pPr algn="l">
              <a:defRPr sz="1000" b="0" i="1">
                <a:solidFill>
                  <a:srgbClr val="333333"/>
                </a:solidFill>
              </a:defRPr>
            </a:pPr>
            <a:r>
              <a:t>Lecture seule, verdict GO / NO GO</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Enrichissement fonctionnel</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23 / 32</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65760"/>
          </a:xfrm>
          <a:prstGeom prst="rect">
            <a:avLst/>
          </a:prstGeom>
          <a:noFill/>
        </p:spPr>
        <p:txBody>
          <a:bodyPr wrap="square">
            <a:spAutoFit/>
          </a:bodyPr>
          <a:lstStyle/>
          <a:p>
            <a:pPr algn="ctr">
              <a:defRPr sz="1400" b="0" i="1">
                <a:solidFill>
                  <a:srgbClr val="666666"/>
                </a:solidFill>
              </a:defRPr>
            </a:pPr>
            <a:r>
              <a:t>Fonctionnalités livrées, regroupées par thème métier</a:t>
            </a:r>
          </a:p>
        </p:txBody>
      </p:sp>
      <p:sp>
        <p:nvSpPr>
          <p:cNvPr id="10" name="Rounded Rectangle 9"/>
          <p:cNvSpPr/>
          <p:nvPr/>
        </p:nvSpPr>
        <p:spPr>
          <a:xfrm>
            <a:off x="731520" y="1828800"/>
            <a:ext cx="5394960" cy="594360"/>
          </a:xfrm>
          <a:prstGeom prst="round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68680" y="1947672"/>
            <a:ext cx="731520" cy="36576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000" b="1">
                <a:solidFill>
                  <a:srgbClr val="FFFFFF"/>
                </a:solidFill>
              </a:defRPr>
            </a:pPr>
            <a:r>
              <a:t>L1</a:t>
            </a:r>
          </a:p>
        </p:txBody>
      </p:sp>
      <p:sp>
        <p:nvSpPr>
          <p:cNvPr id="12" name="TextBox 11"/>
          <p:cNvSpPr txBox="1"/>
          <p:nvPr/>
        </p:nvSpPr>
        <p:spPr>
          <a:xfrm>
            <a:off x="1691640" y="1874520"/>
            <a:ext cx="4297680" cy="274320"/>
          </a:xfrm>
          <a:prstGeom prst="rect">
            <a:avLst/>
          </a:prstGeom>
          <a:noFill/>
        </p:spPr>
        <p:txBody>
          <a:bodyPr wrap="square">
            <a:spAutoFit/>
          </a:bodyPr>
          <a:lstStyle/>
          <a:p>
            <a:pPr algn="l">
              <a:defRPr sz="1200" b="1" i="0">
                <a:solidFill>
                  <a:srgbClr val="003366"/>
                </a:solidFill>
              </a:defRPr>
            </a:pPr>
            <a:r>
              <a:t>Consultation et recherche</a:t>
            </a:r>
          </a:p>
        </p:txBody>
      </p:sp>
      <p:sp>
        <p:nvSpPr>
          <p:cNvPr id="13" name="TextBox 12"/>
          <p:cNvSpPr txBox="1"/>
          <p:nvPr/>
        </p:nvSpPr>
        <p:spPr>
          <a:xfrm>
            <a:off x="1691640" y="2121408"/>
            <a:ext cx="4297680" cy="230832"/>
          </a:xfrm>
          <a:prstGeom prst="rect">
            <a:avLst/>
          </a:prstGeom>
          <a:noFill/>
        </p:spPr>
        <p:txBody>
          <a:bodyPr wrap="square">
            <a:spAutoFit/>
          </a:bodyPr>
          <a:lstStyle/>
          <a:p>
            <a:pPr algn="l">
              <a:defRPr sz="900" b="0" i="0">
                <a:solidFill>
                  <a:srgbClr val="666666"/>
                </a:solidFill>
              </a:defRPr>
            </a:pPr>
            <a:r>
              <a:rPr dirty="0"/>
              <a:t>Recherche, </a:t>
            </a:r>
            <a:r>
              <a:rPr dirty="0" err="1"/>
              <a:t>filtres</a:t>
            </a:r>
            <a:r>
              <a:rPr dirty="0"/>
              <a:t> d'</a:t>
            </a:r>
            <a:r>
              <a:rPr lang="fr-MA" dirty="0"/>
              <a:t>équipe</a:t>
            </a:r>
            <a:r>
              <a:rPr dirty="0"/>
              <a:t>, page Tout </a:t>
            </a:r>
            <a:r>
              <a:rPr dirty="0" err="1"/>
              <a:t>voir</a:t>
            </a:r>
            <a:r>
              <a:rPr dirty="0"/>
              <a:t>, </a:t>
            </a:r>
            <a:r>
              <a:rPr dirty="0" err="1"/>
              <a:t>indicateurs</a:t>
            </a:r>
            <a:r>
              <a:rPr dirty="0"/>
              <a:t> de </a:t>
            </a:r>
            <a:r>
              <a:rPr dirty="0" err="1"/>
              <a:t>chargement</a:t>
            </a:r>
            <a:endParaRPr dirty="0"/>
          </a:p>
        </p:txBody>
      </p:sp>
      <p:sp>
        <p:nvSpPr>
          <p:cNvPr id="14" name="Rounded Rectangle 13"/>
          <p:cNvSpPr/>
          <p:nvPr/>
        </p:nvSpPr>
        <p:spPr>
          <a:xfrm>
            <a:off x="6400800" y="1828800"/>
            <a:ext cx="5394960" cy="594360"/>
          </a:xfrm>
          <a:prstGeom prst="round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537960" y="1947672"/>
            <a:ext cx="731520" cy="36576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000" b="1">
                <a:solidFill>
                  <a:srgbClr val="FFFFFF"/>
                </a:solidFill>
              </a:defRPr>
            </a:pPr>
            <a:r>
              <a:t>L1-L2</a:t>
            </a:r>
          </a:p>
        </p:txBody>
      </p:sp>
      <p:sp>
        <p:nvSpPr>
          <p:cNvPr id="16" name="TextBox 15"/>
          <p:cNvSpPr txBox="1"/>
          <p:nvPr/>
        </p:nvSpPr>
        <p:spPr>
          <a:xfrm>
            <a:off x="7360920" y="1874520"/>
            <a:ext cx="4297680" cy="274320"/>
          </a:xfrm>
          <a:prstGeom prst="rect">
            <a:avLst/>
          </a:prstGeom>
          <a:noFill/>
        </p:spPr>
        <p:txBody>
          <a:bodyPr wrap="square">
            <a:spAutoFit/>
          </a:bodyPr>
          <a:lstStyle/>
          <a:p>
            <a:pPr algn="l">
              <a:defRPr sz="1200" b="1" i="0">
                <a:solidFill>
                  <a:srgbClr val="003366"/>
                </a:solidFill>
              </a:defRPr>
            </a:pPr>
            <a:r>
              <a:t>Cycle de vie des applications</a:t>
            </a:r>
          </a:p>
        </p:txBody>
      </p:sp>
      <p:sp>
        <p:nvSpPr>
          <p:cNvPr id="17" name="TextBox 16"/>
          <p:cNvSpPr txBox="1"/>
          <p:nvPr/>
        </p:nvSpPr>
        <p:spPr>
          <a:xfrm>
            <a:off x="7360920" y="2121408"/>
            <a:ext cx="4297680" cy="230832"/>
          </a:xfrm>
          <a:prstGeom prst="rect">
            <a:avLst/>
          </a:prstGeom>
          <a:noFill/>
        </p:spPr>
        <p:txBody>
          <a:bodyPr wrap="square">
            <a:spAutoFit/>
          </a:bodyPr>
          <a:lstStyle/>
          <a:p>
            <a:pPr algn="l">
              <a:defRPr sz="900" b="0" i="0">
                <a:solidFill>
                  <a:srgbClr val="666666"/>
                </a:solidFill>
              </a:defRPr>
            </a:pPr>
            <a:r>
              <a:rPr dirty="0"/>
              <a:t>Multi-</a:t>
            </a:r>
            <a:r>
              <a:rPr lang="fr-MA" dirty="0"/>
              <a:t>équipe</a:t>
            </a:r>
            <a:r>
              <a:rPr dirty="0"/>
              <a:t>s, </a:t>
            </a:r>
            <a:r>
              <a:rPr dirty="0" err="1"/>
              <a:t>fonction</a:t>
            </a:r>
            <a:r>
              <a:rPr dirty="0"/>
              <a:t> referents, </a:t>
            </a:r>
            <a:r>
              <a:rPr dirty="0" err="1"/>
              <a:t>ordre</a:t>
            </a:r>
            <a:r>
              <a:rPr dirty="0"/>
              <a:t> </a:t>
            </a:r>
            <a:r>
              <a:rPr dirty="0" err="1"/>
              <a:t>d'affichage</a:t>
            </a:r>
            <a:r>
              <a:rPr dirty="0"/>
              <a:t>, </a:t>
            </a:r>
            <a:r>
              <a:rPr dirty="0" err="1"/>
              <a:t>archivage</a:t>
            </a:r>
            <a:endParaRPr dirty="0"/>
          </a:p>
        </p:txBody>
      </p:sp>
      <p:sp>
        <p:nvSpPr>
          <p:cNvPr id="18" name="Rounded Rectangle 17"/>
          <p:cNvSpPr/>
          <p:nvPr/>
        </p:nvSpPr>
        <p:spPr>
          <a:xfrm>
            <a:off x="731520" y="2514600"/>
            <a:ext cx="5394960" cy="594360"/>
          </a:xfrm>
          <a:prstGeom prst="round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68680" y="2633472"/>
            <a:ext cx="731520" cy="36576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000" b="1">
                <a:solidFill>
                  <a:srgbClr val="FFFFFF"/>
                </a:solidFill>
              </a:defRPr>
            </a:pPr>
            <a:r>
              <a:t>L1-L2</a:t>
            </a:r>
          </a:p>
        </p:txBody>
      </p:sp>
      <p:sp>
        <p:nvSpPr>
          <p:cNvPr id="20" name="TextBox 19"/>
          <p:cNvSpPr txBox="1"/>
          <p:nvPr/>
        </p:nvSpPr>
        <p:spPr>
          <a:xfrm>
            <a:off x="1691640" y="2560320"/>
            <a:ext cx="4297680" cy="274320"/>
          </a:xfrm>
          <a:prstGeom prst="rect">
            <a:avLst/>
          </a:prstGeom>
          <a:noFill/>
        </p:spPr>
        <p:txBody>
          <a:bodyPr wrap="square">
            <a:spAutoFit/>
          </a:bodyPr>
          <a:lstStyle/>
          <a:p>
            <a:pPr algn="l">
              <a:defRPr sz="1200" b="1" i="0">
                <a:solidFill>
                  <a:srgbClr val="003366"/>
                </a:solidFill>
              </a:defRPr>
            </a:pPr>
            <a:r>
              <a:t>Traçabilité des livraisons</a:t>
            </a:r>
          </a:p>
        </p:txBody>
      </p:sp>
      <p:sp>
        <p:nvSpPr>
          <p:cNvPr id="21" name="TextBox 20"/>
          <p:cNvSpPr txBox="1"/>
          <p:nvPr/>
        </p:nvSpPr>
        <p:spPr>
          <a:xfrm>
            <a:off x="1691640" y="2807208"/>
            <a:ext cx="4297680" cy="274320"/>
          </a:xfrm>
          <a:prstGeom prst="rect">
            <a:avLst/>
          </a:prstGeom>
          <a:noFill/>
        </p:spPr>
        <p:txBody>
          <a:bodyPr wrap="square">
            <a:spAutoFit/>
          </a:bodyPr>
          <a:lstStyle/>
          <a:p>
            <a:pPr algn="l">
              <a:defRPr sz="900" b="0" i="0">
                <a:solidFill>
                  <a:srgbClr val="666666"/>
                </a:solidFill>
              </a:defRPr>
            </a:pPr>
            <a:r>
              <a:t>Historique, document et numéro de mise en production</a:t>
            </a:r>
          </a:p>
        </p:txBody>
      </p:sp>
      <p:sp>
        <p:nvSpPr>
          <p:cNvPr id="22" name="Rounded Rectangle 21"/>
          <p:cNvSpPr/>
          <p:nvPr/>
        </p:nvSpPr>
        <p:spPr>
          <a:xfrm>
            <a:off x="6400800" y="2514600"/>
            <a:ext cx="5394960" cy="594360"/>
          </a:xfrm>
          <a:prstGeom prst="round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6537960" y="2633472"/>
            <a:ext cx="731520" cy="36576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000" b="1">
                <a:solidFill>
                  <a:srgbClr val="FFFFFF"/>
                </a:solidFill>
              </a:defRPr>
            </a:pPr>
            <a:r>
              <a:t>L1-L2-L3</a:t>
            </a:r>
          </a:p>
        </p:txBody>
      </p:sp>
      <p:sp>
        <p:nvSpPr>
          <p:cNvPr id="24" name="TextBox 23"/>
          <p:cNvSpPr txBox="1"/>
          <p:nvPr/>
        </p:nvSpPr>
        <p:spPr>
          <a:xfrm>
            <a:off x="7360920" y="2560320"/>
            <a:ext cx="4297680" cy="274320"/>
          </a:xfrm>
          <a:prstGeom prst="rect">
            <a:avLst/>
          </a:prstGeom>
          <a:noFill/>
        </p:spPr>
        <p:txBody>
          <a:bodyPr wrap="square">
            <a:spAutoFit/>
          </a:bodyPr>
          <a:lstStyle/>
          <a:p>
            <a:pPr algn="l">
              <a:defRPr sz="1200" b="1" i="0">
                <a:solidFill>
                  <a:srgbClr val="003366"/>
                </a:solidFill>
              </a:defRPr>
            </a:pPr>
            <a:r>
              <a:t>Ressources sensibles</a:t>
            </a:r>
          </a:p>
        </p:txBody>
      </p:sp>
      <p:sp>
        <p:nvSpPr>
          <p:cNvPr id="25" name="TextBox 24"/>
          <p:cNvSpPr txBox="1"/>
          <p:nvPr/>
        </p:nvSpPr>
        <p:spPr>
          <a:xfrm>
            <a:off x="7360920" y="2807208"/>
            <a:ext cx="4297680" cy="274320"/>
          </a:xfrm>
          <a:prstGeom prst="rect">
            <a:avLst/>
          </a:prstGeom>
          <a:noFill/>
        </p:spPr>
        <p:txBody>
          <a:bodyPr wrap="square">
            <a:spAutoFit/>
          </a:bodyPr>
          <a:lstStyle/>
          <a:p>
            <a:pPr algn="l">
              <a:defRPr sz="900" b="0" i="0">
                <a:solidFill>
                  <a:srgbClr val="666666"/>
                </a:solidFill>
              </a:defRPr>
            </a:pPr>
            <a:r>
              <a:t>Comptes de service, certificats, empreintes, alertes</a:t>
            </a:r>
          </a:p>
        </p:txBody>
      </p:sp>
      <p:sp>
        <p:nvSpPr>
          <p:cNvPr id="26" name="Rounded Rectangle 25"/>
          <p:cNvSpPr/>
          <p:nvPr/>
        </p:nvSpPr>
        <p:spPr>
          <a:xfrm>
            <a:off x="731520" y="3200400"/>
            <a:ext cx="5394960" cy="594360"/>
          </a:xfrm>
          <a:prstGeom prst="round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868680" y="3319272"/>
            <a:ext cx="731520" cy="36576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000" b="1">
                <a:solidFill>
                  <a:srgbClr val="FFFFFF"/>
                </a:solidFill>
              </a:defRPr>
            </a:pPr>
            <a:r>
              <a:t>L3</a:t>
            </a:r>
          </a:p>
        </p:txBody>
      </p:sp>
      <p:sp>
        <p:nvSpPr>
          <p:cNvPr id="28" name="TextBox 27"/>
          <p:cNvSpPr txBox="1"/>
          <p:nvPr/>
        </p:nvSpPr>
        <p:spPr>
          <a:xfrm>
            <a:off x="1691640" y="3246120"/>
            <a:ext cx="4297680" cy="274320"/>
          </a:xfrm>
          <a:prstGeom prst="rect">
            <a:avLst/>
          </a:prstGeom>
          <a:noFill/>
        </p:spPr>
        <p:txBody>
          <a:bodyPr wrap="square">
            <a:spAutoFit/>
          </a:bodyPr>
          <a:lstStyle/>
          <a:p>
            <a:pPr algn="l">
              <a:defRPr sz="1200" b="1" i="0">
                <a:solidFill>
                  <a:srgbClr val="003366"/>
                </a:solidFill>
              </a:defRPr>
            </a:pPr>
            <a:r>
              <a:t>Administration référentiels</a:t>
            </a:r>
          </a:p>
        </p:txBody>
      </p:sp>
      <p:sp>
        <p:nvSpPr>
          <p:cNvPr id="29" name="TextBox 28"/>
          <p:cNvSpPr txBox="1"/>
          <p:nvPr/>
        </p:nvSpPr>
        <p:spPr>
          <a:xfrm>
            <a:off x="1691640" y="3493008"/>
            <a:ext cx="4297680" cy="274320"/>
          </a:xfrm>
          <a:prstGeom prst="rect">
            <a:avLst/>
          </a:prstGeom>
          <a:noFill/>
        </p:spPr>
        <p:txBody>
          <a:bodyPr wrap="square">
            <a:spAutoFit/>
          </a:bodyPr>
          <a:lstStyle/>
          <a:p>
            <a:pPr algn="l">
              <a:defRPr sz="900" b="0" i="0">
                <a:solidFill>
                  <a:srgbClr val="666666"/>
                </a:solidFill>
              </a:defRPr>
            </a:pPr>
            <a:r>
              <a:t>8 écrans de gestion pour les tables de référence</a:t>
            </a:r>
          </a:p>
        </p:txBody>
      </p:sp>
      <p:sp>
        <p:nvSpPr>
          <p:cNvPr id="30" name="Rounded Rectangle 29"/>
          <p:cNvSpPr/>
          <p:nvPr/>
        </p:nvSpPr>
        <p:spPr>
          <a:xfrm>
            <a:off x="6400800" y="3200400"/>
            <a:ext cx="5394960" cy="594360"/>
          </a:xfrm>
          <a:prstGeom prst="round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6537960" y="3319272"/>
            <a:ext cx="731520" cy="36576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000" b="1">
                <a:solidFill>
                  <a:srgbClr val="FFFFFF"/>
                </a:solidFill>
              </a:defRPr>
            </a:pPr>
            <a:r>
              <a:t>L3</a:t>
            </a:r>
          </a:p>
        </p:txBody>
      </p:sp>
      <p:sp>
        <p:nvSpPr>
          <p:cNvPr id="32" name="TextBox 31"/>
          <p:cNvSpPr txBox="1"/>
          <p:nvPr/>
        </p:nvSpPr>
        <p:spPr>
          <a:xfrm>
            <a:off x="7360920" y="3246120"/>
            <a:ext cx="4297680" cy="274320"/>
          </a:xfrm>
          <a:prstGeom prst="rect">
            <a:avLst/>
          </a:prstGeom>
          <a:noFill/>
        </p:spPr>
        <p:txBody>
          <a:bodyPr wrap="square">
            <a:spAutoFit/>
          </a:bodyPr>
          <a:lstStyle/>
          <a:p>
            <a:pPr algn="l">
              <a:defRPr sz="1200" b="1" i="0">
                <a:solidFill>
                  <a:srgbClr val="003366"/>
                </a:solidFill>
              </a:defRPr>
            </a:pPr>
            <a:r>
              <a:t>Auditabilité</a:t>
            </a:r>
          </a:p>
        </p:txBody>
      </p:sp>
      <p:sp>
        <p:nvSpPr>
          <p:cNvPr id="33" name="TextBox 32"/>
          <p:cNvSpPr txBox="1"/>
          <p:nvPr/>
        </p:nvSpPr>
        <p:spPr>
          <a:xfrm>
            <a:off x="7360920" y="3493008"/>
            <a:ext cx="4297680" cy="274320"/>
          </a:xfrm>
          <a:prstGeom prst="rect">
            <a:avLst/>
          </a:prstGeom>
          <a:noFill/>
        </p:spPr>
        <p:txBody>
          <a:bodyPr wrap="square">
            <a:spAutoFit/>
          </a:bodyPr>
          <a:lstStyle/>
          <a:p>
            <a:pPr algn="l">
              <a:defRPr sz="900" b="0" i="0">
                <a:solidFill>
                  <a:srgbClr val="666666"/>
                </a:solidFill>
              </a:defRPr>
            </a:pPr>
            <a:r>
              <a:t>Historique des actions utilisateur, corrélation automatique</a:t>
            </a:r>
          </a:p>
        </p:txBody>
      </p:sp>
      <p:sp>
        <p:nvSpPr>
          <p:cNvPr id="34" name="Rounded Rectangle 33"/>
          <p:cNvSpPr/>
          <p:nvPr/>
        </p:nvSpPr>
        <p:spPr>
          <a:xfrm>
            <a:off x="3520440" y="3886200"/>
            <a:ext cx="5394960" cy="594360"/>
          </a:xfrm>
          <a:prstGeom prst="round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3657600" y="4005072"/>
            <a:ext cx="731520" cy="36576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000" b="1">
                <a:solidFill>
                  <a:srgbClr val="FFFFFF"/>
                </a:solidFill>
              </a:defRPr>
            </a:pPr>
            <a:r>
              <a:t>L3</a:t>
            </a:r>
          </a:p>
        </p:txBody>
      </p:sp>
      <p:sp>
        <p:nvSpPr>
          <p:cNvPr id="36" name="TextBox 35"/>
          <p:cNvSpPr txBox="1"/>
          <p:nvPr/>
        </p:nvSpPr>
        <p:spPr>
          <a:xfrm>
            <a:off x="4480560" y="3931920"/>
            <a:ext cx="4297680" cy="274320"/>
          </a:xfrm>
          <a:prstGeom prst="rect">
            <a:avLst/>
          </a:prstGeom>
          <a:noFill/>
        </p:spPr>
        <p:txBody>
          <a:bodyPr wrap="square">
            <a:spAutoFit/>
          </a:bodyPr>
          <a:lstStyle/>
          <a:p>
            <a:pPr algn="l">
              <a:defRPr sz="1200" b="1" i="0">
                <a:solidFill>
                  <a:srgbClr val="003366"/>
                </a:solidFill>
              </a:defRPr>
            </a:pPr>
            <a:r>
              <a:t>Taxonomies</a:t>
            </a:r>
          </a:p>
        </p:txBody>
      </p:sp>
      <p:sp>
        <p:nvSpPr>
          <p:cNvPr id="37" name="TextBox 36"/>
          <p:cNvSpPr txBox="1"/>
          <p:nvPr/>
        </p:nvSpPr>
        <p:spPr>
          <a:xfrm>
            <a:off x="4480560" y="4178808"/>
            <a:ext cx="4297680" cy="274320"/>
          </a:xfrm>
          <a:prstGeom prst="rect">
            <a:avLst/>
          </a:prstGeom>
          <a:noFill/>
        </p:spPr>
        <p:txBody>
          <a:bodyPr wrap="square">
            <a:spAutoFit/>
          </a:bodyPr>
          <a:lstStyle/>
          <a:p>
            <a:pPr algn="l">
              <a:defRPr sz="900" b="0" i="0">
                <a:solidFill>
                  <a:srgbClr val="666666"/>
                </a:solidFill>
              </a:defRPr>
            </a:pPr>
            <a:r>
              <a:t>Marquage et filtrage des modules</a:t>
            </a:r>
          </a:p>
        </p:txBody>
      </p:sp>
      <p:sp>
        <p:nvSpPr>
          <p:cNvPr id="38" name="Rounded Rectangle 37"/>
          <p:cNvSpPr/>
          <p:nvPr/>
        </p:nvSpPr>
        <p:spPr>
          <a:xfrm>
            <a:off x="731520" y="5623560"/>
            <a:ext cx="10698480" cy="685800"/>
          </a:xfrm>
          <a:prstGeom prst="roundRect">
            <a:avLst/>
          </a:prstGeom>
          <a:solidFill>
            <a:srgbClr val="E8F5E9"/>
          </a:solidFill>
          <a:ln w="1270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14400" y="5669280"/>
            <a:ext cx="10332720" cy="320040"/>
          </a:xfrm>
          <a:prstGeom prst="rect">
            <a:avLst/>
          </a:prstGeom>
          <a:noFill/>
        </p:spPr>
        <p:txBody>
          <a:bodyPr wrap="square">
            <a:spAutoFit/>
          </a:bodyPr>
          <a:lstStyle/>
          <a:p>
            <a:pPr algn="l">
              <a:defRPr sz="1200" b="1" i="0">
                <a:solidFill>
                  <a:srgbClr val="2E8B3D"/>
                </a:solidFill>
              </a:defRPr>
            </a:pPr>
            <a:r>
              <a:t>Point technique : protection côté serveur des applications archivées</a:t>
            </a:r>
          </a:p>
        </p:txBody>
      </p:sp>
      <p:sp>
        <p:nvSpPr>
          <p:cNvPr id="40" name="TextBox 39"/>
          <p:cNvSpPr txBox="1"/>
          <p:nvPr/>
        </p:nvSpPr>
        <p:spPr>
          <a:xfrm>
            <a:off x="914400" y="5989320"/>
            <a:ext cx="10332720" cy="320040"/>
          </a:xfrm>
          <a:prstGeom prst="rect">
            <a:avLst/>
          </a:prstGeom>
          <a:noFill/>
        </p:spPr>
        <p:txBody>
          <a:bodyPr wrap="square">
            <a:spAutoFit/>
          </a:bodyPr>
          <a:lstStyle/>
          <a:p>
            <a:pPr algn="l">
              <a:defRPr sz="1000" b="0" i="1">
                <a:solidFill>
                  <a:srgbClr val="333333"/>
                </a:solidFill>
              </a:defRPr>
            </a:pPr>
            <a:r>
              <a:t>Un contrôle purement client aurait pu être contourné par un appel direct à l'API.</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41148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0"/>
            <a:ext cx="3200400" cy="2286000"/>
          </a:xfrm>
          <a:prstGeom prst="rect">
            <a:avLst/>
          </a:prstGeom>
          <a:noFill/>
        </p:spPr>
        <p:txBody>
          <a:bodyPr wrap="square">
            <a:spAutoFit/>
          </a:bodyPr>
          <a:lstStyle/>
          <a:p>
            <a:pPr algn="ctr">
              <a:defRPr sz="18000" b="1" i="0">
                <a:solidFill>
                  <a:srgbClr val="FFFFFF"/>
                </a:solidFill>
              </a:defRPr>
            </a:pPr>
            <a:r>
              <a:t>06</a:t>
            </a:r>
          </a:p>
        </p:txBody>
      </p:sp>
      <p:sp>
        <p:nvSpPr>
          <p:cNvPr id="4" name="Rectangle 3"/>
          <p:cNvSpPr/>
          <p:nvPr/>
        </p:nvSpPr>
        <p:spPr>
          <a:xfrm>
            <a:off x="4572000" y="2286000"/>
            <a:ext cx="36576" cy="2286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937760" y="2286000"/>
            <a:ext cx="6858000" cy="1371600"/>
          </a:xfrm>
          <a:prstGeom prst="rect">
            <a:avLst/>
          </a:prstGeom>
          <a:noFill/>
        </p:spPr>
        <p:txBody>
          <a:bodyPr wrap="square">
            <a:spAutoFit/>
          </a:bodyPr>
          <a:lstStyle/>
          <a:p>
            <a:pPr algn="l">
              <a:defRPr sz="4400" b="1" i="0">
                <a:solidFill>
                  <a:srgbClr val="003366"/>
                </a:solidFill>
              </a:defRPr>
            </a:pPr>
            <a:r>
              <a:t>Mission Elium Sauvegarde</a:t>
            </a:r>
          </a:p>
        </p:txBody>
      </p:sp>
      <p:sp>
        <p:nvSpPr>
          <p:cNvPr id="6" name="TextBox 5"/>
          <p:cNvSpPr txBox="1"/>
          <p:nvPr/>
        </p:nvSpPr>
        <p:spPr>
          <a:xfrm>
            <a:off x="4937760" y="3566160"/>
            <a:ext cx="6858000" cy="1371600"/>
          </a:xfrm>
          <a:prstGeom prst="rect">
            <a:avLst/>
          </a:prstGeom>
          <a:noFill/>
        </p:spPr>
        <p:txBody>
          <a:bodyPr wrap="square">
            <a:spAutoFit/>
          </a:bodyPr>
          <a:lstStyle/>
          <a:p>
            <a:pPr algn="l">
              <a:defRPr sz="1800" b="0" i="1">
                <a:solidFill>
                  <a:srgbClr val="666666"/>
                </a:solidFill>
              </a:defRPr>
            </a:pPr>
            <a:r>
              <a:t>Intervention dictée par l'urgence</a:t>
            </a:r>
          </a:p>
        </p:txBody>
      </p:sp>
      <p:sp>
        <p:nvSpPr>
          <p:cNvPr id="7" name="Freeform 10">
            <a:extLst>
              <a:ext uri="{FF2B5EF4-FFF2-40B4-BE49-F238E27FC236}">
                <a16:creationId xmlns:a16="http://schemas.microsoft.com/office/drawing/2014/main" id="{A5EA7B89-7DB8-405D-AFF4-966983BFEB71}"/>
              </a:ext>
            </a:extLst>
          </p:cNvPr>
          <p:cNvSpPr/>
          <p:nvPr/>
        </p:nvSpPr>
        <p:spPr>
          <a:xfrm>
            <a:off x="9481132" y="108126"/>
            <a:ext cx="1107757" cy="415759"/>
          </a:xfrm>
          <a:custGeom>
            <a:avLst/>
            <a:gdLst/>
            <a:ahLst/>
            <a:cxnLst/>
            <a:rect l="l" t="t" r="r" b="b"/>
            <a:pathLst>
              <a:path w="4200742" h="1405571">
                <a:moveTo>
                  <a:pt x="0" y="0"/>
                </a:moveTo>
                <a:lnTo>
                  <a:pt x="4200742" y="0"/>
                </a:lnTo>
                <a:lnTo>
                  <a:pt x="4200742" y="1405571"/>
                </a:lnTo>
                <a:lnTo>
                  <a:pt x="0" y="1405571"/>
                </a:lnTo>
                <a:lnTo>
                  <a:pt x="0" y="0"/>
                </a:lnTo>
                <a:close/>
              </a:path>
            </a:pathLst>
          </a:custGeom>
          <a:blipFill>
            <a:blip r:embed="rId2"/>
            <a:stretch>
              <a:fillRect/>
            </a:stretch>
          </a:blipFill>
        </p:spPr>
        <p:txBody>
          <a:bodyPr/>
          <a:lstStyle/>
          <a:p>
            <a:endParaRPr/>
          </a:p>
        </p:txBody>
      </p:sp>
      <p:pic>
        <p:nvPicPr>
          <p:cNvPr id="8" name="Image 7">
            <a:extLst>
              <a:ext uri="{FF2B5EF4-FFF2-40B4-BE49-F238E27FC236}">
                <a16:creationId xmlns:a16="http://schemas.microsoft.com/office/drawing/2014/main" id="{C7244BA8-1535-4DAD-98B7-0D64E5F72150}"/>
              </a:ext>
            </a:extLst>
          </p:cNvPr>
          <p:cNvPicPr>
            <a:picLocks noChangeAspect="1"/>
          </p:cNvPicPr>
          <p:nvPr/>
        </p:nvPicPr>
        <p:blipFill rotWithShape="1">
          <a:blip r:embed="rId3"/>
          <a:srcRect t="36165" b="33014"/>
          <a:stretch/>
        </p:blipFill>
        <p:spPr>
          <a:xfrm>
            <a:off x="10688355" y="89071"/>
            <a:ext cx="1348918" cy="41576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ELIUM</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Elium Sauvegarde - Contexte et fiabilisation</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25 / 32</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65760"/>
          </a:xfrm>
          <a:prstGeom prst="rect">
            <a:avLst/>
          </a:prstGeom>
          <a:noFill/>
        </p:spPr>
        <p:txBody>
          <a:bodyPr wrap="square">
            <a:spAutoFit/>
          </a:bodyPr>
          <a:lstStyle/>
          <a:p>
            <a:pPr algn="ctr">
              <a:defRPr sz="1300" b="0" i="1">
                <a:solidFill>
                  <a:srgbClr val="666666"/>
                </a:solidFill>
              </a:defRPr>
            </a:pPr>
            <a:r>
              <a:t>Application console .NET 6 qui archive les articles Elium vers SharePoint Online</a:t>
            </a:r>
          </a:p>
        </p:txBody>
      </p:sp>
      <p:sp>
        <p:nvSpPr>
          <p:cNvPr id="10" name="Rounded Rectangle 9"/>
          <p:cNvSpPr/>
          <p:nvPr/>
        </p:nvSpPr>
        <p:spPr>
          <a:xfrm>
            <a:off x="731520" y="1828800"/>
            <a:ext cx="2194560" cy="91440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333333"/>
                </a:solidFill>
              </a:defRPr>
            </a:pPr>
            <a:r>
              <a:t>API GraphQL</a:t>
            </a:r>
          </a:p>
          <a:p>
            <a:pPr algn="ctr">
              <a:defRPr sz="1100" b="1">
                <a:solidFill>
                  <a:srgbClr val="333333"/>
                </a:solidFill>
              </a:defRPr>
            </a:pPr>
            <a:r>
              <a:t>Elium</a:t>
            </a:r>
          </a:p>
        </p:txBody>
      </p:sp>
      <p:sp>
        <p:nvSpPr>
          <p:cNvPr id="11" name="Right Arrow 10"/>
          <p:cNvSpPr/>
          <p:nvPr/>
        </p:nvSpPr>
        <p:spPr>
          <a:xfrm>
            <a:off x="3017520" y="2148840"/>
            <a:ext cx="365760" cy="274320"/>
          </a:xfrm>
          <a:prstGeom prst="right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880360" y="2468880"/>
            <a:ext cx="640080" cy="228600"/>
          </a:xfrm>
          <a:prstGeom prst="rect">
            <a:avLst/>
          </a:prstGeom>
          <a:noFill/>
        </p:spPr>
        <p:txBody>
          <a:bodyPr wrap="square">
            <a:spAutoFit/>
          </a:bodyPr>
          <a:lstStyle/>
          <a:p>
            <a:pPr algn="ctr">
              <a:defRPr sz="900" b="0" i="1">
                <a:solidFill>
                  <a:srgbClr val="666666"/>
                </a:solidFill>
              </a:defRPr>
            </a:pPr>
            <a:r>
              <a:t>lots 100</a:t>
            </a:r>
          </a:p>
        </p:txBody>
      </p:sp>
      <p:sp>
        <p:nvSpPr>
          <p:cNvPr id="13" name="Rounded Rectangle 12"/>
          <p:cNvSpPr/>
          <p:nvPr/>
        </p:nvSpPr>
        <p:spPr>
          <a:xfrm>
            <a:off x="3520440" y="1828800"/>
            <a:ext cx="2194560" cy="91440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Elium Sauvegarde</a:t>
            </a:r>
          </a:p>
          <a:p>
            <a:pPr algn="ctr">
              <a:defRPr sz="1100" b="1">
                <a:solidFill>
                  <a:srgbClr val="FFFFFF"/>
                </a:solidFill>
              </a:defRPr>
            </a:pPr>
            <a:r>
              <a:t>(console .NET 6)</a:t>
            </a:r>
          </a:p>
        </p:txBody>
      </p:sp>
      <p:sp>
        <p:nvSpPr>
          <p:cNvPr id="14" name="Right Arrow 13"/>
          <p:cNvSpPr/>
          <p:nvPr/>
        </p:nvSpPr>
        <p:spPr>
          <a:xfrm>
            <a:off x="5806440" y="2148840"/>
            <a:ext cx="365760" cy="274320"/>
          </a:xfrm>
          <a:prstGeom prst="right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309360" y="1828800"/>
            <a:ext cx="2194560" cy="91440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333333"/>
                </a:solidFill>
              </a:defRPr>
            </a:pPr>
            <a:r>
              <a:t>Microsoft</a:t>
            </a:r>
          </a:p>
          <a:p>
            <a:pPr algn="ctr">
              <a:defRPr sz="1100" b="1">
                <a:solidFill>
                  <a:srgbClr val="333333"/>
                </a:solidFill>
              </a:defRPr>
            </a:pPr>
            <a:r>
              <a:t>Graph</a:t>
            </a:r>
          </a:p>
        </p:txBody>
      </p:sp>
      <p:sp>
        <p:nvSpPr>
          <p:cNvPr id="16" name="Right Arrow 15"/>
          <p:cNvSpPr/>
          <p:nvPr/>
        </p:nvSpPr>
        <p:spPr>
          <a:xfrm>
            <a:off x="8595360" y="2148840"/>
            <a:ext cx="365760" cy="274320"/>
          </a:xfrm>
          <a:prstGeom prst="right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9098280" y="1828800"/>
            <a:ext cx="2331720" cy="91440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333333"/>
                </a:solidFill>
              </a:defRPr>
            </a:pPr>
            <a:r>
              <a:t>Pages SharePoint</a:t>
            </a:r>
          </a:p>
          <a:p>
            <a:pPr algn="ctr">
              <a:defRPr sz="1100" b="1">
                <a:solidFill>
                  <a:srgbClr val="333333"/>
                </a:solidFill>
              </a:defRPr>
            </a:pPr>
            <a:r>
              <a:t>Online</a:t>
            </a:r>
          </a:p>
        </p:txBody>
      </p:sp>
      <p:sp>
        <p:nvSpPr>
          <p:cNvPr id="18" name="Rounded Rectangle 17"/>
          <p:cNvSpPr/>
          <p:nvPr/>
        </p:nvSpPr>
        <p:spPr>
          <a:xfrm>
            <a:off x="731520" y="3017520"/>
            <a:ext cx="10698480" cy="685800"/>
          </a:xfrm>
          <a:prstGeom prst="roundRect">
            <a:avLst/>
          </a:prstGeom>
          <a:solidFill>
            <a:srgbClr val="F0F0F0"/>
          </a:solidFill>
          <a:ln w="19050">
            <a:solidFill>
              <a:srgbClr val="E2001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3063240"/>
            <a:ext cx="10332720" cy="320040"/>
          </a:xfrm>
          <a:prstGeom prst="rect">
            <a:avLst/>
          </a:prstGeom>
          <a:noFill/>
        </p:spPr>
        <p:txBody>
          <a:bodyPr wrap="square">
            <a:spAutoFit/>
          </a:bodyPr>
          <a:lstStyle/>
          <a:p>
            <a:pPr algn="l">
              <a:defRPr sz="1300" b="1" i="0">
                <a:solidFill>
                  <a:srgbClr val="E2001A"/>
                </a:solidFill>
              </a:defRPr>
            </a:pPr>
            <a:r>
              <a:t>Problème diagnostiqué : logique tout-ou-rien</a:t>
            </a:r>
          </a:p>
        </p:txBody>
      </p:sp>
      <p:sp>
        <p:nvSpPr>
          <p:cNvPr id="20" name="TextBox 19"/>
          <p:cNvSpPr txBox="1"/>
          <p:nvPr/>
        </p:nvSpPr>
        <p:spPr>
          <a:xfrm>
            <a:off x="914400" y="3383280"/>
            <a:ext cx="10332720" cy="320040"/>
          </a:xfrm>
          <a:prstGeom prst="rect">
            <a:avLst/>
          </a:prstGeom>
          <a:noFill/>
        </p:spPr>
        <p:txBody>
          <a:bodyPr wrap="square">
            <a:spAutoFit/>
          </a:bodyPr>
          <a:lstStyle/>
          <a:p>
            <a:pPr algn="l">
              <a:defRPr sz="1100" b="0" i="0">
                <a:solidFill>
                  <a:srgbClr val="333333"/>
                </a:solidFill>
              </a:defRPr>
            </a:pPr>
            <a:r>
              <a:t>L'exécution s'interrompait sur un article particulier, sans que les suivants soient traités.</a:t>
            </a:r>
          </a:p>
        </p:txBody>
      </p:sp>
      <p:sp>
        <p:nvSpPr>
          <p:cNvPr id="21" name="TextBox 20"/>
          <p:cNvSpPr txBox="1"/>
          <p:nvPr/>
        </p:nvSpPr>
        <p:spPr>
          <a:xfrm>
            <a:off x="731520" y="3886200"/>
            <a:ext cx="10698480" cy="365760"/>
          </a:xfrm>
          <a:prstGeom prst="rect">
            <a:avLst/>
          </a:prstGeom>
          <a:noFill/>
        </p:spPr>
        <p:txBody>
          <a:bodyPr wrap="square">
            <a:spAutoFit/>
          </a:bodyPr>
          <a:lstStyle/>
          <a:p>
            <a:pPr algn="ctr">
              <a:defRPr sz="1400" b="1" i="0">
                <a:solidFill>
                  <a:srgbClr val="003366"/>
                </a:solidFill>
              </a:defRPr>
            </a:pPr>
            <a:r>
              <a:t>Trois options étudiées</a:t>
            </a:r>
          </a:p>
        </p:txBody>
      </p:sp>
      <p:sp>
        <p:nvSpPr>
          <p:cNvPr id="22" name="Rounded Rectangle 21"/>
          <p:cNvSpPr/>
          <p:nvPr/>
        </p:nvSpPr>
        <p:spPr>
          <a:xfrm>
            <a:off x="731520" y="4343400"/>
            <a:ext cx="3520440" cy="1691640"/>
          </a:xfrm>
          <a:prstGeom prst="roundRect">
            <a:avLst/>
          </a:prstGeom>
          <a:solidFill>
            <a:srgbClr val="FFFFFF"/>
          </a:solidFill>
          <a:ln w="12700">
            <a:solidFill>
              <a:srgbClr val="E2001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4400" y="4434840"/>
            <a:ext cx="3200400" cy="320040"/>
          </a:xfrm>
          <a:prstGeom prst="rect">
            <a:avLst/>
          </a:prstGeom>
          <a:noFill/>
        </p:spPr>
        <p:txBody>
          <a:bodyPr wrap="square">
            <a:spAutoFit/>
          </a:bodyPr>
          <a:lstStyle/>
          <a:p>
            <a:pPr algn="l">
              <a:defRPr sz="1300" b="1" i="0">
                <a:solidFill>
                  <a:srgbClr val="E2001A"/>
                </a:solidFill>
              </a:defRPr>
            </a:pPr>
            <a:r>
              <a:t>Relancer l'exécution</a:t>
            </a:r>
          </a:p>
        </p:txBody>
      </p:sp>
      <p:sp>
        <p:nvSpPr>
          <p:cNvPr id="24" name="TextBox 23"/>
          <p:cNvSpPr txBox="1"/>
          <p:nvPr/>
        </p:nvSpPr>
        <p:spPr>
          <a:xfrm>
            <a:off x="914400" y="4800600"/>
            <a:ext cx="3200400" cy="868680"/>
          </a:xfrm>
          <a:prstGeom prst="rect">
            <a:avLst/>
          </a:prstGeom>
          <a:noFill/>
        </p:spPr>
        <p:txBody>
          <a:bodyPr wrap="square">
            <a:spAutoFit/>
          </a:bodyPr>
          <a:lstStyle/>
          <a:p>
            <a:pPr algn="l">
              <a:defRPr sz="1000" b="0" i="0">
                <a:solidFill>
                  <a:srgbClr val="666666"/>
                </a:solidFill>
              </a:defRPr>
            </a:pPr>
            <a:r>
              <a:t>Échoue au même endroit tant que l'article fautif est présent</a:t>
            </a:r>
          </a:p>
        </p:txBody>
      </p:sp>
      <p:sp>
        <p:nvSpPr>
          <p:cNvPr id="25" name="Rounded Rectangle 24"/>
          <p:cNvSpPr/>
          <p:nvPr/>
        </p:nvSpPr>
        <p:spPr>
          <a:xfrm>
            <a:off x="1828800" y="5669280"/>
            <a:ext cx="1280160" cy="320040"/>
          </a:xfrm>
          <a:prstGeom prst="roundRect">
            <a:avLst/>
          </a:prstGeom>
          <a:solidFill>
            <a:srgbClr val="E20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Écartée</a:t>
            </a:r>
          </a:p>
        </p:txBody>
      </p:sp>
      <p:sp>
        <p:nvSpPr>
          <p:cNvPr id="26" name="Rounded Rectangle 25"/>
          <p:cNvSpPr/>
          <p:nvPr/>
        </p:nvSpPr>
        <p:spPr>
          <a:xfrm>
            <a:off x="4480559" y="4343400"/>
            <a:ext cx="3520440" cy="1691640"/>
          </a:xfrm>
          <a:prstGeom prst="roundRect">
            <a:avLst/>
          </a:prstGeom>
          <a:solidFill>
            <a:srgbClr val="FFFFFF"/>
          </a:solidFill>
          <a:ln w="12700">
            <a:solidFill>
              <a:srgbClr val="E2001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663439" y="4434840"/>
            <a:ext cx="3200400" cy="320040"/>
          </a:xfrm>
          <a:prstGeom prst="rect">
            <a:avLst/>
          </a:prstGeom>
          <a:noFill/>
        </p:spPr>
        <p:txBody>
          <a:bodyPr wrap="square">
            <a:spAutoFit/>
          </a:bodyPr>
          <a:lstStyle/>
          <a:p>
            <a:pPr algn="l">
              <a:defRPr sz="1300" b="1" i="0">
                <a:solidFill>
                  <a:srgbClr val="E2001A"/>
                </a:solidFill>
              </a:defRPr>
            </a:pPr>
            <a:r>
              <a:t>Exclure les articles</a:t>
            </a:r>
          </a:p>
        </p:txBody>
      </p:sp>
      <p:sp>
        <p:nvSpPr>
          <p:cNvPr id="28" name="TextBox 27"/>
          <p:cNvSpPr txBox="1"/>
          <p:nvPr/>
        </p:nvSpPr>
        <p:spPr>
          <a:xfrm>
            <a:off x="4663439" y="4800600"/>
            <a:ext cx="3200400" cy="868680"/>
          </a:xfrm>
          <a:prstGeom prst="rect">
            <a:avLst/>
          </a:prstGeom>
          <a:noFill/>
        </p:spPr>
        <p:txBody>
          <a:bodyPr wrap="square">
            <a:spAutoFit/>
          </a:bodyPr>
          <a:lstStyle/>
          <a:p>
            <a:pPr algn="l">
              <a:defRPr sz="1000" b="0" i="0">
                <a:solidFill>
                  <a:srgbClr val="666666"/>
                </a:solidFill>
              </a:defRPr>
            </a:pPr>
            <a:r>
              <a:t>Liste d'exclusion maintenue à la main, ne couvre pas les cas futurs</a:t>
            </a:r>
          </a:p>
        </p:txBody>
      </p:sp>
      <p:sp>
        <p:nvSpPr>
          <p:cNvPr id="29" name="Rounded Rectangle 28"/>
          <p:cNvSpPr/>
          <p:nvPr/>
        </p:nvSpPr>
        <p:spPr>
          <a:xfrm>
            <a:off x="5577839" y="5669280"/>
            <a:ext cx="1280160" cy="320040"/>
          </a:xfrm>
          <a:prstGeom prst="roundRect">
            <a:avLst/>
          </a:prstGeom>
          <a:solidFill>
            <a:srgbClr val="E20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Écartée</a:t>
            </a:r>
          </a:p>
        </p:txBody>
      </p:sp>
      <p:sp>
        <p:nvSpPr>
          <p:cNvPr id="30" name="Rounded Rectangle 29"/>
          <p:cNvSpPr/>
          <p:nvPr/>
        </p:nvSpPr>
        <p:spPr>
          <a:xfrm>
            <a:off x="8229598" y="4343400"/>
            <a:ext cx="3520440" cy="1691640"/>
          </a:xfrm>
          <a:prstGeom prst="roundRect">
            <a:avLst/>
          </a:prstGeom>
          <a:solidFill>
            <a:srgbClr val="FFFFFF"/>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412478" y="4434840"/>
            <a:ext cx="3200400" cy="320040"/>
          </a:xfrm>
          <a:prstGeom prst="rect">
            <a:avLst/>
          </a:prstGeom>
          <a:noFill/>
        </p:spPr>
        <p:txBody>
          <a:bodyPr wrap="square">
            <a:spAutoFit/>
          </a:bodyPr>
          <a:lstStyle/>
          <a:p>
            <a:pPr algn="l">
              <a:defRPr sz="1300" b="1" i="0">
                <a:solidFill>
                  <a:srgbClr val="2E8B3D"/>
                </a:solidFill>
              </a:defRPr>
            </a:pPr>
            <a:r>
              <a:t>Isoler chaque article</a:t>
            </a:r>
          </a:p>
        </p:txBody>
      </p:sp>
      <p:sp>
        <p:nvSpPr>
          <p:cNvPr id="32" name="TextBox 31"/>
          <p:cNvSpPr txBox="1"/>
          <p:nvPr/>
        </p:nvSpPr>
        <p:spPr>
          <a:xfrm>
            <a:off x="8412478" y="4800600"/>
            <a:ext cx="3200400" cy="868680"/>
          </a:xfrm>
          <a:prstGeom prst="rect">
            <a:avLst/>
          </a:prstGeom>
          <a:noFill/>
        </p:spPr>
        <p:txBody>
          <a:bodyPr wrap="square">
            <a:spAutoFit/>
          </a:bodyPr>
          <a:lstStyle/>
          <a:p>
            <a:pPr algn="l">
              <a:defRPr sz="1000" b="0" i="0">
                <a:solidFill>
                  <a:srgbClr val="666666"/>
                </a:solidFill>
              </a:defRPr>
            </a:pPr>
            <a:r>
              <a:t>Traiter chaque article indépendamment, une anomalie unitaire n'affecte plus le tout</a:t>
            </a:r>
          </a:p>
        </p:txBody>
      </p:sp>
      <p:sp>
        <p:nvSpPr>
          <p:cNvPr id="33" name="Rounded Rectangle 32"/>
          <p:cNvSpPr/>
          <p:nvPr/>
        </p:nvSpPr>
        <p:spPr>
          <a:xfrm>
            <a:off x="9326878" y="5669280"/>
            <a:ext cx="1280160" cy="320040"/>
          </a:xfrm>
          <a:prstGeom prst="round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Retenue</a:t>
            </a:r>
          </a:p>
        </p:txBody>
      </p:sp>
      <p:sp>
        <p:nvSpPr>
          <p:cNvPr id="34" name="TextBox 33"/>
          <p:cNvSpPr txBox="1"/>
          <p:nvPr/>
        </p:nvSpPr>
        <p:spPr>
          <a:xfrm>
            <a:off x="731520" y="6172200"/>
            <a:ext cx="10698480" cy="274320"/>
          </a:xfrm>
          <a:prstGeom prst="rect">
            <a:avLst/>
          </a:prstGeom>
          <a:noFill/>
        </p:spPr>
        <p:txBody>
          <a:bodyPr wrap="square">
            <a:spAutoFit/>
          </a:bodyPr>
          <a:lstStyle/>
          <a:p>
            <a:pPr algn="ctr">
              <a:defRPr sz="1100" b="1" i="1">
                <a:solidFill>
                  <a:srgbClr val="2E8B3D"/>
                </a:solidFill>
              </a:defRPr>
            </a:pPr>
            <a:r>
              <a:t>En complément : création automatique des dossiers SharePoint, observabilité refondue (résumé final).</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41148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0"/>
            <a:ext cx="3200400" cy="2286000"/>
          </a:xfrm>
          <a:prstGeom prst="rect">
            <a:avLst/>
          </a:prstGeom>
          <a:noFill/>
        </p:spPr>
        <p:txBody>
          <a:bodyPr wrap="square">
            <a:spAutoFit/>
          </a:bodyPr>
          <a:lstStyle/>
          <a:p>
            <a:pPr algn="ctr">
              <a:defRPr sz="18000" b="1" i="0">
                <a:solidFill>
                  <a:srgbClr val="FFFFFF"/>
                </a:solidFill>
              </a:defRPr>
            </a:pPr>
            <a:r>
              <a:t>07</a:t>
            </a:r>
          </a:p>
        </p:txBody>
      </p:sp>
      <p:sp>
        <p:nvSpPr>
          <p:cNvPr id="4" name="Rectangle 3"/>
          <p:cNvSpPr/>
          <p:nvPr/>
        </p:nvSpPr>
        <p:spPr>
          <a:xfrm>
            <a:off x="4572000" y="2286000"/>
            <a:ext cx="36576" cy="2286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937760" y="2286000"/>
            <a:ext cx="6858000" cy="1371600"/>
          </a:xfrm>
          <a:prstGeom prst="rect">
            <a:avLst/>
          </a:prstGeom>
          <a:noFill/>
        </p:spPr>
        <p:txBody>
          <a:bodyPr wrap="square">
            <a:spAutoFit/>
          </a:bodyPr>
          <a:lstStyle/>
          <a:p>
            <a:pPr algn="l">
              <a:defRPr sz="4400" b="1" i="0">
                <a:solidFill>
                  <a:srgbClr val="003366"/>
                </a:solidFill>
              </a:defRPr>
            </a:pPr>
            <a:r>
              <a:t>Résultats obtenus</a:t>
            </a:r>
          </a:p>
        </p:txBody>
      </p:sp>
      <p:sp>
        <p:nvSpPr>
          <p:cNvPr id="6" name="TextBox 5"/>
          <p:cNvSpPr txBox="1"/>
          <p:nvPr/>
        </p:nvSpPr>
        <p:spPr>
          <a:xfrm>
            <a:off x="4937760" y="3566160"/>
            <a:ext cx="6858000" cy="1371600"/>
          </a:xfrm>
          <a:prstGeom prst="rect">
            <a:avLst/>
          </a:prstGeom>
          <a:noFill/>
        </p:spPr>
        <p:txBody>
          <a:bodyPr wrap="square">
            <a:spAutoFit/>
          </a:bodyPr>
          <a:lstStyle/>
          <a:p>
            <a:pPr algn="l">
              <a:defRPr sz="1800" b="0" i="1">
                <a:solidFill>
                  <a:srgbClr val="666666"/>
                </a:solidFill>
              </a:defRPr>
            </a:pPr>
            <a:r>
              <a:t>Livrables et impact des deux missions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RESULTATS</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Résultats obtenus</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27 / 32</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5303520" cy="365760"/>
          </a:xfrm>
          <a:prstGeom prst="rect">
            <a:avLst/>
          </a:prstGeom>
          <a:noFill/>
        </p:spPr>
        <p:txBody>
          <a:bodyPr wrap="square">
            <a:spAutoFit/>
          </a:bodyPr>
          <a:lstStyle/>
          <a:p>
            <a:pPr algn="l">
              <a:defRPr sz="1600" b="1" i="0">
                <a:solidFill>
                  <a:srgbClr val="003366"/>
                </a:solidFill>
              </a:defRPr>
            </a:pPr>
            <a:r>
              <a:t>CS BAG v2</a:t>
            </a:r>
          </a:p>
        </p:txBody>
      </p:sp>
      <p:sp>
        <p:nvSpPr>
          <p:cNvPr id="10" name="Oval 9"/>
          <p:cNvSpPr/>
          <p:nvPr/>
        </p:nvSpPr>
        <p:spPr>
          <a:xfrm>
            <a:off x="822960" y="189280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97280" y="1783080"/>
            <a:ext cx="4937760" cy="365760"/>
          </a:xfrm>
          <a:prstGeom prst="rect">
            <a:avLst/>
          </a:prstGeom>
          <a:noFill/>
        </p:spPr>
        <p:txBody>
          <a:bodyPr wrap="square">
            <a:spAutoFit/>
          </a:bodyPr>
          <a:lstStyle/>
          <a:p>
            <a:pPr algn="l">
              <a:defRPr sz="1100" b="0" i="0">
                <a:solidFill>
                  <a:srgbClr val="333333"/>
                </a:solidFill>
              </a:defRPr>
            </a:pPr>
            <a:r>
              <a:t>3 lots de spécifications livrés et mis en production</a:t>
            </a:r>
          </a:p>
        </p:txBody>
      </p:sp>
      <p:sp>
        <p:nvSpPr>
          <p:cNvPr id="12" name="Oval 11"/>
          <p:cNvSpPr/>
          <p:nvPr/>
        </p:nvSpPr>
        <p:spPr>
          <a:xfrm>
            <a:off x="822960" y="235000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97280" y="2240280"/>
            <a:ext cx="4937760" cy="365760"/>
          </a:xfrm>
          <a:prstGeom prst="rect">
            <a:avLst/>
          </a:prstGeom>
          <a:noFill/>
        </p:spPr>
        <p:txBody>
          <a:bodyPr wrap="square">
            <a:spAutoFit/>
          </a:bodyPr>
          <a:lstStyle/>
          <a:p>
            <a:pPr algn="l">
              <a:defRPr sz="1100" b="0" i="0">
                <a:solidFill>
                  <a:srgbClr val="333333"/>
                </a:solidFill>
              </a:defRPr>
            </a:pPr>
            <a:r>
              <a:t>Socle technique remis dans le périmètre du support éditeur</a:t>
            </a:r>
          </a:p>
        </p:txBody>
      </p:sp>
      <p:sp>
        <p:nvSpPr>
          <p:cNvPr id="14" name="Oval 13"/>
          <p:cNvSpPr/>
          <p:nvPr/>
        </p:nvSpPr>
        <p:spPr>
          <a:xfrm>
            <a:off x="822960" y="280720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97280" y="2697480"/>
            <a:ext cx="4937760" cy="365760"/>
          </a:xfrm>
          <a:prstGeom prst="rect">
            <a:avLst/>
          </a:prstGeom>
          <a:noFill/>
        </p:spPr>
        <p:txBody>
          <a:bodyPr wrap="square">
            <a:spAutoFit/>
          </a:bodyPr>
          <a:lstStyle/>
          <a:p>
            <a:pPr algn="l">
              <a:defRPr sz="1100" b="0" i="0">
                <a:solidFill>
                  <a:srgbClr val="333333"/>
                </a:solidFill>
              </a:defRPr>
            </a:pPr>
            <a:r>
              <a:t>Modèle de données normalisé (7 migrations)</a:t>
            </a:r>
          </a:p>
        </p:txBody>
      </p:sp>
      <p:sp>
        <p:nvSpPr>
          <p:cNvPr id="16" name="Oval 15"/>
          <p:cNvSpPr/>
          <p:nvPr/>
        </p:nvSpPr>
        <p:spPr>
          <a:xfrm>
            <a:off x="822960" y="326440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97280" y="3154680"/>
            <a:ext cx="4937760" cy="365760"/>
          </a:xfrm>
          <a:prstGeom prst="rect">
            <a:avLst/>
          </a:prstGeom>
          <a:noFill/>
        </p:spPr>
        <p:txBody>
          <a:bodyPr wrap="square">
            <a:spAutoFit/>
          </a:bodyPr>
          <a:lstStyle/>
          <a:p>
            <a:pPr algn="l">
              <a:defRPr sz="1100" b="0" i="0">
                <a:solidFill>
                  <a:srgbClr val="333333"/>
                </a:solidFill>
              </a:defRPr>
            </a:pPr>
            <a:r>
              <a:t>Module d'administration des référentiels (8 écrans)</a:t>
            </a:r>
          </a:p>
        </p:txBody>
      </p:sp>
      <p:sp>
        <p:nvSpPr>
          <p:cNvPr id="18" name="Oval 17"/>
          <p:cNvSpPr/>
          <p:nvPr/>
        </p:nvSpPr>
        <p:spPr>
          <a:xfrm>
            <a:off x="822960" y="372160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97280" y="3611880"/>
            <a:ext cx="4937760" cy="365760"/>
          </a:xfrm>
          <a:prstGeom prst="rect">
            <a:avLst/>
          </a:prstGeom>
          <a:noFill/>
        </p:spPr>
        <p:txBody>
          <a:bodyPr wrap="square">
            <a:spAutoFit/>
          </a:bodyPr>
          <a:lstStyle/>
          <a:p>
            <a:pPr algn="l">
              <a:defRPr sz="1100" b="0" i="0">
                <a:solidFill>
                  <a:srgbClr val="333333"/>
                </a:solidFill>
              </a:defRPr>
            </a:pPr>
            <a:r>
              <a:t>Historique des actions utilisateur</a:t>
            </a:r>
          </a:p>
        </p:txBody>
      </p:sp>
      <p:sp>
        <p:nvSpPr>
          <p:cNvPr id="20" name="Oval 19"/>
          <p:cNvSpPr/>
          <p:nvPr/>
        </p:nvSpPr>
        <p:spPr>
          <a:xfrm>
            <a:off x="822960" y="417880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97280" y="4069080"/>
            <a:ext cx="4937760" cy="365760"/>
          </a:xfrm>
          <a:prstGeom prst="rect">
            <a:avLst/>
          </a:prstGeom>
          <a:noFill/>
        </p:spPr>
        <p:txBody>
          <a:bodyPr wrap="square">
            <a:spAutoFit/>
          </a:bodyPr>
          <a:lstStyle/>
          <a:p>
            <a:pPr algn="l">
              <a:defRPr sz="1100" b="0" i="0">
                <a:solidFill>
                  <a:srgbClr val="333333"/>
                </a:solidFill>
              </a:defRPr>
            </a:pPr>
            <a:r>
              <a:t>Suivi étendu des ressources sensibles</a:t>
            </a:r>
          </a:p>
        </p:txBody>
      </p:sp>
      <p:sp>
        <p:nvSpPr>
          <p:cNvPr id="22" name="Oval 21"/>
          <p:cNvSpPr/>
          <p:nvPr/>
        </p:nvSpPr>
        <p:spPr>
          <a:xfrm>
            <a:off x="822960" y="463600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97280" y="4526280"/>
            <a:ext cx="4937760" cy="365760"/>
          </a:xfrm>
          <a:prstGeom prst="rect">
            <a:avLst/>
          </a:prstGeom>
          <a:noFill/>
        </p:spPr>
        <p:txBody>
          <a:bodyPr wrap="square">
            <a:spAutoFit/>
          </a:bodyPr>
          <a:lstStyle/>
          <a:p>
            <a:pPr algn="l">
              <a:defRPr sz="1100" b="0" i="0">
                <a:solidFill>
                  <a:srgbClr val="333333"/>
                </a:solidFill>
              </a:defRPr>
            </a:pPr>
            <a:r>
              <a:t>API REST alignée sur les principes de Fielding</a:t>
            </a:r>
          </a:p>
        </p:txBody>
      </p:sp>
      <p:sp>
        <p:nvSpPr>
          <p:cNvPr id="24" name="TextBox 23"/>
          <p:cNvSpPr txBox="1"/>
          <p:nvPr/>
        </p:nvSpPr>
        <p:spPr>
          <a:xfrm>
            <a:off x="6400800" y="1280160"/>
            <a:ext cx="5029200" cy="365760"/>
          </a:xfrm>
          <a:prstGeom prst="rect">
            <a:avLst/>
          </a:prstGeom>
          <a:noFill/>
        </p:spPr>
        <p:txBody>
          <a:bodyPr wrap="square">
            <a:spAutoFit/>
          </a:bodyPr>
          <a:lstStyle/>
          <a:p>
            <a:pPr algn="l">
              <a:defRPr sz="1600" b="1" i="0">
                <a:solidFill>
                  <a:srgbClr val="2E8B3D"/>
                </a:solidFill>
              </a:defRPr>
            </a:pPr>
            <a:r>
              <a:t>Elium Sauvegarde</a:t>
            </a:r>
          </a:p>
        </p:txBody>
      </p:sp>
      <p:sp>
        <p:nvSpPr>
          <p:cNvPr id="25" name="Oval 24"/>
          <p:cNvSpPr/>
          <p:nvPr/>
        </p:nvSpPr>
        <p:spPr>
          <a:xfrm>
            <a:off x="6492240" y="1892808"/>
            <a:ext cx="137160" cy="137160"/>
          </a:xfrm>
          <a:prstGeom prst="ellipse">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766560" y="1783080"/>
            <a:ext cx="4937760" cy="365760"/>
          </a:xfrm>
          <a:prstGeom prst="rect">
            <a:avLst/>
          </a:prstGeom>
          <a:noFill/>
        </p:spPr>
        <p:txBody>
          <a:bodyPr wrap="square">
            <a:spAutoFit/>
          </a:bodyPr>
          <a:lstStyle/>
          <a:p>
            <a:pPr algn="l">
              <a:defRPr sz="1100" b="0" i="0">
                <a:solidFill>
                  <a:srgbClr val="333333"/>
                </a:solidFill>
              </a:defRPr>
            </a:pPr>
            <a:r>
              <a:t>Archivage automatique rétabli et fiabilisé</a:t>
            </a:r>
          </a:p>
        </p:txBody>
      </p:sp>
      <p:sp>
        <p:nvSpPr>
          <p:cNvPr id="27" name="Oval 26"/>
          <p:cNvSpPr/>
          <p:nvPr/>
        </p:nvSpPr>
        <p:spPr>
          <a:xfrm>
            <a:off x="6492240" y="2350008"/>
            <a:ext cx="137160" cy="137160"/>
          </a:xfrm>
          <a:prstGeom prst="ellipse">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766560" y="2240280"/>
            <a:ext cx="4937760" cy="365760"/>
          </a:xfrm>
          <a:prstGeom prst="rect">
            <a:avLst/>
          </a:prstGeom>
          <a:noFill/>
        </p:spPr>
        <p:txBody>
          <a:bodyPr wrap="square">
            <a:spAutoFit/>
          </a:bodyPr>
          <a:lstStyle/>
          <a:p>
            <a:pPr algn="l">
              <a:defRPr sz="1100" b="0" i="0">
                <a:solidFill>
                  <a:srgbClr val="333333"/>
                </a:solidFill>
              </a:defRPr>
            </a:pPr>
            <a:r>
              <a:t>Traitement isolé par article (fin du tout-ou-rien)</a:t>
            </a:r>
          </a:p>
        </p:txBody>
      </p:sp>
      <p:sp>
        <p:nvSpPr>
          <p:cNvPr id="29" name="Oval 28"/>
          <p:cNvSpPr/>
          <p:nvPr/>
        </p:nvSpPr>
        <p:spPr>
          <a:xfrm>
            <a:off x="6492240" y="2807208"/>
            <a:ext cx="137160" cy="137160"/>
          </a:xfrm>
          <a:prstGeom prst="ellipse">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766560" y="2697480"/>
            <a:ext cx="4937760" cy="365760"/>
          </a:xfrm>
          <a:prstGeom prst="rect">
            <a:avLst/>
          </a:prstGeom>
          <a:noFill/>
        </p:spPr>
        <p:txBody>
          <a:bodyPr wrap="square">
            <a:spAutoFit/>
          </a:bodyPr>
          <a:lstStyle/>
          <a:p>
            <a:pPr algn="l">
              <a:defRPr sz="1100" b="0" i="0">
                <a:solidFill>
                  <a:srgbClr val="333333"/>
                </a:solidFill>
              </a:defRPr>
            </a:pPr>
            <a:r>
              <a:t>Distinction réponses partielles / indisponibilités</a:t>
            </a:r>
          </a:p>
        </p:txBody>
      </p:sp>
      <p:sp>
        <p:nvSpPr>
          <p:cNvPr id="31" name="Oval 30"/>
          <p:cNvSpPr/>
          <p:nvPr/>
        </p:nvSpPr>
        <p:spPr>
          <a:xfrm>
            <a:off x="6492240" y="3264408"/>
            <a:ext cx="137160" cy="137160"/>
          </a:xfrm>
          <a:prstGeom prst="ellipse">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766560" y="3154680"/>
            <a:ext cx="4937760" cy="365760"/>
          </a:xfrm>
          <a:prstGeom prst="rect">
            <a:avLst/>
          </a:prstGeom>
          <a:noFill/>
        </p:spPr>
        <p:txBody>
          <a:bodyPr wrap="square">
            <a:spAutoFit/>
          </a:bodyPr>
          <a:lstStyle/>
          <a:p>
            <a:pPr algn="l">
              <a:defRPr sz="1100" b="0" i="0">
                <a:solidFill>
                  <a:srgbClr val="333333"/>
                </a:solidFill>
              </a:defRPr>
            </a:pPr>
            <a:r>
              <a:t>Création automatique des dossiers SharePoint</a:t>
            </a:r>
          </a:p>
        </p:txBody>
      </p:sp>
      <p:sp>
        <p:nvSpPr>
          <p:cNvPr id="33" name="Oval 32"/>
          <p:cNvSpPr/>
          <p:nvPr/>
        </p:nvSpPr>
        <p:spPr>
          <a:xfrm>
            <a:off x="6492240" y="3721608"/>
            <a:ext cx="137160" cy="137160"/>
          </a:xfrm>
          <a:prstGeom prst="ellipse">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766560" y="3611880"/>
            <a:ext cx="4937760" cy="365760"/>
          </a:xfrm>
          <a:prstGeom prst="rect">
            <a:avLst/>
          </a:prstGeom>
          <a:noFill/>
        </p:spPr>
        <p:txBody>
          <a:bodyPr wrap="square">
            <a:spAutoFit/>
          </a:bodyPr>
          <a:lstStyle/>
          <a:p>
            <a:pPr algn="l">
              <a:defRPr sz="1100" b="0" i="0">
                <a:solidFill>
                  <a:srgbClr val="333333"/>
                </a:solidFill>
              </a:defRPr>
            </a:pPr>
            <a:r>
              <a:t>Observabilité : résumé final ~10 indicateurs</a:t>
            </a:r>
          </a:p>
        </p:txBody>
      </p:sp>
      <p:sp>
        <p:nvSpPr>
          <p:cNvPr id="35" name="Oval 34"/>
          <p:cNvSpPr/>
          <p:nvPr/>
        </p:nvSpPr>
        <p:spPr>
          <a:xfrm>
            <a:off x="6492240" y="4178808"/>
            <a:ext cx="137160" cy="137160"/>
          </a:xfrm>
          <a:prstGeom prst="ellipse">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766560" y="4069080"/>
            <a:ext cx="4937760" cy="365760"/>
          </a:xfrm>
          <a:prstGeom prst="rect">
            <a:avLst/>
          </a:prstGeom>
          <a:noFill/>
        </p:spPr>
        <p:txBody>
          <a:bodyPr wrap="square">
            <a:spAutoFit/>
          </a:bodyPr>
          <a:lstStyle/>
          <a:p>
            <a:pPr algn="l">
              <a:defRPr sz="1100" b="0" i="0">
                <a:solidFill>
                  <a:srgbClr val="333333"/>
                </a:solidFill>
              </a:defRPr>
            </a:pPr>
            <a:r>
              <a:t>Choix synchronisation complète / incrémentale</a:t>
            </a:r>
          </a:p>
        </p:txBody>
      </p:sp>
      <p:sp>
        <p:nvSpPr>
          <p:cNvPr id="37" name="Rounded Rectangle 36"/>
          <p:cNvSpPr/>
          <p:nvPr/>
        </p:nvSpPr>
        <p:spPr>
          <a:xfrm>
            <a:off x="731520" y="5212080"/>
            <a:ext cx="10698480" cy="1097280"/>
          </a:xfrm>
          <a:prstGeom prst="roundRect">
            <a:avLst/>
          </a:prstGeom>
          <a:solidFill>
            <a:srgbClr val="E8F0F8"/>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14400" y="5303520"/>
            <a:ext cx="10332720" cy="365760"/>
          </a:xfrm>
          <a:prstGeom prst="rect">
            <a:avLst/>
          </a:prstGeom>
          <a:noFill/>
        </p:spPr>
        <p:txBody>
          <a:bodyPr wrap="square">
            <a:spAutoFit/>
          </a:bodyPr>
          <a:lstStyle/>
          <a:p>
            <a:pPr algn="ctr">
              <a:defRPr sz="1400" b="1" i="0">
                <a:solidFill>
                  <a:srgbClr val="003366"/>
                </a:solidFill>
              </a:defRPr>
            </a:pPr>
            <a:r>
              <a:t>Impact métier</a:t>
            </a:r>
          </a:p>
        </p:txBody>
      </p:sp>
      <p:sp>
        <p:nvSpPr>
          <p:cNvPr id="39" name="TextBox 38"/>
          <p:cNvSpPr txBox="1"/>
          <p:nvPr/>
        </p:nvSpPr>
        <p:spPr>
          <a:xfrm>
            <a:off x="914400" y="5669280"/>
            <a:ext cx="10332720" cy="548640"/>
          </a:xfrm>
          <a:prstGeom prst="rect">
            <a:avLst/>
          </a:prstGeom>
          <a:noFill/>
        </p:spPr>
        <p:txBody>
          <a:bodyPr wrap="square">
            <a:spAutoFit/>
          </a:bodyPr>
          <a:lstStyle/>
          <a:p>
            <a:pPr algn="ctr">
              <a:defRPr sz="1100" b="0" i="1">
                <a:solidFill>
                  <a:srgbClr val="333333"/>
                </a:solidFill>
              </a:defRPr>
            </a:pPr>
            <a:r>
              <a:t>Filtres et alertes fiables, traçabilité des livraisons, protection des ressources sensibles.</a:t>
            </a:r>
          </a:p>
          <a:p>
            <a:pPr algn="ctr">
              <a:defRPr sz="1100" b="0" i="1">
                <a:solidFill>
                  <a:srgbClr val="333333"/>
                </a:solidFill>
              </a:defRPr>
            </a:pPr>
            <a:r>
              <a:t>Continuité de service assurée pour l'archivage des connaissances Elium.</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41148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0"/>
            <a:ext cx="3200400" cy="2286000"/>
          </a:xfrm>
          <a:prstGeom prst="rect">
            <a:avLst/>
          </a:prstGeom>
          <a:noFill/>
        </p:spPr>
        <p:txBody>
          <a:bodyPr wrap="square">
            <a:spAutoFit/>
          </a:bodyPr>
          <a:lstStyle/>
          <a:p>
            <a:pPr algn="ctr">
              <a:defRPr sz="18000" b="1" i="0">
                <a:solidFill>
                  <a:srgbClr val="FFFFFF"/>
                </a:solidFill>
              </a:defRPr>
            </a:pPr>
            <a:r>
              <a:t>08</a:t>
            </a:r>
          </a:p>
        </p:txBody>
      </p:sp>
      <p:sp>
        <p:nvSpPr>
          <p:cNvPr id="4" name="Rectangle 3"/>
          <p:cNvSpPr/>
          <p:nvPr/>
        </p:nvSpPr>
        <p:spPr>
          <a:xfrm>
            <a:off x="4572000" y="2286000"/>
            <a:ext cx="36576" cy="2286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937760" y="2286000"/>
            <a:ext cx="6858000" cy="1371600"/>
          </a:xfrm>
          <a:prstGeom prst="rect">
            <a:avLst/>
          </a:prstGeom>
          <a:noFill/>
        </p:spPr>
        <p:txBody>
          <a:bodyPr wrap="square">
            <a:spAutoFit/>
          </a:bodyPr>
          <a:lstStyle/>
          <a:p>
            <a:pPr algn="l">
              <a:defRPr sz="4400" b="1" i="0">
                <a:solidFill>
                  <a:srgbClr val="003366"/>
                </a:solidFill>
              </a:defRPr>
            </a:pPr>
            <a:r>
              <a:t>Recul et compétences acquises</a:t>
            </a:r>
          </a:p>
        </p:txBody>
      </p:sp>
      <p:sp>
        <p:nvSpPr>
          <p:cNvPr id="6" name="TextBox 5"/>
          <p:cNvSpPr txBox="1"/>
          <p:nvPr/>
        </p:nvSpPr>
        <p:spPr>
          <a:xfrm>
            <a:off x="4937760" y="3566160"/>
            <a:ext cx="6858000" cy="1371600"/>
          </a:xfrm>
          <a:prstGeom prst="rect">
            <a:avLst/>
          </a:prstGeom>
          <a:noFill/>
        </p:spPr>
        <p:txBody>
          <a:bodyPr wrap="square">
            <a:spAutoFit/>
          </a:bodyPr>
          <a:lstStyle/>
          <a:p>
            <a:pPr algn="l">
              <a:defRPr sz="1800" b="0" i="1">
                <a:solidFill>
                  <a:srgbClr val="666666"/>
                </a:solidFill>
              </a:defRPr>
            </a:pPr>
            <a:r>
              <a:t>Ce que l'expérience m'a réellement apporté</a:t>
            </a:r>
          </a:p>
        </p:txBody>
      </p:sp>
      <p:sp>
        <p:nvSpPr>
          <p:cNvPr id="7" name="Freeform 10">
            <a:extLst>
              <a:ext uri="{FF2B5EF4-FFF2-40B4-BE49-F238E27FC236}">
                <a16:creationId xmlns:a16="http://schemas.microsoft.com/office/drawing/2014/main" id="{C78055A4-B73E-452C-87E0-0C22666AD50E}"/>
              </a:ext>
            </a:extLst>
          </p:cNvPr>
          <p:cNvSpPr/>
          <p:nvPr/>
        </p:nvSpPr>
        <p:spPr>
          <a:xfrm>
            <a:off x="9481132" y="108126"/>
            <a:ext cx="1107757" cy="415759"/>
          </a:xfrm>
          <a:custGeom>
            <a:avLst/>
            <a:gdLst/>
            <a:ahLst/>
            <a:cxnLst/>
            <a:rect l="l" t="t" r="r" b="b"/>
            <a:pathLst>
              <a:path w="4200742" h="1405571">
                <a:moveTo>
                  <a:pt x="0" y="0"/>
                </a:moveTo>
                <a:lnTo>
                  <a:pt x="4200742" y="0"/>
                </a:lnTo>
                <a:lnTo>
                  <a:pt x="4200742" y="1405571"/>
                </a:lnTo>
                <a:lnTo>
                  <a:pt x="0" y="1405571"/>
                </a:lnTo>
                <a:lnTo>
                  <a:pt x="0" y="0"/>
                </a:lnTo>
                <a:close/>
              </a:path>
            </a:pathLst>
          </a:custGeom>
          <a:blipFill>
            <a:blip r:embed="rId2"/>
            <a:stretch>
              <a:fillRect/>
            </a:stretch>
          </a:blipFill>
        </p:spPr>
        <p:txBody>
          <a:bodyPr/>
          <a:lstStyle/>
          <a:p>
            <a:endParaRPr/>
          </a:p>
        </p:txBody>
      </p:sp>
      <p:pic>
        <p:nvPicPr>
          <p:cNvPr id="8" name="Image 7">
            <a:extLst>
              <a:ext uri="{FF2B5EF4-FFF2-40B4-BE49-F238E27FC236}">
                <a16:creationId xmlns:a16="http://schemas.microsoft.com/office/drawing/2014/main" id="{4E64E442-D1A6-4848-9CC9-691220BBB619}"/>
              </a:ext>
            </a:extLst>
          </p:cNvPr>
          <p:cNvPicPr>
            <a:picLocks noChangeAspect="1"/>
          </p:cNvPicPr>
          <p:nvPr/>
        </p:nvPicPr>
        <p:blipFill rotWithShape="1">
          <a:blip r:embed="rId3"/>
          <a:srcRect t="36165" b="33014"/>
          <a:stretch/>
        </p:blipFill>
        <p:spPr>
          <a:xfrm>
            <a:off x="10688355" y="89071"/>
            <a:ext cx="1348918" cy="41576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RECUL</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Apports du stage</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29 / 32</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Rounded Rectangle 8"/>
          <p:cNvSpPr/>
          <p:nvPr/>
        </p:nvSpPr>
        <p:spPr>
          <a:xfrm>
            <a:off x="731520" y="1371600"/>
            <a:ext cx="3520440" cy="493776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31520" y="1371600"/>
            <a:ext cx="3520440" cy="5486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Apports techniques</a:t>
            </a:r>
          </a:p>
        </p:txBody>
      </p:sp>
      <p:sp>
        <p:nvSpPr>
          <p:cNvPr id="11" name="Oval 10"/>
          <p:cNvSpPr/>
          <p:nvPr/>
        </p:nvSpPr>
        <p:spPr>
          <a:xfrm>
            <a:off x="960120" y="2221992"/>
            <a:ext cx="118872" cy="118872"/>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88720" y="2103120"/>
            <a:ext cx="3017520" cy="685800"/>
          </a:xfrm>
          <a:prstGeom prst="rect">
            <a:avLst/>
          </a:prstGeom>
          <a:noFill/>
        </p:spPr>
        <p:txBody>
          <a:bodyPr wrap="square">
            <a:spAutoFit/>
          </a:bodyPr>
          <a:lstStyle/>
          <a:p>
            <a:pPr algn="l">
              <a:defRPr sz="1000" b="0" i="0">
                <a:solidFill>
                  <a:srgbClr val="333333"/>
                </a:solidFill>
              </a:defRPr>
            </a:pPr>
            <a:r>
              <a:t>Travailler sur un système en production, pas depuis une page blanche</a:t>
            </a:r>
          </a:p>
        </p:txBody>
      </p:sp>
      <p:sp>
        <p:nvSpPr>
          <p:cNvPr id="13" name="Oval 12"/>
          <p:cNvSpPr/>
          <p:nvPr/>
        </p:nvSpPr>
        <p:spPr>
          <a:xfrm>
            <a:off x="960120" y="2999232"/>
            <a:ext cx="118872" cy="118872"/>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88720" y="2880360"/>
            <a:ext cx="3017520" cy="685800"/>
          </a:xfrm>
          <a:prstGeom prst="rect">
            <a:avLst/>
          </a:prstGeom>
          <a:noFill/>
        </p:spPr>
        <p:txBody>
          <a:bodyPr wrap="square">
            <a:spAutoFit/>
          </a:bodyPr>
          <a:lstStyle/>
          <a:p>
            <a:pPr algn="l">
              <a:defRPr sz="1000" b="0" i="0">
                <a:solidFill>
                  <a:srgbClr val="333333"/>
                </a:solidFill>
              </a:defRPr>
            </a:pPr>
            <a:r>
              <a:t>Analyse de données réelles avant de coder</a:t>
            </a:r>
          </a:p>
        </p:txBody>
      </p:sp>
      <p:sp>
        <p:nvSpPr>
          <p:cNvPr id="15" name="Oval 14"/>
          <p:cNvSpPr/>
          <p:nvPr/>
        </p:nvSpPr>
        <p:spPr>
          <a:xfrm>
            <a:off x="960120" y="3776472"/>
            <a:ext cx="118872" cy="118872"/>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88720" y="3657600"/>
            <a:ext cx="3017520" cy="685800"/>
          </a:xfrm>
          <a:prstGeom prst="rect">
            <a:avLst/>
          </a:prstGeom>
          <a:noFill/>
        </p:spPr>
        <p:txBody>
          <a:bodyPr wrap="square">
            <a:spAutoFit/>
          </a:bodyPr>
          <a:lstStyle/>
          <a:p>
            <a:pPr algn="l">
              <a:defRPr sz="1000" b="0" i="0">
                <a:solidFill>
                  <a:srgbClr val="333333"/>
                </a:solidFill>
              </a:defRPr>
            </a:pPr>
            <a:r>
              <a:t>Migration palier par palier plutôt que saut unique</a:t>
            </a:r>
          </a:p>
        </p:txBody>
      </p:sp>
      <p:sp>
        <p:nvSpPr>
          <p:cNvPr id="17" name="Oval 16"/>
          <p:cNvSpPr/>
          <p:nvPr/>
        </p:nvSpPr>
        <p:spPr>
          <a:xfrm>
            <a:off x="960120" y="4553712"/>
            <a:ext cx="118872" cy="118872"/>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88720" y="4434840"/>
            <a:ext cx="3017520" cy="685800"/>
          </a:xfrm>
          <a:prstGeom prst="rect">
            <a:avLst/>
          </a:prstGeom>
          <a:noFill/>
        </p:spPr>
        <p:txBody>
          <a:bodyPr wrap="square">
            <a:spAutoFit/>
          </a:bodyPr>
          <a:lstStyle/>
          <a:p>
            <a:pPr algn="l">
              <a:defRPr sz="1000" b="0" i="0">
                <a:solidFill>
                  <a:srgbClr val="333333"/>
                </a:solidFill>
              </a:defRPr>
            </a:pPr>
            <a:r>
              <a:t>Observabilité : un traitement sans traces = non validable</a:t>
            </a:r>
          </a:p>
        </p:txBody>
      </p:sp>
      <p:sp>
        <p:nvSpPr>
          <p:cNvPr id="19" name="Oval 18"/>
          <p:cNvSpPr/>
          <p:nvPr/>
        </p:nvSpPr>
        <p:spPr>
          <a:xfrm>
            <a:off x="960120" y="5330952"/>
            <a:ext cx="118872" cy="118872"/>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88720" y="5212080"/>
            <a:ext cx="3017520" cy="685800"/>
          </a:xfrm>
          <a:prstGeom prst="rect">
            <a:avLst/>
          </a:prstGeom>
          <a:noFill/>
        </p:spPr>
        <p:txBody>
          <a:bodyPr wrap="square">
            <a:spAutoFit/>
          </a:bodyPr>
          <a:lstStyle/>
          <a:p>
            <a:pPr algn="l">
              <a:defRPr sz="1000" b="0" i="0">
                <a:solidFill>
                  <a:srgbClr val="333333"/>
                </a:solidFill>
              </a:defRPr>
            </a:pPr>
            <a:r>
              <a:t>Sécurité côté serveur (pas seulement côté client)</a:t>
            </a:r>
          </a:p>
        </p:txBody>
      </p:sp>
      <p:sp>
        <p:nvSpPr>
          <p:cNvPr id="21" name="Rounded Rectangle 20"/>
          <p:cNvSpPr/>
          <p:nvPr/>
        </p:nvSpPr>
        <p:spPr>
          <a:xfrm>
            <a:off x="4480559" y="1371600"/>
            <a:ext cx="3520440" cy="4937760"/>
          </a:xfrm>
          <a:prstGeom prst="roundRect">
            <a:avLst/>
          </a:prstGeom>
          <a:solidFill>
            <a:srgbClr val="FFFFFF"/>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480559" y="1371600"/>
            <a:ext cx="3520440" cy="548640"/>
          </a:xfrm>
          <a:prstGeom prst="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Apports humains</a:t>
            </a:r>
          </a:p>
        </p:txBody>
      </p:sp>
      <p:sp>
        <p:nvSpPr>
          <p:cNvPr id="23" name="Oval 22"/>
          <p:cNvSpPr/>
          <p:nvPr/>
        </p:nvSpPr>
        <p:spPr>
          <a:xfrm>
            <a:off x="4709159" y="2221992"/>
            <a:ext cx="118872" cy="118872"/>
          </a:xfrm>
          <a:prstGeom prst="ellipse">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937759" y="2103120"/>
            <a:ext cx="3017520" cy="685800"/>
          </a:xfrm>
          <a:prstGeom prst="rect">
            <a:avLst/>
          </a:prstGeom>
          <a:noFill/>
        </p:spPr>
        <p:txBody>
          <a:bodyPr wrap="square">
            <a:spAutoFit/>
          </a:bodyPr>
          <a:lstStyle/>
          <a:p>
            <a:pPr algn="l">
              <a:defRPr sz="1000" b="0" i="0">
                <a:solidFill>
                  <a:srgbClr val="333333"/>
                </a:solidFill>
              </a:defRPr>
            </a:pPr>
            <a:r>
              <a:t>Identifier le bon interlocuteur selon la question</a:t>
            </a:r>
          </a:p>
        </p:txBody>
      </p:sp>
      <p:sp>
        <p:nvSpPr>
          <p:cNvPr id="25" name="Oval 24"/>
          <p:cNvSpPr/>
          <p:nvPr/>
        </p:nvSpPr>
        <p:spPr>
          <a:xfrm>
            <a:off x="4709159" y="2999232"/>
            <a:ext cx="118872" cy="118872"/>
          </a:xfrm>
          <a:prstGeom prst="ellipse">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937759" y="2880360"/>
            <a:ext cx="3017520" cy="685800"/>
          </a:xfrm>
          <a:prstGeom prst="rect">
            <a:avLst/>
          </a:prstGeom>
          <a:noFill/>
        </p:spPr>
        <p:txBody>
          <a:bodyPr wrap="square">
            <a:spAutoFit/>
          </a:bodyPr>
          <a:lstStyle/>
          <a:p>
            <a:pPr algn="l">
              <a:defRPr sz="1000" b="0" i="0">
                <a:solidFill>
                  <a:srgbClr val="333333"/>
                </a:solidFill>
              </a:defRPr>
            </a:pPr>
            <a:r>
              <a:t>Cahier de retours = écart entre compris et attendu</a:t>
            </a:r>
          </a:p>
        </p:txBody>
      </p:sp>
      <p:sp>
        <p:nvSpPr>
          <p:cNvPr id="27" name="Oval 26"/>
          <p:cNvSpPr/>
          <p:nvPr/>
        </p:nvSpPr>
        <p:spPr>
          <a:xfrm>
            <a:off x="4709159" y="3776472"/>
            <a:ext cx="118872" cy="118872"/>
          </a:xfrm>
          <a:prstGeom prst="ellipse">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937759" y="3657600"/>
            <a:ext cx="3017520" cy="685800"/>
          </a:xfrm>
          <a:prstGeom prst="rect">
            <a:avLst/>
          </a:prstGeom>
          <a:noFill/>
        </p:spPr>
        <p:txBody>
          <a:bodyPr wrap="square">
            <a:spAutoFit/>
          </a:bodyPr>
          <a:lstStyle/>
          <a:p>
            <a:pPr algn="l">
              <a:defRPr sz="1000" b="0" i="0">
                <a:solidFill>
                  <a:srgbClr val="333333"/>
                </a:solidFill>
              </a:defRPr>
            </a:pPr>
            <a:r>
              <a:t>Formuler un problème technique pour un non-technique</a:t>
            </a:r>
          </a:p>
        </p:txBody>
      </p:sp>
      <p:sp>
        <p:nvSpPr>
          <p:cNvPr id="29" name="Oval 28"/>
          <p:cNvSpPr/>
          <p:nvPr/>
        </p:nvSpPr>
        <p:spPr>
          <a:xfrm>
            <a:off x="4709159" y="4553712"/>
            <a:ext cx="118872" cy="118872"/>
          </a:xfrm>
          <a:prstGeom prst="ellipse">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937759" y="4434840"/>
            <a:ext cx="3017520" cy="685800"/>
          </a:xfrm>
          <a:prstGeom prst="rect">
            <a:avLst/>
          </a:prstGeom>
          <a:noFill/>
        </p:spPr>
        <p:txBody>
          <a:bodyPr wrap="square">
            <a:spAutoFit/>
          </a:bodyPr>
          <a:lstStyle/>
          <a:p>
            <a:pPr algn="l">
              <a:defRPr sz="1000" b="0" i="0">
                <a:solidFill>
                  <a:srgbClr val="333333"/>
                </a:solidFill>
              </a:defRPr>
            </a:pPr>
            <a:r>
              <a:t>Remonter un bloquant tôt n'est pas un aveu de faiblesse</a:t>
            </a:r>
          </a:p>
        </p:txBody>
      </p:sp>
      <p:sp>
        <p:nvSpPr>
          <p:cNvPr id="31" name="Oval 30"/>
          <p:cNvSpPr/>
          <p:nvPr/>
        </p:nvSpPr>
        <p:spPr>
          <a:xfrm>
            <a:off x="4709159" y="5330952"/>
            <a:ext cx="118872" cy="118872"/>
          </a:xfrm>
          <a:prstGeom prst="ellipse">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937759" y="5212080"/>
            <a:ext cx="3017520" cy="685800"/>
          </a:xfrm>
          <a:prstGeom prst="rect">
            <a:avLst/>
          </a:prstGeom>
          <a:noFill/>
        </p:spPr>
        <p:txBody>
          <a:bodyPr wrap="square">
            <a:spAutoFit/>
          </a:bodyPr>
          <a:lstStyle/>
          <a:p>
            <a:pPr algn="l">
              <a:defRPr sz="1000" b="0" i="0">
                <a:solidFill>
                  <a:srgbClr val="333333"/>
                </a:solidFill>
              </a:defRPr>
            </a:pPr>
            <a:r>
              <a:t>Gestion des priorités : basculer selon l'impact</a:t>
            </a:r>
          </a:p>
        </p:txBody>
      </p:sp>
      <p:sp>
        <p:nvSpPr>
          <p:cNvPr id="33" name="Rounded Rectangle 32"/>
          <p:cNvSpPr/>
          <p:nvPr/>
        </p:nvSpPr>
        <p:spPr>
          <a:xfrm>
            <a:off x="8229598" y="1371600"/>
            <a:ext cx="3520440" cy="4937760"/>
          </a:xfrm>
          <a:prstGeom prst="roundRect">
            <a:avLst/>
          </a:prstGeom>
          <a:solidFill>
            <a:srgbClr val="FFFF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8229598" y="1371600"/>
            <a:ext cx="3520440" cy="54864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Lien avec ENSIM</a:t>
            </a:r>
          </a:p>
        </p:txBody>
      </p:sp>
      <p:sp>
        <p:nvSpPr>
          <p:cNvPr id="35" name="Oval 34"/>
          <p:cNvSpPr/>
          <p:nvPr/>
        </p:nvSpPr>
        <p:spPr>
          <a:xfrm>
            <a:off x="8458198" y="2221992"/>
            <a:ext cx="118872" cy="118872"/>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686798" y="2103120"/>
            <a:ext cx="3017520" cy="685800"/>
          </a:xfrm>
          <a:prstGeom prst="rect">
            <a:avLst/>
          </a:prstGeom>
          <a:noFill/>
        </p:spPr>
        <p:txBody>
          <a:bodyPr wrap="square">
            <a:spAutoFit/>
          </a:bodyPr>
          <a:lstStyle/>
          <a:p>
            <a:pPr algn="l">
              <a:defRPr sz="1000" b="0" i="0">
                <a:solidFill>
                  <a:srgbClr val="333333"/>
                </a:solidFill>
              </a:defRPr>
            </a:pPr>
            <a:r>
              <a:t>BDD relationnelles : formes normales appliquées</a:t>
            </a:r>
          </a:p>
        </p:txBody>
      </p:sp>
      <p:sp>
        <p:nvSpPr>
          <p:cNvPr id="37" name="Oval 36"/>
          <p:cNvSpPr/>
          <p:nvPr/>
        </p:nvSpPr>
        <p:spPr>
          <a:xfrm>
            <a:off x="8458198" y="2999232"/>
            <a:ext cx="118872" cy="118872"/>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686798" y="2880360"/>
            <a:ext cx="3017520" cy="685800"/>
          </a:xfrm>
          <a:prstGeom prst="rect">
            <a:avLst/>
          </a:prstGeom>
          <a:noFill/>
        </p:spPr>
        <p:txBody>
          <a:bodyPr wrap="square">
            <a:spAutoFit/>
          </a:bodyPr>
          <a:lstStyle/>
          <a:p>
            <a:pPr algn="l">
              <a:defRPr sz="1000" b="0" i="0">
                <a:solidFill>
                  <a:srgbClr val="333333"/>
                </a:solidFill>
              </a:defRPr>
            </a:pPr>
            <a:r>
              <a:t>Génie logiciel / architecture n-tiers concrétisée</a:t>
            </a:r>
          </a:p>
        </p:txBody>
      </p:sp>
      <p:sp>
        <p:nvSpPr>
          <p:cNvPr id="39" name="Oval 38"/>
          <p:cNvSpPr/>
          <p:nvPr/>
        </p:nvSpPr>
        <p:spPr>
          <a:xfrm>
            <a:off x="8458198" y="3776472"/>
            <a:ext cx="118872" cy="118872"/>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686798" y="3657600"/>
            <a:ext cx="3017520" cy="685800"/>
          </a:xfrm>
          <a:prstGeom prst="rect">
            <a:avLst/>
          </a:prstGeom>
          <a:noFill/>
        </p:spPr>
        <p:txBody>
          <a:bodyPr wrap="square">
            <a:spAutoFit/>
          </a:bodyPr>
          <a:lstStyle/>
          <a:p>
            <a:pPr algn="l">
              <a:defRPr sz="1000" b="0" i="0">
                <a:solidFill>
                  <a:srgbClr val="333333"/>
                </a:solidFill>
              </a:defRPr>
            </a:pPr>
            <a:r>
              <a:t>Programmation objet : rapidité d'appropriation</a:t>
            </a:r>
          </a:p>
        </p:txBody>
      </p:sp>
      <p:sp>
        <p:nvSpPr>
          <p:cNvPr id="41" name="Oval 40"/>
          <p:cNvSpPr/>
          <p:nvPr/>
        </p:nvSpPr>
        <p:spPr>
          <a:xfrm>
            <a:off x="8458198" y="4553712"/>
            <a:ext cx="118872" cy="118872"/>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686798" y="4434840"/>
            <a:ext cx="3017520" cy="685800"/>
          </a:xfrm>
          <a:prstGeom prst="rect">
            <a:avLst/>
          </a:prstGeom>
          <a:noFill/>
        </p:spPr>
        <p:txBody>
          <a:bodyPr wrap="square">
            <a:spAutoFit/>
          </a:bodyPr>
          <a:lstStyle/>
          <a:p>
            <a:pPr algn="l">
              <a:defRPr sz="1000" b="0" i="0">
                <a:solidFill>
                  <a:srgbClr val="333333"/>
                </a:solidFill>
              </a:defRPr>
            </a:pPr>
            <a:r>
              <a:t>Spécialité IPS : dette ergonomique, historique lisible</a:t>
            </a:r>
          </a:p>
        </p:txBody>
      </p:sp>
      <p:sp>
        <p:nvSpPr>
          <p:cNvPr id="43" name="Oval 42"/>
          <p:cNvSpPr/>
          <p:nvPr/>
        </p:nvSpPr>
        <p:spPr>
          <a:xfrm>
            <a:off x="8458198" y="5330952"/>
            <a:ext cx="118872" cy="118872"/>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686798" y="5212080"/>
            <a:ext cx="3017520" cy="685800"/>
          </a:xfrm>
          <a:prstGeom prst="rect">
            <a:avLst/>
          </a:prstGeom>
          <a:noFill/>
        </p:spPr>
        <p:txBody>
          <a:bodyPr wrap="square">
            <a:spAutoFit/>
          </a:bodyPr>
          <a:lstStyle/>
          <a:p>
            <a:pPr algn="l">
              <a:defRPr sz="1000" b="0" i="0">
                <a:solidFill>
                  <a:srgbClr val="333333"/>
                </a:solidFill>
              </a:defRPr>
            </a:pPr>
            <a:r>
              <a:t>Écarts à combler : Cloud, déploiement automatisé, tests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41148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0"/>
            <a:ext cx="3200400" cy="2286000"/>
          </a:xfrm>
          <a:prstGeom prst="rect">
            <a:avLst/>
          </a:prstGeom>
          <a:noFill/>
        </p:spPr>
        <p:txBody>
          <a:bodyPr wrap="square">
            <a:spAutoFit/>
          </a:bodyPr>
          <a:lstStyle/>
          <a:p>
            <a:pPr algn="ctr">
              <a:defRPr sz="18000" b="1" i="0">
                <a:solidFill>
                  <a:srgbClr val="FFFFFF"/>
                </a:solidFill>
              </a:defRPr>
            </a:pPr>
            <a:r>
              <a:t>09</a:t>
            </a:r>
          </a:p>
        </p:txBody>
      </p:sp>
      <p:sp>
        <p:nvSpPr>
          <p:cNvPr id="4" name="Rectangle 3"/>
          <p:cNvSpPr/>
          <p:nvPr/>
        </p:nvSpPr>
        <p:spPr>
          <a:xfrm>
            <a:off x="4572000" y="2286000"/>
            <a:ext cx="36576" cy="2286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937760" y="2286000"/>
            <a:ext cx="6858000" cy="1371600"/>
          </a:xfrm>
          <a:prstGeom prst="rect">
            <a:avLst/>
          </a:prstGeom>
          <a:noFill/>
        </p:spPr>
        <p:txBody>
          <a:bodyPr wrap="square">
            <a:spAutoFit/>
          </a:bodyPr>
          <a:lstStyle/>
          <a:p>
            <a:pPr algn="l">
              <a:defRPr sz="4400" b="1" i="0">
                <a:solidFill>
                  <a:srgbClr val="003366"/>
                </a:solidFill>
              </a:defRPr>
            </a:pPr>
            <a:r>
              <a:t>Conclusion et perspectives</a:t>
            </a:r>
          </a:p>
        </p:txBody>
      </p:sp>
      <p:sp>
        <p:nvSpPr>
          <p:cNvPr id="6" name="TextBox 5"/>
          <p:cNvSpPr txBox="1"/>
          <p:nvPr/>
        </p:nvSpPr>
        <p:spPr>
          <a:xfrm>
            <a:off x="4937760" y="3566160"/>
            <a:ext cx="6858000" cy="1371600"/>
          </a:xfrm>
          <a:prstGeom prst="rect">
            <a:avLst/>
          </a:prstGeom>
          <a:noFill/>
        </p:spPr>
        <p:txBody>
          <a:bodyPr wrap="square">
            <a:spAutoFit/>
          </a:bodyPr>
          <a:lstStyle/>
          <a:p>
            <a:pPr algn="l">
              <a:defRPr sz="1800" b="0" i="1">
                <a:solidFill>
                  <a:srgbClr val="666666"/>
                </a:solidFill>
              </a:defRPr>
            </a:pPr>
            <a:r>
              <a:t>Bilan global et suite du projet</a:t>
            </a:r>
          </a:p>
        </p:txBody>
      </p:sp>
      <p:sp>
        <p:nvSpPr>
          <p:cNvPr id="7" name="Freeform 10">
            <a:extLst>
              <a:ext uri="{FF2B5EF4-FFF2-40B4-BE49-F238E27FC236}">
                <a16:creationId xmlns:a16="http://schemas.microsoft.com/office/drawing/2014/main" id="{5E1A64E5-4576-4D0B-A1BD-891E4CB65664}"/>
              </a:ext>
            </a:extLst>
          </p:cNvPr>
          <p:cNvSpPr/>
          <p:nvPr/>
        </p:nvSpPr>
        <p:spPr>
          <a:xfrm>
            <a:off x="9481132" y="108126"/>
            <a:ext cx="1107757" cy="415759"/>
          </a:xfrm>
          <a:custGeom>
            <a:avLst/>
            <a:gdLst/>
            <a:ahLst/>
            <a:cxnLst/>
            <a:rect l="l" t="t" r="r" b="b"/>
            <a:pathLst>
              <a:path w="4200742" h="1405571">
                <a:moveTo>
                  <a:pt x="0" y="0"/>
                </a:moveTo>
                <a:lnTo>
                  <a:pt x="4200742" y="0"/>
                </a:lnTo>
                <a:lnTo>
                  <a:pt x="4200742" y="1405571"/>
                </a:lnTo>
                <a:lnTo>
                  <a:pt x="0" y="1405571"/>
                </a:lnTo>
                <a:lnTo>
                  <a:pt x="0" y="0"/>
                </a:lnTo>
                <a:close/>
              </a:path>
            </a:pathLst>
          </a:custGeom>
          <a:blipFill>
            <a:blip r:embed="rId2"/>
            <a:stretch>
              <a:fillRect/>
            </a:stretch>
          </a:blipFill>
        </p:spPr>
        <p:txBody>
          <a:bodyPr/>
          <a:lstStyle/>
          <a:p>
            <a:endParaRPr/>
          </a:p>
        </p:txBody>
      </p:sp>
      <p:pic>
        <p:nvPicPr>
          <p:cNvPr id="8" name="Image 7">
            <a:extLst>
              <a:ext uri="{FF2B5EF4-FFF2-40B4-BE49-F238E27FC236}">
                <a16:creationId xmlns:a16="http://schemas.microsoft.com/office/drawing/2014/main" id="{E604F985-218E-4F55-9F17-AFA12A8896AC}"/>
              </a:ext>
            </a:extLst>
          </p:cNvPr>
          <p:cNvPicPr>
            <a:picLocks noChangeAspect="1"/>
          </p:cNvPicPr>
          <p:nvPr/>
        </p:nvPicPr>
        <p:blipFill rotWithShape="1">
          <a:blip r:embed="rId3"/>
          <a:srcRect t="36165" b="33014"/>
          <a:stretch/>
        </p:blipFill>
        <p:spPr>
          <a:xfrm>
            <a:off x="10688355" y="89071"/>
            <a:ext cx="1348918" cy="41576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CONCLUSION</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Conclusion et perspectives</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31 / 32</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65760"/>
          </a:xfrm>
          <a:prstGeom prst="rect">
            <a:avLst/>
          </a:prstGeom>
          <a:noFill/>
        </p:spPr>
        <p:txBody>
          <a:bodyPr wrap="square">
            <a:spAutoFit/>
          </a:bodyPr>
          <a:lstStyle/>
          <a:p>
            <a:pPr algn="l">
              <a:defRPr sz="1600" b="1" i="0">
                <a:solidFill>
                  <a:srgbClr val="003366"/>
                </a:solidFill>
              </a:defRPr>
            </a:pPr>
            <a:r>
              <a:t>Bilan</a:t>
            </a:r>
          </a:p>
        </p:txBody>
      </p:sp>
      <p:sp>
        <p:nvSpPr>
          <p:cNvPr id="10" name="TextBox 9"/>
          <p:cNvSpPr txBox="1"/>
          <p:nvPr/>
        </p:nvSpPr>
        <p:spPr>
          <a:xfrm>
            <a:off x="731520" y="1691640"/>
            <a:ext cx="10698480" cy="1280160"/>
          </a:xfrm>
          <a:prstGeom prst="rect">
            <a:avLst/>
          </a:prstGeom>
          <a:noFill/>
        </p:spPr>
        <p:txBody>
          <a:bodyPr wrap="square">
            <a:spAutoFit/>
          </a:bodyPr>
          <a:lstStyle/>
          <a:p>
            <a:pPr algn="l">
              <a:defRPr sz="1100" b="0" i="0">
                <a:solidFill>
                  <a:srgbClr val="333333"/>
                </a:solidFill>
              </a:defRPr>
            </a:pPr>
            <a:r>
              <a:t>La démarche a reposé sur un principe constant : analyser l'existant avant de le modifier.</a:t>
            </a:r>
          </a:p>
          <a:p>
            <a:pPr algn="l">
              <a:defRPr sz="1100" b="0" i="0">
                <a:solidFill>
                  <a:srgbClr val="333333"/>
                </a:solidFill>
              </a:defRPr>
            </a:pPr>
            <a:r>
              <a:t>Le diagnostic mené en amont, appuyé sur des requêtes menées sur les données de production,</a:t>
            </a:r>
          </a:p>
          <a:p>
            <a:pPr algn="l">
              <a:defRPr sz="1100" b="0" i="0">
                <a:solidFill>
                  <a:srgbClr val="333333"/>
                </a:solidFill>
              </a:defRPr>
            </a:pPr>
            <a:r>
              <a:t>a orienté l'ensemble des choix techniques.</a:t>
            </a:r>
          </a:p>
          <a:p>
            <a:pPr algn="l">
              <a:defRPr sz="1100" b="0" i="0">
                <a:solidFill>
                  <a:srgbClr val="333333"/>
                </a:solidFill>
              </a:defRPr>
            </a:pPr>
            <a:r>
              <a:t>Les 3 lots ont été livrés et mis en production, le socle technique a été remis dans le support éditeur,</a:t>
            </a:r>
          </a:p>
          <a:p>
            <a:pPr algn="l">
              <a:defRPr sz="1100" b="0" i="0">
                <a:solidFill>
                  <a:srgbClr val="333333"/>
                </a:solidFill>
              </a:defRPr>
            </a:pPr>
            <a:r>
              <a:t>et le modèle de données a été normalisé.</a:t>
            </a:r>
          </a:p>
        </p:txBody>
      </p:sp>
      <p:sp>
        <p:nvSpPr>
          <p:cNvPr id="11" name="TextBox 10"/>
          <p:cNvSpPr txBox="1"/>
          <p:nvPr/>
        </p:nvSpPr>
        <p:spPr>
          <a:xfrm>
            <a:off x="731520" y="3291840"/>
            <a:ext cx="10698480" cy="365760"/>
          </a:xfrm>
          <a:prstGeom prst="rect">
            <a:avLst/>
          </a:prstGeom>
          <a:noFill/>
        </p:spPr>
        <p:txBody>
          <a:bodyPr wrap="square">
            <a:spAutoFit/>
          </a:bodyPr>
          <a:lstStyle/>
          <a:p>
            <a:pPr algn="l">
              <a:defRPr sz="1600" b="1" i="0">
                <a:solidFill>
                  <a:srgbClr val="2E8B3D"/>
                </a:solidFill>
              </a:defRPr>
            </a:pPr>
            <a:r>
              <a:t>Perspectives</a:t>
            </a:r>
          </a:p>
        </p:txBody>
      </p:sp>
      <p:sp>
        <p:nvSpPr>
          <p:cNvPr id="12" name="Rounded Rectangle 11"/>
          <p:cNvSpPr/>
          <p:nvPr/>
        </p:nvSpPr>
        <p:spPr>
          <a:xfrm>
            <a:off x="731520" y="3749039"/>
            <a:ext cx="10698480" cy="640080"/>
          </a:xfrm>
          <a:prstGeom prst="roundRect">
            <a:avLst/>
          </a:prstGeom>
          <a:solidFill>
            <a:srgbClr val="E8F5E9"/>
          </a:solidFill>
          <a:ln w="1270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3822191"/>
            <a:ext cx="10332720" cy="274320"/>
          </a:xfrm>
          <a:prstGeom prst="rect">
            <a:avLst/>
          </a:prstGeom>
          <a:noFill/>
        </p:spPr>
        <p:txBody>
          <a:bodyPr wrap="square">
            <a:spAutoFit/>
          </a:bodyPr>
          <a:lstStyle/>
          <a:p>
            <a:pPr algn="l">
              <a:defRPr sz="1200" b="1" i="0">
                <a:solidFill>
                  <a:srgbClr val="2E8B3D"/>
                </a:solidFill>
              </a:defRPr>
            </a:pPr>
            <a:r>
              <a:t>Tests automatisés côté serveur</a:t>
            </a:r>
          </a:p>
        </p:txBody>
      </p:sp>
      <p:sp>
        <p:nvSpPr>
          <p:cNvPr id="14" name="TextBox 13"/>
          <p:cNvSpPr txBox="1"/>
          <p:nvPr/>
        </p:nvSpPr>
        <p:spPr>
          <a:xfrm>
            <a:off x="914400" y="4096511"/>
            <a:ext cx="10332720" cy="274320"/>
          </a:xfrm>
          <a:prstGeom prst="rect">
            <a:avLst/>
          </a:prstGeom>
          <a:noFill/>
        </p:spPr>
        <p:txBody>
          <a:bodyPr wrap="square">
            <a:spAutoFit/>
          </a:bodyPr>
          <a:lstStyle/>
          <a:p>
            <a:pPr algn="l">
              <a:defRPr sz="1000" b="0" i="1">
                <a:solidFill>
                  <a:srgbClr val="333333"/>
                </a:solidFill>
              </a:defRPr>
            </a:pPr>
            <a:r>
              <a:t>Actuellement absents : sécuriser les évolutions futures après refonte du modèle</a:t>
            </a:r>
          </a:p>
        </p:txBody>
      </p:sp>
      <p:sp>
        <p:nvSpPr>
          <p:cNvPr id="15" name="Rounded Rectangle 14"/>
          <p:cNvSpPr/>
          <p:nvPr/>
        </p:nvSpPr>
        <p:spPr>
          <a:xfrm>
            <a:off x="731520" y="4434839"/>
            <a:ext cx="10698480" cy="640080"/>
          </a:xfrm>
          <a:prstGeom prst="roundRect">
            <a:avLst/>
          </a:prstGeom>
          <a:solidFill>
            <a:srgbClr val="E8F5E9"/>
          </a:solidFill>
          <a:ln w="1270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 y="4507991"/>
            <a:ext cx="10332720" cy="274320"/>
          </a:xfrm>
          <a:prstGeom prst="rect">
            <a:avLst/>
          </a:prstGeom>
          <a:noFill/>
        </p:spPr>
        <p:txBody>
          <a:bodyPr wrap="square">
            <a:spAutoFit/>
          </a:bodyPr>
          <a:lstStyle/>
          <a:p>
            <a:pPr algn="l">
              <a:defRPr sz="1200" b="1" i="0">
                <a:solidFill>
                  <a:srgbClr val="2E8B3D"/>
                </a:solidFill>
              </a:defRPr>
            </a:pPr>
            <a:r>
              <a:t>Automatisation des déploiements</a:t>
            </a:r>
          </a:p>
        </p:txBody>
      </p:sp>
      <p:sp>
        <p:nvSpPr>
          <p:cNvPr id="17" name="TextBox 16"/>
          <p:cNvSpPr txBox="1"/>
          <p:nvPr/>
        </p:nvSpPr>
        <p:spPr>
          <a:xfrm>
            <a:off x="914400" y="4782311"/>
            <a:ext cx="10332720" cy="274320"/>
          </a:xfrm>
          <a:prstGeom prst="rect">
            <a:avLst/>
          </a:prstGeom>
          <a:noFill/>
        </p:spPr>
        <p:txBody>
          <a:bodyPr wrap="square">
            <a:spAutoFit/>
          </a:bodyPr>
          <a:lstStyle/>
          <a:p>
            <a:pPr algn="l">
              <a:defRPr sz="1000" b="0" i="1">
                <a:solidFill>
                  <a:srgbClr val="333333"/>
                </a:solidFill>
              </a:defRPr>
            </a:pPr>
            <a:r>
              <a:t>Les mises en production restent en grande partie manuelles</a:t>
            </a:r>
          </a:p>
        </p:txBody>
      </p:sp>
      <p:sp>
        <p:nvSpPr>
          <p:cNvPr id="18" name="Rounded Rectangle 17"/>
          <p:cNvSpPr/>
          <p:nvPr/>
        </p:nvSpPr>
        <p:spPr>
          <a:xfrm>
            <a:off x="731520" y="5120639"/>
            <a:ext cx="10698480" cy="640080"/>
          </a:xfrm>
          <a:prstGeom prst="roundRect">
            <a:avLst/>
          </a:prstGeom>
          <a:solidFill>
            <a:srgbClr val="E8F5E9"/>
          </a:solidFill>
          <a:ln w="1270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5193791"/>
            <a:ext cx="10332720" cy="274320"/>
          </a:xfrm>
          <a:prstGeom prst="rect">
            <a:avLst/>
          </a:prstGeom>
          <a:noFill/>
        </p:spPr>
        <p:txBody>
          <a:bodyPr wrap="square">
            <a:spAutoFit/>
          </a:bodyPr>
          <a:lstStyle/>
          <a:p>
            <a:pPr algn="l">
              <a:defRPr sz="1200" b="1" i="0">
                <a:solidFill>
                  <a:srgbClr val="2E8B3D"/>
                </a:solidFill>
              </a:defRPr>
            </a:pPr>
            <a:r>
              <a:t>Suivi régulier des montées de version</a:t>
            </a:r>
          </a:p>
        </p:txBody>
      </p:sp>
      <p:sp>
        <p:nvSpPr>
          <p:cNvPr id="20" name="TextBox 19"/>
          <p:cNvSpPr txBox="1"/>
          <p:nvPr/>
        </p:nvSpPr>
        <p:spPr>
          <a:xfrm>
            <a:off x="914400" y="5468111"/>
            <a:ext cx="10332720" cy="274320"/>
          </a:xfrm>
          <a:prstGeom prst="rect">
            <a:avLst/>
          </a:prstGeom>
          <a:noFill/>
        </p:spPr>
        <p:txBody>
          <a:bodyPr wrap="square">
            <a:spAutoFit/>
          </a:bodyPr>
          <a:lstStyle/>
          <a:p>
            <a:pPr algn="l">
              <a:defRPr sz="1000" b="0" i="1">
                <a:solidFill>
                  <a:srgbClr val="333333"/>
                </a:solidFill>
              </a:defRPr>
            </a:pPr>
            <a:r>
              <a:t>Sans quoi la dette technique traitée cette année se reconstituera</a:t>
            </a:r>
          </a:p>
        </p:txBody>
      </p:sp>
      <p:sp>
        <p:nvSpPr>
          <p:cNvPr id="21" name="Rounded Rectangle 20"/>
          <p:cNvSpPr/>
          <p:nvPr/>
        </p:nvSpPr>
        <p:spPr>
          <a:xfrm>
            <a:off x="731520" y="5989320"/>
            <a:ext cx="10698480" cy="457200"/>
          </a:xfrm>
          <a:prstGeom prst="roundRect">
            <a:avLst/>
          </a:prstGeom>
          <a:solidFill>
            <a:srgbClr val="E8F0F8"/>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6035040"/>
            <a:ext cx="10332720" cy="411480"/>
          </a:xfrm>
          <a:prstGeom prst="rect">
            <a:avLst/>
          </a:prstGeom>
          <a:noFill/>
        </p:spPr>
        <p:txBody>
          <a:bodyPr wrap="square">
            <a:spAutoFit/>
          </a:bodyPr>
          <a:lstStyle/>
          <a:p>
            <a:pPr algn="ctr">
              <a:defRPr sz="1000" b="0" i="1">
                <a:solidFill>
                  <a:srgbClr val="003366"/>
                </a:solidFill>
              </a:defRPr>
            </a:pPr>
            <a:r>
              <a:t>Sur le plan personnel : autonomie à l'échelle inédite (252 livraisons portées seul), analyse et argumentation d'un problème absent du cahier des charges.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1" name=""/>
        <p:cNvGrpSpPr/>
        <p:nvPr/>
      </p:nvGrpSpPr>
      <p:grpSpPr>
        <a:xfrm>
          <a:off x="0" y="0"/>
          <a:ext cx="0" cy="0"/>
          <a:chOff x="0" y="0"/>
          <a:chExt cx="0" cy="0"/>
        </a:xfrm>
      </p:grpSpPr>
      <p:sp>
        <p:nvSpPr>
          <p:cNvPr id="2" name="TextBox 1"/>
          <p:cNvSpPr txBox="1"/>
          <p:nvPr/>
        </p:nvSpPr>
        <p:spPr>
          <a:xfrm>
            <a:off x="457200" y="2286000"/>
            <a:ext cx="11247120" cy="1371600"/>
          </a:xfrm>
          <a:prstGeom prst="rect">
            <a:avLst/>
          </a:prstGeom>
          <a:noFill/>
        </p:spPr>
        <p:txBody>
          <a:bodyPr wrap="square">
            <a:spAutoFit/>
          </a:bodyPr>
          <a:lstStyle/>
          <a:p>
            <a:pPr algn="ctr">
              <a:defRPr sz="6000" b="1" i="0">
                <a:solidFill>
                  <a:srgbClr val="FFFFFF"/>
                </a:solidFill>
              </a:defRPr>
            </a:pPr>
            <a:r>
              <a:t>Merci pour votre attention</a:t>
            </a:r>
          </a:p>
        </p:txBody>
      </p:sp>
      <p:sp>
        <p:nvSpPr>
          <p:cNvPr id="3" name="Rectangle 2"/>
          <p:cNvSpPr/>
          <p:nvPr/>
        </p:nvSpPr>
        <p:spPr>
          <a:xfrm>
            <a:off x="4937760" y="3657600"/>
            <a:ext cx="228600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3931920"/>
            <a:ext cx="11247120" cy="731520"/>
          </a:xfrm>
          <a:prstGeom prst="rect">
            <a:avLst/>
          </a:prstGeom>
          <a:noFill/>
        </p:spPr>
        <p:txBody>
          <a:bodyPr wrap="square">
            <a:spAutoFit/>
          </a:bodyPr>
          <a:lstStyle/>
          <a:p>
            <a:pPr algn="ctr">
              <a:defRPr sz="2800" b="0" i="1">
                <a:solidFill>
                  <a:srgbClr val="FFFFFF"/>
                </a:solidFill>
              </a:defRPr>
            </a:pPr>
            <a:r>
              <a:t>Place aux questions</a:t>
            </a:r>
          </a:p>
        </p:txBody>
      </p:sp>
      <p:sp>
        <p:nvSpPr>
          <p:cNvPr id="5" name="TextBox 4"/>
          <p:cNvSpPr txBox="1"/>
          <p:nvPr/>
        </p:nvSpPr>
        <p:spPr>
          <a:xfrm>
            <a:off x="457200" y="5943600"/>
            <a:ext cx="11247120" cy="365760"/>
          </a:xfrm>
          <a:prstGeom prst="rect">
            <a:avLst/>
          </a:prstGeom>
          <a:noFill/>
        </p:spPr>
        <p:txBody>
          <a:bodyPr wrap="square">
            <a:spAutoFit/>
          </a:bodyPr>
          <a:lstStyle/>
          <a:p>
            <a:pPr algn="ctr">
              <a:defRPr sz="1200" b="0" i="0">
                <a:solidFill>
                  <a:srgbClr val="FFFFFF"/>
                </a:solidFill>
              </a:defRPr>
            </a:pPr>
            <a:r>
              <a:t>Ahmed BOURAZZA  |  PFE ENSIM x VINCI Energies Systèmes d'Information  |  2025-2026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129</TotalTime>
  <Words>2551</Words>
  <Application>Microsoft Office PowerPoint</Application>
  <PresentationFormat>Grand écran</PresentationFormat>
  <Paragraphs>531</Paragraphs>
  <Slides>33</Slides>
  <Notes>0</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33</vt:i4>
      </vt:variant>
    </vt:vector>
  </HeadingPairs>
  <TitlesOfParts>
    <vt:vector size="36"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subject/>
  <dc:creator/>
  <cp:keywords/>
  <dc:description>generated using python-pptx</dc:description>
  <cp:lastModifiedBy>Ahmed Bourazza</cp:lastModifiedBy>
  <cp:revision>12</cp:revision>
  <dcterms:created xsi:type="dcterms:W3CDTF">2013-01-27T09:14:16Z</dcterms:created>
  <dcterms:modified xsi:type="dcterms:W3CDTF">2026-09-12T17:01:56Z</dcterms:modified>
  <cp:category/>
</cp:coreProperties>
</file>