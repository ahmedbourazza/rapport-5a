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48640"/>
            <a:ext cx="228600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Logo ENSIM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548640"/>
            <a:ext cx="228600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Logo VINCI Energies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48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66666"/>
                </a:solidFill>
              </a:defRPr>
            </a:pPr>
            <a:r>
              <a:t>Ecole Nationale Superieure d'Ingenieurs du Mans (ENSIM)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868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</a:defRPr>
            </a:pPr>
            <a:r>
              <a:t>Le Mans Universite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t>Projet de Fin d'Etudes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10332720" cy="137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3366"/>
                </a:solidFill>
              </a:defRPr>
            </a:pPr>
            <a:r>
              <a:t>Modernisation d'une application de gestion</a:t>
            </a:r>
          </a:p>
          <a:p>
            <a:pPr algn="ctr">
              <a:defRPr sz="2800" b="1" i="0">
                <a:solidFill>
                  <a:srgbClr val="003366"/>
                </a:solidFill>
              </a:defRPr>
            </a:pPr>
            <a:r>
              <a:t>de patrimoine applicatif</a:t>
            </a:r>
          </a:p>
          <a:p>
            <a:pPr algn="ctr">
              <a:defRPr sz="2800" b="1" i="0">
                <a:solidFill>
                  <a:srgbClr val="003366"/>
                </a:solidFill>
              </a:defRPr>
            </a:pPr>
            <a:r>
              <a:t>au sein de VINCI Energies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20440"/>
            <a:ext cx="10332720" cy="137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E2001A"/>
                </a:solidFill>
              </a:defRPr>
            </a:pPr>
            <a:r>
              <a:t>Realise au sein de : VINCI Energies Systemes d'Information (VESI)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4114800"/>
            <a:ext cx="1737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Logo VESI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74920"/>
            <a:ext cx="103327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5166360"/>
            <a:ext cx="9144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</a:defRPr>
            </a:pPr>
            <a:r>
              <a:t>Encadre par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Tuteur universite : M. M'HAMMEDI Taoufik</a:t>
            </a:r>
          </a:p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Tuteurs entreprise : M. STER Alexis, M. VILLERMIN Maxime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003366"/>
                </a:solidFill>
              </a:defRPr>
            </a:pPr>
            <a:r>
              <a:t>Realise par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440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333333"/>
                </a:solidFill>
              </a:defRPr>
            </a:pPr>
            <a:r>
              <a:t>Ahmed BOURAZZA</a:t>
            </a:r>
          </a:p>
          <a:p>
            <a:pPr algn="r">
              <a:defRPr sz="1100" b="0" i="0">
                <a:solidFill>
                  <a:srgbClr val="333333"/>
                </a:solidFill>
              </a:defRPr>
            </a:pPr>
            <a:r>
              <a:t>Specialite Informatique, 5eme annee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263640"/>
            <a:ext cx="1164305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6263640"/>
            <a:ext cx="11643055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Periode : 02/03 - 31/08/2026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</a:defRPr>
            </a:pPr>
            <a:r>
              <a:t>Soutenance : 17/09/2026  |  Jury : M. YAAKOUBI Nourdin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Annee academique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2001A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111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2 / 21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371600"/>
            <a:ext cx="411480" cy="4114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Introduction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1920240"/>
            <a:ext cx="411480" cy="4114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Organisme d'accueil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468880"/>
            <a:ext cx="411480" cy="4114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L'equipe et son fonctionnement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Missions du stage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566160"/>
            <a:ext cx="411480" cy="411480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CS BAG v2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114800"/>
            <a:ext cx="411480" cy="4114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Mission Elium Sauvegarde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663440"/>
            <a:ext cx="411480" cy="41148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Resultats obtenus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5212080"/>
            <a:ext cx="411480" cy="4114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Recul et competences acquises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5760720"/>
            <a:ext cx="411480" cy="41148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</a:defRPr>
            </a:pPr>
            <a:r>
              <a:t>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Le groupe VINCI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111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66666"/>
                </a:solidFill>
              </a:defRPr>
            </a:pPr>
            <a:r>
              <a:t>Leader mondial des concessions, de l'energie et de la construction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3736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74,6 Mds EUR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Chiffre d'affaires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293 800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120+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Pays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200400"/>
            <a:ext cx="393192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GROUPE VINCI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160520"/>
            <a:ext cx="1005840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384048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40" y="41605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2468880" cy="914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41605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4480560"/>
            <a:ext cx="2468880" cy="9144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Energies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1605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480560"/>
            <a:ext cx="2468880" cy="914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Construction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416052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4480560"/>
            <a:ext cx="2468880" cy="914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Cobra 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2001A"/>
                </a:solidFill>
              </a:defRPr>
            </a:pPr>
            <a:r>
              <a:t>Mon stage</a:t>
            </a:r>
          </a:p>
        </p:txBody>
      </p:sp>
      <p:sp>
        <p:nvSpPr>
          <p:cNvPr id="24" name="Up Arrow 23"/>
          <p:cNvSpPr/>
          <p:nvPr/>
        </p:nvSpPr>
        <p:spPr>
          <a:xfrm>
            <a:off x="4297680" y="5486400"/>
            <a:ext cx="365760" cy="320040"/>
          </a:xfrm>
          <a:prstGeom prst="upArrow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VINCI Energies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111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4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66666"/>
                </a:solidFill>
              </a:defRPr>
            </a:pPr>
            <a:r>
              <a:t>Pole energie et numerique du groupe VINCI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3200" b="1">
                <a:solidFill>
                  <a:srgbClr val="E2001A"/>
                </a:solidFill>
              </a:defRPr>
            </a:pPr>
            <a:r>
              <a:t>21,6 Mds EUR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Chiffre d'affaires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2468880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109 000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46888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3200" b="1">
                <a:solidFill>
                  <a:srgbClr val="0078D4"/>
                </a:solidFill>
              </a:defRPr>
            </a:pPr>
            <a:r>
              <a:t>60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Pays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4688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468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3200" b="1">
                <a:solidFill>
                  <a:srgbClr val="2E7D32"/>
                </a:solidFill>
              </a:defRPr>
            </a:pPr>
            <a:r>
              <a:t>2 200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Entreprises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4688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3366"/>
                </a:solidFill>
              </a:defRPr>
            </a:pPr>
            <a:r>
              <a:t>Modele decentralise : autonomie et agilite des Business Units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206240"/>
            <a:ext cx="2926080" cy="59436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VINCI Energies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60" y="4315968"/>
            <a:ext cx="54864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4206240"/>
            <a:ext cx="292608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VESI (DSI interne)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4800600"/>
            <a:ext cx="27432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5120640"/>
            <a:ext cx="384048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Direction Custom 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</a:defRPr>
            </a:pPr>
            <a:r>
              <a:t>Developpement d'applications metier sur mesure</a:t>
            </a:r>
          </a:p>
          <a:p>
            <a:pPr algn="l">
              <a:defRPr sz="1300" b="0" i="0">
                <a:solidFill>
                  <a:srgbClr val="666666"/>
                </a:solidFill>
              </a:defRPr>
            </a:pPr>
            <a:r>
              <a:t>Approche security by design, CI/CD Azure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3366"/>
                </a:solidFill>
              </a:defRPr>
            </a:pPr>
            <a:r>
              <a:t>Equipe Group Collaborative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6111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5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Composition de l'equipe (6 personnes)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4864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55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33333"/>
                </a:solidFill>
              </a:defRPr>
            </a:pPr>
            <a:r>
              <a:t>M. Villermin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29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Chef de projet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48640" cy="54864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33333"/>
                </a:solidFill>
              </a:defRPr>
            </a:pPr>
            <a:r>
              <a:t>A. 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072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Team 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10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33333"/>
                </a:solidFill>
              </a:defRPr>
            </a:pPr>
            <a:r>
              <a:t>N. Richez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844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Referent technique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54864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87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33333"/>
                </a:solidFill>
              </a:defRPr>
            </a:pPr>
            <a:r>
              <a:t>Developpeurs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61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x3 (dont stagiaire PFE)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3366"/>
                </a:solidFill>
              </a:defRPr>
            </a:pPr>
            <a:r>
              <a:t>Applications gerees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737360"/>
            <a:ext cx="2103120" cy="54864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 BAG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Inventaire du patrimoine applicatif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14600"/>
            <a:ext cx="21031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MyVIEW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Portail collaboratif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91840"/>
            <a:ext cx="21031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Outil de communication interne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69080"/>
            <a:ext cx="210312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Elium Sauvegarde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Archivage base de connaissances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</a:defRPr>
            </a:pPr>
            <a:r>
              <a:t>Fonctionnement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03520"/>
            <a:ext cx="146304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Points hebdomadaires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330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avec le referent technique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5303520"/>
            <a:ext cx="146304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Points d'avancement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39" y="5330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avec le chef de projet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598" y="5303520"/>
            <a:ext cx="1463040" cy="4114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Suivi agile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78" y="5330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</a:defRPr>
            </a:pPr>
            <a:r>
              <a:t>dans Wrike (lots, taches, sous-taches)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</a:defRPr>
            </a:pPr>
            <a:r>
              <a:t>Stack 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5806440"/>
            <a:ext cx="1234440" cy="320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Angular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5806440"/>
            <a:ext cx="1234440" cy="320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ASP.NET 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806440"/>
            <a:ext cx="1234440" cy="320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EF Core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806440"/>
            <a:ext cx="1234440" cy="320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SQL Server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5806440"/>
            <a:ext cx="1234440" cy="320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