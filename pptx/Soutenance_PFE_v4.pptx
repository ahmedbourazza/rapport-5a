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274320"/>
            <a:ext cx="11643055" cy="6309360"/>
          </a:xfrm>
          <a:prstGeom prst="rect">
            <a:avLst/>
          </a:prstGeom>
          <a:noFill/>
          <a:ln w="2540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74320" y="274320"/>
            <a:ext cx="11643055" cy="54864"/>
          </a:xfrm>
          <a:prstGeom prst="rect">
            <a:avLst/>
          </a:prstGeom>
          <a:solidFill>
            <a:srgbClr val="E20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14400" y="548640"/>
            <a:ext cx="2286000" cy="1005840"/>
          </a:xfrm>
          <a:prstGeom prst="rect">
            <a:avLst/>
          </a:prstGeom>
          <a:solidFill>
            <a:srgbClr val="F0F0F0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>
                <a:solidFill>
                  <a:srgbClr val="666666"/>
                </a:solidFill>
              </a:defRPr>
            </a:pPr>
            <a:r>
              <a:t>Logo ENSIM</a:t>
            </a:r>
          </a:p>
        </p:txBody>
      </p:sp>
      <p:sp>
        <p:nvSpPr>
          <p:cNvPr id="5" name="Rectangle 4"/>
          <p:cNvSpPr/>
          <p:nvPr/>
        </p:nvSpPr>
        <p:spPr>
          <a:xfrm>
            <a:off x="8961120" y="548640"/>
            <a:ext cx="2286000" cy="1005840"/>
          </a:xfrm>
          <a:prstGeom prst="rect">
            <a:avLst/>
          </a:prstGeom>
          <a:solidFill>
            <a:srgbClr val="F0F0F0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>
                <a:solidFill>
                  <a:srgbClr val="666666"/>
                </a:solidFill>
              </a:defRPr>
            </a:pPr>
            <a:r>
              <a:t>Logo VINCI Energies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474720" y="548640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 i="0">
                <a:solidFill>
                  <a:srgbClr val="666666"/>
                </a:solidFill>
              </a:defRPr>
            </a:pPr>
            <a:r>
              <a:t>Ecole Nationale Superieure d'Ingenieurs du Mans (ENSIM)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474720" y="868680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 i="0">
                <a:solidFill>
                  <a:srgbClr val="666666"/>
                </a:solidFill>
              </a:defRPr>
            </a:pPr>
            <a:r>
              <a:t>Le Mans Universite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74720" y="1188720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 i="0">
                <a:solidFill>
                  <a:srgbClr val="003366"/>
                </a:solidFill>
              </a:defRPr>
            </a:pPr>
            <a:r>
              <a:t>Projet de Fin d'Etudes</a:t>
            </a:r>
          </a:p>
        </p:txBody>
      </p:sp>
      <p:sp>
        <p:nvSpPr>
          <p:cNvPr id="9" name="Rectangle 8"/>
          <p:cNvSpPr/>
          <p:nvPr/>
        </p:nvSpPr>
        <p:spPr>
          <a:xfrm>
            <a:off x="914400" y="1691640"/>
            <a:ext cx="10332720" cy="13716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71600" y="1920240"/>
            <a:ext cx="94183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 i="0">
                <a:solidFill>
                  <a:srgbClr val="003366"/>
                </a:solidFill>
              </a:defRPr>
            </a:pPr>
            <a:r>
              <a:t>Modernisation d'une application de gestion</a:t>
            </a:r>
          </a:p>
          <a:p>
            <a:pPr algn="ctr">
              <a:defRPr sz="2800" b="1" i="0">
                <a:solidFill>
                  <a:srgbClr val="003366"/>
                </a:solidFill>
              </a:defRPr>
            </a:pPr>
            <a:r>
              <a:t>de patrimoine applicatif</a:t>
            </a:r>
          </a:p>
          <a:p>
            <a:pPr algn="ctr">
              <a:defRPr sz="2800" b="1" i="0">
                <a:solidFill>
                  <a:srgbClr val="003366"/>
                </a:solidFill>
              </a:defRPr>
            </a:pPr>
            <a:r>
              <a:t>au sein de VINCI Energies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14400" y="3520440"/>
            <a:ext cx="10332720" cy="13716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3703320"/>
            <a:ext cx="9418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 i="1">
                <a:solidFill>
                  <a:srgbClr val="E2001A"/>
                </a:solidFill>
              </a:defRPr>
            </a:pPr>
            <a:r>
              <a:t>Realise au sein de : VINCI Energies Systemes d'Information (VESI)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212080" y="4114800"/>
            <a:ext cx="1737360" cy="731520"/>
          </a:xfrm>
          <a:prstGeom prst="rect">
            <a:avLst/>
          </a:prstGeom>
          <a:solidFill>
            <a:srgbClr val="F0F0F0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666666"/>
                </a:solidFill>
              </a:defRPr>
            </a:pPr>
            <a:r>
              <a:t>Logo VESI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14400" y="5074920"/>
            <a:ext cx="10332720" cy="9144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080760" y="5166360"/>
            <a:ext cx="9144" cy="82296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97280" y="5166360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003366"/>
                </a:solidFill>
              </a:defRPr>
            </a:pPr>
            <a:r>
              <a:t>Encadre par :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" y="5440680"/>
            <a:ext cx="4754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333333"/>
                </a:solidFill>
              </a:defRPr>
            </a:pPr>
            <a:r>
              <a:t>Tuteur universite : M. M'HAMMEDI Taoufik</a:t>
            </a:r>
          </a:p>
          <a:p>
            <a:pPr algn="l">
              <a:defRPr sz="1100" b="0" i="0">
                <a:solidFill>
                  <a:srgbClr val="333333"/>
                </a:solidFill>
              </a:defRPr>
            </a:pPr>
            <a:r>
              <a:t>Tuteurs entreprise : M. STER Alexis, M. VILLERMIN Maxime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5166360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 i="0">
                <a:solidFill>
                  <a:srgbClr val="003366"/>
                </a:solidFill>
              </a:defRPr>
            </a:pPr>
            <a:r>
              <a:t>Realise par :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5440680"/>
            <a:ext cx="4754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 i="0">
                <a:solidFill>
                  <a:srgbClr val="333333"/>
                </a:solidFill>
              </a:defRPr>
            </a:pPr>
            <a:r>
              <a:t>Ahmed BOURAZZA</a:t>
            </a:r>
          </a:p>
          <a:p>
            <a:pPr algn="r">
              <a:defRPr sz="1100" b="0" i="0">
                <a:solidFill>
                  <a:srgbClr val="333333"/>
                </a:solidFill>
              </a:defRPr>
            </a:pPr>
            <a:r>
              <a:t>Specialite Informatique, 5eme annee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4320" y="6263640"/>
            <a:ext cx="11643055" cy="3200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74320" y="6263640"/>
            <a:ext cx="11643055" cy="36576"/>
          </a:xfrm>
          <a:prstGeom prst="rect">
            <a:avLst/>
          </a:prstGeom>
          <a:solidFill>
            <a:srgbClr val="E20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" y="635508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FFFFFF"/>
                </a:solidFill>
              </a:defRPr>
            </a:pPr>
            <a:r>
              <a:t>Periode : 02/03 - 31/08/2026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14800" y="635508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 i="0">
                <a:solidFill>
                  <a:srgbClr val="FFFFFF"/>
                </a:solidFill>
              </a:defRPr>
            </a:pPr>
            <a:r>
              <a:t>Soutenance : 17/09/2026  |  Jury : M. YAAKOUBI Nourdin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86800" y="635508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 i="0">
                <a:solidFill>
                  <a:srgbClr val="FFFFFF"/>
                </a:solidFill>
              </a:defRPr>
            </a:pPr>
            <a:r>
              <a:t>Annee academique 2025-2026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 i="0">
                <a:solidFill>
                  <a:srgbClr val="003366"/>
                </a:solidFill>
              </a:defRPr>
            </a:pPr>
            <a:r>
              <a:t>Sommaire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97280"/>
            <a:ext cx="1645920" cy="36576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11535" y="6611112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 i="0">
                <a:solidFill>
                  <a:srgbClr val="FFFFFF"/>
                </a:solidFill>
              </a:defRPr>
            </a:pPr>
            <a:r>
              <a:t>2 / 32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611112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FFFFFF"/>
                </a:solidFill>
              </a:defRPr>
            </a:pPr>
            <a:r>
              <a:t>Soutenance PFE - Ahmed BOURAZZA - VESI</a:t>
            </a:r>
          </a:p>
        </p:txBody>
      </p:sp>
      <p:sp>
        <p:nvSpPr>
          <p:cNvPr id="8" name="Rectangle 7"/>
          <p:cNvSpPr/>
          <p:nvPr/>
        </p:nvSpPr>
        <p:spPr>
          <a:xfrm>
            <a:off x="1828800" y="1463040"/>
            <a:ext cx="457200" cy="38404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14600" y="1508760"/>
            <a:ext cx="8686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333333"/>
                </a:solidFill>
              </a:defRPr>
            </a:pPr>
            <a:r>
              <a:t>Introduction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2514600" y="1883664"/>
            <a:ext cx="8686800" cy="4572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828800" y="1938528"/>
            <a:ext cx="457200" cy="38404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14600" y="1984248"/>
            <a:ext cx="8686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333333"/>
                </a:solidFill>
              </a:defRPr>
            </a:pPr>
            <a:r>
              <a:t>Organisme d'accueil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514600" y="2359152"/>
            <a:ext cx="8686800" cy="4572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828800" y="2414016"/>
            <a:ext cx="457200" cy="38404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514600" y="2459736"/>
            <a:ext cx="8686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333333"/>
                </a:solidFill>
              </a:defRPr>
            </a:pPr>
            <a:r>
              <a:t>L'equipe et son fonctionnement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514600" y="2834640"/>
            <a:ext cx="8686800" cy="4572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828800" y="2889504"/>
            <a:ext cx="457200" cy="38404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04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14600" y="2935224"/>
            <a:ext cx="8686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333333"/>
                </a:solidFill>
              </a:defRPr>
            </a:pPr>
            <a:r>
              <a:t>Missions du stage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514600" y="3310128"/>
            <a:ext cx="8686800" cy="4572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828800" y="3364992"/>
            <a:ext cx="457200" cy="38404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05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514600" y="3410712"/>
            <a:ext cx="8686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333333"/>
                </a:solidFill>
              </a:defRPr>
            </a:pPr>
            <a:r>
              <a:t>CS BAG v2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514600" y="3785616"/>
            <a:ext cx="8686800" cy="4572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828800" y="3840480"/>
            <a:ext cx="457200" cy="38404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06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514600" y="3886200"/>
            <a:ext cx="8686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333333"/>
                </a:solidFill>
              </a:defRPr>
            </a:pPr>
            <a:r>
              <a:t>Mission Elium Sauvegarde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514600" y="4261104"/>
            <a:ext cx="8686800" cy="4572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828800" y="4315968"/>
            <a:ext cx="457200" cy="38404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07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514600" y="4361688"/>
            <a:ext cx="8686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333333"/>
                </a:solidFill>
              </a:defRPr>
            </a:pPr>
            <a:r>
              <a:t>Resultats obtenus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514600" y="4736592"/>
            <a:ext cx="8686800" cy="4572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828800" y="4791456"/>
            <a:ext cx="457200" cy="38404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08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514600" y="4837176"/>
            <a:ext cx="8686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333333"/>
                </a:solidFill>
              </a:defRPr>
            </a:pPr>
            <a:r>
              <a:t>Recul et competences acquises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514600" y="5212080"/>
            <a:ext cx="8686800" cy="4572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1828800" y="5266944"/>
            <a:ext cx="457200" cy="38404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09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514600" y="5312664"/>
            <a:ext cx="8686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333333"/>
                </a:solidFill>
              </a:defRPr>
            </a:pPr>
            <a:r>
              <a:t>Conclusion et perspectives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114800" cy="68580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377440"/>
            <a:ext cx="3200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0" b="1" i="0">
                <a:solidFill>
                  <a:srgbClr val="FFFFFF"/>
                </a:solidFill>
              </a:defRPr>
            </a:pPr>
            <a:r>
              <a:t>01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0" y="2286000"/>
            <a:ext cx="36576" cy="22860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937760" y="2286000"/>
            <a:ext cx="6858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 i="0">
                <a:solidFill>
                  <a:srgbClr val="003366"/>
                </a:solidFill>
              </a:defRPr>
            </a:pPr>
            <a:r>
              <a:t>Introduction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937760" y="3566160"/>
            <a:ext cx="6858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 i="1">
                <a:solidFill>
                  <a:srgbClr val="666666"/>
                </a:solidFill>
              </a:defRPr>
            </a:pPr>
            <a:r>
              <a:t>Contexte, cadre et objectifs du stage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004D99"/>
                </a:solidFill>
              </a:defRPr>
            </a:pPr>
            <a:r>
              <a:t>INTRODUCTION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 i="0">
                <a:solidFill>
                  <a:srgbClr val="003366"/>
                </a:solidFill>
              </a:defRPr>
            </a:pPr>
            <a:r>
              <a:t>Introduction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097280"/>
            <a:ext cx="1645920" cy="36576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11535" y="6611112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 i="0">
                <a:solidFill>
                  <a:srgbClr val="FFFFFF"/>
                </a:solidFill>
              </a:defRPr>
            </a:pPr>
            <a:r>
              <a:t>4 / 32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611112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FFFFFF"/>
                </a:solidFill>
              </a:defRPr>
            </a:pPr>
            <a:r>
              <a:t>Soutenance PFE - Ahmed BOURAZZA - VESI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46304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1">
                <a:solidFill>
                  <a:srgbClr val="666666"/>
                </a:solidFill>
              </a:defRPr>
            </a:pPr>
            <a:r>
              <a:t>[Contenu a definir : contexte du PFE, motivation, presentation rapide]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114800" cy="68580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377440"/>
            <a:ext cx="3200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0" b="1" i="0">
                <a:solidFill>
                  <a:srgbClr val="FFFFFF"/>
                </a:solidFill>
              </a:defRPr>
            </a:pPr>
            <a:r>
              <a:t>02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0" y="2286000"/>
            <a:ext cx="36576" cy="22860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937760" y="2286000"/>
            <a:ext cx="6858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 i="0">
                <a:solidFill>
                  <a:srgbClr val="003366"/>
                </a:solidFill>
              </a:defRPr>
            </a:pPr>
            <a:r>
              <a:t>Organisme d'accueil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937760" y="3566160"/>
            <a:ext cx="6858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 i="1">
                <a:solidFill>
                  <a:srgbClr val="666666"/>
                </a:solidFill>
              </a:defRPr>
            </a:pPr>
            <a:r>
              <a:t>Le groupe VINCI et ses chiffres cles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004D99"/>
                </a:solidFill>
              </a:defRPr>
            </a:pPr>
            <a:r>
              <a:t>ORGANISME D'ACCUEIL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 i="0">
                <a:solidFill>
                  <a:srgbClr val="003366"/>
                </a:solidFill>
              </a:defRPr>
            </a:pPr>
            <a:r>
              <a:t>Le groupe VINCI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097280"/>
            <a:ext cx="1645920" cy="36576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11535" y="6611112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 i="0">
                <a:solidFill>
                  <a:srgbClr val="FFFFFF"/>
                </a:solidFill>
              </a:defRPr>
            </a:pPr>
            <a:r>
              <a:t>6 / 32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611112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FFFFFF"/>
                </a:solidFill>
              </a:defRPr>
            </a:pPr>
            <a:r>
              <a:t>Soutenance PFE - Ahmed BOURAZZA - VESI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937760" y="1371600"/>
            <a:ext cx="2286000" cy="640080"/>
          </a:xfrm>
          <a:prstGeom prst="round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defRPr sz="1700" b="1">
                <a:solidFill>
                  <a:srgbClr val="FFFFFF"/>
                </a:solidFill>
              </a:defRPr>
            </a:pPr>
            <a:r>
              <a:t>GROUPE VINCI</a:t>
            </a:r>
          </a:p>
        </p:txBody>
      </p:sp>
      <p:sp>
        <p:nvSpPr>
          <p:cNvPr id="10" name="Rectangle 9"/>
          <p:cNvSpPr/>
          <p:nvPr/>
        </p:nvSpPr>
        <p:spPr>
          <a:xfrm>
            <a:off x="6035040" y="2011680"/>
            <a:ext cx="27432" cy="320040"/>
          </a:xfrm>
          <a:prstGeom prst="rect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88720" y="2331720"/>
            <a:ext cx="9692640" cy="27432"/>
          </a:xfrm>
          <a:prstGeom prst="rect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965960" y="2331720"/>
            <a:ext cx="27432" cy="320040"/>
          </a:xfrm>
          <a:prstGeom prst="rect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31520" y="2651760"/>
            <a:ext cx="2514600" cy="822960"/>
          </a:xfrm>
          <a:prstGeom prst="round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VINCI</a:t>
            </a:r>
          </a:p>
          <a:p>
            <a:pPr algn="ctr">
              <a:defRPr sz="1500" b="1">
                <a:solidFill>
                  <a:srgbClr val="FFFFFF"/>
                </a:solidFill>
              </a:defRPr>
            </a:pPr>
            <a:r>
              <a:t>Autoroutes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68680" y="3657600"/>
            <a:ext cx="2240280" cy="384048"/>
          </a:xfrm>
          <a:prstGeom prst="rect">
            <a:avLst/>
          </a:prstGeom>
          <a:solidFill>
            <a:srgbClr val="F0F0F0"/>
          </a:solidFill>
          <a:ln w="9525"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0">
                <a:solidFill>
                  <a:srgbClr val="333333"/>
                </a:solidFill>
              </a:defRPr>
            </a:pPr>
            <a:r>
              <a:t>ASF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68680" y="4160520"/>
            <a:ext cx="2240280" cy="384048"/>
          </a:xfrm>
          <a:prstGeom prst="rect">
            <a:avLst/>
          </a:prstGeom>
          <a:solidFill>
            <a:srgbClr val="F0F0F0"/>
          </a:solidFill>
          <a:ln w="9525"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0">
                <a:solidFill>
                  <a:srgbClr val="333333"/>
                </a:solidFill>
              </a:defRPr>
            </a:pPr>
            <a:r>
              <a:t>Cofiroute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68680" y="4663440"/>
            <a:ext cx="2240280" cy="384048"/>
          </a:xfrm>
          <a:prstGeom prst="rect">
            <a:avLst/>
          </a:prstGeom>
          <a:solidFill>
            <a:srgbClr val="F0F0F0"/>
          </a:solidFill>
          <a:ln w="9525"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0">
                <a:solidFill>
                  <a:srgbClr val="333333"/>
                </a:solidFill>
              </a:defRPr>
            </a:pPr>
            <a:r>
              <a:t>Escota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754880" y="2331720"/>
            <a:ext cx="27432" cy="320040"/>
          </a:xfrm>
          <a:prstGeom prst="rect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3520440" y="2651760"/>
            <a:ext cx="2514600" cy="822960"/>
          </a:xfrm>
          <a:prstGeom prst="round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VINCI</a:t>
            </a:r>
          </a:p>
          <a:p>
            <a:pPr algn="ctr">
              <a:defRPr sz="1500" b="1">
                <a:solidFill>
                  <a:srgbClr val="FFFFFF"/>
                </a:solidFill>
              </a:defRPr>
            </a:pPr>
            <a:r>
              <a:t>Airports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0" y="3657600"/>
            <a:ext cx="2240280" cy="384048"/>
          </a:xfrm>
          <a:prstGeom prst="rect">
            <a:avLst/>
          </a:prstGeom>
          <a:solidFill>
            <a:srgbClr val="F0F0F0"/>
          </a:solidFill>
          <a:ln w="9525"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0">
                <a:solidFill>
                  <a:srgbClr val="333333"/>
                </a:solidFill>
              </a:defRPr>
            </a:pPr>
            <a:r>
              <a:t>ANA Portugal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0" y="4160520"/>
            <a:ext cx="2240280" cy="384048"/>
          </a:xfrm>
          <a:prstGeom prst="rect">
            <a:avLst/>
          </a:prstGeom>
          <a:solidFill>
            <a:srgbClr val="F0F0F0"/>
          </a:solidFill>
          <a:ln w="9525"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0">
                <a:solidFill>
                  <a:srgbClr val="333333"/>
                </a:solidFill>
              </a:defRPr>
            </a:pPr>
            <a:r>
              <a:t>Gatwick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0" y="4663440"/>
            <a:ext cx="2240280" cy="384048"/>
          </a:xfrm>
          <a:prstGeom prst="rect">
            <a:avLst/>
          </a:prstGeom>
          <a:solidFill>
            <a:srgbClr val="F0F0F0"/>
          </a:solidFill>
          <a:ln w="9525"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0">
                <a:solidFill>
                  <a:srgbClr val="333333"/>
                </a:solidFill>
              </a:defRPr>
            </a:pPr>
            <a:r>
              <a:t>London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543800" y="2331720"/>
            <a:ext cx="27432" cy="320040"/>
          </a:xfrm>
          <a:prstGeom prst="rect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309360" y="2651760"/>
            <a:ext cx="2514600" cy="822960"/>
          </a:xfrm>
          <a:prstGeom prst="roundRect">
            <a:avLst/>
          </a:prstGeom>
          <a:solidFill>
            <a:srgbClr val="2E8B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VINCI</a:t>
            </a:r>
          </a:p>
          <a:p>
            <a:pPr algn="ctr">
              <a:defRPr sz="1500" b="1">
                <a:solidFill>
                  <a:srgbClr val="FFFFFF"/>
                </a:solidFill>
              </a:defRPr>
            </a:pPr>
            <a:r>
              <a:t>Energies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46520" y="3657600"/>
            <a:ext cx="2240280" cy="384048"/>
          </a:xfrm>
          <a:prstGeom prst="rect">
            <a:avLst/>
          </a:prstGeom>
          <a:solidFill>
            <a:srgbClr val="E8F5E9"/>
          </a:solidFill>
          <a:ln w="9525">
            <a:solidFill>
              <a:srgbClr val="2E8B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2E8B3D"/>
                </a:solidFill>
              </a:defRPr>
            </a:pPr>
            <a:r>
              <a:t>VESI (DSI)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46520" y="4160520"/>
            <a:ext cx="2240280" cy="384048"/>
          </a:xfrm>
          <a:prstGeom prst="rect">
            <a:avLst/>
          </a:prstGeom>
          <a:solidFill>
            <a:srgbClr val="E8F5E9"/>
          </a:solidFill>
          <a:ln w="9525">
            <a:solidFill>
              <a:srgbClr val="2E8B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2E8B3D"/>
                </a:solidFill>
              </a:defRPr>
            </a:pPr>
            <a:r>
              <a:t>Actemium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46520" y="4663440"/>
            <a:ext cx="2240280" cy="384048"/>
          </a:xfrm>
          <a:prstGeom prst="rect">
            <a:avLst/>
          </a:prstGeom>
          <a:solidFill>
            <a:srgbClr val="E8F5E9"/>
          </a:solidFill>
          <a:ln w="9525">
            <a:solidFill>
              <a:srgbClr val="2E8B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2E8B3D"/>
                </a:solidFill>
              </a:defRPr>
            </a:pPr>
            <a:r>
              <a:t>Axians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46520" y="5166360"/>
            <a:ext cx="2240280" cy="384048"/>
          </a:xfrm>
          <a:prstGeom prst="rect">
            <a:avLst/>
          </a:prstGeom>
          <a:solidFill>
            <a:srgbClr val="E8F5E9"/>
          </a:solidFill>
          <a:ln w="9525">
            <a:solidFill>
              <a:srgbClr val="2E8B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2E8B3D"/>
                </a:solidFill>
              </a:defRPr>
            </a:pPr>
            <a:r>
              <a:t>Omexom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0332720" y="2331720"/>
            <a:ext cx="27432" cy="320040"/>
          </a:xfrm>
          <a:prstGeom prst="rect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9098280" y="2651760"/>
            <a:ext cx="2514600" cy="822960"/>
          </a:xfrm>
          <a:prstGeom prst="round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VINCI</a:t>
            </a:r>
          </a:p>
          <a:p>
            <a:pPr algn="ctr">
              <a:defRPr sz="1500" b="1">
                <a:solidFill>
                  <a:srgbClr val="FFFFFF"/>
                </a:solidFill>
              </a:defRPr>
            </a:pPr>
            <a:r>
              <a:t>Construction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235440" y="3657600"/>
            <a:ext cx="2240280" cy="384048"/>
          </a:xfrm>
          <a:prstGeom prst="rect">
            <a:avLst/>
          </a:prstGeom>
          <a:solidFill>
            <a:srgbClr val="F0F0F0"/>
          </a:solidFill>
          <a:ln w="9525"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0">
                <a:solidFill>
                  <a:srgbClr val="333333"/>
                </a:solidFill>
              </a:defRPr>
            </a:pPr>
            <a:r>
              <a:t>Sogea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235440" y="4160520"/>
            <a:ext cx="2240280" cy="384048"/>
          </a:xfrm>
          <a:prstGeom prst="rect">
            <a:avLst/>
          </a:prstGeom>
          <a:solidFill>
            <a:srgbClr val="F0F0F0"/>
          </a:solidFill>
          <a:ln w="9525"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0">
                <a:solidFill>
                  <a:srgbClr val="333333"/>
                </a:solidFill>
              </a:defRPr>
            </a:pPr>
            <a:r>
              <a:t>Eurovia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235440" y="4663440"/>
            <a:ext cx="2240280" cy="384048"/>
          </a:xfrm>
          <a:prstGeom prst="rect">
            <a:avLst/>
          </a:prstGeom>
          <a:solidFill>
            <a:srgbClr val="F0F0F0"/>
          </a:solidFill>
          <a:ln w="9525"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0">
                <a:solidFill>
                  <a:srgbClr val="333333"/>
                </a:solidFill>
              </a:defRPr>
            </a:pPr>
            <a:r>
              <a:t>GTM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114800" y="5943600"/>
            <a:ext cx="365760" cy="274320"/>
          </a:xfrm>
          <a:prstGeom prst="roundRect">
            <a:avLst/>
          </a:prstGeom>
          <a:solidFill>
            <a:srgbClr val="2E8B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defRPr sz="1000" b="0">
                <a:solidFill>
                  <a:srgbClr val="FFFFFF"/>
                </a:solidFill>
              </a:defRPr>
            </a:pPr>
          </a:p>
        </p:txBody>
      </p:sp>
      <p:sp>
        <p:nvSpPr>
          <p:cNvPr id="34" name="TextBox 33"/>
          <p:cNvSpPr txBox="1"/>
          <p:nvPr/>
        </p:nvSpPr>
        <p:spPr>
          <a:xfrm>
            <a:off x="4572000" y="594360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 i="1">
                <a:solidFill>
                  <a:srgbClr val="2E8B3D"/>
                </a:solidFill>
              </a:defRPr>
            </a:pPr>
            <a:r>
              <a:t>Pole d'accueil de mon stage : VINCI Energies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004D99"/>
                </a:solidFill>
              </a:defRPr>
            </a:pPr>
            <a:r>
              <a:t>ORGANISME D'ACCUEIL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 i="0">
                <a:solidFill>
                  <a:srgbClr val="003366"/>
                </a:solidFill>
              </a:defRPr>
            </a:pPr>
            <a:r>
              <a:t>VINCI - Chiffres cles 2025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097280"/>
            <a:ext cx="1645920" cy="36576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11535" y="6611112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 i="0">
                <a:solidFill>
                  <a:srgbClr val="FFFFFF"/>
                </a:solidFill>
              </a:defRPr>
            </a:pPr>
            <a:r>
              <a:t>7 / 32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611112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FFFFFF"/>
                </a:solidFill>
              </a:defRPr>
            </a:pPr>
            <a:r>
              <a:t>Soutenance PFE - Ahmed BOURAZZA - VESI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2801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 i="1">
                <a:solidFill>
                  <a:srgbClr val="666666"/>
                </a:solidFill>
              </a:defRPr>
            </a:pPr>
            <a:r>
              <a:t>Leader mondial des concessions, de l'energie et de la construction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011680"/>
            <a:ext cx="2651760" cy="16459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20040"/>
          <a:lstStyle/>
          <a:p>
            <a:pPr algn="ctr">
              <a:defRPr sz="3200" b="1">
                <a:solidFill>
                  <a:srgbClr val="003366"/>
                </a:solidFill>
              </a:defRPr>
            </a:pPr>
            <a:r>
              <a:t>74,6 Mds</a:t>
            </a:r>
          </a:p>
          <a:p>
            <a:pPr algn="ctr">
              <a:defRPr sz="1200">
                <a:solidFill>
                  <a:srgbClr val="666666"/>
                </a:solidFill>
              </a:defRPr>
            </a:pPr>
            <a:r>
              <a:t>Chiffre d'affaires (EUR)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2011680"/>
            <a:ext cx="2651760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566160" y="2011680"/>
            <a:ext cx="2651760" cy="16459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20040"/>
          <a:lstStyle/>
          <a:p>
            <a:pPr algn="ctr">
              <a:defRPr sz="3200" b="1">
                <a:solidFill>
                  <a:srgbClr val="003366"/>
                </a:solidFill>
              </a:defRPr>
            </a:pPr>
            <a:r>
              <a:t>293 800</a:t>
            </a:r>
          </a:p>
          <a:p>
            <a:pPr algn="ctr">
              <a:defRPr sz="1200">
                <a:solidFill>
                  <a:srgbClr val="666666"/>
                </a:solidFill>
              </a:defRPr>
            </a:pPr>
            <a:r>
              <a:t>Collaborateurs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566160" y="2011680"/>
            <a:ext cx="2651760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400800" y="2011680"/>
            <a:ext cx="2651760" cy="16459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20040"/>
          <a:lstStyle/>
          <a:p>
            <a:pPr algn="ctr">
              <a:defRPr sz="3200" b="1">
                <a:solidFill>
                  <a:srgbClr val="003366"/>
                </a:solidFill>
              </a:defRPr>
            </a:pPr>
            <a:r>
              <a:t>120+</a:t>
            </a:r>
          </a:p>
          <a:p>
            <a:pPr algn="ctr">
              <a:defRPr sz="1200">
                <a:solidFill>
                  <a:srgbClr val="666666"/>
                </a:solidFill>
              </a:defRPr>
            </a:pPr>
            <a:r>
              <a:t>Pays d'implantation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0" y="2011680"/>
            <a:ext cx="2651760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9235440" y="2011680"/>
            <a:ext cx="2651760" cy="16459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20040"/>
          <a:lstStyle/>
          <a:p>
            <a:pPr algn="ctr">
              <a:defRPr sz="3200" b="1">
                <a:solidFill>
                  <a:srgbClr val="003366"/>
                </a:solidFill>
              </a:defRPr>
            </a:pPr>
            <a:r>
              <a:t>6,3 Mds</a:t>
            </a:r>
          </a:p>
          <a:p>
            <a:pPr algn="ctr">
              <a:defRPr sz="1200">
                <a:solidFill>
                  <a:srgbClr val="666666"/>
                </a:solidFill>
              </a:defRPr>
            </a:pPr>
            <a:r>
              <a:t>Resultat operationnel (EUR)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235440" y="2011680"/>
            <a:ext cx="2651760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40233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 i="0">
                <a:solidFill>
                  <a:srgbClr val="003366"/>
                </a:solidFill>
              </a:defRPr>
            </a:pPr>
            <a:r>
              <a:t>Modele decentralise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28800" y="4480560"/>
            <a:ext cx="8686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 i="0">
                <a:solidFill>
                  <a:srgbClr val="666666"/>
                </a:solidFill>
              </a:defRPr>
            </a:pPr>
            <a:r>
              <a:t>Autonomie des Business Units, agilite locale, mutualisation des expertises</a:t>
            </a:r>
          </a:p>
          <a:p>
            <a:pPr algn="ctr">
              <a:defRPr sz="1400" b="0" i="0">
                <a:solidFill>
                  <a:srgbClr val="666666"/>
                </a:solidFill>
              </a:defRPr>
            </a:pPr>
            <a:r>
              <a:t>Structure holding + entites operationnelles specialisees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114800" cy="68580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377440"/>
            <a:ext cx="3200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0" b="1" i="0">
                <a:solidFill>
                  <a:srgbClr val="FFFFFF"/>
                </a:solidFill>
              </a:defRPr>
            </a:pPr>
            <a:r>
              <a:t>03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0" y="2286000"/>
            <a:ext cx="36576" cy="22860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937760" y="2286000"/>
            <a:ext cx="6858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 i="0">
                <a:solidFill>
                  <a:srgbClr val="003366"/>
                </a:solidFill>
              </a:defRPr>
            </a:pPr>
            <a:r>
              <a:t>L'equipe et son fonctionnement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937760" y="3566160"/>
            <a:ext cx="6858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 i="1">
                <a:solidFill>
                  <a:srgbClr val="666666"/>
                </a:solidFill>
              </a:defRPr>
            </a:pPr>
            <a:r>
              <a:t>VESI, direction, equipe et methode de travail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004D99"/>
                </a:solidFill>
              </a:defRPr>
            </a:pPr>
            <a:r>
              <a:t>L'EQUIPE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 i="0">
                <a:solidFill>
                  <a:srgbClr val="003366"/>
                </a:solidFill>
              </a:defRPr>
            </a:pPr>
            <a:r>
              <a:t>VESI - Organisation interne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097280"/>
            <a:ext cx="1645920" cy="36576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11535" y="6611112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 i="0">
                <a:solidFill>
                  <a:srgbClr val="FFFFFF"/>
                </a:solidFill>
              </a:defRPr>
            </a:pPr>
            <a:r>
              <a:t>9 / 32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611112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FFFFFF"/>
                </a:solidFill>
              </a:defRPr>
            </a:pPr>
            <a:r>
              <a:t>Soutenance PFE - Ahmed BOURAZZA - VESI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937760" y="1371600"/>
            <a:ext cx="2286000" cy="640080"/>
          </a:xfrm>
          <a:prstGeom prst="round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defRPr sz="1700" b="1">
                <a:solidFill>
                  <a:srgbClr val="FFFFFF"/>
                </a:solidFill>
              </a:defRPr>
            </a:pPr>
            <a:r>
              <a:t>VESI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205740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 i="1">
                <a:solidFill>
                  <a:srgbClr val="666666"/>
                </a:solidFill>
              </a:defRPr>
            </a:pPr>
            <a:r>
              <a:t>VINCI Energies Systemes d'Information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035040" y="2377440"/>
            <a:ext cx="27432" cy="365760"/>
          </a:xfrm>
          <a:prstGeom prst="rect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188720" y="2743200"/>
            <a:ext cx="9692640" cy="27432"/>
          </a:xfrm>
          <a:prstGeom prst="rect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965960" y="2743200"/>
            <a:ext cx="27432" cy="320040"/>
          </a:xfrm>
          <a:prstGeom prst="rect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31520" y="3063240"/>
            <a:ext cx="2514600" cy="822960"/>
          </a:xfrm>
          <a:prstGeom prst="round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Direction</a:t>
            </a:r>
          </a:p>
          <a:p>
            <a:pPr algn="ctr">
              <a:defRPr sz="1300" b="1">
                <a:solidFill>
                  <a:srgbClr val="FFFFFF"/>
                </a:solidFill>
              </a:defRPr>
            </a:pPr>
            <a:r>
              <a:t>Infrastructure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68680" y="4069080"/>
            <a:ext cx="2240280" cy="384048"/>
          </a:xfrm>
          <a:prstGeom prst="rect">
            <a:avLst/>
          </a:prstGeom>
          <a:solidFill>
            <a:srgbClr val="F0F0F0"/>
          </a:solidFill>
          <a:ln w="9525"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0">
                <a:solidFill>
                  <a:srgbClr val="333333"/>
                </a:solidFill>
              </a:defRPr>
            </a:pPr>
            <a:r>
              <a:t>Reseau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68680" y="4572000"/>
            <a:ext cx="2240280" cy="384048"/>
          </a:xfrm>
          <a:prstGeom prst="rect">
            <a:avLst/>
          </a:prstGeom>
          <a:solidFill>
            <a:srgbClr val="F0F0F0"/>
          </a:solidFill>
          <a:ln w="9525"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0">
                <a:solidFill>
                  <a:srgbClr val="333333"/>
                </a:solidFill>
              </a:defRPr>
            </a:pPr>
            <a:r>
              <a:t>Systemes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68680" y="5074920"/>
            <a:ext cx="2240280" cy="384048"/>
          </a:xfrm>
          <a:prstGeom prst="rect">
            <a:avLst/>
          </a:prstGeom>
          <a:solidFill>
            <a:srgbClr val="F0F0F0"/>
          </a:solidFill>
          <a:ln w="9525"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0">
                <a:solidFill>
                  <a:srgbClr val="333333"/>
                </a:solidFill>
              </a:defRPr>
            </a:pPr>
            <a:r>
              <a:t>Cybersecurite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754880" y="2743200"/>
            <a:ext cx="27432" cy="320040"/>
          </a:xfrm>
          <a:prstGeom prst="rect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3520440" y="3063240"/>
            <a:ext cx="2514600" cy="822960"/>
          </a:xfrm>
          <a:prstGeom prst="round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Direction</a:t>
            </a:r>
          </a:p>
          <a:p>
            <a:pPr algn="ctr">
              <a:defRPr sz="1300" b="1">
                <a:solidFill>
                  <a:srgbClr val="FFFFFF"/>
                </a:solidFill>
              </a:defRPr>
            </a:pPr>
            <a:r>
              <a:t>Custom Applications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0" y="4069080"/>
            <a:ext cx="2240280" cy="384048"/>
          </a:xfrm>
          <a:prstGeom prst="rect">
            <a:avLst/>
          </a:prstGeom>
          <a:solidFill>
            <a:srgbClr val="E8F5E9"/>
          </a:solidFill>
          <a:ln w="19050">
            <a:solidFill>
              <a:srgbClr val="2E8B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2E8B3D"/>
                </a:solidFill>
              </a:defRPr>
            </a:pPr>
            <a:r>
              <a:t>Collaborative Solutions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0" y="4572000"/>
            <a:ext cx="2240280" cy="384048"/>
          </a:xfrm>
          <a:prstGeom prst="rect">
            <a:avLst/>
          </a:prstGeom>
          <a:solidFill>
            <a:srgbClr val="F0F0F0"/>
          </a:solidFill>
          <a:ln w="9525"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0">
                <a:solidFill>
                  <a:srgbClr val="333333"/>
                </a:solidFill>
              </a:defRPr>
            </a:pPr>
            <a:r>
              <a:t>Metier RH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0" y="5074920"/>
            <a:ext cx="2240280" cy="384048"/>
          </a:xfrm>
          <a:prstGeom prst="rect">
            <a:avLst/>
          </a:prstGeom>
          <a:solidFill>
            <a:srgbClr val="F0F0F0"/>
          </a:solidFill>
          <a:ln w="9525"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0">
                <a:solidFill>
                  <a:srgbClr val="333333"/>
                </a:solidFill>
              </a:defRPr>
            </a:pPr>
            <a:r>
              <a:t>Finance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543800" y="2743200"/>
            <a:ext cx="27432" cy="320040"/>
          </a:xfrm>
          <a:prstGeom prst="rect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309360" y="3063240"/>
            <a:ext cx="2514600" cy="822960"/>
          </a:xfrm>
          <a:prstGeom prst="round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Direction</a:t>
            </a:r>
          </a:p>
          <a:p>
            <a:pPr algn="ctr">
              <a:defRPr sz="1300" b="1">
                <a:solidFill>
                  <a:srgbClr val="FFFFFF"/>
                </a:solidFill>
              </a:defRPr>
            </a:pPr>
            <a:r>
              <a:t>Data &amp; BI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46520" y="4069080"/>
            <a:ext cx="2240280" cy="384048"/>
          </a:xfrm>
          <a:prstGeom prst="rect">
            <a:avLst/>
          </a:prstGeom>
          <a:solidFill>
            <a:srgbClr val="F0F0F0"/>
          </a:solidFill>
          <a:ln w="9525"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0">
                <a:solidFill>
                  <a:srgbClr val="333333"/>
                </a:solidFill>
              </a:defRPr>
            </a:pPr>
            <a:r>
              <a:t>Data Platform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46520" y="4572000"/>
            <a:ext cx="2240280" cy="384048"/>
          </a:xfrm>
          <a:prstGeom prst="rect">
            <a:avLst/>
          </a:prstGeom>
          <a:solidFill>
            <a:srgbClr val="F0F0F0"/>
          </a:solidFill>
          <a:ln w="9525"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0">
                <a:solidFill>
                  <a:srgbClr val="333333"/>
                </a:solidFill>
              </a:defRPr>
            </a:pPr>
            <a:r>
              <a:t>Reporting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46520" y="5074920"/>
            <a:ext cx="2240280" cy="384048"/>
          </a:xfrm>
          <a:prstGeom prst="rect">
            <a:avLst/>
          </a:prstGeom>
          <a:solidFill>
            <a:srgbClr val="F0F0F0"/>
          </a:solidFill>
          <a:ln w="9525"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0">
                <a:solidFill>
                  <a:srgbClr val="333333"/>
                </a:solidFill>
              </a:defRPr>
            </a:pPr>
            <a:r>
              <a:t>Analytics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0332720" y="2743200"/>
            <a:ext cx="27432" cy="320040"/>
          </a:xfrm>
          <a:prstGeom prst="rect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9098280" y="3063240"/>
            <a:ext cx="2514600" cy="822960"/>
          </a:xfrm>
          <a:prstGeom prst="round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Direction</a:t>
            </a:r>
          </a:p>
          <a:p>
            <a:pPr algn="ctr">
              <a:defRPr sz="1300" b="1">
                <a:solidFill>
                  <a:srgbClr val="FFFFFF"/>
                </a:solidFill>
              </a:defRPr>
            </a:pPr>
            <a:r>
              <a:t>Support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235440" y="4069080"/>
            <a:ext cx="2240280" cy="384048"/>
          </a:xfrm>
          <a:prstGeom prst="rect">
            <a:avLst/>
          </a:prstGeom>
          <a:solidFill>
            <a:srgbClr val="F0F0F0"/>
          </a:solidFill>
          <a:ln w="9525"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0">
                <a:solidFill>
                  <a:srgbClr val="333333"/>
                </a:solidFill>
              </a:defRPr>
            </a:pPr>
            <a:r>
              <a:t>Helpdesk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235440" y="4572000"/>
            <a:ext cx="2240280" cy="384048"/>
          </a:xfrm>
          <a:prstGeom prst="rect">
            <a:avLst/>
          </a:prstGeom>
          <a:solidFill>
            <a:srgbClr val="F0F0F0"/>
          </a:solidFill>
          <a:ln w="9525"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0">
                <a:solidFill>
                  <a:srgbClr val="333333"/>
                </a:solidFill>
              </a:defRPr>
            </a:pPr>
            <a:r>
              <a:t>Postes de travail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235440" y="5074920"/>
            <a:ext cx="2240280" cy="384048"/>
          </a:xfrm>
          <a:prstGeom prst="rect">
            <a:avLst/>
          </a:prstGeom>
          <a:solidFill>
            <a:srgbClr val="F0F0F0"/>
          </a:solidFill>
          <a:ln w="9525"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0">
                <a:solidFill>
                  <a:srgbClr val="333333"/>
                </a:solidFill>
              </a:defRPr>
            </a:pPr>
            <a:r>
              <a:t>Achats IT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114800" y="6080760"/>
            <a:ext cx="365760" cy="274320"/>
          </a:xfrm>
          <a:prstGeom prst="roundRect">
            <a:avLst/>
          </a:prstGeom>
          <a:solidFill>
            <a:srgbClr val="2E8B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defRPr sz="1000" b="0">
                <a:solidFill>
                  <a:srgbClr val="FFFFFF"/>
                </a:solidFill>
              </a:defRPr>
            </a:pPr>
          </a:p>
        </p:txBody>
      </p:sp>
      <p:sp>
        <p:nvSpPr>
          <p:cNvPr id="34" name="TextBox 33"/>
          <p:cNvSpPr txBox="1"/>
          <p:nvPr/>
        </p:nvSpPr>
        <p:spPr>
          <a:xfrm>
            <a:off x="4572000" y="6080760"/>
            <a:ext cx="6858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 i="1">
                <a:solidFill>
                  <a:srgbClr val="2E8B3D"/>
                </a:solidFill>
              </a:defRPr>
            </a:pPr>
            <a:r>
              <a:t>Equipe d'accueil : Group Collaborative Solutions (GCS)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004D99"/>
                </a:solidFill>
              </a:defRPr>
            </a:pPr>
            <a:r>
              <a:t>L'EQUIPE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 i="0">
                <a:solidFill>
                  <a:srgbClr val="003366"/>
                </a:solidFill>
              </a:defRPr>
            </a:pPr>
            <a:r>
              <a:t>Applications cles gerees par l'equipe GCS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097280"/>
            <a:ext cx="1645920" cy="36576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11535" y="6611112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 i="0">
                <a:solidFill>
                  <a:srgbClr val="FFFFFF"/>
                </a:solidFill>
              </a:defRPr>
            </a:pPr>
            <a:r>
              <a:t>10 / 32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611112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FFFFFF"/>
                </a:solidFill>
              </a:defRPr>
            </a:pPr>
            <a:r>
              <a:t>Soutenance PFE - Ahmed BOURAZZA - VESI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2801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1">
                <a:solidFill>
                  <a:srgbClr val="666666"/>
                </a:solidFill>
              </a:defRPr>
            </a:pPr>
            <a:r>
              <a:t>Portefeuille applicatif collaboratif de VINCI Energies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1828800"/>
            <a:ext cx="3566160" cy="12801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914400" y="2011680"/>
            <a:ext cx="914400" cy="914400"/>
          </a:xfrm>
          <a:prstGeom prst="rect">
            <a:avLst/>
          </a:prstGeom>
          <a:solidFill>
            <a:srgbClr val="F0F0F0"/>
          </a:solidFill>
          <a:ln w="12700">
            <a:solidFill>
              <a:srgbClr val="CCCCCC"/>
            </a:solidFill>
            <a:prstDash val="lg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i="1">
                <a:solidFill>
                  <a:srgbClr val="666666"/>
                </a:solidFill>
              </a:defRPr>
            </a:pPr>
            <a:r>
              <a:t>[ Logo ]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11680" y="201168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003366"/>
                </a:solidFill>
              </a:defRPr>
            </a:pPr>
            <a:r>
              <a:t>Connect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11680" y="246888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666666"/>
                </a:solidFill>
              </a:defRPr>
            </a:pPr>
            <a:r>
              <a:t>Reseau social interne d'entreprise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0" y="1828800"/>
            <a:ext cx="3566160" cy="12801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754880" y="2011680"/>
            <a:ext cx="914400" cy="914400"/>
          </a:xfrm>
          <a:prstGeom prst="rect">
            <a:avLst/>
          </a:prstGeom>
          <a:solidFill>
            <a:srgbClr val="F0F0F0"/>
          </a:solidFill>
          <a:ln w="12700">
            <a:solidFill>
              <a:srgbClr val="CCCCCC"/>
            </a:solidFill>
            <a:prstDash val="lg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i="1">
                <a:solidFill>
                  <a:srgbClr val="666666"/>
                </a:solidFill>
              </a:defRPr>
            </a:pPr>
            <a:r>
              <a:t>[ Logo ]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52160" y="201168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003366"/>
                </a:solidFill>
              </a:defRPr>
            </a:pPr>
            <a:r>
              <a:t>DBF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52160" y="246888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666666"/>
                </a:solidFill>
              </a:defRPr>
            </a:pPr>
            <a:r>
              <a:t>Directory Business Framework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412480" y="1828800"/>
            <a:ext cx="3566160" cy="12801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595360" y="2011680"/>
            <a:ext cx="914400" cy="914400"/>
          </a:xfrm>
          <a:prstGeom prst="rect">
            <a:avLst/>
          </a:prstGeom>
          <a:solidFill>
            <a:srgbClr val="F0F0F0"/>
          </a:solidFill>
          <a:ln w="12700">
            <a:solidFill>
              <a:srgbClr val="CCCCCC"/>
            </a:solidFill>
            <a:prstDash val="lg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i="1">
                <a:solidFill>
                  <a:srgbClr val="666666"/>
                </a:solidFill>
              </a:defRPr>
            </a:pPr>
            <a:r>
              <a:t>[ Logo ]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92640" y="201168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003366"/>
                </a:solidFill>
              </a:defRPr>
            </a:pPr>
            <a:r>
              <a:t>CS BAG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92640" y="246888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666666"/>
                </a:solidFill>
              </a:defRPr>
            </a:pPr>
            <a:r>
              <a:t>Inventaire du patrimoine applicatif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1520" y="3383280"/>
            <a:ext cx="3566160" cy="12801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14400" y="3566160"/>
            <a:ext cx="914400" cy="914400"/>
          </a:xfrm>
          <a:prstGeom prst="rect">
            <a:avLst/>
          </a:prstGeom>
          <a:solidFill>
            <a:srgbClr val="F0F0F0"/>
          </a:solidFill>
          <a:ln w="12700">
            <a:solidFill>
              <a:srgbClr val="CCCCCC"/>
            </a:solidFill>
            <a:prstDash val="lg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i="1">
                <a:solidFill>
                  <a:srgbClr val="666666"/>
                </a:solidFill>
              </a:defRPr>
            </a:pPr>
            <a:r>
              <a:t>[ Logo ]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011680" y="356616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003366"/>
                </a:solidFill>
              </a:defRPr>
            </a:pPr>
            <a:r>
              <a:t>MyVIEW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011680" y="402336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666666"/>
                </a:solidFill>
              </a:defRPr>
            </a:pPr>
            <a:r>
              <a:t>Portail collaboratif projets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572000" y="3383280"/>
            <a:ext cx="3566160" cy="12801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754880" y="3566160"/>
            <a:ext cx="914400" cy="914400"/>
          </a:xfrm>
          <a:prstGeom prst="rect">
            <a:avLst/>
          </a:prstGeom>
          <a:solidFill>
            <a:srgbClr val="F0F0F0"/>
          </a:solidFill>
          <a:ln w="12700">
            <a:solidFill>
              <a:srgbClr val="CCCCCC"/>
            </a:solidFill>
            <a:prstDash val="lg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i="1">
                <a:solidFill>
                  <a:srgbClr val="666666"/>
                </a:solidFill>
              </a:defRPr>
            </a:pPr>
            <a:r>
              <a:t>[ Logo ]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852160" y="356616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003366"/>
                </a:solidFill>
              </a:defRPr>
            </a:pPr>
            <a:r>
              <a:t>Elium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852160" y="402336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666666"/>
                </a:solidFill>
              </a:defRPr>
            </a:pPr>
            <a:r>
              <a:t>Base de connaissances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412480" y="3383280"/>
            <a:ext cx="3566160" cy="12801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595360" y="3566160"/>
            <a:ext cx="914400" cy="914400"/>
          </a:xfrm>
          <a:prstGeom prst="rect">
            <a:avLst/>
          </a:prstGeom>
          <a:solidFill>
            <a:srgbClr val="F0F0F0"/>
          </a:solidFill>
          <a:ln w="12700">
            <a:solidFill>
              <a:srgbClr val="CCCCCC"/>
            </a:solidFill>
            <a:prstDash val="lg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i="1">
                <a:solidFill>
                  <a:srgbClr val="666666"/>
                </a:solidFill>
              </a:defRPr>
            </a:pPr>
            <a:r>
              <a:t>[ Logo ]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692640" y="356616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003366"/>
                </a:solidFill>
              </a:defRPr>
            </a:pPr>
            <a:r>
              <a:t>Documents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692640" y="402336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666666"/>
                </a:solidFill>
              </a:defRPr>
            </a:pPr>
            <a:r>
              <a:t>GED / partage documentaire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004D99"/>
                </a:solidFill>
              </a:defRPr>
            </a:pPr>
            <a:r>
              <a:t>L'EQUIPE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 i="0">
                <a:solidFill>
                  <a:srgbClr val="003366"/>
                </a:solidFill>
              </a:defRPr>
            </a:pPr>
            <a:r>
              <a:t>Equipe projet CS BAG v2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097280"/>
            <a:ext cx="1645920" cy="36576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11535" y="6611112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 i="0">
                <a:solidFill>
                  <a:srgbClr val="FFFFFF"/>
                </a:solidFill>
              </a:defRPr>
            </a:pPr>
            <a:r>
              <a:t>11 / 32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611112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FFFFFF"/>
                </a:solidFill>
              </a:defRPr>
            </a:pPr>
            <a:r>
              <a:t>Soutenance PFE - Ahmed BOURAZZA - VESI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2801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 i="1">
                <a:solidFill>
                  <a:srgbClr val="666666"/>
                </a:solidFill>
              </a:defRPr>
            </a:pPr>
            <a:r>
              <a:t>4 personnes mobilisees sur la refonte de l'application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1920240"/>
            <a:ext cx="5394960" cy="1828800"/>
          </a:xfrm>
          <a:prstGeom prst="roundRect">
            <a:avLst/>
          </a:prstGeom>
          <a:solidFill>
            <a:srgbClr val="FFFFFF"/>
          </a:solidFill>
          <a:ln w="22225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31520" y="1920240"/>
            <a:ext cx="5394960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210312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003366"/>
                </a:solidFill>
              </a:defRPr>
            </a:pPr>
            <a:r>
              <a:t>Chef de projet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260604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333333"/>
                </a:solidFill>
              </a:defRPr>
            </a:pPr>
            <a:r>
              <a:t>Pilotage, planning, interface metier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2971800"/>
            <a:ext cx="4937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1">
                <a:solidFill>
                  <a:srgbClr val="666666"/>
                </a:solidFill>
              </a:defRPr>
            </a:pPr>
            <a:r>
              <a:t>Vision produit et priorisation des lots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0" y="1920240"/>
            <a:ext cx="5394960" cy="1828800"/>
          </a:xfrm>
          <a:prstGeom prst="roundRect">
            <a:avLst/>
          </a:prstGeom>
          <a:solidFill>
            <a:srgbClr val="FFFFFF"/>
          </a:solidFill>
          <a:ln w="22225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00800" y="1920240"/>
            <a:ext cx="5394960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75120" y="210312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003366"/>
                </a:solidFill>
              </a:defRPr>
            </a:pPr>
            <a:r>
              <a:t>Referent technique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75120" y="260604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333333"/>
                </a:solidFill>
              </a:defRPr>
            </a:pPr>
            <a:r>
              <a:t>Architecture, revue de code, validation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75120" y="2971800"/>
            <a:ext cx="4937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1">
                <a:solidFill>
                  <a:srgbClr val="666666"/>
                </a:solidFill>
              </a:defRPr>
            </a:pPr>
            <a:r>
              <a:t>Garant de la qualite technique et des choix d'archi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4114800"/>
            <a:ext cx="5394960" cy="1828800"/>
          </a:xfrm>
          <a:prstGeom prst="roundRect">
            <a:avLst/>
          </a:prstGeom>
          <a:solidFill>
            <a:srgbClr val="FFFFFF"/>
          </a:solidFill>
          <a:ln w="22225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31520" y="4114800"/>
            <a:ext cx="5394960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05840" y="429768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003366"/>
                </a:solidFill>
              </a:defRPr>
            </a:pPr>
            <a:r>
              <a:t>Analyste fonctionnel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5840" y="480060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333333"/>
                </a:solidFill>
              </a:defRPr>
            </a:pPr>
            <a:r>
              <a:t>Analyse besoins, redaction specifications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5840" y="5166360"/>
            <a:ext cx="4937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1">
                <a:solidFill>
                  <a:srgbClr val="666666"/>
                </a:solidFill>
              </a:defRPr>
            </a:pPr>
            <a:r>
              <a:t>Traduction du besoin en exigences testables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0" y="4114800"/>
            <a:ext cx="5394960" cy="1828800"/>
          </a:xfrm>
          <a:prstGeom prst="roundRect">
            <a:avLst/>
          </a:prstGeom>
          <a:solidFill>
            <a:srgbClr val="FFFFFF"/>
          </a:solidFill>
          <a:ln w="22225">
            <a:solidFill>
              <a:srgbClr val="2E8B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400800" y="4114800"/>
            <a:ext cx="5394960" cy="73152"/>
          </a:xfrm>
          <a:prstGeom prst="rect">
            <a:avLst/>
          </a:prstGeom>
          <a:solidFill>
            <a:srgbClr val="2E8B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675120" y="429768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2E8B3D"/>
                </a:solidFill>
              </a:defRPr>
            </a:pPr>
            <a:r>
              <a:t>Analyste developpeur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75120" y="480060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333333"/>
                </a:solidFill>
              </a:defRPr>
            </a:pPr>
            <a:r>
              <a:t>Developpement, tests, deploiement DEV/UAT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75120" y="5166360"/>
            <a:ext cx="4937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1">
                <a:solidFill>
                  <a:srgbClr val="666666"/>
                </a:solidFill>
              </a:defRPr>
            </a:pPr>
            <a:r>
              <a:t>Role occupe pendant mon stage PFE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004D99"/>
                </a:solidFill>
              </a:defRPr>
            </a:pPr>
            <a:r>
              <a:t>L'EQUIPE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 i="0">
                <a:solidFill>
                  <a:srgbClr val="003366"/>
                </a:solidFill>
              </a:defRPr>
            </a:pPr>
            <a:r>
              <a:t>Methode de travail et rituels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097280"/>
            <a:ext cx="1645920" cy="36576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11535" y="6611112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 i="0">
                <a:solidFill>
                  <a:srgbClr val="FFFFFF"/>
                </a:solidFill>
              </a:defRPr>
            </a:pPr>
            <a:r>
              <a:t>12 / 32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611112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FFFFFF"/>
                </a:solidFill>
              </a:defRPr>
            </a:pPr>
            <a:r>
              <a:t>Soutenance PFE - Ahmed BOURAZZA - VESI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2801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1">
                <a:solidFill>
                  <a:srgbClr val="666666"/>
                </a:solidFill>
              </a:defRPr>
            </a:pPr>
            <a:r>
              <a:t>Approche agile adaptee au contexte projet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18288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003366"/>
                </a:solidFill>
              </a:defRPr>
            </a:pPr>
            <a:r>
              <a:t>Cadre de travail</a:t>
            </a:r>
          </a:p>
        </p:txBody>
      </p:sp>
      <p:sp>
        <p:nvSpPr>
          <p:cNvPr id="11" name="Oval 10"/>
          <p:cNvSpPr/>
          <p:nvPr/>
        </p:nvSpPr>
        <p:spPr>
          <a:xfrm>
            <a:off x="822960" y="2423160"/>
            <a:ext cx="182880" cy="182880"/>
          </a:xfrm>
          <a:prstGeom prst="ellipse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43000" y="233172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 i="0">
                <a:solidFill>
                  <a:srgbClr val="003366"/>
                </a:solidFill>
              </a:defRPr>
            </a:pPr>
            <a:r>
              <a:t>Decoupage en lots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26517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666666"/>
                </a:solidFill>
              </a:defRPr>
            </a:pPr>
            <a:r>
              <a:t>3 lots fonctionnels definis dans le cahier des charges</a:t>
            </a:r>
          </a:p>
        </p:txBody>
      </p:sp>
      <p:sp>
        <p:nvSpPr>
          <p:cNvPr id="14" name="Oval 13"/>
          <p:cNvSpPr/>
          <p:nvPr/>
        </p:nvSpPr>
        <p:spPr>
          <a:xfrm>
            <a:off x="822960" y="3200400"/>
            <a:ext cx="182880" cy="182880"/>
          </a:xfrm>
          <a:prstGeom prst="ellipse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43000" y="310896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 i="0">
                <a:solidFill>
                  <a:srgbClr val="003366"/>
                </a:solidFill>
              </a:defRPr>
            </a:pPr>
            <a:r>
              <a:t>Sprints courts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43000" y="34290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666666"/>
                </a:solidFill>
              </a:defRPr>
            </a:pPr>
            <a:r>
              <a:t>Livraisons par fonctionnalite, iteratif et incremental</a:t>
            </a:r>
          </a:p>
        </p:txBody>
      </p:sp>
      <p:sp>
        <p:nvSpPr>
          <p:cNvPr id="17" name="Oval 16"/>
          <p:cNvSpPr/>
          <p:nvPr/>
        </p:nvSpPr>
        <p:spPr>
          <a:xfrm>
            <a:off x="822960" y="3977640"/>
            <a:ext cx="182880" cy="182880"/>
          </a:xfrm>
          <a:prstGeom prst="ellipse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43000" y="388620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 i="0">
                <a:solidFill>
                  <a:srgbClr val="003366"/>
                </a:solidFill>
              </a:defRPr>
            </a:pPr>
            <a:r>
              <a:t>Suivi Wrike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43000" y="42062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666666"/>
                </a:solidFill>
              </a:defRPr>
            </a:pPr>
            <a:r>
              <a:t>Backlog, taches et sous-taches trackees</a:t>
            </a:r>
          </a:p>
        </p:txBody>
      </p:sp>
      <p:sp>
        <p:nvSpPr>
          <p:cNvPr id="20" name="Oval 19"/>
          <p:cNvSpPr/>
          <p:nvPr/>
        </p:nvSpPr>
        <p:spPr>
          <a:xfrm>
            <a:off x="822960" y="4754880"/>
            <a:ext cx="182880" cy="182880"/>
          </a:xfrm>
          <a:prstGeom prst="ellipse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143000" y="466344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 i="0">
                <a:solidFill>
                  <a:srgbClr val="003366"/>
                </a:solidFill>
              </a:defRPr>
            </a:pPr>
            <a:r>
              <a:t>Documentation continue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43000" y="49834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666666"/>
                </a:solidFill>
              </a:defRPr>
            </a:pPr>
            <a:r>
              <a:t>Specs et documentation techniques a jour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18288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003366"/>
                </a:solidFill>
              </a:defRPr>
            </a:pPr>
            <a:r>
              <a:t>Rituels hebdomadaires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0" y="2331720"/>
            <a:ext cx="1005840" cy="548640"/>
          </a:xfrm>
          <a:prstGeom prst="roundRect">
            <a:avLst/>
          </a:prstGeom>
          <a:solidFill>
            <a:srgbClr val="004D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Lundi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589520" y="233172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 i="0">
                <a:solidFill>
                  <a:srgbClr val="003366"/>
                </a:solidFill>
              </a:defRPr>
            </a:pPr>
            <a:r>
              <a:t>Point d'avancement chef de projet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589520" y="265176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666666"/>
                </a:solidFill>
              </a:defRPr>
            </a:pPr>
            <a:r>
              <a:t>Bilan sprint + priorites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400800" y="3108960"/>
            <a:ext cx="1005840" cy="548640"/>
          </a:xfrm>
          <a:prstGeom prst="roundRect">
            <a:avLst/>
          </a:prstGeom>
          <a:solidFill>
            <a:srgbClr val="004D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Mercredi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589520" y="310896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 i="0">
                <a:solidFill>
                  <a:srgbClr val="003366"/>
                </a:solidFill>
              </a:defRPr>
            </a:pPr>
            <a:r>
              <a:t>Point technique avec referent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589520" y="342900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666666"/>
                </a:solidFill>
              </a:defRPr>
            </a:pPr>
            <a:r>
              <a:t>Revue de code, choix d'archi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400800" y="3886200"/>
            <a:ext cx="1005840" cy="548640"/>
          </a:xfrm>
          <a:prstGeom prst="roundRect">
            <a:avLst/>
          </a:prstGeom>
          <a:solidFill>
            <a:srgbClr val="004D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Vendredi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589520" y="388620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 i="0">
                <a:solidFill>
                  <a:srgbClr val="003366"/>
                </a:solidFill>
              </a:defRPr>
            </a:pPr>
            <a:r>
              <a:t>Point fonctionnel avec analyste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589520" y="420624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666666"/>
                </a:solidFill>
              </a:defRPr>
            </a:pPr>
            <a:r>
              <a:t>Validation specs &amp; recette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400800" y="4663440"/>
            <a:ext cx="1005840" cy="548640"/>
          </a:xfrm>
          <a:prstGeom prst="roundRect">
            <a:avLst/>
          </a:prstGeom>
          <a:solidFill>
            <a:srgbClr val="004D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Continu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589520" y="466344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 i="0">
                <a:solidFill>
                  <a:srgbClr val="003366"/>
                </a:solidFill>
              </a:defRPr>
            </a:pPr>
            <a:r>
              <a:t>Echanges directs equipe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589520" y="498348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666666"/>
                </a:solidFill>
              </a:defRPr>
            </a:pPr>
            <a:r>
              <a:t>Slack / points informels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114800" cy="68580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377440"/>
            <a:ext cx="3200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0" b="1" i="0">
                <a:solidFill>
                  <a:srgbClr val="FFFFFF"/>
                </a:solidFill>
              </a:defRPr>
            </a:pPr>
            <a:r>
              <a:t>04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0" y="2286000"/>
            <a:ext cx="36576" cy="22860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937760" y="2286000"/>
            <a:ext cx="6858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 i="0">
                <a:solidFill>
                  <a:srgbClr val="003366"/>
                </a:solidFill>
              </a:defRPr>
            </a:pPr>
            <a:r>
              <a:t>Missions du stage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114800" cy="68580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377440"/>
            <a:ext cx="3200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0" b="1" i="0">
                <a:solidFill>
                  <a:srgbClr val="FFFFFF"/>
                </a:solidFill>
              </a:defRPr>
            </a:pPr>
            <a:r>
              <a:t>05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0" y="2286000"/>
            <a:ext cx="36576" cy="22860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937760" y="2286000"/>
            <a:ext cx="6858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 i="0">
                <a:solidFill>
                  <a:srgbClr val="003366"/>
                </a:solidFill>
              </a:defRPr>
            </a:pPr>
            <a:r>
              <a:t>CS BAG v2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937760" y="3566160"/>
            <a:ext cx="6858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 i="1">
                <a:solidFill>
                  <a:srgbClr val="666666"/>
                </a:solidFill>
              </a:defRPr>
            </a:pPr>
            <a:r>
              <a:t>Mission principale : refonte de l'application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004D99"/>
                </a:solidFill>
              </a:defRPr>
            </a:pPr>
            <a:r>
              <a:t>CS BAG V2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 i="0">
                <a:solidFill>
                  <a:srgbClr val="003366"/>
                </a:solidFill>
              </a:defRPr>
            </a:pPr>
            <a:r>
              <a:t>CS BAG - Presentation de l'application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097280"/>
            <a:ext cx="1645920" cy="36576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11535" y="6611112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 i="0">
                <a:solidFill>
                  <a:srgbClr val="FFFFFF"/>
                </a:solidFill>
              </a:defRPr>
            </a:pPr>
            <a:r>
              <a:t>15 / 32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611112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FFFFFF"/>
                </a:solidFill>
              </a:defRPr>
            </a:pPr>
            <a:r>
              <a:t>Soutenance PFE - Ahmed BOURAZZA - VESI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1554480"/>
            <a:ext cx="3200400" cy="3200400"/>
          </a:xfrm>
          <a:prstGeom prst="rect">
            <a:avLst/>
          </a:prstGeom>
          <a:solidFill>
            <a:srgbClr val="F0F0F0"/>
          </a:solidFill>
          <a:ln w="12700">
            <a:solidFill>
              <a:srgbClr val="CCCCCC"/>
            </a:solidFill>
            <a:prstDash val="lg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i="1">
                <a:solidFill>
                  <a:srgbClr val="666666"/>
                </a:solidFill>
              </a:defRPr>
            </a:pPr>
            <a:r>
              <a:t>[ Logo CS BAG 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89120" y="1554480"/>
            <a:ext cx="7040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 i="0">
                <a:solidFill>
                  <a:srgbClr val="003366"/>
                </a:solidFill>
              </a:defRPr>
            </a:pPr>
            <a:r>
              <a:t>Collaborative Solutions Bag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89120" y="2103120"/>
            <a:ext cx="7040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 i="1">
                <a:solidFill>
                  <a:srgbClr val="2E8B3D"/>
                </a:solidFill>
              </a:defRPr>
            </a:pPr>
            <a:r>
              <a:t>Inventaire du patrimoine applicatif de VINCI Energies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89120" y="2651760"/>
            <a:ext cx="704088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333333"/>
                </a:solidFill>
              </a:defRPr>
            </a:pPr>
            <a:r>
              <a:t>CS BAG est l'application interne permettant a VINCI Energies de gerer l'ensemble de son patrimoine applicatif : elle recense les applications metier utilisees dans le groupe, leurs proprietaires, leur cycle de vie, leurs criticites, et permet de tracer les demandes de creation, modification et decommissionnement d'applications.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5029200"/>
            <a:ext cx="2606040" cy="1097280"/>
          </a:xfrm>
          <a:prstGeom prst="roundRect">
            <a:avLst/>
          </a:prstGeom>
          <a:solidFill>
            <a:srgbClr val="E8F0F8"/>
          </a:solidFill>
          <a:ln w="1270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37160"/>
          <a:lstStyle/>
          <a:p>
            <a:pPr algn="ctr">
              <a:defRPr sz="2000" b="1">
                <a:solidFill>
                  <a:srgbClr val="003366"/>
                </a:solidFill>
              </a:defRPr>
            </a:pPr>
            <a:r>
              <a:t>~2 500</a:t>
            </a:r>
          </a:p>
          <a:p>
            <a:pPr algn="ctr">
              <a:defRPr sz="1100">
                <a:solidFill>
                  <a:srgbClr val="666666"/>
                </a:solidFill>
              </a:defRPr>
            </a:pPr>
            <a:r>
              <a:t>Applications suivies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520440" y="5029200"/>
            <a:ext cx="2606040" cy="1097280"/>
          </a:xfrm>
          <a:prstGeom prst="roundRect">
            <a:avLst/>
          </a:prstGeom>
          <a:solidFill>
            <a:srgbClr val="E8F0F8"/>
          </a:solidFill>
          <a:ln w="1270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37160"/>
          <a:lstStyle/>
          <a:p>
            <a:pPr algn="ctr">
              <a:defRPr sz="2000" b="1">
                <a:solidFill>
                  <a:srgbClr val="003366"/>
                </a:solidFill>
              </a:defRPr>
            </a:pPr>
            <a:r>
              <a:t>Toutes BU</a:t>
            </a:r>
          </a:p>
          <a:p>
            <a:pPr algn="ctr">
              <a:defRPr sz="1100">
                <a:solidFill>
                  <a:srgbClr val="666666"/>
                </a:solidFill>
              </a:defRPr>
            </a:pPr>
            <a:r>
              <a:t>Perimetre VE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09360" y="5029200"/>
            <a:ext cx="2606040" cy="1097280"/>
          </a:xfrm>
          <a:prstGeom prst="roundRect">
            <a:avLst/>
          </a:prstGeom>
          <a:solidFill>
            <a:srgbClr val="E8F0F8"/>
          </a:solidFill>
          <a:ln w="1270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37160"/>
          <a:lstStyle/>
          <a:p>
            <a:pPr algn="ctr">
              <a:defRPr sz="2000" b="1">
                <a:solidFill>
                  <a:srgbClr val="003366"/>
                </a:solidFill>
              </a:defRPr>
            </a:pPr>
            <a:r>
              <a:t>2018</a:t>
            </a:r>
          </a:p>
          <a:p>
            <a:pPr algn="ctr">
              <a:defRPr sz="1100">
                <a:solidFill>
                  <a:srgbClr val="666666"/>
                </a:solidFill>
              </a:defRPr>
            </a:pPr>
            <a:r>
              <a:t>Premiere version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98280" y="5029200"/>
            <a:ext cx="2606040" cy="1097280"/>
          </a:xfrm>
          <a:prstGeom prst="roundRect">
            <a:avLst/>
          </a:prstGeom>
          <a:solidFill>
            <a:srgbClr val="E8F0F8"/>
          </a:solidFill>
          <a:ln w="1270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37160"/>
          <a:lstStyle/>
          <a:p>
            <a:pPr algn="ctr">
              <a:defRPr sz="2000" b="1">
                <a:solidFill>
                  <a:srgbClr val="003366"/>
                </a:solidFill>
              </a:defRPr>
            </a:pPr>
            <a:r>
              <a:t>Angular + .NET</a:t>
            </a:r>
          </a:p>
          <a:p>
            <a:pPr algn="ctr">
              <a:defRPr sz="1100">
                <a:solidFill>
                  <a:srgbClr val="666666"/>
                </a:solidFill>
              </a:defRPr>
            </a:pPr>
            <a:r>
              <a:t>Stack v2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004D99"/>
                </a:solidFill>
              </a:defRPr>
            </a:pPr>
            <a:r>
              <a:t>CS BAG V2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 i="0">
                <a:solidFill>
                  <a:srgbClr val="003366"/>
                </a:solidFill>
              </a:defRPr>
            </a:pPr>
            <a:r>
              <a:t>Cahier des charges - 3 lots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097280"/>
            <a:ext cx="1645920" cy="36576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11535" y="6611112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 i="0">
                <a:solidFill>
                  <a:srgbClr val="FFFFFF"/>
                </a:solidFill>
              </a:defRPr>
            </a:pPr>
            <a:r>
              <a:t>16 / 32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611112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FFFFFF"/>
                </a:solidFill>
              </a:defRPr>
            </a:pPr>
            <a:r>
              <a:t>Soutenance PFE - Ahmed BOURAZZA - VESI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2801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 i="1">
                <a:solidFill>
                  <a:srgbClr val="666666"/>
                </a:solidFill>
              </a:defRPr>
            </a:pPr>
            <a:r>
              <a:t>Perimetre initial defini avec le metier et le chef de projet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1920240"/>
            <a:ext cx="3520440" cy="42062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31520" y="1920240"/>
            <a:ext cx="3520440" cy="7772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Lot 1</a:t>
            </a:r>
          </a:p>
          <a:p>
            <a:pPr algn="ctr">
              <a:defRPr sz="1300">
                <a:solidFill>
                  <a:srgbClr val="FFFFFF"/>
                </a:solidFill>
              </a:defRPr>
            </a:pPr>
            <a:r>
              <a:t>Migration technique</a:t>
            </a:r>
          </a:p>
        </p:txBody>
      </p:sp>
      <p:sp>
        <p:nvSpPr>
          <p:cNvPr id="12" name="Oval 11"/>
          <p:cNvSpPr/>
          <p:nvPr/>
        </p:nvSpPr>
        <p:spPr>
          <a:xfrm>
            <a:off x="1005840" y="2990088"/>
            <a:ext cx="137160" cy="137160"/>
          </a:xfrm>
          <a:prstGeom prst="ellipse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34440" y="2880360"/>
            <a:ext cx="2926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333333"/>
                </a:solidFill>
              </a:defRPr>
            </a:pPr>
            <a:r>
              <a:t>Passage a Angular moderne</a:t>
            </a:r>
          </a:p>
        </p:txBody>
      </p:sp>
      <p:sp>
        <p:nvSpPr>
          <p:cNvPr id="14" name="Oval 13"/>
          <p:cNvSpPr/>
          <p:nvPr/>
        </p:nvSpPr>
        <p:spPr>
          <a:xfrm>
            <a:off x="1005840" y="3675888"/>
            <a:ext cx="137160" cy="137160"/>
          </a:xfrm>
          <a:prstGeom prst="ellipse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34440" y="3566160"/>
            <a:ext cx="2926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333333"/>
                </a:solidFill>
              </a:defRPr>
            </a:pPr>
            <a:r>
              <a:t>Migration API vers ASP.NET Core</a:t>
            </a:r>
          </a:p>
        </p:txBody>
      </p:sp>
      <p:sp>
        <p:nvSpPr>
          <p:cNvPr id="16" name="Oval 15"/>
          <p:cNvSpPr/>
          <p:nvPr/>
        </p:nvSpPr>
        <p:spPr>
          <a:xfrm>
            <a:off x="1005840" y="4361688"/>
            <a:ext cx="137160" cy="137160"/>
          </a:xfrm>
          <a:prstGeom prst="ellipse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234440" y="4251960"/>
            <a:ext cx="2926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333333"/>
                </a:solidFill>
              </a:defRPr>
            </a:pPr>
            <a:r>
              <a:t>Refonte du build &amp; CI/CD</a:t>
            </a:r>
          </a:p>
        </p:txBody>
      </p:sp>
      <p:sp>
        <p:nvSpPr>
          <p:cNvPr id="18" name="Oval 17"/>
          <p:cNvSpPr/>
          <p:nvPr/>
        </p:nvSpPr>
        <p:spPr>
          <a:xfrm>
            <a:off x="1005840" y="5047488"/>
            <a:ext cx="137160" cy="137160"/>
          </a:xfrm>
          <a:prstGeom prst="ellipse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234440" y="4937760"/>
            <a:ext cx="2926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333333"/>
                </a:solidFill>
              </a:defRPr>
            </a:pPr>
            <a:r>
              <a:t>Compatibilite navigateurs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480559" y="1920240"/>
            <a:ext cx="3520440" cy="42062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480559" y="1920240"/>
            <a:ext cx="3520440" cy="7772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Lot 2</a:t>
            </a:r>
          </a:p>
          <a:p>
            <a:pPr algn="ctr">
              <a:defRPr sz="1300">
                <a:solidFill>
                  <a:srgbClr val="FFFFFF"/>
                </a:solidFill>
              </a:defRPr>
            </a:pPr>
            <a:r>
              <a:t>Enrichissement fonctionnel</a:t>
            </a:r>
          </a:p>
        </p:txBody>
      </p:sp>
      <p:sp>
        <p:nvSpPr>
          <p:cNvPr id="22" name="Oval 21"/>
          <p:cNvSpPr/>
          <p:nvPr/>
        </p:nvSpPr>
        <p:spPr>
          <a:xfrm>
            <a:off x="4754879" y="2990088"/>
            <a:ext cx="137160" cy="137160"/>
          </a:xfrm>
          <a:prstGeom prst="ellipse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983479" y="2880360"/>
            <a:ext cx="2926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333333"/>
                </a:solidFill>
              </a:defRPr>
            </a:pPr>
            <a:r>
              <a:t>Nouveaux ecrans de saisie</a:t>
            </a:r>
          </a:p>
        </p:txBody>
      </p:sp>
      <p:sp>
        <p:nvSpPr>
          <p:cNvPr id="24" name="Oval 23"/>
          <p:cNvSpPr/>
          <p:nvPr/>
        </p:nvSpPr>
        <p:spPr>
          <a:xfrm>
            <a:off x="4754879" y="3675888"/>
            <a:ext cx="137160" cy="137160"/>
          </a:xfrm>
          <a:prstGeom prst="ellipse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983479" y="3566160"/>
            <a:ext cx="2926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333333"/>
                </a:solidFill>
              </a:defRPr>
            </a:pPr>
            <a:r>
              <a:t>Workflow de validation</a:t>
            </a:r>
          </a:p>
        </p:txBody>
      </p:sp>
      <p:sp>
        <p:nvSpPr>
          <p:cNvPr id="26" name="Oval 25"/>
          <p:cNvSpPr/>
          <p:nvPr/>
        </p:nvSpPr>
        <p:spPr>
          <a:xfrm>
            <a:off x="4754879" y="4361688"/>
            <a:ext cx="137160" cy="137160"/>
          </a:xfrm>
          <a:prstGeom prst="ellipse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983479" y="4251960"/>
            <a:ext cx="2926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333333"/>
                </a:solidFill>
              </a:defRPr>
            </a:pPr>
            <a:r>
              <a:t>Notifications email</a:t>
            </a:r>
          </a:p>
        </p:txBody>
      </p:sp>
      <p:sp>
        <p:nvSpPr>
          <p:cNvPr id="28" name="Oval 27"/>
          <p:cNvSpPr/>
          <p:nvPr/>
        </p:nvSpPr>
        <p:spPr>
          <a:xfrm>
            <a:off x="4754879" y="5047488"/>
            <a:ext cx="137160" cy="137160"/>
          </a:xfrm>
          <a:prstGeom prst="ellipse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983479" y="4937760"/>
            <a:ext cx="2926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333333"/>
                </a:solidFill>
              </a:defRPr>
            </a:pPr>
            <a:r>
              <a:t>Exports CSV / Excel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229598" y="1920240"/>
            <a:ext cx="3520440" cy="42062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229598" y="1920240"/>
            <a:ext cx="3520440" cy="7772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Lot 3</a:t>
            </a:r>
          </a:p>
          <a:p>
            <a:pPr algn="ctr">
              <a:defRPr sz="1300">
                <a:solidFill>
                  <a:srgbClr val="FFFFFF"/>
                </a:solidFill>
              </a:defRPr>
            </a:pPr>
            <a:r>
              <a:t>Reporting et donnees</a:t>
            </a:r>
          </a:p>
        </p:txBody>
      </p:sp>
      <p:sp>
        <p:nvSpPr>
          <p:cNvPr id="32" name="Oval 31"/>
          <p:cNvSpPr/>
          <p:nvPr/>
        </p:nvSpPr>
        <p:spPr>
          <a:xfrm>
            <a:off x="8503918" y="2990088"/>
            <a:ext cx="137160" cy="137160"/>
          </a:xfrm>
          <a:prstGeom prst="ellipse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732518" y="2880360"/>
            <a:ext cx="2926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333333"/>
                </a:solidFill>
              </a:defRPr>
            </a:pPr>
            <a:r>
              <a:t>Tableaux de bord metier</a:t>
            </a:r>
          </a:p>
        </p:txBody>
      </p:sp>
      <p:sp>
        <p:nvSpPr>
          <p:cNvPr id="34" name="Oval 33"/>
          <p:cNvSpPr/>
          <p:nvPr/>
        </p:nvSpPr>
        <p:spPr>
          <a:xfrm>
            <a:off x="8503918" y="3675888"/>
            <a:ext cx="137160" cy="137160"/>
          </a:xfrm>
          <a:prstGeom prst="ellipse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732518" y="3566160"/>
            <a:ext cx="2926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333333"/>
                </a:solidFill>
              </a:defRPr>
            </a:pPr>
            <a:r>
              <a:t>Filtres avances</a:t>
            </a:r>
          </a:p>
        </p:txBody>
      </p:sp>
      <p:sp>
        <p:nvSpPr>
          <p:cNvPr id="36" name="Oval 35"/>
          <p:cNvSpPr/>
          <p:nvPr/>
        </p:nvSpPr>
        <p:spPr>
          <a:xfrm>
            <a:off x="8503918" y="4361688"/>
            <a:ext cx="137160" cy="137160"/>
          </a:xfrm>
          <a:prstGeom prst="ellipse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732518" y="4251960"/>
            <a:ext cx="2926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333333"/>
                </a:solidFill>
              </a:defRPr>
            </a:pPr>
            <a:r>
              <a:t>Recherche multicriteres</a:t>
            </a:r>
          </a:p>
        </p:txBody>
      </p:sp>
      <p:sp>
        <p:nvSpPr>
          <p:cNvPr id="38" name="Oval 37"/>
          <p:cNvSpPr/>
          <p:nvPr/>
        </p:nvSpPr>
        <p:spPr>
          <a:xfrm>
            <a:off x="8503918" y="5047488"/>
            <a:ext cx="137160" cy="137160"/>
          </a:xfrm>
          <a:prstGeom prst="ellipse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732518" y="4937760"/>
            <a:ext cx="2926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333333"/>
                </a:solidFill>
              </a:defRPr>
            </a:pPr>
            <a:r>
              <a:t>Traçabilite des modifications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004D99"/>
                </a:solidFill>
              </a:defRPr>
            </a:pPr>
            <a:r>
              <a:t>CS BAG V2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 i="0">
                <a:solidFill>
                  <a:srgbClr val="003366"/>
                </a:solidFill>
              </a:defRPr>
            </a:pPr>
            <a:r>
              <a:t>Diagnostic personnel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097280"/>
            <a:ext cx="1645920" cy="36576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11535" y="6611112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 i="0">
                <a:solidFill>
                  <a:srgbClr val="FFFFFF"/>
                </a:solidFill>
              </a:defRPr>
            </a:pPr>
            <a:r>
              <a:t>17 / 32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611112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FFFFFF"/>
                </a:solidFill>
              </a:defRPr>
            </a:pPr>
            <a:r>
              <a:t>Soutenance PFE - Ahmed BOURAZZA - VESI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28016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 i="1">
                <a:solidFill>
                  <a:srgbClr val="666666"/>
                </a:solidFill>
              </a:defRPr>
            </a:pPr>
            <a:r>
              <a:t>Au-dela du cahier des charges : analyse approfondie de l'existant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937760" y="2011680"/>
            <a:ext cx="2286000" cy="731520"/>
          </a:xfrm>
          <a:prstGeom prst="roundRect">
            <a:avLst/>
          </a:prstGeom>
          <a:solidFill>
            <a:srgbClr val="2E8B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Diagnostic</a:t>
            </a:r>
          </a:p>
          <a:p>
            <a:pPr algn="ctr">
              <a:defRPr sz="1500" b="1">
                <a:solidFill>
                  <a:srgbClr val="FFFFFF"/>
                </a:solidFill>
              </a:defRPr>
            </a:pPr>
            <a:r>
              <a:t>Ahmed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194560" y="2743200"/>
            <a:ext cx="27432" cy="640080"/>
          </a:xfrm>
          <a:prstGeom prst="rect">
            <a:avLst/>
          </a:prstGeom>
          <a:solidFill>
            <a:srgbClr val="2E8B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31520" y="3383280"/>
            <a:ext cx="3429000" cy="2377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914400" y="3566160"/>
            <a:ext cx="457200" cy="457200"/>
          </a:xfrm>
          <a:prstGeom prst="ellipse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08760" y="3566160"/>
            <a:ext cx="2468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003366"/>
                </a:solidFill>
              </a:defRPr>
            </a:pPr>
            <a:r>
              <a:t>Socle technique obsolete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4480560"/>
            <a:ext cx="29260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666666"/>
                </a:solidFill>
              </a:defRPr>
            </a:pPr>
            <a:r>
              <a:t>Framework front deprecie, dependances non maintenues, risques de securite et difficultes d'evolution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943600" y="2743200"/>
            <a:ext cx="27432" cy="640080"/>
          </a:xfrm>
          <a:prstGeom prst="rect">
            <a:avLst/>
          </a:prstGeom>
          <a:solidFill>
            <a:srgbClr val="2E8B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480560" y="3383280"/>
            <a:ext cx="3429000" cy="2377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4663440" y="3566160"/>
            <a:ext cx="457200" cy="457200"/>
          </a:xfrm>
          <a:prstGeom prst="ellipse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57800" y="3566160"/>
            <a:ext cx="2468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003366"/>
                </a:solidFill>
              </a:defRPr>
            </a:pPr>
            <a:r>
              <a:t>Donnees non normalisees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54880" y="4480560"/>
            <a:ext cx="29260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666666"/>
                </a:solidFill>
              </a:defRPr>
            </a:pPr>
            <a:r>
              <a:t>Modele relationnel avec redondances, cles non explicites, requetes complexes et difficulte a evoluer le schema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692640" y="2743200"/>
            <a:ext cx="27432" cy="640080"/>
          </a:xfrm>
          <a:prstGeom prst="rect">
            <a:avLst/>
          </a:prstGeom>
          <a:solidFill>
            <a:srgbClr val="2E8B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8229600" y="3383280"/>
            <a:ext cx="3429000" cy="2377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8412480" y="3566160"/>
            <a:ext cx="457200" cy="457200"/>
          </a:xfrm>
          <a:prstGeom prst="ellipse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06840" y="3566160"/>
            <a:ext cx="2468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003366"/>
                </a:solidFill>
              </a:defRPr>
            </a:pPr>
            <a:r>
              <a:t>Endpoints API non normalises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03920" y="4480560"/>
            <a:ext cx="29260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666666"/>
                </a:solidFill>
              </a:defRPr>
            </a:pPr>
            <a:r>
              <a:t>Nommage incoherent, non-respect des bonnes pratiques REST, documentation quasi absente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" y="603504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 i="1">
                <a:solidFill>
                  <a:srgbClr val="2E8B3D"/>
                </a:solidFill>
              </a:defRPr>
            </a:pPr>
            <a:r>
              <a:t>-&gt; Ces 3 problemes doivent etre traites avant tout enrichissement fonctionnel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004D99"/>
                </a:solidFill>
              </a:defRPr>
            </a:pPr>
            <a:r>
              <a:t>CS BAG V2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 i="0">
                <a:solidFill>
                  <a:srgbClr val="003366"/>
                </a:solidFill>
              </a:defRPr>
            </a:pPr>
            <a:r>
              <a:t>Demarche de realisation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097280"/>
            <a:ext cx="1645920" cy="36576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11535" y="6611112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 i="0">
                <a:solidFill>
                  <a:srgbClr val="FFFFFF"/>
                </a:solidFill>
              </a:defRPr>
            </a:pPr>
            <a:r>
              <a:t>18 / 32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611112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FFFFFF"/>
                </a:solidFill>
              </a:defRPr>
            </a:pPr>
            <a:r>
              <a:t>Soutenance PFE - Ahmed BOURAZZA - VESI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2801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 i="1">
                <a:solidFill>
                  <a:srgbClr val="666666"/>
                </a:solidFill>
              </a:defRPr>
            </a:pPr>
            <a:r>
              <a:t>Processus applique pour la refonte ergonomique et l'evolution de l'API REST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12267" y="2194560"/>
            <a:ext cx="1417320" cy="1463040"/>
          </a:xfrm>
          <a:prstGeom prst="round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37160"/>
          <a:lstStyle/>
          <a:p>
            <a:pPr algn="ctr">
              <a:defRPr sz="1000" i="1">
                <a:solidFill>
                  <a:srgbClr val="FFFFFF"/>
                </a:solidFill>
              </a:defRPr>
            </a:pPr>
            <a:r>
              <a:t>Etape 1</a:t>
            </a:r>
          </a:p>
          <a:p>
            <a:pPr algn="ctr">
              <a:defRPr sz="1200" b="1">
                <a:solidFill>
                  <a:srgbClr val="FFFFFF"/>
                </a:solidFill>
              </a:defRPr>
            </a:pPr>
            <a:r>
              <a:t>Analyse</a:t>
            </a:r>
          </a:p>
          <a:p>
            <a:pPr algn="ctr">
              <a:defRPr sz="1200" b="1">
                <a:solidFill>
                  <a:srgbClr val="FFFFFF"/>
                </a:solidFill>
              </a:defRPr>
            </a:pPr>
            <a:r>
              <a:t>de l'existant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1747875" y="2697480"/>
            <a:ext cx="237744" cy="457200"/>
          </a:xfrm>
          <a:prstGeom prst="rightArrow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2003907" y="2194560"/>
            <a:ext cx="1417320" cy="1463040"/>
          </a:xfrm>
          <a:prstGeom prst="round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37160"/>
          <a:lstStyle/>
          <a:p>
            <a:pPr algn="ctr">
              <a:defRPr sz="1000" i="1">
                <a:solidFill>
                  <a:srgbClr val="FFFFFF"/>
                </a:solidFill>
              </a:defRPr>
            </a:pPr>
            <a:r>
              <a:t>Etape 2</a:t>
            </a:r>
          </a:p>
          <a:p>
            <a:pPr algn="ctr">
              <a:defRPr sz="1200" b="1">
                <a:solidFill>
                  <a:srgbClr val="FFFFFF"/>
                </a:solidFill>
              </a:defRPr>
            </a:pPr>
            <a:r>
              <a:t>Conception &amp;</a:t>
            </a:r>
          </a:p>
          <a:p>
            <a:pPr algn="ctr">
              <a:defRPr sz="1200" b="1">
                <a:solidFill>
                  <a:srgbClr val="FFFFFF"/>
                </a:solidFill>
              </a:defRPr>
            </a:pPr>
            <a:r>
              <a:t>implementation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3439515" y="2697480"/>
            <a:ext cx="237744" cy="457200"/>
          </a:xfrm>
          <a:prstGeom prst="rightArrow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3695547" y="2194560"/>
            <a:ext cx="1417320" cy="1463040"/>
          </a:xfrm>
          <a:prstGeom prst="round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37160"/>
          <a:lstStyle/>
          <a:p>
            <a:pPr algn="ctr">
              <a:defRPr sz="1000" i="1">
                <a:solidFill>
                  <a:srgbClr val="FFFFFF"/>
                </a:solidFill>
              </a:defRPr>
            </a:pPr>
            <a:r>
              <a:t>Etape 3</a:t>
            </a:r>
          </a:p>
          <a:p>
            <a:pPr algn="ctr">
              <a:defRPr sz="1200" b="1">
                <a:solidFill>
                  <a:srgbClr val="FFFFFF"/>
                </a:solidFill>
              </a:defRPr>
            </a:pPr>
            <a:r>
              <a:t>Deploiement</a:t>
            </a:r>
          </a:p>
          <a:p>
            <a:pPr algn="ctr">
              <a:defRPr sz="1200" b="1">
                <a:solidFill>
                  <a:srgbClr val="FFFFFF"/>
                </a:solidFill>
              </a:defRPr>
            </a:pPr>
            <a:r>
              <a:t>en DEV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5131155" y="2697480"/>
            <a:ext cx="237744" cy="457200"/>
          </a:xfrm>
          <a:prstGeom prst="rightArrow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5387187" y="2194560"/>
            <a:ext cx="1417320" cy="1463040"/>
          </a:xfrm>
          <a:prstGeom prst="round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37160"/>
          <a:lstStyle/>
          <a:p>
            <a:pPr algn="ctr">
              <a:defRPr sz="1000" i="1">
                <a:solidFill>
                  <a:srgbClr val="FFFFFF"/>
                </a:solidFill>
              </a:defRPr>
            </a:pPr>
            <a:r>
              <a:t>Etape 4</a:t>
            </a:r>
          </a:p>
          <a:p>
            <a:pPr algn="ctr">
              <a:defRPr sz="1200" b="1">
                <a:solidFill>
                  <a:srgbClr val="FFFFFF"/>
                </a:solidFill>
              </a:defRPr>
            </a:pPr>
            <a:r>
              <a:t>Deploiement</a:t>
            </a:r>
          </a:p>
          <a:p>
            <a:pPr algn="ctr">
              <a:defRPr sz="1200" b="1">
                <a:solidFill>
                  <a:srgbClr val="FFFFFF"/>
                </a:solidFill>
              </a:defRPr>
            </a:pPr>
            <a:r>
              <a:t>en UAT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6822795" y="2697480"/>
            <a:ext cx="237744" cy="457200"/>
          </a:xfrm>
          <a:prstGeom prst="rightArrow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7078827" y="2194560"/>
            <a:ext cx="1417320" cy="1463040"/>
          </a:xfrm>
          <a:prstGeom prst="round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37160"/>
          <a:lstStyle/>
          <a:p>
            <a:pPr algn="ctr">
              <a:defRPr sz="1000" i="1">
                <a:solidFill>
                  <a:srgbClr val="FFFFFF"/>
                </a:solidFill>
              </a:defRPr>
            </a:pPr>
            <a:r>
              <a:t>Etape 5</a:t>
            </a:r>
          </a:p>
          <a:p>
            <a:pPr algn="ctr">
              <a:defRPr sz="1200" b="1">
                <a:solidFill>
                  <a:srgbClr val="FFFFFF"/>
                </a:solidFill>
              </a:defRPr>
            </a:pPr>
            <a:r>
              <a:t>Retours</a:t>
            </a:r>
          </a:p>
          <a:p>
            <a:pPr algn="ctr">
              <a:defRPr sz="1200" b="1">
                <a:solidFill>
                  <a:srgbClr val="FFFFFF"/>
                </a:solidFill>
              </a:defRPr>
            </a:pPr>
            <a:r>
              <a:t>de recette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8514435" y="2697480"/>
            <a:ext cx="237744" cy="457200"/>
          </a:xfrm>
          <a:prstGeom prst="rightArrow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770467" y="2194560"/>
            <a:ext cx="1417320" cy="1463040"/>
          </a:xfrm>
          <a:prstGeom prst="round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37160"/>
          <a:lstStyle/>
          <a:p>
            <a:pPr algn="ctr">
              <a:defRPr sz="1000" i="1">
                <a:solidFill>
                  <a:srgbClr val="FFFFFF"/>
                </a:solidFill>
              </a:defRPr>
            </a:pPr>
            <a:r>
              <a:t>Etape 6</a:t>
            </a:r>
          </a:p>
          <a:p>
            <a:pPr algn="ctr">
              <a:defRPr sz="1200" b="1">
                <a:solidFill>
                  <a:srgbClr val="FFFFFF"/>
                </a:solidFill>
              </a:defRPr>
            </a:pPr>
            <a:r>
              <a:t>Correction</a:t>
            </a:r>
          </a:p>
          <a:p>
            <a:pPr algn="ctr">
              <a:defRPr sz="1200" b="1">
                <a:solidFill>
                  <a:srgbClr val="FFFFFF"/>
                </a:solidFill>
              </a:defRPr>
            </a:pPr>
            <a:r>
              <a:t>des bugs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10206075" y="2697480"/>
            <a:ext cx="237744" cy="457200"/>
          </a:xfrm>
          <a:prstGeom prst="rightArrow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10462107" y="2194560"/>
            <a:ext cx="1417320" cy="1463040"/>
          </a:xfrm>
          <a:prstGeom prst="round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37160"/>
          <a:lstStyle/>
          <a:p>
            <a:pPr algn="ctr">
              <a:defRPr sz="1000" i="1">
                <a:solidFill>
                  <a:srgbClr val="FFFFFF"/>
                </a:solidFill>
              </a:defRPr>
            </a:pPr>
            <a:r>
              <a:t>Etape 7</a:t>
            </a:r>
          </a:p>
          <a:p>
            <a:pPr algn="ctr">
              <a:defRPr sz="1200" b="1">
                <a:solidFill>
                  <a:srgbClr val="FFFFFF"/>
                </a:solidFill>
              </a:defRPr>
            </a:pPr>
            <a:r>
              <a:t>Redeploiement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371600" y="4297680"/>
            <a:ext cx="9418320" cy="1828800"/>
          </a:xfrm>
          <a:prstGeom prst="roundRect">
            <a:avLst/>
          </a:prstGeom>
          <a:solidFill>
            <a:srgbClr val="E8F0F8"/>
          </a:solidFill>
          <a:ln w="1270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645920" y="4480560"/>
            <a:ext cx="8869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 i="0">
                <a:solidFill>
                  <a:srgbClr val="003366"/>
                </a:solidFill>
              </a:defRPr>
            </a:pPr>
            <a:r>
              <a:t>Environnements &amp; garanties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645920" y="4846320"/>
            <a:ext cx="822960" cy="320040"/>
          </a:xfrm>
          <a:prstGeom prst="round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DEV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606040" y="4846320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333333"/>
                </a:solidFill>
              </a:defRPr>
            </a:pPr>
            <a:r>
              <a:t>Environnement de developpement, tests unitaires, integration continue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645920" y="5257800"/>
            <a:ext cx="822960" cy="320040"/>
          </a:xfrm>
          <a:prstGeom prst="round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UAT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06040" y="5257800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333333"/>
                </a:solidFill>
              </a:defRPr>
            </a:pPr>
            <a:r>
              <a:t>User Acceptance Testing - recette par le metier avant passage en PROD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645920" y="5669280"/>
            <a:ext cx="822960" cy="320040"/>
          </a:xfrm>
          <a:prstGeom prst="round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PROD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606040" y="5669280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333333"/>
                </a:solidFill>
              </a:defRPr>
            </a:pPr>
            <a:r>
              <a:t>Environnement de production - deploiement final apres validation UAT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004D99"/>
                </a:solidFill>
              </a:defRPr>
            </a:pPr>
            <a:r>
              <a:t>CS BAG V2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 i="0">
                <a:solidFill>
                  <a:srgbClr val="003366"/>
                </a:solidFill>
              </a:defRPr>
            </a:pPr>
            <a:r>
              <a:t>Normalisation de la base - Diagnostic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097280"/>
            <a:ext cx="1645920" cy="36576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11535" y="6611112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 i="0">
                <a:solidFill>
                  <a:srgbClr val="FFFFFF"/>
                </a:solidFill>
              </a:defRPr>
            </a:pPr>
            <a:r>
              <a:t>19 / 32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611112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FFFFFF"/>
                </a:solidFill>
              </a:defRPr>
            </a:pPr>
            <a:r>
              <a:t>Soutenance PFE - Ahmed BOURAZZA - VESI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2801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1">
                <a:solidFill>
                  <a:srgbClr val="666666"/>
                </a:solidFill>
              </a:defRPr>
            </a:pPr>
            <a:r>
              <a:t>Analyse du modele relationnel existant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1920240"/>
            <a:ext cx="5394960" cy="173736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31520" y="1920240"/>
            <a:ext cx="91440" cy="173736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210312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 i="0">
                <a:solidFill>
                  <a:srgbClr val="003366"/>
                </a:solidFill>
              </a:defRPr>
            </a:pPr>
            <a:r>
              <a:t>1. Redondance de donnees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2606040"/>
            <a:ext cx="48463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666666"/>
                </a:solidFill>
              </a:defRPr>
            </a:pPr>
            <a:r>
              <a:t>Meme information (ex. proprietaire d'application) recopiee dans plusieurs tables, avec risque de desynchronisation.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0" y="1920240"/>
            <a:ext cx="5394960" cy="173736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400800" y="1920240"/>
            <a:ext cx="91440" cy="173736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766560" y="210312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 i="0">
                <a:solidFill>
                  <a:srgbClr val="003366"/>
                </a:solidFill>
              </a:defRPr>
            </a:pPr>
            <a:r>
              <a:t>2. Cles etrangeres implicites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66560" y="2606040"/>
            <a:ext cx="48463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666666"/>
                </a:solidFill>
              </a:defRPr>
            </a:pPr>
            <a:r>
              <a:t>Relations exprimees par du texte ou des identifiants sans contrainte referentielle, integrite non garantie par la base.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3840480"/>
            <a:ext cx="5394960" cy="173736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31520" y="3840480"/>
            <a:ext cx="91440" cy="173736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97280" y="402336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 i="0">
                <a:solidFill>
                  <a:srgbClr val="003366"/>
                </a:solidFill>
              </a:defRPr>
            </a:pPr>
            <a:r>
              <a:t>3. Nommage incoherent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" y="4526280"/>
            <a:ext cx="48463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666666"/>
                </a:solidFill>
              </a:defRPr>
            </a:pPr>
            <a:r>
              <a:t>Colonnes en francais et anglais melanges, prefixes/suffixes non harmonises entre les tables.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0" y="3840480"/>
            <a:ext cx="5394960" cy="173736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400800" y="3840480"/>
            <a:ext cx="91440" cy="173736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766560" y="402336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 i="0">
                <a:solidFill>
                  <a:srgbClr val="003366"/>
                </a:solidFill>
              </a:defRPr>
            </a:pPr>
            <a:r>
              <a:t>4. Colonnes multi-valeurs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66560" y="4526280"/>
            <a:ext cx="48463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666666"/>
                </a:solidFill>
              </a:defRPr>
            </a:pPr>
            <a:r>
              <a:t>Champs stockant des listes en CSV dans une seule colonne, empechant les jointures et les filtres SQL propres.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004D99"/>
                </a:solidFill>
              </a:defRPr>
            </a:pPr>
            <a:r>
              <a:t>CS BAG V2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 i="0">
                <a:solidFill>
                  <a:srgbClr val="003366"/>
                </a:solidFill>
              </a:defRPr>
            </a:pPr>
            <a:r>
              <a:t>Normalisation de la base - Solutions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097280"/>
            <a:ext cx="1645920" cy="36576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11535" y="6611112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 i="0">
                <a:solidFill>
                  <a:srgbClr val="FFFFFF"/>
                </a:solidFill>
              </a:defRPr>
            </a:pPr>
            <a:r>
              <a:t>20 / 32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611112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FFFFFF"/>
                </a:solidFill>
              </a:defRPr>
            </a:pPr>
            <a:r>
              <a:t>Soutenance PFE - Ahmed BOURAZZA - VESI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2801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1">
                <a:solidFill>
                  <a:srgbClr val="666666"/>
                </a:solidFill>
              </a:defRPr>
            </a:pPr>
            <a:r>
              <a:t>Options etudiees et choix retenu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1828800"/>
            <a:ext cx="3520440" cy="4023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31520" y="1828800"/>
            <a:ext cx="3520440" cy="82296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Option A</a:t>
            </a:r>
          </a:p>
          <a:p>
            <a:pPr algn="ctr">
              <a:defRPr sz="1200">
                <a:solidFill>
                  <a:srgbClr val="FFFFFF"/>
                </a:solidFill>
              </a:defRPr>
            </a:pPr>
            <a:r>
              <a:t>Statu quo</a:t>
            </a:r>
          </a:p>
        </p:txBody>
      </p:sp>
      <p:sp>
        <p:nvSpPr>
          <p:cNvPr id="12" name="Oval 11"/>
          <p:cNvSpPr/>
          <p:nvPr/>
        </p:nvSpPr>
        <p:spPr>
          <a:xfrm>
            <a:off x="960120" y="2990088"/>
            <a:ext cx="137160" cy="137160"/>
          </a:xfrm>
          <a:prstGeom prst="ellipse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88720" y="2880360"/>
            <a:ext cx="29260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333333"/>
                </a:solidFill>
              </a:defRPr>
            </a:pPr>
            <a:r>
              <a:t>Corriger uniquement les cas critiques</a:t>
            </a:r>
          </a:p>
        </p:txBody>
      </p:sp>
      <p:sp>
        <p:nvSpPr>
          <p:cNvPr id="14" name="Oval 13"/>
          <p:cNvSpPr/>
          <p:nvPr/>
        </p:nvSpPr>
        <p:spPr>
          <a:xfrm>
            <a:off x="960120" y="3813048"/>
            <a:ext cx="137160" cy="137160"/>
          </a:xfrm>
          <a:prstGeom prst="ellipse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88720" y="3703320"/>
            <a:ext cx="29260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333333"/>
                </a:solidFill>
              </a:defRPr>
            </a:pPr>
            <a:r>
              <a:t>Aucun impact sur l'existant</a:t>
            </a:r>
          </a:p>
        </p:txBody>
      </p:sp>
      <p:sp>
        <p:nvSpPr>
          <p:cNvPr id="16" name="Oval 15"/>
          <p:cNvSpPr/>
          <p:nvPr/>
        </p:nvSpPr>
        <p:spPr>
          <a:xfrm>
            <a:off x="960120" y="4636008"/>
            <a:ext cx="137160" cy="137160"/>
          </a:xfrm>
          <a:prstGeom prst="ellipse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88720" y="4526280"/>
            <a:ext cx="29260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333333"/>
                </a:solidFill>
              </a:defRPr>
            </a:pPr>
            <a:r>
              <a:t>Dette technique conservee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480559" y="1828800"/>
            <a:ext cx="3520440" cy="40233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E8B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480559" y="1828800"/>
            <a:ext cx="3520440" cy="822960"/>
          </a:xfrm>
          <a:prstGeom prst="rect">
            <a:avLst/>
          </a:prstGeom>
          <a:solidFill>
            <a:srgbClr val="2E8B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Option B</a:t>
            </a:r>
          </a:p>
          <a:p>
            <a:pPr algn="ctr">
              <a:defRPr sz="1200">
                <a:solidFill>
                  <a:srgbClr val="FFFFFF"/>
                </a:solidFill>
              </a:defRPr>
            </a:pPr>
            <a:r>
              <a:t>Refactor progressif</a:t>
            </a:r>
          </a:p>
        </p:txBody>
      </p:sp>
      <p:sp>
        <p:nvSpPr>
          <p:cNvPr id="20" name="Oval 19"/>
          <p:cNvSpPr/>
          <p:nvPr/>
        </p:nvSpPr>
        <p:spPr>
          <a:xfrm>
            <a:off x="4709159" y="2990088"/>
            <a:ext cx="137160" cy="137160"/>
          </a:xfrm>
          <a:prstGeom prst="ellipse">
            <a:avLst/>
          </a:prstGeom>
          <a:solidFill>
            <a:srgbClr val="2E8B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937759" y="2880360"/>
            <a:ext cx="29260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333333"/>
                </a:solidFill>
              </a:defRPr>
            </a:pPr>
            <a:r>
              <a:t>Normalisation table par table</a:t>
            </a:r>
          </a:p>
        </p:txBody>
      </p:sp>
      <p:sp>
        <p:nvSpPr>
          <p:cNvPr id="22" name="Oval 21"/>
          <p:cNvSpPr/>
          <p:nvPr/>
        </p:nvSpPr>
        <p:spPr>
          <a:xfrm>
            <a:off x="4709159" y="3813048"/>
            <a:ext cx="137160" cy="137160"/>
          </a:xfrm>
          <a:prstGeom prst="ellipse">
            <a:avLst/>
          </a:prstGeom>
          <a:solidFill>
            <a:srgbClr val="2E8B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937759" y="3703320"/>
            <a:ext cx="29260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333333"/>
                </a:solidFill>
              </a:defRPr>
            </a:pPr>
            <a:r>
              <a:t>Migrations Entity Framework</a:t>
            </a:r>
          </a:p>
        </p:txBody>
      </p:sp>
      <p:sp>
        <p:nvSpPr>
          <p:cNvPr id="24" name="Oval 23"/>
          <p:cNvSpPr/>
          <p:nvPr/>
        </p:nvSpPr>
        <p:spPr>
          <a:xfrm>
            <a:off x="4709159" y="4636008"/>
            <a:ext cx="137160" cy="137160"/>
          </a:xfrm>
          <a:prstGeom prst="ellipse">
            <a:avLst/>
          </a:prstGeom>
          <a:solidFill>
            <a:srgbClr val="2E8B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937759" y="4526280"/>
            <a:ext cx="29260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333333"/>
                </a:solidFill>
              </a:defRPr>
            </a:pPr>
            <a:r>
              <a:t>Retenue - equilibre risque/valeur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577839" y="5943600"/>
            <a:ext cx="1371600" cy="320040"/>
          </a:xfrm>
          <a:prstGeom prst="roundRect">
            <a:avLst/>
          </a:prstGeom>
          <a:solidFill>
            <a:srgbClr val="2E8B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SOLUTION RETENUE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229598" y="1828800"/>
            <a:ext cx="3520440" cy="4023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229598" y="1828800"/>
            <a:ext cx="3520440" cy="82296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Option C</a:t>
            </a:r>
          </a:p>
          <a:p>
            <a:pPr algn="ctr">
              <a:defRPr sz="1200">
                <a:solidFill>
                  <a:srgbClr val="FFFFFF"/>
                </a:solidFill>
              </a:defRPr>
            </a:pPr>
            <a:r>
              <a:t>Reconstruction complete</a:t>
            </a:r>
          </a:p>
        </p:txBody>
      </p:sp>
      <p:sp>
        <p:nvSpPr>
          <p:cNvPr id="29" name="Oval 28"/>
          <p:cNvSpPr/>
          <p:nvPr/>
        </p:nvSpPr>
        <p:spPr>
          <a:xfrm>
            <a:off x="8458198" y="2990088"/>
            <a:ext cx="137160" cy="137160"/>
          </a:xfrm>
          <a:prstGeom prst="ellipse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686798" y="2880360"/>
            <a:ext cx="29260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333333"/>
                </a:solidFill>
              </a:defRPr>
            </a:pPr>
            <a:r>
              <a:t>Nouveau schema from scratch</a:t>
            </a:r>
          </a:p>
        </p:txBody>
      </p:sp>
      <p:sp>
        <p:nvSpPr>
          <p:cNvPr id="31" name="Oval 30"/>
          <p:cNvSpPr/>
          <p:nvPr/>
        </p:nvSpPr>
        <p:spPr>
          <a:xfrm>
            <a:off x="8458198" y="3813048"/>
            <a:ext cx="137160" cy="137160"/>
          </a:xfrm>
          <a:prstGeom prst="ellipse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686798" y="3703320"/>
            <a:ext cx="29260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333333"/>
                </a:solidFill>
              </a:defRPr>
            </a:pPr>
            <a:r>
              <a:t>Migration massive des donnees</a:t>
            </a:r>
          </a:p>
        </p:txBody>
      </p:sp>
      <p:sp>
        <p:nvSpPr>
          <p:cNvPr id="33" name="Oval 32"/>
          <p:cNvSpPr/>
          <p:nvPr/>
        </p:nvSpPr>
        <p:spPr>
          <a:xfrm>
            <a:off x="8458198" y="4636008"/>
            <a:ext cx="137160" cy="137160"/>
          </a:xfrm>
          <a:prstGeom prst="ellipse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686798" y="4526280"/>
            <a:ext cx="29260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333333"/>
                </a:solidFill>
              </a:defRPr>
            </a:pPr>
            <a:r>
              <a:t>Trop couteux pour le PFE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004D99"/>
                </a:solidFill>
              </a:defRPr>
            </a:pPr>
            <a:r>
              <a:t>CS BAG V2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 i="0">
                <a:solidFill>
                  <a:srgbClr val="003366"/>
                </a:solidFill>
              </a:defRPr>
            </a:pPr>
            <a:r>
              <a:t>Livraison iterative par sprint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097280"/>
            <a:ext cx="1645920" cy="36576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11535" y="6611112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 i="0">
                <a:solidFill>
                  <a:srgbClr val="FFFFFF"/>
                </a:solidFill>
              </a:defRPr>
            </a:pPr>
            <a:r>
              <a:t>21 / 32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611112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FFFFFF"/>
                </a:solidFill>
              </a:defRPr>
            </a:pPr>
            <a:r>
              <a:t>Soutenance PFE - Ahmed BOURAZZA - VESI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2801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 i="1">
                <a:solidFill>
                  <a:srgbClr val="666666"/>
                </a:solidFill>
              </a:defRPr>
            </a:pPr>
            <a:r>
              <a:t>Chaque fonctionnalite : developpee, testee et livree en DEV avant la suivante</a:t>
            </a:r>
          </a:p>
        </p:txBody>
      </p:sp>
      <p:sp>
        <p:nvSpPr>
          <p:cNvPr id="10" name="Rectangle 9"/>
          <p:cNvSpPr/>
          <p:nvPr/>
        </p:nvSpPr>
        <p:spPr>
          <a:xfrm>
            <a:off x="914400" y="2194560"/>
            <a:ext cx="10515600" cy="13716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2057400" y="2057400"/>
            <a:ext cx="411480" cy="411480"/>
          </a:xfrm>
          <a:prstGeom prst="ellipse">
            <a:avLst/>
          </a:prstGeom>
          <a:solidFill>
            <a:srgbClr val="003366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80160" y="2651760"/>
            <a:ext cx="1965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 i="0">
                <a:solidFill>
                  <a:srgbClr val="003366"/>
                </a:solidFill>
              </a:defRPr>
            </a:pPr>
            <a:r>
              <a:t>Sprint 1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280160" y="3108960"/>
            <a:ext cx="1965960" cy="1097280"/>
          </a:xfrm>
          <a:prstGeom prst="roundRect">
            <a:avLst/>
          </a:prstGeom>
          <a:solidFill>
            <a:srgbClr val="E8F0F8"/>
          </a:solidFill>
          <a:ln w="1270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>
                <a:solidFill>
                  <a:srgbClr val="333333"/>
                </a:solidFill>
              </a:defRPr>
            </a:pPr>
            <a:r>
              <a:t>Refactor auth</a:t>
            </a:r>
          </a:p>
          <a:p>
            <a:pPr algn="ctr">
              <a:defRPr sz="1100">
                <a:solidFill>
                  <a:srgbClr val="333333"/>
                </a:solidFill>
              </a:defRPr>
            </a:pPr>
            <a:r>
              <a:t>+ tables users</a:t>
            </a:r>
          </a:p>
        </p:txBody>
      </p:sp>
      <p:sp>
        <p:nvSpPr>
          <p:cNvPr id="14" name="Oval 13"/>
          <p:cNvSpPr/>
          <p:nvPr/>
        </p:nvSpPr>
        <p:spPr>
          <a:xfrm>
            <a:off x="4663440" y="2057400"/>
            <a:ext cx="411480" cy="411480"/>
          </a:xfrm>
          <a:prstGeom prst="ellipse">
            <a:avLst/>
          </a:prstGeom>
          <a:solidFill>
            <a:srgbClr val="003366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886200" y="2651760"/>
            <a:ext cx="1965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 i="0">
                <a:solidFill>
                  <a:srgbClr val="003366"/>
                </a:solidFill>
              </a:defRPr>
            </a:pPr>
            <a:r>
              <a:t>Sprint 2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886200" y="3108960"/>
            <a:ext cx="1965960" cy="1097280"/>
          </a:xfrm>
          <a:prstGeom prst="roundRect">
            <a:avLst/>
          </a:prstGeom>
          <a:solidFill>
            <a:srgbClr val="E8F0F8"/>
          </a:solidFill>
          <a:ln w="1270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>
                <a:solidFill>
                  <a:srgbClr val="333333"/>
                </a:solidFill>
              </a:defRPr>
            </a:pPr>
            <a:r>
              <a:t>Refactor apps</a:t>
            </a:r>
          </a:p>
          <a:p>
            <a:pPr algn="ctr">
              <a:defRPr sz="1100">
                <a:solidFill>
                  <a:srgbClr val="333333"/>
                </a:solidFill>
              </a:defRPr>
            </a:pPr>
            <a:r>
              <a:t>+ endpoints CRUD</a:t>
            </a:r>
          </a:p>
        </p:txBody>
      </p:sp>
      <p:sp>
        <p:nvSpPr>
          <p:cNvPr id="17" name="Oval 16"/>
          <p:cNvSpPr/>
          <p:nvPr/>
        </p:nvSpPr>
        <p:spPr>
          <a:xfrm>
            <a:off x="7269480" y="2057400"/>
            <a:ext cx="411480" cy="411480"/>
          </a:xfrm>
          <a:prstGeom prst="ellipse">
            <a:avLst/>
          </a:prstGeom>
          <a:solidFill>
            <a:srgbClr val="003366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92240" y="2651760"/>
            <a:ext cx="1965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 i="0">
                <a:solidFill>
                  <a:srgbClr val="003366"/>
                </a:solidFill>
              </a:defRPr>
            </a:pPr>
            <a:r>
              <a:t>Sprint 3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92240" y="3108960"/>
            <a:ext cx="1965960" cy="1097280"/>
          </a:xfrm>
          <a:prstGeom prst="roundRect">
            <a:avLst/>
          </a:prstGeom>
          <a:solidFill>
            <a:srgbClr val="E8F0F8"/>
          </a:solidFill>
          <a:ln w="1270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>
                <a:solidFill>
                  <a:srgbClr val="333333"/>
                </a:solidFill>
              </a:defRPr>
            </a:pPr>
            <a:r>
              <a:t>Workflow validation</a:t>
            </a:r>
          </a:p>
          <a:p>
            <a:pPr algn="ctr">
              <a:defRPr sz="1100">
                <a:solidFill>
                  <a:srgbClr val="333333"/>
                </a:solidFill>
              </a:defRPr>
            </a:pPr>
            <a:r>
              <a:t>+ notifications</a:t>
            </a:r>
          </a:p>
        </p:txBody>
      </p:sp>
      <p:sp>
        <p:nvSpPr>
          <p:cNvPr id="20" name="Oval 19"/>
          <p:cNvSpPr/>
          <p:nvPr/>
        </p:nvSpPr>
        <p:spPr>
          <a:xfrm>
            <a:off x="9875520" y="2057400"/>
            <a:ext cx="411480" cy="411480"/>
          </a:xfrm>
          <a:prstGeom prst="ellipse">
            <a:avLst/>
          </a:prstGeom>
          <a:solidFill>
            <a:srgbClr val="003366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098280" y="2651760"/>
            <a:ext cx="1965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 i="0">
                <a:solidFill>
                  <a:srgbClr val="003366"/>
                </a:solidFill>
              </a:defRPr>
            </a:pPr>
            <a:r>
              <a:t>Sprint 4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098280" y="3108960"/>
            <a:ext cx="1965960" cy="1097280"/>
          </a:xfrm>
          <a:prstGeom prst="roundRect">
            <a:avLst/>
          </a:prstGeom>
          <a:solidFill>
            <a:srgbClr val="E8F0F8"/>
          </a:solidFill>
          <a:ln w="1270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>
                <a:solidFill>
                  <a:srgbClr val="333333"/>
                </a:solidFill>
              </a:defRPr>
            </a:pPr>
            <a:r>
              <a:t>Reporting</a:t>
            </a:r>
          </a:p>
          <a:p>
            <a:pPr algn="ctr">
              <a:defRPr sz="1100">
                <a:solidFill>
                  <a:srgbClr val="333333"/>
                </a:solidFill>
              </a:defRPr>
            </a:pPr>
            <a:r>
              <a:t>+ exports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45720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 i="0">
                <a:solidFill>
                  <a:srgbClr val="003366"/>
                </a:solidFill>
              </a:defRPr>
            </a:pPr>
            <a:r>
              <a:t>Cycle par fonctionnalite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097280" y="5120640"/>
            <a:ext cx="1920240" cy="640080"/>
          </a:xfrm>
          <a:prstGeom prst="roundRect">
            <a:avLst/>
          </a:prstGeom>
          <a:solidFill>
            <a:srgbClr val="004D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Dev</a:t>
            </a:r>
          </a:p>
        </p:txBody>
      </p:sp>
      <p:sp>
        <p:nvSpPr>
          <p:cNvPr id="25" name="Right Arrow 24"/>
          <p:cNvSpPr/>
          <p:nvPr/>
        </p:nvSpPr>
        <p:spPr>
          <a:xfrm>
            <a:off x="3026664" y="5257800"/>
            <a:ext cx="146304" cy="365760"/>
          </a:xfrm>
          <a:prstGeom prst="rightArrow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3200400" y="5120640"/>
            <a:ext cx="1920240" cy="640080"/>
          </a:xfrm>
          <a:prstGeom prst="roundRect">
            <a:avLst/>
          </a:prstGeom>
          <a:solidFill>
            <a:srgbClr val="004D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Test unitaire</a:t>
            </a:r>
          </a:p>
        </p:txBody>
      </p:sp>
      <p:sp>
        <p:nvSpPr>
          <p:cNvPr id="27" name="Right Arrow 26"/>
          <p:cNvSpPr/>
          <p:nvPr/>
        </p:nvSpPr>
        <p:spPr>
          <a:xfrm>
            <a:off x="5129784" y="5257800"/>
            <a:ext cx="146304" cy="365760"/>
          </a:xfrm>
          <a:prstGeom prst="rightArrow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5303520" y="5120640"/>
            <a:ext cx="1920240" cy="640080"/>
          </a:xfrm>
          <a:prstGeom prst="roundRect">
            <a:avLst/>
          </a:prstGeom>
          <a:solidFill>
            <a:srgbClr val="004D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Test integration</a:t>
            </a:r>
          </a:p>
        </p:txBody>
      </p:sp>
      <p:sp>
        <p:nvSpPr>
          <p:cNvPr id="29" name="Right Arrow 28"/>
          <p:cNvSpPr/>
          <p:nvPr/>
        </p:nvSpPr>
        <p:spPr>
          <a:xfrm>
            <a:off x="7232904" y="5257800"/>
            <a:ext cx="146304" cy="365760"/>
          </a:xfrm>
          <a:prstGeom prst="rightArrow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7406640" y="5120640"/>
            <a:ext cx="1920240" cy="640080"/>
          </a:xfrm>
          <a:prstGeom prst="roundRect">
            <a:avLst/>
          </a:prstGeom>
          <a:solidFill>
            <a:srgbClr val="2E8B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Livraison DEV</a:t>
            </a:r>
          </a:p>
        </p:txBody>
      </p:sp>
      <p:sp>
        <p:nvSpPr>
          <p:cNvPr id="31" name="Right Arrow 30"/>
          <p:cNvSpPr/>
          <p:nvPr/>
        </p:nvSpPr>
        <p:spPr>
          <a:xfrm>
            <a:off x="9336024" y="5257800"/>
            <a:ext cx="146304" cy="365760"/>
          </a:xfrm>
          <a:prstGeom prst="rightArrow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9509760" y="5120640"/>
            <a:ext cx="1920240" cy="640080"/>
          </a:xfrm>
          <a:prstGeom prst="roundRect">
            <a:avLst/>
          </a:prstGeom>
          <a:solidFill>
            <a:srgbClr val="004D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Passage suivante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004D99"/>
                </a:solidFill>
              </a:defRPr>
            </a:pPr>
            <a:r>
              <a:t>CS BAG V2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 i="0">
                <a:solidFill>
                  <a:srgbClr val="003366"/>
                </a:solidFill>
              </a:defRPr>
            </a:pPr>
            <a:r>
              <a:t>Refonte ergonomique - Techniques appliquees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097280"/>
            <a:ext cx="1645920" cy="36576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11535" y="6611112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 i="0">
                <a:solidFill>
                  <a:srgbClr val="FFFFFF"/>
                </a:solidFill>
              </a:defRPr>
            </a:pPr>
            <a:r>
              <a:t>22 / 32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611112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FFFFFF"/>
                </a:solidFill>
              </a:defRPr>
            </a:pPr>
            <a:r>
              <a:t>Soutenance PFE - Ahmed BOURAZZA - VESI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2801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 i="1">
                <a:solidFill>
                  <a:srgbClr val="666666"/>
                </a:solidFill>
              </a:defRPr>
            </a:pPr>
            <a:r>
              <a:t>Accelerer le developpement grace a la reutilisation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18288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003366"/>
                </a:solidFill>
              </a:defRPr>
            </a:pPr>
            <a:r>
              <a:t>Composants Angular reutilisables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2377440"/>
            <a:ext cx="2468880" cy="365760"/>
          </a:xfrm>
          <a:prstGeom prst="rect">
            <a:avLst/>
          </a:prstGeom>
          <a:solidFill>
            <a:srgbClr val="F0F0F0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003366"/>
                </a:solidFill>
              </a:defRPr>
            </a:pPr>
            <a:r>
              <a:t>&lt;app-data-table&gt;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37560" y="242316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666666"/>
                </a:solidFill>
              </a:defRPr>
            </a:pPr>
            <a:r>
              <a:t>Tableau generique triable / filtrable / paginable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3246120"/>
            <a:ext cx="2468880" cy="365760"/>
          </a:xfrm>
          <a:prstGeom prst="rect">
            <a:avLst/>
          </a:prstGeom>
          <a:solidFill>
            <a:srgbClr val="F0F0F0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003366"/>
                </a:solidFill>
              </a:defRPr>
            </a:pPr>
            <a:r>
              <a:t>&lt;app-form-field&gt;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37560" y="329184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666666"/>
                </a:solidFill>
              </a:defRPr>
            </a:pPr>
            <a:r>
              <a:t>Champ de formulaire standardise avec validation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4114800"/>
            <a:ext cx="2468880" cy="365760"/>
          </a:xfrm>
          <a:prstGeom prst="rect">
            <a:avLst/>
          </a:prstGeom>
          <a:solidFill>
            <a:srgbClr val="F0F0F0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003366"/>
                </a:solidFill>
              </a:defRPr>
            </a:pPr>
            <a:r>
              <a:t>&lt;app-modal&gt;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37560" y="41605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666666"/>
                </a:solidFill>
              </a:defRPr>
            </a:pPr>
            <a:r>
              <a:t>Modal generique avec header / body / footer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" y="4983480"/>
            <a:ext cx="2468880" cy="365760"/>
          </a:xfrm>
          <a:prstGeom prst="rect">
            <a:avLst/>
          </a:prstGeom>
          <a:solidFill>
            <a:srgbClr val="F0F0F0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003366"/>
                </a:solidFill>
              </a:defRPr>
            </a:pPr>
            <a:r>
              <a:t>&lt;app-status-badge&gt;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37560" y="50292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666666"/>
                </a:solidFill>
              </a:defRPr>
            </a:pPr>
            <a:r>
              <a:t>Badge de statut avec couleurs standardisees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18288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003366"/>
                </a:solidFill>
              </a:defRPr>
            </a:pPr>
            <a:r>
              <a:t>Templates &amp; patterns reutilises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0" y="2377440"/>
            <a:ext cx="2286000" cy="365760"/>
          </a:xfrm>
          <a:prstGeom prst="roundRect">
            <a:avLst/>
          </a:prstGeom>
          <a:solidFill>
            <a:srgbClr val="004D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Master-detail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823960" y="242316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666666"/>
                </a:solidFill>
              </a:defRPr>
            </a:pPr>
            <a:r>
              <a:t>Liste + panneau lateral de detail sur le meme ecran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0" y="3246120"/>
            <a:ext cx="2286000" cy="365760"/>
          </a:xfrm>
          <a:prstGeom prst="roundRect">
            <a:avLst/>
          </a:prstGeom>
          <a:solidFill>
            <a:srgbClr val="004D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Wizard multi-etapes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823960" y="329184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666666"/>
                </a:solidFill>
              </a:defRPr>
            </a:pPr>
            <a:r>
              <a:t>Assistants de saisie pour workflows complexes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0" y="4114800"/>
            <a:ext cx="2286000" cy="365760"/>
          </a:xfrm>
          <a:prstGeom prst="roundRect">
            <a:avLst/>
          </a:prstGeom>
          <a:solidFill>
            <a:srgbClr val="004D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Formulaire CRUD generique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23960" y="41605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666666"/>
                </a:solidFill>
              </a:defRPr>
            </a:pPr>
            <a:r>
              <a:t>Meme squelette pour Create / Read / Update / Delete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00800" y="4983480"/>
            <a:ext cx="2286000" cy="365760"/>
          </a:xfrm>
          <a:prstGeom prst="roundRect">
            <a:avLst/>
          </a:prstGeom>
          <a:solidFill>
            <a:srgbClr val="004D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Layout responsive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823960" y="50292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666666"/>
                </a:solidFill>
              </a:defRPr>
            </a:pPr>
            <a:r>
              <a:t>Grille CSS commune, comportement mobile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371600" y="5852160"/>
            <a:ext cx="9418320" cy="457200"/>
          </a:xfrm>
          <a:prstGeom prst="roundRect">
            <a:avLst/>
          </a:prstGeom>
          <a:solidFill>
            <a:srgbClr val="E8F5E9"/>
          </a:solidFill>
          <a:ln w="12700">
            <a:solidFill>
              <a:srgbClr val="2E8B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554480" y="5879592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 i="1">
                <a:solidFill>
                  <a:srgbClr val="2E8B3D"/>
                </a:solidFill>
              </a:defRPr>
            </a:pPr>
            <a:r>
              <a:t>Impact : temps de developpement divise par 3 pour les nouveaux ecrans, coherence visuelle garantie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004D99"/>
                </a:solidFill>
              </a:defRPr>
            </a:pPr>
            <a:r>
              <a:t>CS BAG V2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 i="0">
                <a:solidFill>
                  <a:srgbClr val="003366"/>
                </a:solidFill>
              </a:defRPr>
            </a:pPr>
            <a:r>
              <a:t>Fonctionnalites &amp; normalisation de l'API REST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097280"/>
            <a:ext cx="1645920" cy="36576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11535" y="6611112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 i="0">
                <a:solidFill>
                  <a:srgbClr val="FFFFFF"/>
                </a:solidFill>
              </a:defRPr>
            </a:pPr>
            <a:r>
              <a:t>23 / 32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611112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FFFFFF"/>
                </a:solidFill>
              </a:defRPr>
            </a:pPr>
            <a:r>
              <a:t>Soutenance PFE - Ahmed BOURAZZA - VESI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2801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 i="1">
                <a:solidFill>
                  <a:srgbClr val="666666"/>
                </a:solidFill>
              </a:defRPr>
            </a:pPr>
            <a:r>
              <a:t>Alignement sur les bonnes pratiques REST + ajout des fonctionnalites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18288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003366"/>
                </a:solidFill>
              </a:defRPr>
            </a:pPr>
            <a:r>
              <a:t>Changements techniques</a:t>
            </a:r>
          </a:p>
        </p:txBody>
      </p:sp>
      <p:sp>
        <p:nvSpPr>
          <p:cNvPr id="11" name="Oval 10"/>
          <p:cNvSpPr/>
          <p:nvPr/>
        </p:nvSpPr>
        <p:spPr>
          <a:xfrm>
            <a:off x="777240" y="2423160"/>
            <a:ext cx="182880" cy="182880"/>
          </a:xfrm>
          <a:prstGeom prst="ellipse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2331720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333333"/>
                </a:solidFill>
              </a:defRPr>
            </a:pPr>
            <a:r>
              <a:t>Nommage ressource au pluriel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2624328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1">
                <a:solidFill>
                  <a:srgbClr val="666666"/>
                </a:solidFill>
              </a:defRPr>
            </a:pPr>
            <a:r>
              <a:t>/GetApplications -&gt; /applications</a:t>
            </a:r>
          </a:p>
        </p:txBody>
      </p:sp>
      <p:sp>
        <p:nvSpPr>
          <p:cNvPr id="14" name="Oval 13"/>
          <p:cNvSpPr/>
          <p:nvPr/>
        </p:nvSpPr>
        <p:spPr>
          <a:xfrm>
            <a:off x="777240" y="3108960"/>
            <a:ext cx="182880" cy="182880"/>
          </a:xfrm>
          <a:prstGeom prst="ellipse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97280" y="3017520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333333"/>
                </a:solidFill>
              </a:defRPr>
            </a:pPr>
            <a:r>
              <a:t>Verbes HTTP corrects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3310128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1">
                <a:solidFill>
                  <a:srgbClr val="666666"/>
                </a:solidFill>
              </a:defRPr>
            </a:pPr>
            <a:r>
              <a:t>POST create, GET read, PUT update, DELETE</a:t>
            </a:r>
          </a:p>
        </p:txBody>
      </p:sp>
      <p:sp>
        <p:nvSpPr>
          <p:cNvPr id="17" name="Oval 16"/>
          <p:cNvSpPr/>
          <p:nvPr/>
        </p:nvSpPr>
        <p:spPr>
          <a:xfrm>
            <a:off x="777240" y="3794760"/>
            <a:ext cx="182880" cy="182880"/>
          </a:xfrm>
          <a:prstGeom prst="ellipse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97280" y="3703320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333333"/>
                </a:solidFill>
              </a:defRPr>
            </a:pPr>
            <a:r>
              <a:t>Codes de retour normalises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" y="3995928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1">
                <a:solidFill>
                  <a:srgbClr val="666666"/>
                </a:solidFill>
              </a:defRPr>
            </a:pPr>
            <a:r>
              <a:t>200 / 201 / 204 / 400 / 404 / 500</a:t>
            </a:r>
          </a:p>
        </p:txBody>
      </p:sp>
      <p:sp>
        <p:nvSpPr>
          <p:cNvPr id="20" name="Oval 19"/>
          <p:cNvSpPr/>
          <p:nvPr/>
        </p:nvSpPr>
        <p:spPr>
          <a:xfrm>
            <a:off x="777240" y="4480560"/>
            <a:ext cx="182880" cy="182880"/>
          </a:xfrm>
          <a:prstGeom prst="ellipse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97280" y="4389120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333333"/>
                </a:solidFill>
              </a:defRPr>
            </a:pPr>
            <a:r>
              <a:t>Pagination et filtres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" y="4681728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1">
                <a:solidFill>
                  <a:srgbClr val="666666"/>
                </a:solidFill>
              </a:defRPr>
            </a:pPr>
            <a:r>
              <a:t>?page=1&amp;size=20&amp;status=active</a:t>
            </a:r>
          </a:p>
        </p:txBody>
      </p:sp>
      <p:sp>
        <p:nvSpPr>
          <p:cNvPr id="23" name="Oval 22"/>
          <p:cNvSpPr/>
          <p:nvPr/>
        </p:nvSpPr>
        <p:spPr>
          <a:xfrm>
            <a:off x="777240" y="5166360"/>
            <a:ext cx="182880" cy="182880"/>
          </a:xfrm>
          <a:prstGeom prst="ellipse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97280" y="5074920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333333"/>
                </a:solidFill>
              </a:defRPr>
            </a:pPr>
            <a:r>
              <a:t>Documentation Swagger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97280" y="5367528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1">
                <a:solidFill>
                  <a:srgbClr val="666666"/>
                </a:solidFill>
              </a:defRPr>
            </a:pPr>
            <a:r>
              <a:t>Contrat d'API expose et versionne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18288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003366"/>
                </a:solidFill>
              </a:defRPr>
            </a:pPr>
            <a:r>
              <a:t>Pourquoi ces changements ?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400800" y="2331720"/>
            <a:ext cx="1463040" cy="548640"/>
          </a:xfrm>
          <a:prstGeom prst="roundRect">
            <a:avLst/>
          </a:prstGeom>
          <a:solidFill>
            <a:srgbClr val="2E8B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Coherence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955279" y="242316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666666"/>
                </a:solidFill>
              </a:defRPr>
            </a:pPr>
            <a:r>
              <a:t>API previsible et facile a apprendre pour les nouveaux dev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00800" y="3017520"/>
            <a:ext cx="1463040" cy="548640"/>
          </a:xfrm>
          <a:prstGeom prst="roundRect">
            <a:avLst/>
          </a:prstGeom>
          <a:solidFill>
            <a:srgbClr val="2E8B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Maintenabilite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955279" y="310896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666666"/>
                </a:solidFill>
              </a:defRPr>
            </a:pPr>
            <a:r>
              <a:t>Moins de code specifique, plus de patterns standards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400800" y="3703320"/>
            <a:ext cx="1463040" cy="548640"/>
          </a:xfrm>
          <a:prstGeom prst="roundRect">
            <a:avLst/>
          </a:prstGeom>
          <a:solidFill>
            <a:srgbClr val="2E8B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Interoperabilite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955279" y="379476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666666"/>
                </a:solidFill>
              </a:defRPr>
            </a:pPr>
            <a:r>
              <a:t>Facilite l'integration avec d'autres apps VE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400800" y="4389120"/>
            <a:ext cx="1463040" cy="548640"/>
          </a:xfrm>
          <a:prstGeom prst="roundRect">
            <a:avLst/>
          </a:prstGeom>
          <a:solidFill>
            <a:srgbClr val="2E8B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Documentation vivante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955279" y="448056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666666"/>
                </a:solidFill>
              </a:defRPr>
            </a:pPr>
            <a:r>
              <a:t>Swagger toujours a jour avec le code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400800" y="5074920"/>
            <a:ext cx="1463040" cy="548640"/>
          </a:xfrm>
          <a:prstGeom prst="roundRect">
            <a:avLst/>
          </a:prstGeom>
          <a:solidFill>
            <a:srgbClr val="2E8B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Tests automatises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955279" y="516636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666666"/>
                </a:solidFill>
              </a:defRPr>
            </a:pPr>
            <a:r>
              <a:t>Contrats stables = tests plus fiables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114800" cy="68580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377440"/>
            <a:ext cx="3200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0" b="1" i="0">
                <a:solidFill>
                  <a:srgbClr val="FFFFFF"/>
                </a:solidFill>
              </a:defRPr>
            </a:pPr>
            <a:r>
              <a:t>06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0" y="2286000"/>
            <a:ext cx="36576" cy="22860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937760" y="2286000"/>
            <a:ext cx="6858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 i="0">
                <a:solidFill>
                  <a:srgbClr val="003366"/>
                </a:solidFill>
              </a:defRPr>
            </a:pPr>
            <a:r>
              <a:t>Mission Elium Sauvegarde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937760" y="3566160"/>
            <a:ext cx="6858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 i="1">
                <a:solidFill>
                  <a:srgbClr val="666666"/>
                </a:solidFill>
              </a:defRPr>
            </a:pPr>
            <a:r>
              <a:t>Mission ponctuelle - correction urgente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004D99"/>
                </a:solidFill>
              </a:defRPr>
            </a:pPr>
            <a:r>
              <a:t>ELIUM SAUVEGARDE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 i="0">
                <a:solidFill>
                  <a:srgbClr val="003366"/>
                </a:solidFill>
              </a:defRPr>
            </a:pPr>
            <a:r>
              <a:t>Elium Sauvegarde - Contexte et intervention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097280"/>
            <a:ext cx="1645920" cy="36576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11535" y="6611112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 i="0">
                <a:solidFill>
                  <a:srgbClr val="FFFFFF"/>
                </a:solidFill>
              </a:defRPr>
            </a:pPr>
            <a:r>
              <a:t>25 / 32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611112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FFFFFF"/>
                </a:solidFill>
              </a:defRPr>
            </a:pPr>
            <a:r>
              <a:t>Soutenance PFE - Ahmed BOURAZZA - VESI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46304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1">
                <a:solidFill>
                  <a:srgbClr val="666666"/>
                </a:solidFill>
              </a:defRPr>
            </a:pPr>
            <a:r>
              <a:t>[Contenu a definir : contexte de la sauvegarde Elium, probleme detecte dans les logs, correction apportee, tests effectues]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114800" cy="68580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377440"/>
            <a:ext cx="3200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0" b="1" i="0">
                <a:solidFill>
                  <a:srgbClr val="FFFFFF"/>
                </a:solidFill>
              </a:defRPr>
            </a:pPr>
            <a:r>
              <a:t>07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0" y="2286000"/>
            <a:ext cx="36576" cy="22860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937760" y="2286000"/>
            <a:ext cx="6858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 i="0">
                <a:solidFill>
                  <a:srgbClr val="003366"/>
                </a:solidFill>
              </a:defRPr>
            </a:pPr>
            <a:r>
              <a:t>Resultats obtenus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937760" y="3566160"/>
            <a:ext cx="6858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 i="1">
                <a:solidFill>
                  <a:srgbClr val="666666"/>
                </a:solidFill>
              </a:defRPr>
            </a:pPr>
            <a:r>
              <a:t>Livrables et impact du travail effectue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004D99"/>
                </a:solidFill>
              </a:defRPr>
            </a:pPr>
            <a:r>
              <a:t>RESULTATS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 i="0">
                <a:solidFill>
                  <a:srgbClr val="003366"/>
                </a:solidFill>
              </a:defRPr>
            </a:pPr>
            <a:r>
              <a:t>Resultats obtenus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097280"/>
            <a:ext cx="1645920" cy="36576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11535" y="6611112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 i="0">
                <a:solidFill>
                  <a:srgbClr val="FFFFFF"/>
                </a:solidFill>
              </a:defRPr>
            </a:pPr>
            <a:r>
              <a:t>27 / 32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611112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FFFFFF"/>
                </a:solidFill>
              </a:defRPr>
            </a:pPr>
            <a:r>
              <a:t>Soutenance PFE - Ahmed BOURAZZA - VESI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46304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1">
                <a:solidFill>
                  <a:srgbClr val="666666"/>
                </a:solidFill>
              </a:defRPr>
            </a:pPr>
            <a:r>
              <a:t>[Contenu a definir : livrables, metriques, feedback metier]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114800" cy="68580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377440"/>
            <a:ext cx="3200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0" b="1" i="0">
                <a:solidFill>
                  <a:srgbClr val="FFFFFF"/>
                </a:solidFill>
              </a:defRPr>
            </a:pPr>
            <a:r>
              <a:t>08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0" y="2286000"/>
            <a:ext cx="36576" cy="22860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937760" y="2286000"/>
            <a:ext cx="6858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 i="0">
                <a:solidFill>
                  <a:srgbClr val="003366"/>
                </a:solidFill>
              </a:defRPr>
            </a:pPr>
            <a:r>
              <a:t>Recul et competences acquises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937760" y="3566160"/>
            <a:ext cx="6858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 i="1">
                <a:solidFill>
                  <a:srgbClr val="666666"/>
                </a:solidFill>
              </a:defRPr>
            </a:pPr>
            <a:r>
              <a:t>Bilan personnel et enseignements du stage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004D99"/>
                </a:solidFill>
              </a:defRPr>
            </a:pPr>
            <a:r>
              <a:t>RECUL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 i="0">
                <a:solidFill>
                  <a:srgbClr val="003366"/>
                </a:solidFill>
              </a:defRPr>
            </a:pPr>
            <a:r>
              <a:t>Recul et competences acquises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097280"/>
            <a:ext cx="1645920" cy="36576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11535" y="6611112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 i="0">
                <a:solidFill>
                  <a:srgbClr val="FFFFFF"/>
                </a:solidFill>
              </a:defRPr>
            </a:pPr>
            <a:r>
              <a:t>29 / 32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611112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FFFFFF"/>
                </a:solidFill>
              </a:defRPr>
            </a:pPr>
            <a:r>
              <a:t>Soutenance PFE - Ahmed BOURAZZA - VESI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46304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1">
                <a:solidFill>
                  <a:srgbClr val="666666"/>
                </a:solidFill>
              </a:defRPr>
            </a:pPr>
            <a:r>
              <a:t>[Contenu a definir : soft skills, hard skills, montee en competence]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114800" cy="68580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377440"/>
            <a:ext cx="3200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0" b="1" i="0">
                <a:solidFill>
                  <a:srgbClr val="FFFFFF"/>
                </a:solidFill>
              </a:defRPr>
            </a:pPr>
            <a:r>
              <a:t>09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0" y="2286000"/>
            <a:ext cx="36576" cy="22860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937760" y="2286000"/>
            <a:ext cx="6858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 i="0">
                <a:solidFill>
                  <a:srgbClr val="003366"/>
                </a:solidFill>
              </a:defRPr>
            </a:pPr>
            <a:r>
              <a:t>Conclusion et perspectives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937760" y="3566160"/>
            <a:ext cx="6858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 i="1">
                <a:solidFill>
                  <a:srgbClr val="666666"/>
                </a:solidFill>
              </a:defRPr>
            </a:pPr>
            <a:r>
              <a:t>Bilan global et suite du projet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004D99"/>
                </a:solidFill>
              </a:defRPr>
            </a:pPr>
            <a:r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 i="0">
                <a:solidFill>
                  <a:srgbClr val="003366"/>
                </a:solidFill>
              </a:defRPr>
            </a:pPr>
            <a:r>
              <a:t>Conclusion et perspectives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097280"/>
            <a:ext cx="1645920" cy="36576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11535" y="6611112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 i="0">
                <a:solidFill>
                  <a:srgbClr val="FFFFFF"/>
                </a:solidFill>
              </a:defRPr>
            </a:pPr>
            <a:r>
              <a:t>31 / 32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611112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FFFFFF"/>
                </a:solidFill>
              </a:defRPr>
            </a:pPr>
            <a:r>
              <a:t>Soutenance PFE - Ahmed BOURAZZA - VESI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46304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1">
                <a:solidFill>
                  <a:srgbClr val="666666"/>
                </a:solidFill>
              </a:defRPr>
            </a:pPr>
            <a:r>
              <a:t>[Contenu a definir : bilan du stage, atteinte des objectifs, perspectives d'evolution de CS BAG]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36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1247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0" b="1" i="0">
                <a:solidFill>
                  <a:srgbClr val="FFFFFF"/>
                </a:solidFill>
              </a:defRPr>
            </a:pPr>
            <a:r>
              <a:t>Merci pour votre attention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4937760" y="3657600"/>
            <a:ext cx="2286000" cy="365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93192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 i="1">
                <a:solidFill>
                  <a:srgbClr val="FFFFFF"/>
                </a:solidFill>
              </a:defRPr>
            </a:pPr>
            <a:r>
              <a:t>Place aux questions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 i="0">
                <a:solidFill>
                  <a:srgbClr val="FFFFFF"/>
                </a:solidFill>
              </a:defRPr>
            </a:pPr>
            <a:r>
              <a:t>Ahmed BOURAZZA  |  PFE ENSIM x VINCI Energies Systemes d'Information  |  2025-2026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