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 id="290" r:id="rId16"/>
    <p:sldId id="292" r:id="rId17"/>
    <p:sldId id="294" r:id="rId18"/>
    <p:sldId id="271" r:id="rId19"/>
    <p:sldId id="272" r:id="rId20"/>
    <p:sldId id="273" r:id="rId21"/>
    <p:sldId id="295" r:id="rId22"/>
    <p:sldId id="274" r:id="rId23"/>
    <p:sldId id="289" r:id="rId24"/>
    <p:sldId id="275" r:id="rId25"/>
    <p:sldId id="276" r:id="rId26"/>
    <p:sldId id="288" r:id="rId27"/>
    <p:sldId id="277" r:id="rId28"/>
    <p:sldId id="293" r:id="rId29"/>
    <p:sldId id="279" r:id="rId30"/>
    <p:sldId id="280" r:id="rId31"/>
    <p:sldId id="296" r:id="rId32"/>
    <p:sldId id="283" r:id="rId33"/>
    <p:sldId id="284" r:id="rId34"/>
    <p:sldId id="285" r:id="rId35"/>
    <p:sldId id="286" r:id="rId36"/>
    <p:sldId id="287"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15" autoAdjust="0"/>
    <p:restoredTop sz="94660"/>
  </p:normalViewPr>
  <p:slideViewPr>
    <p:cSldViewPr snapToGrid="0" snapToObjects="1">
      <p:cViewPr varScale="1">
        <p:scale>
          <a:sx n="100" d="100"/>
          <a:sy n="100" d="100"/>
        </p:scale>
        <p:origin x="48" y="15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274320" y="274320"/>
            <a:ext cx="11643055" cy="6309360"/>
          </a:xfrm>
          <a:prstGeom prst="rect">
            <a:avLst/>
          </a:prstGeom>
          <a:noFill/>
          <a:ln w="254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74320" y="274320"/>
            <a:ext cx="11643055" cy="54864"/>
          </a:xfrm>
          <a:prstGeom prst="rect">
            <a:avLst/>
          </a:prstGeom>
          <a:solidFill>
            <a:srgbClr val="E20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474720" y="548640"/>
            <a:ext cx="5212080" cy="320040"/>
          </a:xfrm>
          <a:prstGeom prst="rect">
            <a:avLst/>
          </a:prstGeom>
          <a:noFill/>
        </p:spPr>
        <p:txBody>
          <a:bodyPr wrap="square">
            <a:spAutoFit/>
          </a:bodyPr>
          <a:lstStyle/>
          <a:p>
            <a:pPr algn="ctr">
              <a:defRPr sz="1300" b="0" i="0">
                <a:solidFill>
                  <a:srgbClr val="666666"/>
                </a:solidFill>
              </a:defRPr>
            </a:pPr>
            <a:r>
              <a:t>École Nationale Supérieure d'Ingénieurs du Mans (ENSIM)</a:t>
            </a:r>
          </a:p>
        </p:txBody>
      </p:sp>
      <p:sp>
        <p:nvSpPr>
          <p:cNvPr id="7" name="TextBox 6"/>
          <p:cNvSpPr txBox="1"/>
          <p:nvPr/>
        </p:nvSpPr>
        <p:spPr>
          <a:xfrm>
            <a:off x="3474720" y="868680"/>
            <a:ext cx="5212080" cy="320040"/>
          </a:xfrm>
          <a:prstGeom prst="rect">
            <a:avLst/>
          </a:prstGeom>
          <a:noFill/>
        </p:spPr>
        <p:txBody>
          <a:bodyPr wrap="square">
            <a:spAutoFit/>
          </a:bodyPr>
          <a:lstStyle/>
          <a:p>
            <a:pPr algn="ctr">
              <a:defRPr sz="1200" b="0" i="0">
                <a:solidFill>
                  <a:srgbClr val="666666"/>
                </a:solidFill>
              </a:defRPr>
            </a:pPr>
            <a:r>
              <a:t>Le Mans Université</a:t>
            </a:r>
          </a:p>
        </p:txBody>
      </p:sp>
      <p:sp>
        <p:nvSpPr>
          <p:cNvPr id="8" name="TextBox 7"/>
          <p:cNvSpPr txBox="1"/>
          <p:nvPr/>
        </p:nvSpPr>
        <p:spPr>
          <a:xfrm>
            <a:off x="3474720" y="1188720"/>
            <a:ext cx="5212080" cy="320040"/>
          </a:xfrm>
          <a:prstGeom prst="rect">
            <a:avLst/>
          </a:prstGeom>
          <a:noFill/>
        </p:spPr>
        <p:txBody>
          <a:bodyPr wrap="square">
            <a:spAutoFit/>
          </a:bodyPr>
          <a:lstStyle/>
          <a:p>
            <a:pPr algn="ctr">
              <a:defRPr sz="1500" b="1" i="0">
                <a:solidFill>
                  <a:srgbClr val="003366"/>
                </a:solidFill>
              </a:defRPr>
            </a:pPr>
            <a:r>
              <a:t>Projet de Fin d'Études</a:t>
            </a:r>
          </a:p>
        </p:txBody>
      </p:sp>
      <p:sp>
        <p:nvSpPr>
          <p:cNvPr id="9" name="Rectangle 8"/>
          <p:cNvSpPr/>
          <p:nvPr/>
        </p:nvSpPr>
        <p:spPr>
          <a:xfrm>
            <a:off x="914400" y="1691640"/>
            <a:ext cx="10332720" cy="1371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71600" y="2272161"/>
            <a:ext cx="9418320" cy="1463040"/>
          </a:xfrm>
          <a:prstGeom prst="rect">
            <a:avLst/>
          </a:prstGeom>
          <a:noFill/>
        </p:spPr>
        <p:txBody>
          <a:bodyPr wrap="square">
            <a:spAutoFit/>
          </a:bodyPr>
          <a:lstStyle/>
          <a:p>
            <a:pPr algn="ctr">
              <a:defRPr sz="2800" b="1" i="0">
                <a:solidFill>
                  <a:srgbClr val="003366"/>
                </a:solidFill>
              </a:defRPr>
            </a:pPr>
            <a:r>
              <a:rPr dirty="0" err="1"/>
              <a:t>Modernisation</a:t>
            </a:r>
            <a:r>
              <a:rPr dirty="0"/>
              <a:t> </a:t>
            </a:r>
            <a:r>
              <a:rPr dirty="0" err="1"/>
              <a:t>d'une</a:t>
            </a:r>
            <a:r>
              <a:rPr dirty="0"/>
              <a:t> application de gestion</a:t>
            </a:r>
          </a:p>
          <a:p>
            <a:pPr algn="ctr">
              <a:defRPr sz="2800" b="1" i="0">
                <a:solidFill>
                  <a:srgbClr val="003366"/>
                </a:solidFill>
              </a:defRPr>
            </a:pPr>
            <a:r>
              <a:rPr dirty="0"/>
              <a:t>de </a:t>
            </a:r>
            <a:r>
              <a:rPr dirty="0" err="1"/>
              <a:t>patrimoine</a:t>
            </a:r>
            <a:r>
              <a:rPr dirty="0"/>
              <a:t> </a:t>
            </a:r>
            <a:r>
              <a:rPr dirty="0" err="1"/>
              <a:t>applicatif</a:t>
            </a:r>
            <a:endParaRPr dirty="0"/>
          </a:p>
          <a:p>
            <a:pPr algn="ctr">
              <a:defRPr sz="2800" b="1" i="0">
                <a:solidFill>
                  <a:srgbClr val="003366"/>
                </a:solidFill>
              </a:defRPr>
            </a:pPr>
            <a:r>
              <a:rPr dirty="0"/>
              <a:t>au sein de VINCI Energies</a:t>
            </a:r>
          </a:p>
        </p:txBody>
      </p:sp>
      <p:sp>
        <p:nvSpPr>
          <p:cNvPr id="12" name="TextBox 11"/>
          <p:cNvSpPr txBox="1"/>
          <p:nvPr/>
        </p:nvSpPr>
        <p:spPr>
          <a:xfrm>
            <a:off x="1371600" y="3703320"/>
            <a:ext cx="9418320" cy="320040"/>
          </a:xfrm>
          <a:prstGeom prst="rect">
            <a:avLst/>
          </a:prstGeom>
          <a:noFill/>
        </p:spPr>
        <p:txBody>
          <a:bodyPr wrap="square">
            <a:spAutoFit/>
          </a:bodyPr>
          <a:lstStyle/>
          <a:p>
            <a:pPr algn="ctr">
              <a:defRPr sz="1400" b="1" i="1">
                <a:solidFill>
                  <a:srgbClr val="E2001A"/>
                </a:solidFill>
              </a:defRPr>
            </a:pPr>
            <a:r>
              <a:t>Réalisé au sein de : VINCI Energies Systèmes d'Information (VESI)</a:t>
            </a:r>
          </a:p>
        </p:txBody>
      </p:sp>
      <p:sp>
        <p:nvSpPr>
          <p:cNvPr id="14" name="Rectangle 13"/>
          <p:cNvSpPr/>
          <p:nvPr/>
        </p:nvSpPr>
        <p:spPr>
          <a:xfrm>
            <a:off x="914400" y="5074920"/>
            <a:ext cx="10332720" cy="9144"/>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080760" y="5166360"/>
            <a:ext cx="9144" cy="8229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97280" y="5166360"/>
            <a:ext cx="4754880" cy="274320"/>
          </a:xfrm>
          <a:prstGeom prst="rect">
            <a:avLst/>
          </a:prstGeom>
          <a:noFill/>
        </p:spPr>
        <p:txBody>
          <a:bodyPr wrap="square">
            <a:spAutoFit/>
          </a:bodyPr>
          <a:lstStyle/>
          <a:p>
            <a:pPr algn="l">
              <a:defRPr sz="1200" b="1" i="0">
                <a:solidFill>
                  <a:srgbClr val="003366"/>
                </a:solidFill>
              </a:defRPr>
            </a:pPr>
            <a:r>
              <a:rPr dirty="0" err="1"/>
              <a:t>Encadr</a:t>
            </a:r>
            <a:r>
              <a:rPr lang="fr-CH" dirty="0"/>
              <a:t>é</a:t>
            </a:r>
            <a:r>
              <a:rPr dirty="0"/>
              <a:t> par :</a:t>
            </a:r>
          </a:p>
        </p:txBody>
      </p:sp>
      <p:sp>
        <p:nvSpPr>
          <p:cNvPr id="17" name="TextBox 16"/>
          <p:cNvSpPr txBox="1"/>
          <p:nvPr/>
        </p:nvSpPr>
        <p:spPr>
          <a:xfrm>
            <a:off x="1097280" y="5440680"/>
            <a:ext cx="4754880" cy="769441"/>
          </a:xfrm>
          <a:prstGeom prst="rect">
            <a:avLst/>
          </a:prstGeom>
          <a:noFill/>
        </p:spPr>
        <p:txBody>
          <a:bodyPr wrap="square">
            <a:spAutoFit/>
          </a:bodyPr>
          <a:lstStyle/>
          <a:p>
            <a:pPr algn="l">
              <a:defRPr sz="1100" b="0" i="0">
                <a:solidFill>
                  <a:srgbClr val="333333"/>
                </a:solidFill>
              </a:defRPr>
            </a:pPr>
            <a:r>
              <a:rPr dirty="0" err="1"/>
              <a:t>Tuteur</a:t>
            </a:r>
            <a:r>
              <a:rPr dirty="0"/>
              <a:t> </a:t>
            </a:r>
            <a:r>
              <a:rPr dirty="0" err="1"/>
              <a:t>universit</a:t>
            </a:r>
            <a:r>
              <a:rPr lang="fr-CH" dirty="0"/>
              <a:t>é</a:t>
            </a:r>
            <a:r>
              <a:rPr dirty="0"/>
              <a:t> : M. M'HAMMEDI </a:t>
            </a:r>
            <a:r>
              <a:rPr dirty="0" err="1"/>
              <a:t>Taoufik</a:t>
            </a:r>
            <a:endParaRPr dirty="0"/>
          </a:p>
          <a:p>
            <a:pPr algn="l">
              <a:defRPr sz="1100" b="0" i="0">
                <a:solidFill>
                  <a:srgbClr val="333333"/>
                </a:solidFill>
              </a:defRPr>
            </a:pPr>
            <a:r>
              <a:rPr dirty="0" err="1"/>
              <a:t>Tuteurs</a:t>
            </a:r>
            <a:r>
              <a:rPr dirty="0"/>
              <a:t> </a:t>
            </a:r>
            <a:r>
              <a:rPr dirty="0" err="1"/>
              <a:t>entreprise</a:t>
            </a:r>
            <a:r>
              <a:rPr dirty="0"/>
              <a:t> : M. STER Alexis, M. VILLERMIN Maxime</a:t>
            </a:r>
            <a:endParaRPr lang="fr-CH" dirty="0"/>
          </a:p>
          <a:p>
            <a:pPr algn="l">
              <a:defRPr sz="1100" b="0" i="0">
                <a:solidFill>
                  <a:srgbClr val="333333"/>
                </a:solidFill>
              </a:defRPr>
            </a:pPr>
            <a:r>
              <a:rPr lang="fr-CH" dirty="0"/>
              <a:t>Jury : M. YAAKOUBI </a:t>
            </a:r>
            <a:r>
              <a:rPr lang="fr-CH" dirty="0" err="1"/>
              <a:t>Nourdin</a:t>
            </a:r>
            <a:endParaRPr lang="fr-CH" dirty="0"/>
          </a:p>
          <a:p>
            <a:pPr algn="l">
              <a:defRPr sz="1100" b="0" i="0">
                <a:solidFill>
                  <a:srgbClr val="333333"/>
                </a:solidFill>
              </a:defRPr>
            </a:pPr>
            <a:endParaRPr dirty="0"/>
          </a:p>
        </p:txBody>
      </p:sp>
      <p:sp>
        <p:nvSpPr>
          <p:cNvPr id="18" name="TextBox 17"/>
          <p:cNvSpPr txBox="1"/>
          <p:nvPr/>
        </p:nvSpPr>
        <p:spPr>
          <a:xfrm>
            <a:off x="6400800" y="5166360"/>
            <a:ext cx="4754880" cy="274320"/>
          </a:xfrm>
          <a:prstGeom prst="rect">
            <a:avLst/>
          </a:prstGeom>
          <a:noFill/>
        </p:spPr>
        <p:txBody>
          <a:bodyPr wrap="square">
            <a:spAutoFit/>
          </a:bodyPr>
          <a:lstStyle/>
          <a:p>
            <a:pPr algn="r">
              <a:defRPr sz="1200" b="1" i="0">
                <a:solidFill>
                  <a:srgbClr val="003366"/>
                </a:solidFill>
              </a:defRPr>
            </a:pPr>
            <a:r>
              <a:rPr dirty="0" err="1"/>
              <a:t>Reali</a:t>
            </a:r>
            <a:r>
              <a:rPr lang="fr-CH" dirty="0"/>
              <a:t>é</a:t>
            </a:r>
            <a:r>
              <a:rPr dirty="0"/>
              <a:t>e par :</a:t>
            </a:r>
          </a:p>
        </p:txBody>
      </p:sp>
      <p:sp>
        <p:nvSpPr>
          <p:cNvPr id="19" name="TextBox 18"/>
          <p:cNvSpPr txBox="1"/>
          <p:nvPr/>
        </p:nvSpPr>
        <p:spPr>
          <a:xfrm>
            <a:off x="6400800" y="5440680"/>
            <a:ext cx="4754880" cy="430887"/>
          </a:xfrm>
          <a:prstGeom prst="rect">
            <a:avLst/>
          </a:prstGeom>
          <a:noFill/>
        </p:spPr>
        <p:txBody>
          <a:bodyPr wrap="square">
            <a:spAutoFit/>
          </a:bodyPr>
          <a:lstStyle/>
          <a:p>
            <a:pPr algn="r">
              <a:defRPr sz="1100" b="0" i="0">
                <a:solidFill>
                  <a:srgbClr val="333333"/>
                </a:solidFill>
              </a:defRPr>
            </a:pPr>
            <a:r>
              <a:rPr dirty="0"/>
              <a:t>Ahmed BOURAZZA</a:t>
            </a:r>
          </a:p>
          <a:p>
            <a:pPr algn="r">
              <a:defRPr sz="1100" b="0" i="0">
                <a:solidFill>
                  <a:srgbClr val="333333"/>
                </a:solidFill>
              </a:defRPr>
            </a:pPr>
            <a:r>
              <a:rPr dirty="0"/>
              <a:t>Informatique</a:t>
            </a:r>
            <a:r>
              <a:rPr lang="fr-CH" dirty="0"/>
              <a:t> option IPS</a:t>
            </a:r>
            <a:r>
              <a:rPr dirty="0"/>
              <a:t>, 5</a:t>
            </a:r>
            <a:r>
              <a:rPr lang="fr-CH" dirty="0"/>
              <a:t>A</a:t>
            </a:r>
            <a:endParaRPr dirty="0"/>
          </a:p>
        </p:txBody>
      </p:sp>
      <p:sp>
        <p:nvSpPr>
          <p:cNvPr id="20" name="Rectangle 19"/>
          <p:cNvSpPr/>
          <p:nvPr/>
        </p:nvSpPr>
        <p:spPr>
          <a:xfrm>
            <a:off x="274320" y="6263640"/>
            <a:ext cx="11643055" cy="32004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74320" y="6263640"/>
            <a:ext cx="11643055" cy="36576"/>
          </a:xfrm>
          <a:prstGeom prst="rect">
            <a:avLst/>
          </a:prstGeom>
          <a:solidFill>
            <a:srgbClr val="E200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6355080"/>
            <a:ext cx="3200400" cy="246221"/>
          </a:xfrm>
          <a:prstGeom prst="rect">
            <a:avLst/>
          </a:prstGeom>
          <a:noFill/>
        </p:spPr>
        <p:txBody>
          <a:bodyPr wrap="square">
            <a:spAutoFit/>
          </a:bodyPr>
          <a:lstStyle/>
          <a:p>
            <a:pPr algn="l">
              <a:defRPr sz="1000" b="0" i="0">
                <a:solidFill>
                  <a:srgbClr val="FFFFFF"/>
                </a:solidFill>
              </a:defRPr>
            </a:pPr>
            <a:r>
              <a:rPr lang="fr-CH" dirty="0"/>
              <a:t>Pé</a:t>
            </a:r>
            <a:r>
              <a:rPr dirty="0" err="1"/>
              <a:t>riode</a:t>
            </a:r>
            <a:r>
              <a:rPr dirty="0"/>
              <a:t> : 02/03</a:t>
            </a:r>
            <a:r>
              <a:rPr lang="fr-CH" dirty="0"/>
              <a:t>/2026</a:t>
            </a:r>
            <a:r>
              <a:rPr dirty="0"/>
              <a:t> - 31/08/2026</a:t>
            </a:r>
          </a:p>
        </p:txBody>
      </p:sp>
      <p:sp>
        <p:nvSpPr>
          <p:cNvPr id="23" name="TextBox 22"/>
          <p:cNvSpPr txBox="1"/>
          <p:nvPr/>
        </p:nvSpPr>
        <p:spPr>
          <a:xfrm>
            <a:off x="4114800" y="6355080"/>
            <a:ext cx="4114800" cy="246221"/>
          </a:xfrm>
          <a:prstGeom prst="rect">
            <a:avLst/>
          </a:prstGeom>
          <a:noFill/>
        </p:spPr>
        <p:txBody>
          <a:bodyPr wrap="square">
            <a:spAutoFit/>
          </a:bodyPr>
          <a:lstStyle/>
          <a:p>
            <a:pPr algn="ctr">
              <a:defRPr sz="1000" b="0" i="0">
                <a:solidFill>
                  <a:srgbClr val="FFFFFF"/>
                </a:solidFill>
              </a:defRPr>
            </a:pPr>
            <a:r>
              <a:rPr dirty="0" err="1"/>
              <a:t>Soutenance</a:t>
            </a:r>
            <a:r>
              <a:rPr dirty="0"/>
              <a:t> : 17/09/2026  </a:t>
            </a:r>
          </a:p>
        </p:txBody>
      </p:sp>
      <p:sp>
        <p:nvSpPr>
          <p:cNvPr id="24" name="TextBox 23"/>
          <p:cNvSpPr txBox="1"/>
          <p:nvPr/>
        </p:nvSpPr>
        <p:spPr>
          <a:xfrm>
            <a:off x="8686800" y="6355080"/>
            <a:ext cx="3017520" cy="246221"/>
          </a:xfrm>
          <a:prstGeom prst="rect">
            <a:avLst/>
          </a:prstGeom>
          <a:noFill/>
        </p:spPr>
        <p:txBody>
          <a:bodyPr wrap="square">
            <a:spAutoFit/>
          </a:bodyPr>
          <a:lstStyle/>
          <a:p>
            <a:pPr algn="r">
              <a:defRPr sz="1000" b="0" i="0">
                <a:solidFill>
                  <a:srgbClr val="FFFFFF"/>
                </a:solidFill>
              </a:defRPr>
            </a:pPr>
            <a:r>
              <a:rPr dirty="0"/>
              <a:t>Ann</a:t>
            </a:r>
            <a:r>
              <a:rPr lang="fr-CH" dirty="0" err="1"/>
              <a:t>ée</a:t>
            </a:r>
            <a:r>
              <a:rPr dirty="0"/>
              <a:t> </a:t>
            </a:r>
            <a:r>
              <a:rPr dirty="0" err="1"/>
              <a:t>acad</a:t>
            </a:r>
            <a:r>
              <a:rPr lang="fr-CH" dirty="0"/>
              <a:t>é</a:t>
            </a:r>
            <a:r>
              <a:rPr dirty="0" err="1"/>
              <a:t>mique</a:t>
            </a:r>
            <a:r>
              <a:rPr dirty="0"/>
              <a:t> 2025-2026</a:t>
            </a:r>
          </a:p>
        </p:txBody>
      </p:sp>
      <p:sp>
        <p:nvSpPr>
          <p:cNvPr id="25" name="Freeform 10">
            <a:extLst>
              <a:ext uri="{FF2B5EF4-FFF2-40B4-BE49-F238E27FC236}">
                <a16:creationId xmlns:a16="http://schemas.microsoft.com/office/drawing/2014/main" id="{E80D2D62-158E-41FD-953C-355E06388260}"/>
              </a:ext>
            </a:extLst>
          </p:cNvPr>
          <p:cNvSpPr/>
          <p:nvPr/>
        </p:nvSpPr>
        <p:spPr>
          <a:xfrm>
            <a:off x="1084484" y="623306"/>
            <a:ext cx="2390236" cy="791940"/>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27" name="Image 26">
            <a:extLst>
              <a:ext uri="{FF2B5EF4-FFF2-40B4-BE49-F238E27FC236}">
                <a16:creationId xmlns:a16="http://schemas.microsoft.com/office/drawing/2014/main" id="{C409ECE9-844E-4421-8469-7B645CD4E9C5}"/>
              </a:ext>
            </a:extLst>
          </p:cNvPr>
          <p:cNvPicPr>
            <a:picLocks noChangeAspect="1"/>
          </p:cNvPicPr>
          <p:nvPr/>
        </p:nvPicPr>
        <p:blipFill rotWithShape="1">
          <a:blip r:embed="rId3"/>
          <a:srcRect t="36165" b="33014"/>
          <a:stretch/>
        </p:blipFill>
        <p:spPr>
          <a:xfrm>
            <a:off x="8677699" y="593891"/>
            <a:ext cx="2569421" cy="7919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5486400" cy="640080"/>
          </a:xfrm>
          <a:prstGeom prst="rect">
            <a:avLst/>
          </a:prstGeom>
          <a:noFill/>
        </p:spPr>
        <p:txBody>
          <a:bodyPr wrap="square">
            <a:spAutoFit/>
          </a:bodyPr>
          <a:lstStyle/>
          <a:p>
            <a:pPr algn="l">
              <a:defRPr sz="3200" b="1" i="0">
                <a:solidFill>
                  <a:srgbClr val="003366"/>
                </a:solidFill>
              </a:defRPr>
            </a:pPr>
            <a:r>
              <a:t>Sommaire</a:t>
            </a:r>
          </a:p>
        </p:txBody>
      </p:sp>
      <p:sp>
        <p:nvSpPr>
          <p:cNvPr id="4" name="Rectangle 3"/>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828800" y="1463040"/>
            <a:ext cx="411480" cy="4114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01</a:t>
            </a:r>
          </a:p>
        </p:txBody>
      </p:sp>
      <p:sp>
        <p:nvSpPr>
          <p:cNvPr id="6" name="TextBox 5"/>
          <p:cNvSpPr txBox="1"/>
          <p:nvPr/>
        </p:nvSpPr>
        <p:spPr>
          <a:xfrm>
            <a:off x="2468880" y="1508760"/>
            <a:ext cx="7315200" cy="365760"/>
          </a:xfrm>
          <a:prstGeom prst="rect">
            <a:avLst/>
          </a:prstGeom>
          <a:noFill/>
        </p:spPr>
        <p:txBody>
          <a:bodyPr wrap="square">
            <a:spAutoFit/>
          </a:bodyPr>
          <a:lstStyle/>
          <a:p>
            <a:pPr algn="l">
              <a:defRPr sz="1600" b="0" i="0">
                <a:solidFill>
                  <a:srgbClr val="333333"/>
                </a:solidFill>
              </a:defRPr>
            </a:pPr>
            <a:r>
              <a:t>Introduction</a:t>
            </a:r>
          </a:p>
        </p:txBody>
      </p:sp>
      <p:sp>
        <p:nvSpPr>
          <p:cNvPr id="7" name="Rectangle 6"/>
          <p:cNvSpPr/>
          <p:nvPr/>
        </p:nvSpPr>
        <p:spPr>
          <a:xfrm>
            <a:off x="1828800" y="2029968"/>
            <a:ext cx="411480" cy="4114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02</a:t>
            </a:r>
          </a:p>
        </p:txBody>
      </p:sp>
      <p:sp>
        <p:nvSpPr>
          <p:cNvPr id="8" name="TextBox 7"/>
          <p:cNvSpPr txBox="1"/>
          <p:nvPr/>
        </p:nvSpPr>
        <p:spPr>
          <a:xfrm>
            <a:off x="2468880" y="2075688"/>
            <a:ext cx="7315200" cy="365760"/>
          </a:xfrm>
          <a:prstGeom prst="rect">
            <a:avLst/>
          </a:prstGeom>
          <a:noFill/>
        </p:spPr>
        <p:txBody>
          <a:bodyPr wrap="square">
            <a:spAutoFit/>
          </a:bodyPr>
          <a:lstStyle/>
          <a:p>
            <a:pPr algn="l">
              <a:defRPr sz="1600" b="0" i="0">
                <a:solidFill>
                  <a:srgbClr val="333333"/>
                </a:solidFill>
              </a:defRPr>
            </a:pPr>
            <a:r>
              <a:t>Organisme d'accueil</a:t>
            </a:r>
          </a:p>
        </p:txBody>
      </p:sp>
      <p:sp>
        <p:nvSpPr>
          <p:cNvPr id="9" name="Rectangle 8"/>
          <p:cNvSpPr/>
          <p:nvPr/>
        </p:nvSpPr>
        <p:spPr>
          <a:xfrm>
            <a:off x="1828800" y="2596896"/>
            <a:ext cx="411480" cy="4114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03</a:t>
            </a:r>
          </a:p>
        </p:txBody>
      </p:sp>
      <p:sp>
        <p:nvSpPr>
          <p:cNvPr id="10" name="TextBox 9"/>
          <p:cNvSpPr txBox="1"/>
          <p:nvPr/>
        </p:nvSpPr>
        <p:spPr>
          <a:xfrm>
            <a:off x="2468880" y="2642616"/>
            <a:ext cx="7315200" cy="365760"/>
          </a:xfrm>
          <a:prstGeom prst="rect">
            <a:avLst/>
          </a:prstGeom>
          <a:noFill/>
        </p:spPr>
        <p:txBody>
          <a:bodyPr wrap="square">
            <a:spAutoFit/>
          </a:bodyPr>
          <a:lstStyle/>
          <a:p>
            <a:pPr algn="l">
              <a:defRPr sz="1600" b="0" i="0">
                <a:solidFill>
                  <a:srgbClr val="333333"/>
                </a:solidFill>
              </a:defRPr>
            </a:pPr>
            <a:r>
              <a:t>L'équipe et son fonctionnement</a:t>
            </a:r>
          </a:p>
        </p:txBody>
      </p:sp>
      <p:sp>
        <p:nvSpPr>
          <p:cNvPr id="11" name="Rectangle 10"/>
          <p:cNvSpPr/>
          <p:nvPr/>
        </p:nvSpPr>
        <p:spPr>
          <a:xfrm>
            <a:off x="1828800" y="3163824"/>
            <a:ext cx="411480" cy="4114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04</a:t>
            </a:r>
          </a:p>
        </p:txBody>
      </p:sp>
      <p:sp>
        <p:nvSpPr>
          <p:cNvPr id="12" name="TextBox 11"/>
          <p:cNvSpPr txBox="1"/>
          <p:nvPr/>
        </p:nvSpPr>
        <p:spPr>
          <a:xfrm>
            <a:off x="2468880" y="3209544"/>
            <a:ext cx="7315200" cy="365760"/>
          </a:xfrm>
          <a:prstGeom prst="rect">
            <a:avLst/>
          </a:prstGeom>
          <a:noFill/>
        </p:spPr>
        <p:txBody>
          <a:bodyPr wrap="square">
            <a:spAutoFit/>
          </a:bodyPr>
          <a:lstStyle/>
          <a:p>
            <a:pPr algn="l">
              <a:defRPr sz="1600" b="1" i="0">
                <a:solidFill>
                  <a:srgbClr val="333333"/>
                </a:solidFill>
              </a:defRPr>
            </a:pPr>
            <a:r>
              <a:t>CS BAG v2</a:t>
            </a:r>
          </a:p>
        </p:txBody>
      </p:sp>
      <p:sp>
        <p:nvSpPr>
          <p:cNvPr id="13" name="Rectangle 12"/>
          <p:cNvSpPr/>
          <p:nvPr/>
        </p:nvSpPr>
        <p:spPr>
          <a:xfrm>
            <a:off x="1828800" y="3730752"/>
            <a:ext cx="411480" cy="4114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05</a:t>
            </a:r>
          </a:p>
        </p:txBody>
      </p:sp>
      <p:sp>
        <p:nvSpPr>
          <p:cNvPr id="14" name="TextBox 13"/>
          <p:cNvSpPr txBox="1"/>
          <p:nvPr/>
        </p:nvSpPr>
        <p:spPr>
          <a:xfrm>
            <a:off x="2468880" y="3776472"/>
            <a:ext cx="7315200" cy="365760"/>
          </a:xfrm>
          <a:prstGeom prst="rect">
            <a:avLst/>
          </a:prstGeom>
          <a:noFill/>
        </p:spPr>
        <p:txBody>
          <a:bodyPr wrap="square">
            <a:spAutoFit/>
          </a:bodyPr>
          <a:lstStyle/>
          <a:p>
            <a:pPr algn="l">
              <a:defRPr sz="1600" b="0" i="0">
                <a:solidFill>
                  <a:srgbClr val="333333"/>
                </a:solidFill>
              </a:defRPr>
            </a:pPr>
            <a:r>
              <a:t>Mission Elium Sauvegarde</a:t>
            </a:r>
          </a:p>
        </p:txBody>
      </p:sp>
      <p:sp>
        <p:nvSpPr>
          <p:cNvPr id="15" name="Rectangle 14"/>
          <p:cNvSpPr/>
          <p:nvPr/>
        </p:nvSpPr>
        <p:spPr>
          <a:xfrm>
            <a:off x="1828800" y="4297680"/>
            <a:ext cx="411480" cy="4114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06</a:t>
            </a:r>
          </a:p>
        </p:txBody>
      </p:sp>
      <p:sp>
        <p:nvSpPr>
          <p:cNvPr id="16" name="TextBox 15"/>
          <p:cNvSpPr txBox="1"/>
          <p:nvPr/>
        </p:nvSpPr>
        <p:spPr>
          <a:xfrm>
            <a:off x="2468880" y="4343400"/>
            <a:ext cx="7315200" cy="365760"/>
          </a:xfrm>
          <a:prstGeom prst="rect">
            <a:avLst/>
          </a:prstGeom>
          <a:noFill/>
        </p:spPr>
        <p:txBody>
          <a:bodyPr wrap="square">
            <a:spAutoFit/>
          </a:bodyPr>
          <a:lstStyle/>
          <a:p>
            <a:pPr algn="l">
              <a:defRPr sz="1600" b="0" i="0">
                <a:solidFill>
                  <a:srgbClr val="333333"/>
                </a:solidFill>
              </a:defRPr>
            </a:pPr>
            <a:r>
              <a:t>Recul et compétences acquises</a:t>
            </a:r>
          </a:p>
        </p:txBody>
      </p:sp>
      <p:sp>
        <p:nvSpPr>
          <p:cNvPr id="17" name="Rectangle 16"/>
          <p:cNvSpPr/>
          <p:nvPr/>
        </p:nvSpPr>
        <p:spPr>
          <a:xfrm>
            <a:off x="1828800" y="4864608"/>
            <a:ext cx="411480" cy="41148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07</a:t>
            </a:r>
          </a:p>
        </p:txBody>
      </p:sp>
      <p:sp>
        <p:nvSpPr>
          <p:cNvPr id="18" name="TextBox 17"/>
          <p:cNvSpPr txBox="1"/>
          <p:nvPr/>
        </p:nvSpPr>
        <p:spPr>
          <a:xfrm>
            <a:off x="2468880" y="4910328"/>
            <a:ext cx="7315200" cy="365760"/>
          </a:xfrm>
          <a:prstGeom prst="rect">
            <a:avLst/>
          </a:prstGeom>
          <a:noFill/>
        </p:spPr>
        <p:txBody>
          <a:bodyPr wrap="square">
            <a:spAutoFit/>
          </a:bodyPr>
          <a:lstStyle/>
          <a:p>
            <a:pPr algn="l">
              <a:defRPr sz="1600" b="0" i="0">
                <a:solidFill>
                  <a:srgbClr val="333333"/>
                </a:solidFill>
              </a:defRPr>
            </a:pPr>
            <a:r>
              <a:t>Conclusion et perspectives</a:t>
            </a:r>
          </a:p>
        </p:txBody>
      </p:sp>
      <p:sp>
        <p:nvSpPr>
          <p:cNvPr id="19" name="TextBox 18"/>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2 / 36</a:t>
            </a:r>
          </a:p>
        </p:txBody>
      </p:sp>
      <p:sp>
        <p:nvSpPr>
          <p:cNvPr id="20" name="TextBox 19"/>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01</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400300"/>
            <a:ext cx="6858000" cy="1371600"/>
          </a:xfrm>
          <a:prstGeom prst="rect">
            <a:avLst/>
          </a:prstGeom>
          <a:noFill/>
        </p:spPr>
        <p:txBody>
          <a:bodyPr wrap="square">
            <a:spAutoFit/>
          </a:bodyPr>
          <a:lstStyle/>
          <a:p>
            <a:pPr algn="l">
              <a:defRPr sz="4400" b="1" i="0">
                <a:solidFill>
                  <a:srgbClr val="003366"/>
                </a:solidFill>
              </a:defRPr>
            </a:pPr>
            <a:r>
              <a:t>Introduction</a:t>
            </a:r>
          </a:p>
        </p:txBody>
      </p:sp>
      <p:sp>
        <p:nvSpPr>
          <p:cNvPr id="6" name="TextBox 5"/>
          <p:cNvSpPr txBox="1"/>
          <p:nvPr/>
        </p:nvSpPr>
        <p:spPr>
          <a:xfrm>
            <a:off x="4937760" y="3566160"/>
            <a:ext cx="6858000" cy="369332"/>
          </a:xfrm>
          <a:prstGeom prst="rect">
            <a:avLst/>
          </a:prstGeom>
          <a:noFill/>
        </p:spPr>
        <p:txBody>
          <a:bodyPr wrap="square">
            <a:spAutoFit/>
          </a:bodyPr>
          <a:lstStyle/>
          <a:p>
            <a:pPr algn="l">
              <a:defRPr sz="1800" b="0" i="1">
                <a:solidFill>
                  <a:srgbClr val="666666"/>
                </a:solidFill>
              </a:defRPr>
            </a:pPr>
            <a:r>
              <a:rPr dirty="0" err="1"/>
              <a:t>Contexte</a:t>
            </a:r>
            <a:r>
              <a:rPr dirty="0"/>
              <a:t> et cadre g</a:t>
            </a:r>
            <a:r>
              <a:rPr lang="fr-CH" dirty="0"/>
              <a:t>é</a:t>
            </a:r>
            <a:r>
              <a:rPr dirty="0"/>
              <a:t>n</a:t>
            </a:r>
            <a:r>
              <a:rPr lang="fr-CH" dirty="0"/>
              <a:t>é</a:t>
            </a:r>
            <a:r>
              <a:rPr dirty="0" err="1"/>
              <a:t>ral</a:t>
            </a:r>
            <a:r>
              <a:rPr dirty="0"/>
              <a:t> du stage</a:t>
            </a:r>
          </a:p>
        </p:txBody>
      </p:sp>
      <p:sp>
        <p:nvSpPr>
          <p:cNvPr id="7" name="Freeform 10">
            <a:extLst>
              <a:ext uri="{FF2B5EF4-FFF2-40B4-BE49-F238E27FC236}">
                <a16:creationId xmlns:a16="http://schemas.microsoft.com/office/drawing/2014/main" id="{8DA345CD-702E-48A9-9158-1B85D002C80F}"/>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8" name="Image 7">
            <a:extLst>
              <a:ext uri="{FF2B5EF4-FFF2-40B4-BE49-F238E27FC236}">
                <a16:creationId xmlns:a16="http://schemas.microsoft.com/office/drawing/2014/main" id="{E8D768F5-F84B-4424-90F5-BBF3DE1D3163}"/>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INTRODUCTION</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Contexte et enjeu</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4 / 36</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371600"/>
            <a:ext cx="10698480" cy="457200"/>
          </a:xfrm>
          <a:prstGeom prst="rect">
            <a:avLst/>
          </a:prstGeom>
          <a:noFill/>
        </p:spPr>
        <p:txBody>
          <a:bodyPr wrap="square">
            <a:spAutoFit/>
          </a:bodyPr>
          <a:lstStyle/>
          <a:p>
            <a:pPr algn="l">
              <a:defRPr sz="1800" b="1" i="0">
                <a:solidFill>
                  <a:srgbClr val="003366"/>
                </a:solidFill>
              </a:defRPr>
            </a:pPr>
            <a:r>
              <a:t>Un enjeu concret pour les SI d'entreprise</a:t>
            </a:r>
          </a:p>
        </p:txBody>
      </p:sp>
      <p:sp>
        <p:nvSpPr>
          <p:cNvPr id="10" name="TextBox 9"/>
          <p:cNvSpPr txBox="1"/>
          <p:nvPr/>
        </p:nvSpPr>
        <p:spPr>
          <a:xfrm>
            <a:off x="731520" y="1828800"/>
            <a:ext cx="10698480" cy="692497"/>
          </a:xfrm>
          <a:prstGeom prst="rect">
            <a:avLst/>
          </a:prstGeom>
          <a:noFill/>
        </p:spPr>
        <p:txBody>
          <a:bodyPr wrap="square">
            <a:spAutoFit/>
          </a:bodyPr>
          <a:lstStyle/>
          <a:p>
            <a:pPr algn="just">
              <a:defRPr sz="1300" b="0" i="0">
                <a:solidFill>
                  <a:srgbClr val="333333"/>
                </a:solidFill>
              </a:defRPr>
            </a:pPr>
            <a:r>
              <a:rPr dirty="0"/>
              <a:t>Les </a:t>
            </a:r>
            <a:r>
              <a:rPr dirty="0" err="1"/>
              <a:t>systèmes</a:t>
            </a:r>
            <a:r>
              <a:rPr dirty="0"/>
              <a:t> </a:t>
            </a:r>
            <a:r>
              <a:rPr dirty="0" err="1"/>
              <a:t>d'information</a:t>
            </a:r>
            <a:r>
              <a:rPr dirty="0"/>
              <a:t> </a:t>
            </a:r>
            <a:r>
              <a:rPr dirty="0" err="1"/>
              <a:t>reposent</a:t>
            </a:r>
            <a:r>
              <a:rPr dirty="0"/>
              <a:t> sur un parc </a:t>
            </a:r>
            <a:r>
              <a:rPr dirty="0" err="1"/>
              <a:t>applicatif</a:t>
            </a:r>
            <a:r>
              <a:rPr dirty="0"/>
              <a:t> </a:t>
            </a:r>
            <a:r>
              <a:rPr dirty="0" err="1"/>
              <a:t>dont</a:t>
            </a:r>
            <a:r>
              <a:rPr dirty="0"/>
              <a:t> la </a:t>
            </a:r>
            <a:r>
              <a:rPr dirty="0" err="1"/>
              <a:t>complexite</a:t>
            </a:r>
            <a:r>
              <a:rPr lang="fr-CH" dirty="0"/>
              <a:t> </a:t>
            </a:r>
            <a:r>
              <a:rPr dirty="0" err="1"/>
              <a:t>croit</a:t>
            </a:r>
            <a:r>
              <a:rPr dirty="0"/>
              <a:t> avec le temps : </a:t>
            </a:r>
            <a:r>
              <a:rPr dirty="0" err="1"/>
              <a:t>certificats</a:t>
            </a:r>
            <a:r>
              <a:rPr dirty="0"/>
              <a:t>, </a:t>
            </a:r>
            <a:r>
              <a:rPr dirty="0" err="1"/>
              <a:t>comptes</a:t>
            </a:r>
            <a:r>
              <a:rPr dirty="0"/>
              <a:t> de service, </a:t>
            </a:r>
            <a:r>
              <a:rPr dirty="0" err="1"/>
              <a:t>ressources</a:t>
            </a:r>
            <a:r>
              <a:rPr dirty="0"/>
              <a:t> cloud, bases</a:t>
            </a:r>
          </a:p>
          <a:p>
            <a:pPr algn="just">
              <a:defRPr sz="1300" b="0" i="0">
                <a:solidFill>
                  <a:srgbClr val="333333"/>
                </a:solidFill>
              </a:defRPr>
            </a:pPr>
            <a:r>
              <a:rPr dirty="0"/>
              <a:t>de </a:t>
            </a:r>
            <a:r>
              <a:rPr dirty="0" err="1"/>
              <a:t>donnees</a:t>
            </a:r>
            <a:r>
              <a:rPr dirty="0"/>
              <a:t>... Un </a:t>
            </a:r>
            <a:r>
              <a:rPr dirty="0" err="1"/>
              <a:t>certificat</a:t>
            </a:r>
            <a:r>
              <a:rPr dirty="0"/>
              <a:t> qui expire sans </a:t>
            </a:r>
            <a:r>
              <a:rPr dirty="0" err="1"/>
              <a:t>alerte</a:t>
            </a:r>
            <a:r>
              <a:rPr dirty="0"/>
              <a:t> = un service de production</a:t>
            </a:r>
            <a:r>
              <a:rPr lang="fr-CH" dirty="0"/>
              <a:t> </a:t>
            </a:r>
            <a:r>
              <a:rPr dirty="0"/>
              <a:t>qui </a:t>
            </a:r>
            <a:r>
              <a:rPr dirty="0" err="1"/>
              <a:t>s'interrompt</a:t>
            </a:r>
            <a:r>
              <a:rPr dirty="0"/>
              <a:t>. </a:t>
            </a:r>
            <a:r>
              <a:rPr dirty="0" err="1"/>
              <a:t>L'inventaire</a:t>
            </a:r>
            <a:r>
              <a:rPr dirty="0"/>
              <a:t> du </a:t>
            </a:r>
            <a:r>
              <a:rPr dirty="0" err="1"/>
              <a:t>patrimoine</a:t>
            </a:r>
            <a:r>
              <a:rPr dirty="0"/>
              <a:t> </a:t>
            </a:r>
            <a:r>
              <a:rPr dirty="0" err="1"/>
              <a:t>applicatif</a:t>
            </a:r>
            <a:r>
              <a:rPr dirty="0"/>
              <a:t> </a:t>
            </a:r>
            <a:r>
              <a:rPr dirty="0" err="1"/>
              <a:t>est</a:t>
            </a:r>
            <a:r>
              <a:rPr dirty="0"/>
              <a:t> </a:t>
            </a:r>
            <a:r>
              <a:rPr dirty="0" err="1"/>
              <a:t>une</a:t>
            </a:r>
            <a:r>
              <a:rPr dirty="0"/>
              <a:t> condition de</a:t>
            </a:r>
          </a:p>
          <a:p>
            <a:pPr algn="just">
              <a:defRPr sz="1300" b="0" i="0">
                <a:solidFill>
                  <a:srgbClr val="333333"/>
                </a:solidFill>
              </a:defRPr>
            </a:pPr>
            <a:r>
              <a:rPr dirty="0" err="1"/>
              <a:t>continuite</a:t>
            </a:r>
            <a:r>
              <a:rPr dirty="0"/>
              <a:t> de service.</a:t>
            </a:r>
          </a:p>
        </p:txBody>
      </p:sp>
      <p:sp>
        <p:nvSpPr>
          <p:cNvPr id="11" name="TextBox 10"/>
          <p:cNvSpPr txBox="1"/>
          <p:nvPr/>
        </p:nvSpPr>
        <p:spPr>
          <a:xfrm>
            <a:off x="731520" y="2743200"/>
            <a:ext cx="10698480" cy="338554"/>
          </a:xfrm>
          <a:prstGeom prst="rect">
            <a:avLst/>
          </a:prstGeom>
          <a:noFill/>
        </p:spPr>
        <p:txBody>
          <a:bodyPr wrap="square">
            <a:spAutoFit/>
          </a:bodyPr>
          <a:lstStyle/>
          <a:p>
            <a:pPr algn="l">
              <a:defRPr sz="1600" b="1" i="0">
                <a:solidFill>
                  <a:srgbClr val="003366"/>
                </a:solidFill>
              </a:defRPr>
            </a:pPr>
            <a:r>
              <a:rPr dirty="0"/>
              <a:t>Deux missions au sein de </a:t>
            </a:r>
            <a:r>
              <a:rPr lang="fr-MA" dirty="0"/>
              <a:t>équipe</a:t>
            </a:r>
            <a:r>
              <a:rPr dirty="0"/>
              <a:t> Group Collaborative Solutions (VESI)</a:t>
            </a:r>
          </a:p>
        </p:txBody>
      </p:sp>
      <p:sp>
        <p:nvSpPr>
          <p:cNvPr id="12" name="Rounded Rectangle 11"/>
          <p:cNvSpPr/>
          <p:nvPr/>
        </p:nvSpPr>
        <p:spPr>
          <a:xfrm>
            <a:off x="731520" y="3291840"/>
            <a:ext cx="5394960" cy="228600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31520" y="3291840"/>
            <a:ext cx="5394960" cy="5029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Mission principale</a:t>
            </a:r>
          </a:p>
        </p:txBody>
      </p:sp>
      <p:sp>
        <p:nvSpPr>
          <p:cNvPr id="14" name="TextBox 13"/>
          <p:cNvSpPr txBox="1"/>
          <p:nvPr/>
        </p:nvSpPr>
        <p:spPr>
          <a:xfrm>
            <a:off x="914400" y="3931920"/>
            <a:ext cx="5029200" cy="411480"/>
          </a:xfrm>
          <a:prstGeom prst="rect">
            <a:avLst/>
          </a:prstGeom>
          <a:noFill/>
        </p:spPr>
        <p:txBody>
          <a:bodyPr wrap="square">
            <a:spAutoFit/>
          </a:bodyPr>
          <a:lstStyle/>
          <a:p>
            <a:pPr algn="l">
              <a:defRPr sz="1500" b="1" i="0">
                <a:solidFill>
                  <a:srgbClr val="003366"/>
                </a:solidFill>
              </a:defRPr>
            </a:pPr>
            <a:r>
              <a:t>Refonte de CS BAG (version 2)</a:t>
            </a:r>
          </a:p>
        </p:txBody>
      </p:sp>
      <p:sp>
        <p:nvSpPr>
          <p:cNvPr id="15" name="TextBox 14"/>
          <p:cNvSpPr txBox="1"/>
          <p:nvPr/>
        </p:nvSpPr>
        <p:spPr>
          <a:xfrm>
            <a:off x="914400" y="4389120"/>
            <a:ext cx="4981576" cy="430887"/>
          </a:xfrm>
          <a:prstGeom prst="rect">
            <a:avLst/>
          </a:prstGeom>
          <a:noFill/>
        </p:spPr>
        <p:txBody>
          <a:bodyPr wrap="square">
            <a:spAutoFit/>
          </a:bodyPr>
          <a:lstStyle/>
          <a:p>
            <a:pPr algn="just">
              <a:defRPr sz="1100" b="0" i="0">
                <a:solidFill>
                  <a:srgbClr val="333333"/>
                </a:solidFill>
              </a:defRPr>
            </a:pPr>
            <a:r>
              <a:rPr dirty="0" err="1"/>
              <a:t>Outil</a:t>
            </a:r>
            <a:r>
              <a:rPr dirty="0"/>
              <a:t> interne </a:t>
            </a:r>
            <a:r>
              <a:rPr dirty="0" err="1"/>
              <a:t>d'inventaire</a:t>
            </a:r>
            <a:r>
              <a:rPr dirty="0"/>
              <a:t> du </a:t>
            </a:r>
            <a:r>
              <a:rPr dirty="0" err="1"/>
              <a:t>patrimoine</a:t>
            </a:r>
            <a:r>
              <a:rPr lang="fr-CH" dirty="0"/>
              <a:t> </a:t>
            </a:r>
            <a:r>
              <a:rPr dirty="0" err="1"/>
              <a:t>applicatif</a:t>
            </a:r>
            <a:r>
              <a:rPr dirty="0"/>
              <a:t> du service Collaborative Solutions,</a:t>
            </a:r>
          </a:p>
          <a:p>
            <a:pPr algn="just">
              <a:defRPr sz="1100" b="0" i="0">
                <a:solidFill>
                  <a:srgbClr val="333333"/>
                </a:solidFill>
              </a:defRPr>
            </a:pPr>
            <a:r>
              <a:rPr dirty="0" err="1"/>
              <a:t>decoupee</a:t>
            </a:r>
            <a:r>
              <a:rPr dirty="0"/>
              <a:t> </a:t>
            </a:r>
            <a:r>
              <a:rPr dirty="0" err="1"/>
              <a:t>en</a:t>
            </a:r>
            <a:r>
              <a:rPr dirty="0"/>
              <a:t> 3 lots de specifications.</a:t>
            </a:r>
          </a:p>
        </p:txBody>
      </p:sp>
      <p:sp>
        <p:nvSpPr>
          <p:cNvPr id="16" name="Rounded Rectangle 15"/>
          <p:cNvSpPr/>
          <p:nvPr/>
        </p:nvSpPr>
        <p:spPr>
          <a:xfrm>
            <a:off x="6309360" y="3291840"/>
            <a:ext cx="5394960" cy="2286000"/>
          </a:xfrm>
          <a:prstGeom prst="roundRect">
            <a:avLst/>
          </a:prstGeom>
          <a:solidFill>
            <a:srgbClr val="FFFFFF"/>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309360" y="3291840"/>
            <a:ext cx="5394960" cy="50292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Mission complémentaire</a:t>
            </a:r>
          </a:p>
        </p:txBody>
      </p:sp>
      <p:sp>
        <p:nvSpPr>
          <p:cNvPr id="18" name="TextBox 17"/>
          <p:cNvSpPr txBox="1"/>
          <p:nvPr/>
        </p:nvSpPr>
        <p:spPr>
          <a:xfrm>
            <a:off x="6492240" y="3931920"/>
            <a:ext cx="5029200" cy="411480"/>
          </a:xfrm>
          <a:prstGeom prst="rect">
            <a:avLst/>
          </a:prstGeom>
          <a:noFill/>
        </p:spPr>
        <p:txBody>
          <a:bodyPr wrap="square">
            <a:spAutoFit/>
          </a:bodyPr>
          <a:lstStyle/>
          <a:p>
            <a:pPr algn="l">
              <a:defRPr sz="1500" b="1" i="0">
                <a:solidFill>
                  <a:srgbClr val="2E8B3D"/>
                </a:solidFill>
              </a:defRPr>
            </a:pPr>
            <a:r>
              <a:t>Fiabilisation d'Elium Sauvegarde</a:t>
            </a:r>
          </a:p>
        </p:txBody>
      </p:sp>
      <p:sp>
        <p:nvSpPr>
          <p:cNvPr id="19" name="TextBox 18"/>
          <p:cNvSpPr txBox="1"/>
          <p:nvPr/>
        </p:nvSpPr>
        <p:spPr>
          <a:xfrm>
            <a:off x="6492240" y="4389120"/>
            <a:ext cx="5029200" cy="1188720"/>
          </a:xfrm>
          <a:prstGeom prst="rect">
            <a:avLst/>
          </a:prstGeom>
          <a:noFill/>
        </p:spPr>
        <p:txBody>
          <a:bodyPr wrap="square">
            <a:spAutoFit/>
          </a:bodyPr>
          <a:lstStyle/>
          <a:p>
            <a:pPr algn="l">
              <a:defRPr sz="1100" b="0" i="0">
                <a:solidFill>
                  <a:srgbClr val="333333"/>
                </a:solidFill>
              </a:defRPr>
            </a:pPr>
            <a:r>
              <a:t>Application console .NET qui archive</a:t>
            </a:r>
          </a:p>
          <a:p>
            <a:pPr algn="l">
              <a:defRPr sz="1100" b="0" i="0">
                <a:solidFill>
                  <a:srgbClr val="333333"/>
                </a:solidFill>
              </a:defRPr>
            </a:pPr>
            <a:r>
              <a:t>les articles Elium vers SharePoint Online.</a:t>
            </a:r>
          </a:p>
          <a:p>
            <a:pPr algn="l">
              <a:defRPr sz="1100" b="0" i="0">
                <a:solidFill>
                  <a:srgbClr val="333333"/>
                </a:solidFill>
              </a:defRPr>
            </a:pPr>
            <a:r>
              <a:t>Intervention pour fiabiliser un traitement</a:t>
            </a:r>
          </a:p>
          <a:p>
            <a:pPr algn="l">
              <a:defRPr sz="1100" b="0" i="0">
                <a:solidFill>
                  <a:srgbClr val="333333"/>
                </a:solidFill>
              </a:defRPr>
            </a:pPr>
            <a:r>
              <a:t>qui échouait en production.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02</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1371600"/>
          </a:xfrm>
          <a:prstGeom prst="rect">
            <a:avLst/>
          </a:prstGeom>
          <a:noFill/>
        </p:spPr>
        <p:txBody>
          <a:bodyPr wrap="square">
            <a:spAutoFit/>
          </a:bodyPr>
          <a:lstStyle/>
          <a:p>
            <a:pPr algn="l">
              <a:defRPr sz="4400" b="1" i="0">
                <a:solidFill>
                  <a:srgbClr val="003366"/>
                </a:solidFill>
              </a:defRPr>
            </a:pPr>
            <a:r>
              <a:t>Organisme d'accueil</a:t>
            </a:r>
          </a:p>
        </p:txBody>
      </p:sp>
      <p:sp>
        <p:nvSpPr>
          <p:cNvPr id="6" name="TextBox 5"/>
          <p:cNvSpPr txBox="1"/>
          <p:nvPr/>
        </p:nvSpPr>
        <p:spPr>
          <a:xfrm>
            <a:off x="4937760" y="3566160"/>
            <a:ext cx="6858000" cy="369332"/>
          </a:xfrm>
          <a:prstGeom prst="rect">
            <a:avLst/>
          </a:prstGeom>
          <a:noFill/>
        </p:spPr>
        <p:txBody>
          <a:bodyPr wrap="square">
            <a:spAutoFit/>
          </a:bodyPr>
          <a:lstStyle/>
          <a:p>
            <a:pPr algn="l">
              <a:defRPr sz="1800" b="0" i="1">
                <a:solidFill>
                  <a:srgbClr val="666666"/>
                </a:solidFill>
              </a:defRPr>
            </a:pPr>
            <a:r>
              <a:rPr dirty="0"/>
              <a:t>Du </a:t>
            </a:r>
            <a:r>
              <a:rPr dirty="0" err="1"/>
              <a:t>groupe</a:t>
            </a:r>
            <a:r>
              <a:rPr dirty="0"/>
              <a:t> VINCI a </a:t>
            </a:r>
            <a:r>
              <a:rPr lang="fr-MA" dirty="0"/>
              <a:t>équipe</a:t>
            </a:r>
            <a:r>
              <a:rPr dirty="0"/>
              <a:t> qui </a:t>
            </a:r>
            <a:r>
              <a:rPr dirty="0" err="1"/>
              <a:t>m'a</a:t>
            </a:r>
            <a:r>
              <a:rPr dirty="0"/>
              <a:t> </a:t>
            </a:r>
            <a:r>
              <a:rPr dirty="0" err="1"/>
              <a:t>accueilli</a:t>
            </a:r>
            <a:endParaRPr dirty="0"/>
          </a:p>
        </p:txBody>
      </p:sp>
      <p:sp>
        <p:nvSpPr>
          <p:cNvPr id="7" name="Freeform 10">
            <a:extLst>
              <a:ext uri="{FF2B5EF4-FFF2-40B4-BE49-F238E27FC236}">
                <a16:creationId xmlns:a16="http://schemas.microsoft.com/office/drawing/2014/main" id="{1FF4FD85-55F7-4641-85CA-EBA1E6D9022D}"/>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8" name="Image 7">
            <a:extLst>
              <a:ext uri="{FF2B5EF4-FFF2-40B4-BE49-F238E27FC236}">
                <a16:creationId xmlns:a16="http://schemas.microsoft.com/office/drawing/2014/main" id="{66A3BBB7-0EAF-4B85-B086-7A43C3E49FE7}"/>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ORGANISME D'ACCUEIL</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Le groupe VINCI</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6 / 36</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Acteur mondial des concessions, de l'énergie et de la construction</a:t>
            </a:r>
          </a:p>
        </p:txBody>
      </p:sp>
      <p:sp>
        <p:nvSpPr>
          <p:cNvPr id="10" name="Rounded Rectangle 9"/>
          <p:cNvSpPr/>
          <p:nvPr/>
        </p:nvSpPr>
        <p:spPr>
          <a:xfrm>
            <a:off x="4937760" y="1783080"/>
            <a:ext cx="2286000" cy="64008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700" b="1">
                <a:solidFill>
                  <a:srgbClr val="FFFFFF"/>
                </a:solidFill>
              </a:defRPr>
            </a:pPr>
            <a:r>
              <a:t>GROUPE VINCI</a:t>
            </a:r>
          </a:p>
        </p:txBody>
      </p:sp>
      <p:sp>
        <p:nvSpPr>
          <p:cNvPr id="11" name="Rectangle 10"/>
          <p:cNvSpPr/>
          <p:nvPr/>
        </p:nvSpPr>
        <p:spPr>
          <a:xfrm>
            <a:off x="6035040" y="2423160"/>
            <a:ext cx="27432" cy="32004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346293" y="2720912"/>
            <a:ext cx="7390067" cy="82295"/>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383727" y="2743200"/>
            <a:ext cx="27432" cy="27432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14400" y="3004756"/>
            <a:ext cx="3200400" cy="77724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400" b="1">
                <a:solidFill>
                  <a:srgbClr val="FFFFFF"/>
                </a:solidFill>
              </a:defRPr>
            </a:pPr>
            <a:r>
              <a:t>VINCI</a:t>
            </a:r>
          </a:p>
          <a:p>
            <a:pPr algn="ctr">
              <a:defRPr sz="1400" b="1">
                <a:solidFill>
                  <a:srgbClr val="FFFFFF"/>
                </a:solidFill>
              </a:defRPr>
            </a:pPr>
            <a:r>
              <a:t>Concessions</a:t>
            </a:r>
          </a:p>
        </p:txBody>
      </p:sp>
      <p:sp>
        <p:nvSpPr>
          <p:cNvPr id="15" name="Rectangle 14"/>
          <p:cNvSpPr/>
          <p:nvPr/>
        </p:nvSpPr>
        <p:spPr>
          <a:xfrm>
            <a:off x="1143000" y="3919156"/>
            <a:ext cx="2743200" cy="384048"/>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333333"/>
                </a:solidFill>
              </a:defRPr>
            </a:pPr>
            <a:r>
              <a:t>VINCI Autoroutes</a:t>
            </a:r>
          </a:p>
        </p:txBody>
      </p:sp>
      <p:sp>
        <p:nvSpPr>
          <p:cNvPr id="16" name="Rectangle 15"/>
          <p:cNvSpPr/>
          <p:nvPr/>
        </p:nvSpPr>
        <p:spPr>
          <a:xfrm>
            <a:off x="1143000" y="4422076"/>
            <a:ext cx="2743200" cy="384048"/>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333333"/>
                </a:solidFill>
              </a:defRPr>
            </a:pPr>
            <a:r>
              <a:t>VINCI Airports</a:t>
            </a:r>
          </a:p>
        </p:txBody>
      </p:sp>
      <p:sp>
        <p:nvSpPr>
          <p:cNvPr id="17" name="Rectangle 16"/>
          <p:cNvSpPr/>
          <p:nvPr/>
        </p:nvSpPr>
        <p:spPr>
          <a:xfrm>
            <a:off x="6041327" y="2743200"/>
            <a:ext cx="27432" cy="27432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572000" y="3004756"/>
            <a:ext cx="3200400" cy="77724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400" b="1">
                <a:solidFill>
                  <a:srgbClr val="FFFFFF"/>
                </a:solidFill>
              </a:defRPr>
            </a:pPr>
            <a:r>
              <a:rPr lang="fr-MA" dirty="0"/>
              <a:t>Services à l'énergie </a:t>
            </a:r>
          </a:p>
        </p:txBody>
      </p:sp>
      <p:sp>
        <p:nvSpPr>
          <p:cNvPr id="19" name="Rectangle 18"/>
          <p:cNvSpPr/>
          <p:nvPr/>
        </p:nvSpPr>
        <p:spPr>
          <a:xfrm>
            <a:off x="4800600" y="3919156"/>
            <a:ext cx="2743200" cy="384048"/>
          </a:xfrm>
          <a:prstGeom prst="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E8B3D"/>
                </a:solidFill>
              </a:defRPr>
            </a:pPr>
            <a:r>
              <a:t>VINCI Energies</a:t>
            </a:r>
          </a:p>
        </p:txBody>
      </p:sp>
      <p:sp>
        <p:nvSpPr>
          <p:cNvPr id="21" name="Rectangle 20"/>
          <p:cNvSpPr/>
          <p:nvPr/>
        </p:nvSpPr>
        <p:spPr>
          <a:xfrm>
            <a:off x="4800600" y="4505705"/>
            <a:ext cx="2743200" cy="384048"/>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333333"/>
                </a:solidFill>
              </a:defRPr>
            </a:pPr>
            <a:r>
              <a:t>Cobra IS</a:t>
            </a:r>
          </a:p>
        </p:txBody>
      </p:sp>
      <p:sp>
        <p:nvSpPr>
          <p:cNvPr id="22" name="Rectangle 21"/>
          <p:cNvSpPr/>
          <p:nvPr/>
        </p:nvSpPr>
        <p:spPr>
          <a:xfrm>
            <a:off x="9698927" y="2743200"/>
            <a:ext cx="27432" cy="27432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8229600" y="3004756"/>
            <a:ext cx="3200400" cy="77724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400" b="1">
                <a:solidFill>
                  <a:srgbClr val="FFFFFF"/>
                </a:solidFill>
              </a:defRPr>
            </a:pPr>
            <a:r>
              <a:rPr dirty="0"/>
              <a:t>VINCI</a:t>
            </a:r>
          </a:p>
          <a:p>
            <a:pPr algn="ctr">
              <a:defRPr sz="1400" b="1">
                <a:solidFill>
                  <a:srgbClr val="FFFFFF"/>
                </a:solidFill>
              </a:defRPr>
            </a:pPr>
            <a:r>
              <a:rPr lang="fr-MA" dirty="0"/>
              <a:t>Construction</a:t>
            </a:r>
            <a:endParaRPr dirty="0"/>
          </a:p>
        </p:txBody>
      </p:sp>
      <p:sp>
        <p:nvSpPr>
          <p:cNvPr id="24" name="Rectangle 23"/>
          <p:cNvSpPr/>
          <p:nvPr/>
        </p:nvSpPr>
        <p:spPr>
          <a:xfrm>
            <a:off x="8458200" y="3919156"/>
            <a:ext cx="2743200" cy="384048"/>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333333"/>
                </a:solidFill>
              </a:defRPr>
            </a:pPr>
            <a:r>
              <a:rPr lang="fr-MA" dirty="0"/>
              <a:t>VINCI Construction</a:t>
            </a:r>
          </a:p>
        </p:txBody>
      </p:sp>
      <p:sp>
        <p:nvSpPr>
          <p:cNvPr id="26" name="Rounded Rectangle 25"/>
          <p:cNvSpPr/>
          <p:nvPr/>
        </p:nvSpPr>
        <p:spPr>
          <a:xfrm>
            <a:off x="4114800" y="5989320"/>
            <a:ext cx="365760" cy="274320"/>
          </a:xfrm>
          <a:prstGeom prst="round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0">
                <a:solidFill>
                  <a:srgbClr val="FFFFFF"/>
                </a:solidFill>
              </a:defRPr>
            </a:pPr>
            <a:endParaRPr/>
          </a:p>
        </p:txBody>
      </p:sp>
      <p:sp>
        <p:nvSpPr>
          <p:cNvPr id="27" name="TextBox 26"/>
          <p:cNvSpPr txBox="1"/>
          <p:nvPr/>
        </p:nvSpPr>
        <p:spPr>
          <a:xfrm>
            <a:off x="4572000" y="5989320"/>
            <a:ext cx="6400800" cy="320040"/>
          </a:xfrm>
          <a:prstGeom prst="rect">
            <a:avLst/>
          </a:prstGeom>
          <a:noFill/>
        </p:spPr>
        <p:txBody>
          <a:bodyPr wrap="square">
            <a:spAutoFit/>
          </a:bodyPr>
          <a:lstStyle/>
          <a:p>
            <a:pPr algn="l">
              <a:defRPr sz="1300" b="1" i="1">
                <a:solidFill>
                  <a:srgbClr val="2E8B3D"/>
                </a:solidFill>
              </a:defRPr>
            </a:pPr>
            <a:r>
              <a:rPr dirty="0"/>
              <a:t>Pole </a:t>
            </a:r>
            <a:r>
              <a:rPr dirty="0" err="1"/>
              <a:t>d'accueil</a:t>
            </a:r>
            <a:r>
              <a:rPr dirty="0"/>
              <a:t> : VINCI Energies</a:t>
            </a:r>
          </a:p>
        </p:txBody>
      </p:sp>
      <p:sp>
        <p:nvSpPr>
          <p:cNvPr id="28" name="Rectangle 27">
            <a:extLst>
              <a:ext uri="{FF2B5EF4-FFF2-40B4-BE49-F238E27FC236}">
                <a16:creationId xmlns:a16="http://schemas.microsoft.com/office/drawing/2014/main" id="{D6862CE1-1D49-4CFA-9A12-E26EDDACAEF6}"/>
              </a:ext>
            </a:extLst>
          </p:cNvPr>
          <p:cNvSpPr/>
          <p:nvPr/>
        </p:nvSpPr>
        <p:spPr>
          <a:xfrm>
            <a:off x="1143000" y="4976525"/>
            <a:ext cx="2743200" cy="384048"/>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0">
                <a:solidFill>
                  <a:srgbClr val="333333"/>
                </a:solidFill>
              </a:defRPr>
            </a:pPr>
            <a:r>
              <a:rPr lang="fr-MA" dirty="0"/>
              <a:t>Autres concessions</a:t>
            </a:r>
            <a:endParaRPr dirty="0"/>
          </a:p>
        </p:txBody>
      </p:sp>
      <p:pic>
        <p:nvPicPr>
          <p:cNvPr id="29" name="Image 28">
            <a:extLst>
              <a:ext uri="{FF2B5EF4-FFF2-40B4-BE49-F238E27FC236}">
                <a16:creationId xmlns:a16="http://schemas.microsoft.com/office/drawing/2014/main" id="{F3A7E4E0-770A-44E0-97D8-72EF16CBEA62}"/>
              </a:ext>
            </a:extLst>
          </p:cNvPr>
          <p:cNvPicPr>
            <a:picLocks noChangeAspect="1"/>
          </p:cNvPicPr>
          <p:nvPr/>
        </p:nvPicPr>
        <p:blipFill rotWithShape="1">
          <a:blip r:embed="rId2"/>
          <a:srcRect t="36165" b="33014"/>
          <a:stretch/>
        </p:blipFill>
        <p:spPr>
          <a:xfrm>
            <a:off x="10237076" y="327996"/>
            <a:ext cx="1348918" cy="4157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ORGANISME D'ACCUEIL</a:t>
            </a:r>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dirty="0"/>
              <a:t>VINCI - Chiffres cl</a:t>
            </a:r>
            <a:r>
              <a:rPr lang="fr-CH" dirty="0"/>
              <a:t>é</a:t>
            </a:r>
            <a:r>
              <a:rPr dirty="0"/>
              <a:t>s 2025</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7 / 36</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07777"/>
          </a:xfrm>
          <a:prstGeom prst="rect">
            <a:avLst/>
          </a:prstGeom>
          <a:noFill/>
        </p:spPr>
        <p:txBody>
          <a:bodyPr wrap="square">
            <a:spAutoFit/>
          </a:bodyPr>
          <a:lstStyle/>
          <a:p>
            <a:pPr algn="ctr">
              <a:defRPr sz="1400" b="0" i="1">
                <a:solidFill>
                  <a:srgbClr val="666666"/>
                </a:solidFill>
              </a:defRPr>
            </a:pPr>
            <a:r>
              <a:rPr dirty="0"/>
              <a:t>Groupe VINCI - Rapport </a:t>
            </a:r>
            <a:r>
              <a:rPr dirty="0" err="1"/>
              <a:t>annuel</a:t>
            </a:r>
            <a:r>
              <a:rPr dirty="0"/>
              <a:t> 2025</a:t>
            </a:r>
          </a:p>
        </p:txBody>
      </p:sp>
      <p:sp>
        <p:nvSpPr>
          <p:cNvPr id="10" name="Rounded Rectangle 9"/>
          <p:cNvSpPr/>
          <p:nvPr/>
        </p:nvSpPr>
        <p:spPr>
          <a:xfrm>
            <a:off x="731520" y="1828800"/>
            <a:ext cx="2651760" cy="1554480"/>
          </a:xfrm>
          <a:prstGeom prst="roundRect">
            <a:avLst/>
          </a:prstGeom>
          <a:solidFill>
            <a:srgbClr val="FFFFFF"/>
          </a:solidFill>
          <a:ln w="25400">
            <a:solidFill>
              <a:srgbClr val="003366"/>
            </a:solidFill>
          </a:ln>
        </p:spPr>
        <p:style>
          <a:lnRef idx="1">
            <a:schemeClr val="accent1"/>
          </a:lnRef>
          <a:fillRef idx="3">
            <a:schemeClr val="accent1"/>
          </a:fillRef>
          <a:effectRef idx="2">
            <a:schemeClr val="accent1"/>
          </a:effectRef>
          <a:fontRef idx="minor">
            <a:schemeClr val="lt1"/>
          </a:fontRef>
        </p:style>
        <p:txBody>
          <a:bodyPr wrap="square" tIns="274320" rtlCol="0" anchor="ctr"/>
          <a:lstStyle/>
          <a:p>
            <a:pPr algn="ctr">
              <a:defRPr sz="3200" b="1">
                <a:solidFill>
                  <a:srgbClr val="003366"/>
                </a:solidFill>
              </a:defRPr>
            </a:pPr>
            <a:r>
              <a:t>74,6 Mds</a:t>
            </a:r>
          </a:p>
          <a:p>
            <a:pPr algn="ctr">
              <a:defRPr sz="1200">
                <a:solidFill>
                  <a:srgbClr val="666666"/>
                </a:solidFill>
              </a:defRPr>
            </a:pPr>
            <a:r>
              <a:t>Chiffre d'affaires (€)</a:t>
            </a:r>
          </a:p>
        </p:txBody>
      </p:sp>
      <p:sp>
        <p:nvSpPr>
          <p:cNvPr id="11" name="Rectangle 10"/>
          <p:cNvSpPr/>
          <p:nvPr/>
        </p:nvSpPr>
        <p:spPr>
          <a:xfrm>
            <a:off x="731520" y="1828800"/>
            <a:ext cx="26517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566160" y="1828800"/>
            <a:ext cx="2651760" cy="1554480"/>
          </a:xfrm>
          <a:prstGeom prst="roundRect">
            <a:avLst/>
          </a:prstGeom>
          <a:solidFill>
            <a:srgbClr val="FFFFFF"/>
          </a:solidFill>
          <a:ln w="25400">
            <a:solidFill>
              <a:srgbClr val="003366"/>
            </a:solidFill>
          </a:ln>
        </p:spPr>
        <p:style>
          <a:lnRef idx="1">
            <a:schemeClr val="accent1"/>
          </a:lnRef>
          <a:fillRef idx="3">
            <a:schemeClr val="accent1"/>
          </a:fillRef>
          <a:effectRef idx="2">
            <a:schemeClr val="accent1"/>
          </a:effectRef>
          <a:fontRef idx="minor">
            <a:schemeClr val="lt1"/>
          </a:fontRef>
        </p:style>
        <p:txBody>
          <a:bodyPr wrap="square" tIns="274320" rtlCol="0" anchor="ctr"/>
          <a:lstStyle/>
          <a:p>
            <a:pPr algn="ctr">
              <a:defRPr sz="3200" b="1">
                <a:solidFill>
                  <a:srgbClr val="003366"/>
                </a:solidFill>
              </a:defRPr>
            </a:pPr>
            <a:r>
              <a:t>293 800</a:t>
            </a:r>
          </a:p>
          <a:p>
            <a:pPr algn="ctr">
              <a:defRPr sz="1200">
                <a:solidFill>
                  <a:srgbClr val="666666"/>
                </a:solidFill>
              </a:defRPr>
            </a:pPr>
            <a:r>
              <a:t>Collaborateurs</a:t>
            </a:r>
          </a:p>
        </p:txBody>
      </p:sp>
      <p:sp>
        <p:nvSpPr>
          <p:cNvPr id="13" name="Rectangle 12"/>
          <p:cNvSpPr/>
          <p:nvPr/>
        </p:nvSpPr>
        <p:spPr>
          <a:xfrm>
            <a:off x="3566160" y="1828800"/>
            <a:ext cx="26517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400800" y="1828800"/>
            <a:ext cx="2651760" cy="1554480"/>
          </a:xfrm>
          <a:prstGeom prst="roundRect">
            <a:avLst/>
          </a:prstGeom>
          <a:solidFill>
            <a:srgbClr val="FFFFFF"/>
          </a:solidFill>
          <a:ln w="25400">
            <a:solidFill>
              <a:srgbClr val="003366"/>
            </a:solidFill>
          </a:ln>
        </p:spPr>
        <p:style>
          <a:lnRef idx="1">
            <a:schemeClr val="accent1"/>
          </a:lnRef>
          <a:fillRef idx="3">
            <a:schemeClr val="accent1"/>
          </a:fillRef>
          <a:effectRef idx="2">
            <a:schemeClr val="accent1"/>
          </a:effectRef>
          <a:fontRef idx="minor">
            <a:schemeClr val="lt1"/>
          </a:fontRef>
        </p:style>
        <p:txBody>
          <a:bodyPr wrap="square" tIns="274320" rtlCol="0" anchor="ctr"/>
          <a:lstStyle/>
          <a:p>
            <a:pPr algn="ctr">
              <a:defRPr sz="3200" b="1">
                <a:solidFill>
                  <a:srgbClr val="003366"/>
                </a:solidFill>
              </a:defRPr>
            </a:pPr>
            <a:r>
              <a:t>120+</a:t>
            </a:r>
          </a:p>
          <a:p>
            <a:pPr algn="ctr">
              <a:defRPr sz="1200">
                <a:solidFill>
                  <a:srgbClr val="666666"/>
                </a:solidFill>
              </a:defRPr>
            </a:pPr>
            <a:r>
              <a:t>Pays d'implantation</a:t>
            </a:r>
          </a:p>
        </p:txBody>
      </p:sp>
      <p:sp>
        <p:nvSpPr>
          <p:cNvPr id="15" name="Rectangle 14"/>
          <p:cNvSpPr/>
          <p:nvPr/>
        </p:nvSpPr>
        <p:spPr>
          <a:xfrm>
            <a:off x="6400800" y="1828800"/>
            <a:ext cx="26517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9235440" y="1828800"/>
            <a:ext cx="2651760" cy="1554480"/>
          </a:xfrm>
          <a:prstGeom prst="roundRect">
            <a:avLst/>
          </a:prstGeom>
          <a:solidFill>
            <a:srgbClr val="FFFFFF"/>
          </a:solidFill>
          <a:ln w="25400">
            <a:solidFill>
              <a:srgbClr val="003366"/>
            </a:solidFill>
          </a:ln>
        </p:spPr>
        <p:style>
          <a:lnRef idx="1">
            <a:schemeClr val="accent1"/>
          </a:lnRef>
          <a:fillRef idx="3">
            <a:schemeClr val="accent1"/>
          </a:fillRef>
          <a:effectRef idx="2">
            <a:schemeClr val="accent1"/>
          </a:effectRef>
          <a:fontRef idx="minor">
            <a:schemeClr val="lt1"/>
          </a:fontRef>
        </p:style>
        <p:txBody>
          <a:bodyPr wrap="square" tIns="274320" rtlCol="0" anchor="ctr"/>
          <a:lstStyle/>
          <a:p>
            <a:pPr algn="ctr">
              <a:defRPr sz="3200" b="1">
                <a:solidFill>
                  <a:srgbClr val="003366"/>
                </a:solidFill>
              </a:defRPr>
            </a:pPr>
            <a:r>
              <a:t>4,9 Mds</a:t>
            </a:r>
          </a:p>
          <a:p>
            <a:pPr algn="ctr">
              <a:defRPr sz="1200">
                <a:solidFill>
                  <a:srgbClr val="666666"/>
                </a:solidFill>
              </a:defRPr>
            </a:pPr>
            <a:r>
              <a:t>Résultat net (€)</a:t>
            </a:r>
          </a:p>
        </p:txBody>
      </p:sp>
      <p:sp>
        <p:nvSpPr>
          <p:cNvPr id="17" name="Rectangle 16"/>
          <p:cNvSpPr/>
          <p:nvPr/>
        </p:nvSpPr>
        <p:spPr>
          <a:xfrm>
            <a:off x="9235440" y="1828800"/>
            <a:ext cx="26517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3657600"/>
            <a:ext cx="10698480" cy="365760"/>
          </a:xfrm>
          <a:prstGeom prst="rect">
            <a:avLst/>
          </a:prstGeom>
          <a:noFill/>
        </p:spPr>
        <p:txBody>
          <a:bodyPr wrap="square">
            <a:spAutoFit/>
          </a:bodyPr>
          <a:lstStyle/>
          <a:p>
            <a:pPr algn="ctr">
              <a:defRPr sz="1600" b="1" i="0">
                <a:solidFill>
                  <a:srgbClr val="2E8B3D"/>
                </a:solidFill>
              </a:defRPr>
            </a:pPr>
            <a:r>
              <a:t>Zoom sur VINCI Energies (pôle d'accueil)</a:t>
            </a:r>
          </a:p>
        </p:txBody>
      </p:sp>
      <p:sp>
        <p:nvSpPr>
          <p:cNvPr id="19" name="Rounded Rectangle 18"/>
          <p:cNvSpPr/>
          <p:nvPr/>
        </p:nvSpPr>
        <p:spPr>
          <a:xfrm>
            <a:off x="731520" y="4206240"/>
            <a:ext cx="2651760" cy="1280160"/>
          </a:xfrm>
          <a:prstGeom prst="round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wrap="square" tIns="182880" rtlCol="0" anchor="ctr"/>
          <a:lstStyle/>
          <a:p>
            <a:pPr algn="ctr">
              <a:defRPr sz="2600" b="1">
                <a:solidFill>
                  <a:srgbClr val="2E8B3D"/>
                </a:solidFill>
              </a:defRPr>
            </a:pPr>
            <a:r>
              <a:t>21,6 Mds</a:t>
            </a:r>
          </a:p>
          <a:p>
            <a:pPr algn="ctr">
              <a:defRPr sz="1100">
                <a:solidFill>
                  <a:srgbClr val="333333"/>
                </a:solidFill>
              </a:defRPr>
            </a:pPr>
            <a:r>
              <a:t>CA (€)</a:t>
            </a:r>
          </a:p>
        </p:txBody>
      </p:sp>
      <p:sp>
        <p:nvSpPr>
          <p:cNvPr id="20" name="Rounded Rectangle 19"/>
          <p:cNvSpPr/>
          <p:nvPr/>
        </p:nvSpPr>
        <p:spPr>
          <a:xfrm>
            <a:off x="3566160" y="4206240"/>
            <a:ext cx="2651760" cy="1280160"/>
          </a:xfrm>
          <a:prstGeom prst="round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wrap="square" tIns="182880" rtlCol="0" anchor="ctr"/>
          <a:lstStyle/>
          <a:p>
            <a:pPr algn="ctr">
              <a:defRPr sz="2600" b="1">
                <a:solidFill>
                  <a:srgbClr val="2E8B3D"/>
                </a:solidFill>
              </a:defRPr>
            </a:pPr>
            <a:r>
              <a:t>109 000</a:t>
            </a:r>
          </a:p>
          <a:p>
            <a:pPr algn="ctr">
              <a:defRPr sz="1100">
                <a:solidFill>
                  <a:srgbClr val="333333"/>
                </a:solidFill>
              </a:defRPr>
            </a:pPr>
            <a:r>
              <a:t>Collaborateurs</a:t>
            </a:r>
          </a:p>
        </p:txBody>
      </p:sp>
      <p:sp>
        <p:nvSpPr>
          <p:cNvPr id="21" name="Rounded Rectangle 20"/>
          <p:cNvSpPr/>
          <p:nvPr/>
        </p:nvSpPr>
        <p:spPr>
          <a:xfrm>
            <a:off x="6400800" y="4206240"/>
            <a:ext cx="2651760" cy="1280160"/>
          </a:xfrm>
          <a:prstGeom prst="round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wrap="square" tIns="182880" rtlCol="0" anchor="ctr"/>
          <a:lstStyle/>
          <a:p>
            <a:pPr algn="ctr">
              <a:defRPr sz="2600" b="1">
                <a:solidFill>
                  <a:srgbClr val="2E8B3D"/>
                </a:solidFill>
              </a:defRPr>
            </a:pPr>
            <a:r>
              <a:t>60</a:t>
            </a:r>
          </a:p>
          <a:p>
            <a:pPr algn="ctr">
              <a:defRPr sz="1100">
                <a:solidFill>
                  <a:srgbClr val="333333"/>
                </a:solidFill>
              </a:defRPr>
            </a:pPr>
            <a:r>
              <a:t>Pays</a:t>
            </a:r>
          </a:p>
        </p:txBody>
      </p:sp>
      <p:sp>
        <p:nvSpPr>
          <p:cNvPr id="22" name="Rounded Rectangle 21"/>
          <p:cNvSpPr/>
          <p:nvPr/>
        </p:nvSpPr>
        <p:spPr>
          <a:xfrm>
            <a:off x="9235440" y="4206240"/>
            <a:ext cx="2651760" cy="1280160"/>
          </a:xfrm>
          <a:prstGeom prst="round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wrap="square" tIns="182880" rtlCol="0" anchor="ctr"/>
          <a:lstStyle/>
          <a:p>
            <a:pPr algn="ctr">
              <a:defRPr sz="2600" b="1">
                <a:solidFill>
                  <a:srgbClr val="2E8B3D"/>
                </a:solidFill>
              </a:defRPr>
            </a:pPr>
            <a:r>
              <a:t>~ 2 200</a:t>
            </a:r>
          </a:p>
          <a:p>
            <a:pPr algn="ctr">
              <a:defRPr sz="1100">
                <a:solidFill>
                  <a:srgbClr val="333333"/>
                </a:solidFill>
              </a:defRPr>
            </a:pPr>
            <a:r>
              <a:t>Entreprises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03</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1446550"/>
          </a:xfrm>
          <a:prstGeom prst="rect">
            <a:avLst/>
          </a:prstGeom>
          <a:noFill/>
        </p:spPr>
        <p:txBody>
          <a:bodyPr wrap="square">
            <a:spAutoFit/>
          </a:bodyPr>
          <a:lstStyle/>
          <a:p>
            <a:pPr algn="l">
              <a:defRPr sz="4400" b="1" i="0">
                <a:solidFill>
                  <a:srgbClr val="003366"/>
                </a:solidFill>
              </a:defRPr>
            </a:pPr>
            <a:r>
              <a:rPr dirty="0"/>
              <a:t>L'</a:t>
            </a:r>
            <a:r>
              <a:rPr lang="fr-CH" dirty="0"/>
              <a:t>é</a:t>
            </a:r>
            <a:r>
              <a:rPr dirty="0" err="1"/>
              <a:t>quipe</a:t>
            </a:r>
            <a:r>
              <a:rPr dirty="0"/>
              <a:t> et son </a:t>
            </a:r>
            <a:r>
              <a:rPr dirty="0" err="1"/>
              <a:t>fonctionnement</a:t>
            </a:r>
            <a:endParaRPr dirty="0"/>
          </a:p>
        </p:txBody>
      </p:sp>
      <p:sp>
        <p:nvSpPr>
          <p:cNvPr id="6" name="TextBox 5"/>
          <p:cNvSpPr txBox="1"/>
          <p:nvPr/>
        </p:nvSpPr>
        <p:spPr>
          <a:xfrm>
            <a:off x="4937760" y="3566160"/>
            <a:ext cx="6858000" cy="1371600"/>
          </a:xfrm>
          <a:prstGeom prst="rect">
            <a:avLst/>
          </a:prstGeom>
          <a:noFill/>
        </p:spPr>
        <p:txBody>
          <a:bodyPr wrap="square">
            <a:spAutoFit/>
          </a:bodyPr>
          <a:lstStyle/>
          <a:p>
            <a:pPr algn="l">
              <a:defRPr sz="1800" b="0" i="1">
                <a:solidFill>
                  <a:srgbClr val="666666"/>
                </a:solidFill>
              </a:defRPr>
            </a:pPr>
            <a:r>
              <a:t>VESI, la direction Custom Applications et le squad M365</a:t>
            </a:r>
          </a:p>
        </p:txBody>
      </p:sp>
      <p:sp>
        <p:nvSpPr>
          <p:cNvPr id="7" name="Freeform 10">
            <a:extLst>
              <a:ext uri="{FF2B5EF4-FFF2-40B4-BE49-F238E27FC236}">
                <a16:creationId xmlns:a16="http://schemas.microsoft.com/office/drawing/2014/main" id="{83BEE508-6F37-41CE-8C1B-F182AC3FD7C3}"/>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8" name="Image 7">
            <a:extLst>
              <a:ext uri="{FF2B5EF4-FFF2-40B4-BE49-F238E27FC236}">
                <a16:creationId xmlns:a16="http://schemas.microsoft.com/office/drawing/2014/main" id="{31381C66-FF9B-4B4D-8A30-953214EE4C35}"/>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L'ÉQUIPE</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VESI - De la DSI au squad M365</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9 / 36</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365760" y="1026942"/>
            <a:ext cx="11247120" cy="274320"/>
          </a:xfrm>
          <a:prstGeom prst="rect">
            <a:avLst/>
          </a:prstGeom>
          <a:noFill/>
        </p:spPr>
        <p:txBody>
          <a:bodyPr wrap="square">
            <a:spAutoFit/>
          </a:bodyPr>
          <a:lstStyle/>
          <a:p>
            <a:pPr algn="ctr">
              <a:defRPr sz="1200" b="0" i="1">
                <a:solidFill>
                  <a:srgbClr val="666666"/>
                </a:solidFill>
              </a:defRPr>
            </a:pPr>
            <a:r>
              <a:t>Positionnement du squad M365 dans l'organisation de VESI</a:t>
            </a:r>
          </a:p>
        </p:txBody>
      </p:sp>
      <p:sp>
        <p:nvSpPr>
          <p:cNvPr id="10" name="Rounded Rectangle 9"/>
          <p:cNvSpPr/>
          <p:nvPr/>
        </p:nvSpPr>
        <p:spPr>
          <a:xfrm>
            <a:off x="4130861" y="1600200"/>
            <a:ext cx="2286000" cy="45720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500" b="1">
                <a:solidFill>
                  <a:srgbClr val="FFFFFF"/>
                </a:solidFill>
              </a:defRPr>
            </a:pPr>
            <a:r>
              <a:t>VESI</a:t>
            </a:r>
          </a:p>
        </p:txBody>
      </p:sp>
      <p:sp>
        <p:nvSpPr>
          <p:cNvPr id="11" name="Rectangle 10"/>
          <p:cNvSpPr/>
          <p:nvPr/>
        </p:nvSpPr>
        <p:spPr>
          <a:xfrm>
            <a:off x="5228141" y="205740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47581" y="2651759"/>
            <a:ext cx="10189698" cy="45719"/>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228141" y="2286000"/>
            <a:ext cx="27432" cy="36576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511105" y="265176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73261" y="2880360"/>
            <a:ext cx="2103120" cy="5486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0">
                <a:solidFill>
                  <a:srgbClr val="333333"/>
                </a:solidFill>
              </a:defRPr>
            </a:pPr>
            <a:r>
              <a:rPr lang="fr-CH" dirty="0"/>
              <a:t>Cyber </a:t>
            </a:r>
            <a:r>
              <a:rPr lang="fr-CH" dirty="0" err="1"/>
              <a:t>security</a:t>
            </a:r>
            <a:endParaRPr dirty="0"/>
          </a:p>
        </p:txBody>
      </p:sp>
      <p:sp>
        <p:nvSpPr>
          <p:cNvPr id="17" name="Rectangle 16"/>
          <p:cNvSpPr/>
          <p:nvPr/>
        </p:nvSpPr>
        <p:spPr>
          <a:xfrm>
            <a:off x="4025705" y="265176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2987861" y="2880360"/>
            <a:ext cx="2103120" cy="54864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Direction</a:t>
            </a:r>
          </a:p>
          <a:p>
            <a:pPr algn="ctr">
              <a:defRPr sz="1100" b="1">
                <a:solidFill>
                  <a:srgbClr val="FFFFFF"/>
                </a:solidFill>
              </a:defRPr>
            </a:pPr>
            <a:r>
              <a:t>Custom Applications</a:t>
            </a:r>
          </a:p>
        </p:txBody>
      </p:sp>
      <p:sp>
        <p:nvSpPr>
          <p:cNvPr id="19" name="Rectangle 18"/>
          <p:cNvSpPr/>
          <p:nvPr/>
        </p:nvSpPr>
        <p:spPr>
          <a:xfrm>
            <a:off x="6540305" y="265176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5502461" y="2880360"/>
            <a:ext cx="2103120" cy="5486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0">
                <a:solidFill>
                  <a:srgbClr val="333333"/>
                </a:solidFill>
              </a:defRPr>
            </a:pPr>
            <a:r>
              <a:rPr dirty="0"/>
              <a:t>Data &amp; </a:t>
            </a:r>
            <a:r>
              <a:rPr lang="fr-CH" dirty="0"/>
              <a:t>IA</a:t>
            </a:r>
            <a:endParaRPr dirty="0"/>
          </a:p>
        </p:txBody>
      </p:sp>
      <p:sp>
        <p:nvSpPr>
          <p:cNvPr id="21" name="Rectangle 20"/>
          <p:cNvSpPr/>
          <p:nvPr/>
        </p:nvSpPr>
        <p:spPr>
          <a:xfrm>
            <a:off x="9054905" y="265176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8017061" y="2880360"/>
            <a:ext cx="2103120" cy="5486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0">
                <a:solidFill>
                  <a:srgbClr val="333333"/>
                </a:solidFill>
              </a:defRPr>
            </a:pPr>
            <a:r>
              <a:rPr lang="fr-CH" dirty="0"/>
              <a:t>Codex</a:t>
            </a:r>
            <a:endParaRPr dirty="0"/>
          </a:p>
        </p:txBody>
      </p:sp>
      <p:sp>
        <p:nvSpPr>
          <p:cNvPr id="23" name="Rectangle 22"/>
          <p:cNvSpPr/>
          <p:nvPr/>
        </p:nvSpPr>
        <p:spPr>
          <a:xfrm>
            <a:off x="4025705" y="342900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747581" y="3657600"/>
            <a:ext cx="9052560" cy="27432"/>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511105" y="365760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473261" y="3886200"/>
            <a:ext cx="2103120" cy="5486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0">
                <a:solidFill>
                  <a:srgbClr val="333333"/>
                </a:solidFill>
              </a:defRPr>
            </a:pPr>
            <a:r>
              <a:t>Web &amp; Mobile</a:t>
            </a:r>
          </a:p>
          <a:p>
            <a:pPr algn="ctr">
              <a:defRPr sz="1100" b="0">
                <a:solidFill>
                  <a:srgbClr val="333333"/>
                </a:solidFill>
              </a:defRPr>
            </a:pPr>
            <a:r>
              <a:t>Applications</a:t>
            </a:r>
          </a:p>
        </p:txBody>
      </p:sp>
      <p:sp>
        <p:nvSpPr>
          <p:cNvPr id="28" name="Rectangle 27"/>
          <p:cNvSpPr/>
          <p:nvPr/>
        </p:nvSpPr>
        <p:spPr>
          <a:xfrm>
            <a:off x="4025705" y="365760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2987861" y="3886200"/>
            <a:ext cx="2103120" cy="54864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Collaborative</a:t>
            </a:r>
          </a:p>
          <a:p>
            <a:pPr algn="ctr">
              <a:defRPr sz="1100" b="1">
                <a:solidFill>
                  <a:srgbClr val="FFFFFF"/>
                </a:solidFill>
              </a:defRPr>
            </a:pPr>
            <a:r>
              <a:t>Solutions</a:t>
            </a:r>
          </a:p>
        </p:txBody>
      </p:sp>
      <p:sp>
        <p:nvSpPr>
          <p:cNvPr id="30" name="Rectangle 29"/>
          <p:cNvSpPr/>
          <p:nvPr/>
        </p:nvSpPr>
        <p:spPr>
          <a:xfrm>
            <a:off x="6540305" y="365760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5502461" y="3886200"/>
            <a:ext cx="2103120" cy="5486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0">
                <a:solidFill>
                  <a:srgbClr val="333333"/>
                </a:solidFill>
              </a:defRPr>
            </a:pPr>
            <a:r>
              <a:t>Payroll</a:t>
            </a:r>
          </a:p>
          <a:p>
            <a:pPr algn="ctr">
              <a:defRPr sz="1100" b="0">
                <a:solidFill>
                  <a:srgbClr val="333333"/>
                </a:solidFill>
              </a:defRPr>
            </a:pPr>
            <a:r>
              <a:t>Solutions</a:t>
            </a:r>
          </a:p>
        </p:txBody>
      </p:sp>
      <p:sp>
        <p:nvSpPr>
          <p:cNvPr id="32" name="Rectangle 31"/>
          <p:cNvSpPr/>
          <p:nvPr/>
        </p:nvSpPr>
        <p:spPr>
          <a:xfrm>
            <a:off x="9054905" y="3657600"/>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8017061" y="3886200"/>
            <a:ext cx="2103120" cy="5486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0">
                <a:solidFill>
                  <a:srgbClr val="333333"/>
                </a:solidFill>
              </a:defRPr>
            </a:pPr>
            <a:r>
              <a:t>HRIS</a:t>
            </a:r>
          </a:p>
        </p:txBody>
      </p:sp>
      <p:sp>
        <p:nvSpPr>
          <p:cNvPr id="34" name="Rectangle 33"/>
          <p:cNvSpPr/>
          <p:nvPr/>
        </p:nvSpPr>
        <p:spPr>
          <a:xfrm>
            <a:off x="4025705" y="4434840"/>
            <a:ext cx="27432" cy="27432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flipV="1">
            <a:off x="2853046" y="4642339"/>
            <a:ext cx="3939657" cy="45719"/>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4028050" y="4688058"/>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2853046" y="4916658"/>
            <a:ext cx="2377440" cy="502920"/>
          </a:xfrm>
          <a:prstGeom prst="round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rPr dirty="0"/>
              <a:t>Group</a:t>
            </a:r>
          </a:p>
        </p:txBody>
      </p:sp>
      <p:sp>
        <p:nvSpPr>
          <p:cNvPr id="39" name="Rectangle 38"/>
          <p:cNvSpPr/>
          <p:nvPr/>
        </p:nvSpPr>
        <p:spPr>
          <a:xfrm>
            <a:off x="6567737" y="4654998"/>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5433296" y="4898491"/>
            <a:ext cx="2377440" cy="50292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0">
                <a:solidFill>
                  <a:srgbClr val="333333"/>
                </a:solidFill>
              </a:defRPr>
            </a:pPr>
            <a:r>
              <a:rPr dirty="0"/>
              <a:t>BU</a:t>
            </a:r>
          </a:p>
        </p:txBody>
      </p:sp>
      <p:sp>
        <p:nvSpPr>
          <p:cNvPr id="41" name="Rectangle 40"/>
          <p:cNvSpPr/>
          <p:nvPr/>
        </p:nvSpPr>
        <p:spPr>
          <a:xfrm>
            <a:off x="4028050" y="5419578"/>
            <a:ext cx="27432" cy="13716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2853046" y="5556738"/>
            <a:ext cx="2468880" cy="27432"/>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3387970" y="5556738"/>
            <a:ext cx="27432" cy="13716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2853046" y="5693898"/>
            <a:ext cx="1097280" cy="32004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0">
                <a:solidFill>
                  <a:srgbClr val="2E8B3D"/>
                </a:solidFill>
              </a:defRPr>
            </a:pPr>
            <a:r>
              <a:t>Squad MyVIEW</a:t>
            </a:r>
          </a:p>
        </p:txBody>
      </p:sp>
      <p:sp>
        <p:nvSpPr>
          <p:cNvPr id="45" name="Rectangle 44"/>
          <p:cNvSpPr/>
          <p:nvPr/>
        </p:nvSpPr>
        <p:spPr>
          <a:xfrm>
            <a:off x="4759570" y="5556738"/>
            <a:ext cx="27432" cy="13716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4224646" y="5693898"/>
            <a:ext cx="1097280" cy="320040"/>
          </a:xfrm>
          <a:prstGeom prst="round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Squad M365</a:t>
            </a:r>
          </a:p>
        </p:txBody>
      </p:sp>
      <p:sp>
        <p:nvSpPr>
          <p:cNvPr id="50" name="Rectangle 49">
            <a:extLst>
              <a:ext uri="{FF2B5EF4-FFF2-40B4-BE49-F238E27FC236}">
                <a16:creationId xmlns:a16="http://schemas.microsoft.com/office/drawing/2014/main" id="{167C368A-DB62-45A0-B52C-A645B518C4F8}"/>
              </a:ext>
            </a:extLst>
          </p:cNvPr>
          <p:cNvSpPr/>
          <p:nvPr/>
        </p:nvSpPr>
        <p:spPr>
          <a:xfrm>
            <a:off x="10792257" y="2686933"/>
            <a:ext cx="27432" cy="228600"/>
          </a:xfrm>
          <a:prstGeom prst="rect">
            <a:avLst/>
          </a:prstGeom>
          <a:solidFill>
            <a:srgbClr val="6666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ounded Rectangle 21">
            <a:extLst>
              <a:ext uri="{FF2B5EF4-FFF2-40B4-BE49-F238E27FC236}">
                <a16:creationId xmlns:a16="http://schemas.microsoft.com/office/drawing/2014/main" id="{A00158E2-79FF-4C41-946B-25D70129DDEA}"/>
              </a:ext>
            </a:extLst>
          </p:cNvPr>
          <p:cNvSpPr/>
          <p:nvPr/>
        </p:nvSpPr>
        <p:spPr>
          <a:xfrm>
            <a:off x="10237411" y="2880360"/>
            <a:ext cx="1204312" cy="5486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0">
                <a:solidFill>
                  <a:srgbClr val="333333"/>
                </a:solidFill>
              </a:defRPr>
            </a:pPr>
            <a:r>
              <a:rPr lang="fr-CH" dirty="0"/>
              <a:t>….</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61610"/>
          </a:xfrm>
          <a:prstGeom prst="rect">
            <a:avLst/>
          </a:prstGeom>
          <a:noFill/>
        </p:spPr>
        <p:txBody>
          <a:bodyPr wrap="square">
            <a:spAutoFit/>
          </a:bodyPr>
          <a:lstStyle/>
          <a:p>
            <a:pPr algn="l">
              <a:defRPr sz="1100" b="1" i="0">
                <a:solidFill>
                  <a:srgbClr val="004D99"/>
                </a:solidFill>
              </a:defRPr>
            </a:pPr>
            <a:r>
              <a:rPr lang="fr-MA" dirty="0"/>
              <a:t>équipe</a:t>
            </a:r>
            <a:endParaRPr dirty="0"/>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dirty="0"/>
              <a:t>Applications ger</a:t>
            </a:r>
            <a:r>
              <a:rPr lang="fr-CH" dirty="0"/>
              <a:t>é</a:t>
            </a:r>
            <a:r>
              <a:rPr dirty="0"/>
              <a:t>es par l'</a:t>
            </a:r>
            <a:r>
              <a:rPr lang="fr-CH" dirty="0"/>
              <a:t>é</a:t>
            </a:r>
            <a:r>
              <a:rPr dirty="0" err="1"/>
              <a:t>quipe</a:t>
            </a:r>
            <a:endParaRPr dirty="0"/>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10 / 36</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07777"/>
          </a:xfrm>
          <a:prstGeom prst="rect">
            <a:avLst/>
          </a:prstGeom>
          <a:noFill/>
        </p:spPr>
        <p:txBody>
          <a:bodyPr wrap="square">
            <a:spAutoFit/>
          </a:bodyPr>
          <a:lstStyle/>
          <a:p>
            <a:pPr algn="l">
              <a:defRPr sz="1400" b="0" i="1">
                <a:solidFill>
                  <a:srgbClr val="666666"/>
                </a:solidFill>
              </a:defRPr>
            </a:pPr>
            <a:r>
              <a:rPr dirty="0" err="1"/>
              <a:t>Portefeuille</a:t>
            </a:r>
            <a:r>
              <a:rPr dirty="0"/>
              <a:t> de l'</a:t>
            </a:r>
            <a:r>
              <a:rPr lang="fr-CH" dirty="0"/>
              <a:t>é</a:t>
            </a:r>
            <a:r>
              <a:rPr dirty="0" err="1"/>
              <a:t>quipe</a:t>
            </a:r>
            <a:r>
              <a:rPr dirty="0"/>
              <a:t> Group Collaborative Solutions</a:t>
            </a:r>
          </a:p>
        </p:txBody>
      </p:sp>
      <p:sp>
        <p:nvSpPr>
          <p:cNvPr id="10" name="Rounded Rectangle 9"/>
          <p:cNvSpPr/>
          <p:nvPr/>
        </p:nvSpPr>
        <p:spPr>
          <a:xfrm>
            <a:off x="731520" y="1828800"/>
            <a:ext cx="3566160" cy="17373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914400" y="2011680"/>
            <a:ext cx="1097280" cy="13716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rPr dirty="0"/>
              <a:t>[ Logo ]</a:t>
            </a:r>
          </a:p>
        </p:txBody>
      </p:sp>
      <p:sp>
        <p:nvSpPr>
          <p:cNvPr id="12" name="TextBox 11"/>
          <p:cNvSpPr txBox="1"/>
          <p:nvPr/>
        </p:nvSpPr>
        <p:spPr>
          <a:xfrm>
            <a:off x="2148840" y="2057400"/>
            <a:ext cx="2057400" cy="548640"/>
          </a:xfrm>
          <a:prstGeom prst="rect">
            <a:avLst/>
          </a:prstGeom>
          <a:noFill/>
        </p:spPr>
        <p:txBody>
          <a:bodyPr wrap="square">
            <a:spAutoFit/>
          </a:bodyPr>
          <a:lstStyle/>
          <a:p>
            <a:pPr algn="l">
              <a:defRPr sz="1400" b="1" i="0">
                <a:solidFill>
                  <a:srgbClr val="003366"/>
                </a:solidFill>
              </a:defRPr>
            </a:pPr>
            <a:r>
              <a:t>MyVIEW</a:t>
            </a:r>
          </a:p>
        </p:txBody>
      </p:sp>
      <p:sp>
        <p:nvSpPr>
          <p:cNvPr id="13" name="TextBox 12"/>
          <p:cNvSpPr txBox="1"/>
          <p:nvPr/>
        </p:nvSpPr>
        <p:spPr>
          <a:xfrm>
            <a:off x="2148840" y="2651760"/>
            <a:ext cx="2057400" cy="822960"/>
          </a:xfrm>
          <a:prstGeom prst="rect">
            <a:avLst/>
          </a:prstGeom>
          <a:noFill/>
        </p:spPr>
        <p:txBody>
          <a:bodyPr wrap="square">
            <a:spAutoFit/>
          </a:bodyPr>
          <a:lstStyle/>
          <a:p>
            <a:pPr algn="l">
              <a:defRPr sz="1000" b="0" i="0">
                <a:solidFill>
                  <a:srgbClr val="666666"/>
                </a:solidFill>
              </a:defRPr>
            </a:pPr>
            <a:r>
              <a:t>Intranet du groupe VINCI Energies</a:t>
            </a:r>
          </a:p>
        </p:txBody>
      </p:sp>
      <p:sp>
        <p:nvSpPr>
          <p:cNvPr id="14" name="Rounded Rectangle 13"/>
          <p:cNvSpPr/>
          <p:nvPr/>
        </p:nvSpPr>
        <p:spPr>
          <a:xfrm>
            <a:off x="4572000" y="1828800"/>
            <a:ext cx="3566160" cy="17373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754880" y="2011680"/>
            <a:ext cx="1097280" cy="13716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Logo ]</a:t>
            </a:r>
          </a:p>
        </p:txBody>
      </p:sp>
      <p:sp>
        <p:nvSpPr>
          <p:cNvPr id="16" name="TextBox 15"/>
          <p:cNvSpPr txBox="1"/>
          <p:nvPr/>
        </p:nvSpPr>
        <p:spPr>
          <a:xfrm>
            <a:off x="5989320" y="2057400"/>
            <a:ext cx="2057400" cy="548640"/>
          </a:xfrm>
          <a:prstGeom prst="rect">
            <a:avLst/>
          </a:prstGeom>
          <a:noFill/>
        </p:spPr>
        <p:txBody>
          <a:bodyPr wrap="square">
            <a:spAutoFit/>
          </a:bodyPr>
          <a:lstStyle/>
          <a:p>
            <a:pPr algn="l">
              <a:defRPr sz="1400" b="1" i="0">
                <a:solidFill>
                  <a:srgbClr val="003366"/>
                </a:solidFill>
              </a:defRPr>
            </a:pPr>
            <a:r>
              <a:t>Connect</a:t>
            </a:r>
          </a:p>
        </p:txBody>
      </p:sp>
      <p:sp>
        <p:nvSpPr>
          <p:cNvPr id="17" name="TextBox 16"/>
          <p:cNvSpPr txBox="1"/>
          <p:nvPr/>
        </p:nvSpPr>
        <p:spPr>
          <a:xfrm>
            <a:off x="5989320" y="2651760"/>
            <a:ext cx="2057400" cy="822960"/>
          </a:xfrm>
          <a:prstGeom prst="rect">
            <a:avLst/>
          </a:prstGeom>
          <a:noFill/>
        </p:spPr>
        <p:txBody>
          <a:bodyPr wrap="square">
            <a:spAutoFit/>
          </a:bodyPr>
          <a:lstStyle/>
          <a:p>
            <a:pPr algn="l">
              <a:defRPr sz="1000" b="0" i="0">
                <a:solidFill>
                  <a:srgbClr val="666666"/>
                </a:solidFill>
              </a:defRPr>
            </a:pPr>
            <a:r>
              <a:t>Moteur de recherche et annuaire</a:t>
            </a:r>
          </a:p>
        </p:txBody>
      </p:sp>
      <p:sp>
        <p:nvSpPr>
          <p:cNvPr id="18" name="Rounded Rectangle 17"/>
          <p:cNvSpPr/>
          <p:nvPr/>
        </p:nvSpPr>
        <p:spPr>
          <a:xfrm>
            <a:off x="8412480" y="1828800"/>
            <a:ext cx="3566160" cy="17373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595360" y="2011680"/>
            <a:ext cx="1097280" cy="13716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Logo ]</a:t>
            </a:r>
          </a:p>
        </p:txBody>
      </p:sp>
      <p:sp>
        <p:nvSpPr>
          <p:cNvPr id="20" name="TextBox 19"/>
          <p:cNvSpPr txBox="1"/>
          <p:nvPr/>
        </p:nvSpPr>
        <p:spPr>
          <a:xfrm>
            <a:off x="9829800" y="2057400"/>
            <a:ext cx="2057400" cy="307777"/>
          </a:xfrm>
          <a:prstGeom prst="rect">
            <a:avLst/>
          </a:prstGeom>
          <a:noFill/>
        </p:spPr>
        <p:txBody>
          <a:bodyPr wrap="square">
            <a:spAutoFit/>
          </a:bodyPr>
          <a:lstStyle/>
          <a:p>
            <a:pPr algn="l">
              <a:defRPr sz="1400" b="1" i="0">
                <a:solidFill>
                  <a:srgbClr val="003366"/>
                </a:solidFill>
              </a:defRPr>
            </a:pPr>
            <a:r>
              <a:rPr lang="fr-MA" dirty="0" err="1"/>
              <a:t>Alert</a:t>
            </a:r>
            <a:r>
              <a:rPr lang="fr-MA" dirty="0"/>
              <a:t> SSI</a:t>
            </a:r>
            <a:endParaRPr dirty="0"/>
          </a:p>
        </p:txBody>
      </p:sp>
      <p:sp>
        <p:nvSpPr>
          <p:cNvPr id="21" name="TextBox 20"/>
          <p:cNvSpPr txBox="1"/>
          <p:nvPr/>
        </p:nvSpPr>
        <p:spPr>
          <a:xfrm>
            <a:off x="9829800" y="2651760"/>
            <a:ext cx="2057400" cy="246221"/>
          </a:xfrm>
          <a:prstGeom prst="rect">
            <a:avLst/>
          </a:prstGeom>
          <a:noFill/>
        </p:spPr>
        <p:txBody>
          <a:bodyPr wrap="square">
            <a:spAutoFit/>
          </a:bodyPr>
          <a:lstStyle/>
          <a:p>
            <a:pPr algn="l">
              <a:defRPr sz="1000" b="0" i="0">
                <a:solidFill>
                  <a:srgbClr val="666666"/>
                </a:solidFill>
              </a:defRPr>
            </a:pPr>
            <a:r>
              <a:rPr lang="fr-MA" dirty="0"/>
              <a:t>Report Spam mail</a:t>
            </a:r>
            <a:endParaRPr dirty="0"/>
          </a:p>
        </p:txBody>
      </p:sp>
      <p:sp>
        <p:nvSpPr>
          <p:cNvPr id="22" name="Rounded Rectangle 21"/>
          <p:cNvSpPr/>
          <p:nvPr/>
        </p:nvSpPr>
        <p:spPr>
          <a:xfrm>
            <a:off x="731520" y="3840480"/>
            <a:ext cx="3566160" cy="17373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14400" y="4023360"/>
            <a:ext cx="1097280" cy="13716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Logo ]</a:t>
            </a:r>
          </a:p>
        </p:txBody>
      </p:sp>
      <p:sp>
        <p:nvSpPr>
          <p:cNvPr id="24" name="TextBox 23"/>
          <p:cNvSpPr txBox="1"/>
          <p:nvPr/>
        </p:nvSpPr>
        <p:spPr>
          <a:xfrm>
            <a:off x="2148840" y="4069080"/>
            <a:ext cx="2057400" cy="548640"/>
          </a:xfrm>
          <a:prstGeom prst="rect">
            <a:avLst/>
          </a:prstGeom>
          <a:noFill/>
        </p:spPr>
        <p:txBody>
          <a:bodyPr wrap="square">
            <a:spAutoFit/>
          </a:bodyPr>
          <a:lstStyle/>
          <a:p>
            <a:pPr algn="l">
              <a:defRPr sz="1400" b="1" i="0">
                <a:solidFill>
                  <a:srgbClr val="003366"/>
                </a:solidFill>
              </a:defRPr>
            </a:pPr>
            <a:r>
              <a:t>CS BAG</a:t>
            </a:r>
          </a:p>
        </p:txBody>
      </p:sp>
      <p:sp>
        <p:nvSpPr>
          <p:cNvPr id="25" name="TextBox 24"/>
          <p:cNvSpPr txBox="1"/>
          <p:nvPr/>
        </p:nvSpPr>
        <p:spPr>
          <a:xfrm>
            <a:off x="2148840" y="4663440"/>
            <a:ext cx="2057400" cy="822960"/>
          </a:xfrm>
          <a:prstGeom prst="rect">
            <a:avLst/>
          </a:prstGeom>
          <a:noFill/>
        </p:spPr>
        <p:txBody>
          <a:bodyPr wrap="square">
            <a:spAutoFit/>
          </a:bodyPr>
          <a:lstStyle/>
          <a:p>
            <a:pPr algn="l">
              <a:defRPr sz="1000" b="0" i="0">
                <a:solidFill>
                  <a:srgbClr val="666666"/>
                </a:solidFill>
              </a:defRPr>
            </a:pPr>
            <a:r>
              <a:t>Inventaire du patrimoine applicatif interne</a:t>
            </a:r>
          </a:p>
        </p:txBody>
      </p:sp>
      <p:sp>
        <p:nvSpPr>
          <p:cNvPr id="26" name="Rounded Rectangle 25"/>
          <p:cNvSpPr/>
          <p:nvPr/>
        </p:nvSpPr>
        <p:spPr>
          <a:xfrm>
            <a:off x="4572000" y="3840480"/>
            <a:ext cx="3566160" cy="17373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754880" y="4023360"/>
            <a:ext cx="1097280" cy="13716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Logo ]</a:t>
            </a:r>
          </a:p>
        </p:txBody>
      </p:sp>
      <p:sp>
        <p:nvSpPr>
          <p:cNvPr id="28" name="TextBox 27"/>
          <p:cNvSpPr txBox="1"/>
          <p:nvPr/>
        </p:nvSpPr>
        <p:spPr>
          <a:xfrm>
            <a:off x="5989320" y="4069080"/>
            <a:ext cx="2057400" cy="548640"/>
          </a:xfrm>
          <a:prstGeom prst="rect">
            <a:avLst/>
          </a:prstGeom>
          <a:noFill/>
        </p:spPr>
        <p:txBody>
          <a:bodyPr wrap="square">
            <a:spAutoFit/>
          </a:bodyPr>
          <a:lstStyle/>
          <a:p>
            <a:pPr algn="l">
              <a:defRPr sz="1400" b="1" i="0">
                <a:solidFill>
                  <a:srgbClr val="003366"/>
                </a:solidFill>
              </a:defRPr>
            </a:pPr>
            <a:r>
              <a:t>Elium</a:t>
            </a:r>
          </a:p>
          <a:p>
            <a:pPr algn="l">
              <a:defRPr sz="1400" b="1" i="0">
                <a:solidFill>
                  <a:srgbClr val="003366"/>
                </a:solidFill>
              </a:defRPr>
            </a:pPr>
            <a:r>
              <a:t>Sauvegarde</a:t>
            </a:r>
          </a:p>
        </p:txBody>
      </p:sp>
      <p:sp>
        <p:nvSpPr>
          <p:cNvPr id="29" name="TextBox 28"/>
          <p:cNvSpPr txBox="1"/>
          <p:nvPr/>
        </p:nvSpPr>
        <p:spPr>
          <a:xfrm>
            <a:off x="5989320" y="4663440"/>
            <a:ext cx="2057400" cy="822960"/>
          </a:xfrm>
          <a:prstGeom prst="rect">
            <a:avLst/>
          </a:prstGeom>
          <a:noFill/>
        </p:spPr>
        <p:txBody>
          <a:bodyPr wrap="square">
            <a:spAutoFit/>
          </a:bodyPr>
          <a:lstStyle/>
          <a:p>
            <a:pPr algn="l">
              <a:defRPr sz="1000" b="0" i="0">
                <a:solidFill>
                  <a:srgbClr val="666666"/>
                </a:solidFill>
              </a:defRPr>
            </a:pPr>
            <a:r>
              <a:t>Archivage des articles Elium vers SharePoint</a:t>
            </a:r>
          </a:p>
        </p:txBody>
      </p:sp>
      <p:sp>
        <p:nvSpPr>
          <p:cNvPr id="30" name="Rounded Rectangle 29"/>
          <p:cNvSpPr/>
          <p:nvPr/>
        </p:nvSpPr>
        <p:spPr>
          <a:xfrm>
            <a:off x="8412480" y="3840480"/>
            <a:ext cx="3566160" cy="173736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595360" y="4023360"/>
            <a:ext cx="1097280" cy="13716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Logo ]</a:t>
            </a:r>
          </a:p>
        </p:txBody>
      </p:sp>
      <p:sp>
        <p:nvSpPr>
          <p:cNvPr id="32" name="TextBox 31"/>
          <p:cNvSpPr txBox="1"/>
          <p:nvPr/>
        </p:nvSpPr>
        <p:spPr>
          <a:xfrm>
            <a:off x="9829800" y="4069080"/>
            <a:ext cx="2057400" cy="307777"/>
          </a:xfrm>
          <a:prstGeom prst="rect">
            <a:avLst/>
          </a:prstGeom>
          <a:noFill/>
        </p:spPr>
        <p:txBody>
          <a:bodyPr wrap="square">
            <a:spAutoFit/>
          </a:bodyPr>
          <a:lstStyle/>
          <a:p>
            <a:pPr algn="l">
              <a:defRPr sz="1400" b="1" i="0">
                <a:solidFill>
                  <a:srgbClr val="003366"/>
                </a:solidFill>
              </a:defRPr>
            </a:pPr>
            <a:r>
              <a:rPr lang="fr-CH" dirty="0"/>
              <a:t>Gouvernance Office 365</a:t>
            </a:r>
            <a:endParaRPr dirty="0"/>
          </a:p>
        </p:txBody>
      </p:sp>
      <p:sp>
        <p:nvSpPr>
          <p:cNvPr id="33" name="TextBox 32"/>
          <p:cNvSpPr txBox="1"/>
          <p:nvPr/>
        </p:nvSpPr>
        <p:spPr>
          <a:xfrm>
            <a:off x="9829800" y="4663440"/>
            <a:ext cx="2057400" cy="553998"/>
          </a:xfrm>
          <a:prstGeom prst="rect">
            <a:avLst/>
          </a:prstGeom>
          <a:noFill/>
        </p:spPr>
        <p:txBody>
          <a:bodyPr wrap="square">
            <a:spAutoFit/>
          </a:bodyPr>
          <a:lstStyle/>
          <a:p>
            <a:pPr algn="l">
              <a:defRPr sz="1000" b="0" i="0">
                <a:solidFill>
                  <a:srgbClr val="666666"/>
                </a:solidFill>
              </a:defRPr>
            </a:pPr>
            <a:r>
              <a:rPr lang="fr-FR" dirty="0"/>
              <a:t>Garant de la gouvernance</a:t>
            </a:r>
          </a:p>
          <a:p>
            <a:pPr algn="l">
              <a:defRPr sz="1000" b="0" i="0">
                <a:solidFill>
                  <a:srgbClr val="666666"/>
                </a:solidFill>
              </a:defRPr>
            </a:pPr>
            <a:r>
              <a:rPr lang="fr-FR" dirty="0"/>
              <a:t>des droits / Console</a:t>
            </a:r>
          </a:p>
          <a:p>
            <a:pPr algn="l">
              <a:defRPr sz="1000" b="0" i="0">
                <a:solidFill>
                  <a:srgbClr val="666666"/>
                </a:solidFill>
              </a:defRPr>
            </a:pPr>
            <a:r>
              <a:rPr lang="fr-FR" dirty="0"/>
              <a:t>d’administration</a:t>
            </a:r>
            <a:endParaRPr dirty="0"/>
          </a:p>
        </p:txBody>
      </p:sp>
      <p:pic>
        <p:nvPicPr>
          <p:cNvPr id="35" name="Image 34">
            <a:extLst>
              <a:ext uri="{FF2B5EF4-FFF2-40B4-BE49-F238E27FC236}">
                <a16:creationId xmlns:a16="http://schemas.microsoft.com/office/drawing/2014/main" id="{CD0B1270-1CC7-479D-A55C-0437BFDAE769}"/>
              </a:ext>
            </a:extLst>
          </p:cNvPr>
          <p:cNvPicPr>
            <a:picLocks noChangeAspect="1"/>
          </p:cNvPicPr>
          <p:nvPr/>
        </p:nvPicPr>
        <p:blipFill>
          <a:blip r:embed="rId2"/>
          <a:stretch>
            <a:fillRect/>
          </a:stretch>
        </p:blipFill>
        <p:spPr>
          <a:xfrm>
            <a:off x="995367" y="2453352"/>
            <a:ext cx="926236" cy="503492"/>
          </a:xfrm>
          <a:prstGeom prst="rect">
            <a:avLst/>
          </a:prstGeom>
        </p:spPr>
      </p:pic>
      <p:pic>
        <p:nvPicPr>
          <p:cNvPr id="37" name="Image 36">
            <a:extLst>
              <a:ext uri="{FF2B5EF4-FFF2-40B4-BE49-F238E27FC236}">
                <a16:creationId xmlns:a16="http://schemas.microsoft.com/office/drawing/2014/main" id="{698AF155-067A-4951-8E08-5EE3A5AF133F}"/>
              </a:ext>
            </a:extLst>
          </p:cNvPr>
          <p:cNvPicPr>
            <a:picLocks noChangeAspect="1"/>
          </p:cNvPicPr>
          <p:nvPr/>
        </p:nvPicPr>
        <p:blipFill>
          <a:blip r:embed="rId3"/>
          <a:stretch>
            <a:fillRect/>
          </a:stretch>
        </p:blipFill>
        <p:spPr>
          <a:xfrm>
            <a:off x="4990143" y="2401912"/>
            <a:ext cx="626754" cy="606371"/>
          </a:xfrm>
          <a:prstGeom prst="rect">
            <a:avLst/>
          </a:prstGeom>
        </p:spPr>
      </p:pic>
      <p:pic>
        <p:nvPicPr>
          <p:cNvPr id="41" name="Image 40">
            <a:extLst>
              <a:ext uri="{FF2B5EF4-FFF2-40B4-BE49-F238E27FC236}">
                <a16:creationId xmlns:a16="http://schemas.microsoft.com/office/drawing/2014/main" id="{B925C211-2871-4409-A7D8-65140A70EC78}"/>
              </a:ext>
            </a:extLst>
          </p:cNvPr>
          <p:cNvPicPr>
            <a:picLocks noChangeAspect="1"/>
          </p:cNvPicPr>
          <p:nvPr/>
        </p:nvPicPr>
        <p:blipFill>
          <a:blip r:embed="rId4"/>
          <a:stretch>
            <a:fillRect/>
          </a:stretch>
        </p:blipFill>
        <p:spPr>
          <a:xfrm>
            <a:off x="8906826" y="2429218"/>
            <a:ext cx="557214" cy="579065"/>
          </a:xfrm>
          <a:prstGeom prst="rect">
            <a:avLst/>
          </a:prstGeom>
        </p:spPr>
      </p:pic>
      <p:pic>
        <p:nvPicPr>
          <p:cNvPr id="43" name="Image 42">
            <a:extLst>
              <a:ext uri="{FF2B5EF4-FFF2-40B4-BE49-F238E27FC236}">
                <a16:creationId xmlns:a16="http://schemas.microsoft.com/office/drawing/2014/main" id="{CEBBE783-DED3-4F47-BAFB-616FF48C67C9}"/>
              </a:ext>
            </a:extLst>
          </p:cNvPr>
          <p:cNvPicPr>
            <a:picLocks noChangeAspect="1"/>
          </p:cNvPicPr>
          <p:nvPr/>
        </p:nvPicPr>
        <p:blipFill>
          <a:blip r:embed="rId5"/>
          <a:stretch>
            <a:fillRect/>
          </a:stretch>
        </p:blipFill>
        <p:spPr>
          <a:xfrm>
            <a:off x="4860604" y="4571999"/>
            <a:ext cx="885831" cy="381003"/>
          </a:xfrm>
          <a:prstGeom prst="rect">
            <a:avLst/>
          </a:prstGeom>
        </p:spPr>
      </p:pic>
      <p:pic>
        <p:nvPicPr>
          <p:cNvPr id="45" name="Image 44">
            <a:extLst>
              <a:ext uri="{FF2B5EF4-FFF2-40B4-BE49-F238E27FC236}">
                <a16:creationId xmlns:a16="http://schemas.microsoft.com/office/drawing/2014/main" id="{CED47314-03C1-4DA0-9DB2-A8DB25F600A5}"/>
              </a:ext>
            </a:extLst>
          </p:cNvPr>
          <p:cNvPicPr>
            <a:picLocks noChangeAspect="1"/>
          </p:cNvPicPr>
          <p:nvPr/>
        </p:nvPicPr>
        <p:blipFill>
          <a:blip r:embed="rId6"/>
          <a:stretch>
            <a:fillRect/>
          </a:stretch>
        </p:blipFill>
        <p:spPr>
          <a:xfrm>
            <a:off x="1007196" y="4537708"/>
            <a:ext cx="914407" cy="342903"/>
          </a:xfrm>
          <a:prstGeom prst="rect">
            <a:avLst/>
          </a:prstGeom>
        </p:spPr>
      </p:pic>
      <p:pic>
        <p:nvPicPr>
          <p:cNvPr id="47" name="Image 46">
            <a:extLst>
              <a:ext uri="{FF2B5EF4-FFF2-40B4-BE49-F238E27FC236}">
                <a16:creationId xmlns:a16="http://schemas.microsoft.com/office/drawing/2014/main" id="{ECAE1D79-CB25-40CC-9916-B7B7FF34E18F}"/>
              </a:ext>
            </a:extLst>
          </p:cNvPr>
          <p:cNvPicPr>
            <a:picLocks noChangeAspect="1"/>
          </p:cNvPicPr>
          <p:nvPr/>
        </p:nvPicPr>
        <p:blipFill>
          <a:blip r:embed="rId7"/>
          <a:stretch>
            <a:fillRect/>
          </a:stretch>
        </p:blipFill>
        <p:spPr>
          <a:xfrm>
            <a:off x="8692515" y="4510917"/>
            <a:ext cx="902970" cy="44494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61610"/>
          </a:xfrm>
          <a:prstGeom prst="rect">
            <a:avLst/>
          </a:prstGeom>
          <a:noFill/>
        </p:spPr>
        <p:txBody>
          <a:bodyPr wrap="square">
            <a:spAutoFit/>
          </a:bodyPr>
          <a:lstStyle/>
          <a:p>
            <a:pPr algn="l">
              <a:defRPr sz="1100" b="1" i="0">
                <a:solidFill>
                  <a:srgbClr val="004D99"/>
                </a:solidFill>
              </a:defRPr>
            </a:pPr>
            <a:r>
              <a:rPr lang="fr-MA" dirty="0"/>
              <a:t>équipe</a:t>
            </a:r>
            <a:endParaRPr dirty="0"/>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lang="fr-MA" dirty="0"/>
              <a:t>équipe</a:t>
            </a:r>
            <a:r>
              <a:rPr dirty="0"/>
              <a:t> </a:t>
            </a:r>
            <a:r>
              <a:rPr dirty="0" err="1"/>
              <a:t>projet</a:t>
            </a:r>
            <a:r>
              <a:rPr dirty="0"/>
              <a:t> CS BAG v2</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11 / 36</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4 rôles autour de la refonte, chacun avec une responsabilité propre</a:t>
            </a:r>
          </a:p>
        </p:txBody>
      </p:sp>
      <p:sp>
        <p:nvSpPr>
          <p:cNvPr id="10" name="Rounded Rectangle 9"/>
          <p:cNvSpPr/>
          <p:nvPr/>
        </p:nvSpPr>
        <p:spPr>
          <a:xfrm>
            <a:off x="731520" y="1920240"/>
            <a:ext cx="5394960" cy="1828800"/>
          </a:xfrm>
          <a:prstGeom prst="roundRect">
            <a:avLst/>
          </a:prstGeom>
          <a:solidFill>
            <a:srgbClr val="FFFFFF"/>
          </a:solidFill>
          <a:ln w="22225">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1920240"/>
            <a:ext cx="53949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2103120"/>
            <a:ext cx="4937760" cy="457200"/>
          </a:xfrm>
          <a:prstGeom prst="rect">
            <a:avLst/>
          </a:prstGeom>
          <a:noFill/>
        </p:spPr>
        <p:txBody>
          <a:bodyPr wrap="square">
            <a:spAutoFit/>
          </a:bodyPr>
          <a:lstStyle/>
          <a:p>
            <a:pPr algn="l">
              <a:defRPr sz="1800" b="1" i="0">
                <a:solidFill>
                  <a:srgbClr val="003366"/>
                </a:solidFill>
              </a:defRPr>
            </a:pPr>
            <a:r>
              <a:t>Chef de projet</a:t>
            </a:r>
          </a:p>
        </p:txBody>
      </p:sp>
      <p:sp>
        <p:nvSpPr>
          <p:cNvPr id="13" name="TextBox 12"/>
          <p:cNvSpPr txBox="1"/>
          <p:nvPr/>
        </p:nvSpPr>
        <p:spPr>
          <a:xfrm>
            <a:off x="1005840" y="2606040"/>
            <a:ext cx="4937760" cy="365760"/>
          </a:xfrm>
          <a:prstGeom prst="rect">
            <a:avLst/>
          </a:prstGeom>
          <a:noFill/>
        </p:spPr>
        <p:txBody>
          <a:bodyPr wrap="square">
            <a:spAutoFit/>
          </a:bodyPr>
          <a:lstStyle/>
          <a:p>
            <a:pPr algn="l">
              <a:defRPr sz="1200" b="1" i="0">
                <a:solidFill>
                  <a:srgbClr val="333333"/>
                </a:solidFill>
              </a:defRPr>
            </a:pPr>
            <a:r>
              <a:t>Pilotage, planning, arbitrages</a:t>
            </a:r>
          </a:p>
        </p:txBody>
      </p:sp>
      <p:sp>
        <p:nvSpPr>
          <p:cNvPr id="14" name="TextBox 13"/>
          <p:cNvSpPr txBox="1"/>
          <p:nvPr/>
        </p:nvSpPr>
        <p:spPr>
          <a:xfrm>
            <a:off x="1005840" y="2971800"/>
            <a:ext cx="4937760" cy="685800"/>
          </a:xfrm>
          <a:prstGeom prst="rect">
            <a:avLst/>
          </a:prstGeom>
          <a:noFill/>
        </p:spPr>
        <p:txBody>
          <a:bodyPr wrap="square">
            <a:spAutoFit/>
          </a:bodyPr>
          <a:lstStyle/>
          <a:p>
            <a:pPr algn="l">
              <a:defRPr sz="1100" b="0" i="1">
                <a:solidFill>
                  <a:srgbClr val="666666"/>
                </a:solidFill>
              </a:defRPr>
            </a:pPr>
            <a:r>
              <a:t>Interface avec le métier, priorisation des lots</a:t>
            </a:r>
          </a:p>
        </p:txBody>
      </p:sp>
      <p:sp>
        <p:nvSpPr>
          <p:cNvPr id="15" name="Rounded Rectangle 14"/>
          <p:cNvSpPr/>
          <p:nvPr/>
        </p:nvSpPr>
        <p:spPr>
          <a:xfrm>
            <a:off x="6400800" y="1920240"/>
            <a:ext cx="5394960" cy="1828800"/>
          </a:xfrm>
          <a:prstGeom prst="roundRect">
            <a:avLst/>
          </a:prstGeom>
          <a:solidFill>
            <a:srgbClr val="FFFFFF"/>
          </a:solidFill>
          <a:ln w="22225">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400800" y="1920240"/>
            <a:ext cx="53949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0" y="2103120"/>
            <a:ext cx="4937760" cy="457200"/>
          </a:xfrm>
          <a:prstGeom prst="rect">
            <a:avLst/>
          </a:prstGeom>
          <a:noFill/>
        </p:spPr>
        <p:txBody>
          <a:bodyPr wrap="square">
            <a:spAutoFit/>
          </a:bodyPr>
          <a:lstStyle/>
          <a:p>
            <a:pPr algn="l">
              <a:defRPr sz="1800" b="1" i="0">
                <a:solidFill>
                  <a:srgbClr val="003366"/>
                </a:solidFill>
              </a:defRPr>
            </a:pPr>
            <a:r>
              <a:t>Référent technique</a:t>
            </a:r>
          </a:p>
        </p:txBody>
      </p:sp>
      <p:sp>
        <p:nvSpPr>
          <p:cNvPr id="18" name="TextBox 17"/>
          <p:cNvSpPr txBox="1"/>
          <p:nvPr/>
        </p:nvSpPr>
        <p:spPr>
          <a:xfrm>
            <a:off x="6675120" y="2606040"/>
            <a:ext cx="4937760" cy="365760"/>
          </a:xfrm>
          <a:prstGeom prst="rect">
            <a:avLst/>
          </a:prstGeom>
          <a:noFill/>
        </p:spPr>
        <p:txBody>
          <a:bodyPr wrap="square">
            <a:spAutoFit/>
          </a:bodyPr>
          <a:lstStyle/>
          <a:p>
            <a:pPr algn="l">
              <a:defRPr sz="1200" b="1" i="0">
                <a:solidFill>
                  <a:srgbClr val="333333"/>
                </a:solidFill>
              </a:defRPr>
            </a:pPr>
            <a:r>
              <a:t>Architecture et revue de code</a:t>
            </a:r>
          </a:p>
        </p:txBody>
      </p:sp>
      <p:sp>
        <p:nvSpPr>
          <p:cNvPr id="19" name="TextBox 18"/>
          <p:cNvSpPr txBox="1"/>
          <p:nvPr/>
        </p:nvSpPr>
        <p:spPr>
          <a:xfrm>
            <a:off x="6675120" y="2971800"/>
            <a:ext cx="4937760" cy="685800"/>
          </a:xfrm>
          <a:prstGeom prst="rect">
            <a:avLst/>
          </a:prstGeom>
          <a:noFill/>
        </p:spPr>
        <p:txBody>
          <a:bodyPr wrap="square">
            <a:spAutoFit/>
          </a:bodyPr>
          <a:lstStyle/>
          <a:p>
            <a:pPr algn="l">
              <a:defRPr sz="1100" b="0" i="1">
                <a:solidFill>
                  <a:srgbClr val="666666"/>
                </a:solidFill>
              </a:defRPr>
            </a:pPr>
            <a:r>
              <a:t>Validation des choix techniques lors du point du vendredi</a:t>
            </a:r>
          </a:p>
        </p:txBody>
      </p:sp>
      <p:sp>
        <p:nvSpPr>
          <p:cNvPr id="20" name="Rounded Rectangle 19"/>
          <p:cNvSpPr/>
          <p:nvPr/>
        </p:nvSpPr>
        <p:spPr>
          <a:xfrm>
            <a:off x="731520" y="4114800"/>
            <a:ext cx="5394960" cy="1828800"/>
          </a:xfrm>
          <a:prstGeom prst="roundRect">
            <a:avLst/>
          </a:prstGeom>
          <a:solidFill>
            <a:srgbClr val="FFFFFF"/>
          </a:solidFill>
          <a:ln w="22225">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31520" y="4114800"/>
            <a:ext cx="5394960" cy="73152"/>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05840" y="4297680"/>
            <a:ext cx="4937760" cy="457200"/>
          </a:xfrm>
          <a:prstGeom prst="rect">
            <a:avLst/>
          </a:prstGeom>
          <a:noFill/>
        </p:spPr>
        <p:txBody>
          <a:bodyPr wrap="square">
            <a:spAutoFit/>
          </a:bodyPr>
          <a:lstStyle/>
          <a:p>
            <a:pPr algn="l">
              <a:defRPr sz="1800" b="1" i="0">
                <a:solidFill>
                  <a:srgbClr val="003366"/>
                </a:solidFill>
              </a:defRPr>
            </a:pPr>
            <a:r>
              <a:t>Analyste fonctionnelle</a:t>
            </a:r>
          </a:p>
        </p:txBody>
      </p:sp>
      <p:sp>
        <p:nvSpPr>
          <p:cNvPr id="23" name="TextBox 22"/>
          <p:cNvSpPr txBox="1"/>
          <p:nvPr/>
        </p:nvSpPr>
        <p:spPr>
          <a:xfrm>
            <a:off x="1005840" y="4800600"/>
            <a:ext cx="4937760" cy="365760"/>
          </a:xfrm>
          <a:prstGeom prst="rect">
            <a:avLst/>
          </a:prstGeom>
          <a:noFill/>
        </p:spPr>
        <p:txBody>
          <a:bodyPr wrap="square">
            <a:spAutoFit/>
          </a:bodyPr>
          <a:lstStyle/>
          <a:p>
            <a:pPr algn="l">
              <a:defRPr sz="1200" b="1" i="0">
                <a:solidFill>
                  <a:srgbClr val="333333"/>
                </a:solidFill>
              </a:defRPr>
            </a:pPr>
            <a:r>
              <a:t>Rédaction des spécifications et recette</a:t>
            </a:r>
          </a:p>
        </p:txBody>
      </p:sp>
      <p:sp>
        <p:nvSpPr>
          <p:cNvPr id="24" name="TextBox 23"/>
          <p:cNvSpPr txBox="1"/>
          <p:nvPr/>
        </p:nvSpPr>
        <p:spPr>
          <a:xfrm>
            <a:off x="1005840" y="5166360"/>
            <a:ext cx="4937760" cy="685800"/>
          </a:xfrm>
          <a:prstGeom prst="rect">
            <a:avLst/>
          </a:prstGeom>
          <a:noFill/>
        </p:spPr>
        <p:txBody>
          <a:bodyPr wrap="square">
            <a:spAutoFit/>
          </a:bodyPr>
          <a:lstStyle/>
          <a:p>
            <a:pPr algn="l">
              <a:defRPr sz="1100" b="0" i="1">
                <a:solidFill>
                  <a:srgbClr val="666666"/>
                </a:solidFill>
              </a:defRPr>
            </a:pPr>
            <a:r>
              <a:t>Rédige les 3 lots, tient le cahier d'anomalies après chaque livraison</a:t>
            </a:r>
          </a:p>
        </p:txBody>
      </p:sp>
      <p:sp>
        <p:nvSpPr>
          <p:cNvPr id="25" name="Rounded Rectangle 24"/>
          <p:cNvSpPr/>
          <p:nvPr/>
        </p:nvSpPr>
        <p:spPr>
          <a:xfrm>
            <a:off x="6400800" y="4114800"/>
            <a:ext cx="5394960" cy="1828800"/>
          </a:xfrm>
          <a:prstGeom prst="roundRect">
            <a:avLst/>
          </a:prstGeom>
          <a:solidFill>
            <a:srgbClr val="FFFFFF"/>
          </a:solidFill>
          <a:ln w="22225">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400800" y="4114800"/>
            <a:ext cx="5394960" cy="73152"/>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75120" y="4297680"/>
            <a:ext cx="4937760" cy="457200"/>
          </a:xfrm>
          <a:prstGeom prst="rect">
            <a:avLst/>
          </a:prstGeom>
          <a:noFill/>
        </p:spPr>
        <p:txBody>
          <a:bodyPr wrap="square">
            <a:spAutoFit/>
          </a:bodyPr>
          <a:lstStyle/>
          <a:p>
            <a:pPr algn="l">
              <a:defRPr sz="1800" b="1" i="0">
                <a:solidFill>
                  <a:srgbClr val="2E8B3D"/>
                </a:solidFill>
              </a:defRPr>
            </a:pPr>
            <a:r>
              <a:rPr dirty="0" err="1"/>
              <a:t>Analyste</a:t>
            </a:r>
            <a:r>
              <a:rPr dirty="0"/>
              <a:t> </a:t>
            </a:r>
            <a:r>
              <a:rPr dirty="0" err="1"/>
              <a:t>developpeur</a:t>
            </a:r>
            <a:endParaRPr dirty="0"/>
          </a:p>
        </p:txBody>
      </p:sp>
      <p:sp>
        <p:nvSpPr>
          <p:cNvPr id="28" name="TextBox 27"/>
          <p:cNvSpPr txBox="1"/>
          <p:nvPr/>
        </p:nvSpPr>
        <p:spPr>
          <a:xfrm>
            <a:off x="6675120" y="4800600"/>
            <a:ext cx="4937760" cy="365760"/>
          </a:xfrm>
          <a:prstGeom prst="rect">
            <a:avLst/>
          </a:prstGeom>
          <a:noFill/>
        </p:spPr>
        <p:txBody>
          <a:bodyPr wrap="square">
            <a:spAutoFit/>
          </a:bodyPr>
          <a:lstStyle/>
          <a:p>
            <a:pPr algn="l">
              <a:defRPr sz="1200" b="1" i="0">
                <a:solidFill>
                  <a:srgbClr val="333333"/>
                </a:solidFill>
              </a:defRPr>
            </a:pPr>
            <a:r>
              <a:t>Conception, développement, tests, déploiement</a:t>
            </a:r>
          </a:p>
        </p:txBody>
      </p:sp>
      <p:sp>
        <p:nvSpPr>
          <p:cNvPr id="29" name="TextBox 28"/>
          <p:cNvSpPr txBox="1"/>
          <p:nvPr/>
        </p:nvSpPr>
        <p:spPr>
          <a:xfrm>
            <a:off x="6675120" y="5166360"/>
            <a:ext cx="4937760" cy="685800"/>
          </a:xfrm>
          <a:prstGeom prst="rect">
            <a:avLst/>
          </a:prstGeom>
          <a:noFill/>
        </p:spPr>
        <p:txBody>
          <a:bodyPr wrap="square">
            <a:spAutoFit/>
          </a:bodyPr>
          <a:lstStyle/>
          <a:p>
            <a:pPr algn="l">
              <a:defRPr sz="1100" b="0" i="1">
                <a:solidFill>
                  <a:srgbClr val="666666"/>
                </a:solidFill>
              </a:defRPr>
            </a:pPr>
            <a:r>
              <a:t>Rôle occupé pendant mon PFE - 252 des 255 livraisons de code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61610"/>
          </a:xfrm>
          <a:prstGeom prst="rect">
            <a:avLst/>
          </a:prstGeom>
          <a:noFill/>
        </p:spPr>
        <p:txBody>
          <a:bodyPr wrap="square">
            <a:spAutoFit/>
          </a:bodyPr>
          <a:lstStyle/>
          <a:p>
            <a:pPr algn="l">
              <a:defRPr sz="1100" b="1" i="0">
                <a:solidFill>
                  <a:srgbClr val="004D99"/>
                </a:solidFill>
              </a:defRPr>
            </a:pPr>
            <a:r>
              <a:rPr lang="fr-MA" dirty="0"/>
              <a:t>équipe</a:t>
            </a:r>
            <a:endParaRPr dirty="0"/>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Méthode agile et environnement technique</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12 / 36</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5303520" cy="365760"/>
          </a:xfrm>
          <a:prstGeom prst="rect">
            <a:avLst/>
          </a:prstGeom>
          <a:noFill/>
        </p:spPr>
        <p:txBody>
          <a:bodyPr wrap="square">
            <a:spAutoFit/>
          </a:bodyPr>
          <a:lstStyle/>
          <a:p>
            <a:pPr algn="l">
              <a:defRPr sz="1600" b="1" i="0">
                <a:solidFill>
                  <a:srgbClr val="003366"/>
                </a:solidFill>
              </a:defRPr>
            </a:pPr>
            <a:r>
              <a:t>Rituels de la semaine</a:t>
            </a:r>
          </a:p>
        </p:txBody>
      </p:sp>
      <p:sp>
        <p:nvSpPr>
          <p:cNvPr id="10" name="Rounded Rectangle 9"/>
          <p:cNvSpPr/>
          <p:nvPr/>
        </p:nvSpPr>
        <p:spPr>
          <a:xfrm>
            <a:off x="731520" y="1783080"/>
            <a:ext cx="1280160" cy="548640"/>
          </a:xfrm>
          <a:prstGeom prst="roundRect">
            <a:avLst/>
          </a:prstGeom>
          <a:solidFill>
            <a:srgbClr val="004D99"/>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Quotidien</a:t>
            </a:r>
          </a:p>
        </p:txBody>
      </p:sp>
      <p:sp>
        <p:nvSpPr>
          <p:cNvPr id="11" name="TextBox 10"/>
          <p:cNvSpPr txBox="1"/>
          <p:nvPr/>
        </p:nvSpPr>
        <p:spPr>
          <a:xfrm>
            <a:off x="2194560" y="1783080"/>
            <a:ext cx="4114800" cy="320040"/>
          </a:xfrm>
          <a:prstGeom prst="rect">
            <a:avLst/>
          </a:prstGeom>
          <a:noFill/>
        </p:spPr>
        <p:txBody>
          <a:bodyPr wrap="square">
            <a:spAutoFit/>
          </a:bodyPr>
          <a:lstStyle/>
          <a:p>
            <a:pPr algn="l">
              <a:defRPr sz="1300" b="1" i="0">
                <a:solidFill>
                  <a:srgbClr val="003366"/>
                </a:solidFill>
              </a:defRPr>
            </a:pPr>
            <a:r>
              <a:t>Daily squad</a:t>
            </a:r>
          </a:p>
        </p:txBody>
      </p:sp>
      <p:sp>
        <p:nvSpPr>
          <p:cNvPr id="12" name="TextBox 11"/>
          <p:cNvSpPr txBox="1"/>
          <p:nvPr/>
        </p:nvSpPr>
        <p:spPr>
          <a:xfrm>
            <a:off x="2194560" y="2103120"/>
            <a:ext cx="4114800" cy="320040"/>
          </a:xfrm>
          <a:prstGeom prst="rect">
            <a:avLst/>
          </a:prstGeom>
          <a:noFill/>
        </p:spPr>
        <p:txBody>
          <a:bodyPr wrap="square">
            <a:spAutoFit/>
          </a:bodyPr>
          <a:lstStyle/>
          <a:p>
            <a:pPr algn="l">
              <a:defRPr sz="1000" b="0" i="0">
                <a:solidFill>
                  <a:srgbClr val="666666"/>
                </a:solidFill>
              </a:defRPr>
            </a:pPr>
            <a:r>
              <a:t>Point veille / jour / bloquants</a:t>
            </a:r>
          </a:p>
        </p:txBody>
      </p:sp>
      <p:sp>
        <p:nvSpPr>
          <p:cNvPr id="13" name="Rounded Rectangle 12"/>
          <p:cNvSpPr/>
          <p:nvPr/>
        </p:nvSpPr>
        <p:spPr>
          <a:xfrm>
            <a:off x="731520" y="2560320"/>
            <a:ext cx="1280160" cy="548640"/>
          </a:xfrm>
          <a:prstGeom prst="roundRect">
            <a:avLst/>
          </a:prstGeom>
          <a:solidFill>
            <a:srgbClr val="004D99"/>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Lundi</a:t>
            </a:r>
          </a:p>
        </p:txBody>
      </p:sp>
      <p:sp>
        <p:nvSpPr>
          <p:cNvPr id="14" name="TextBox 13"/>
          <p:cNvSpPr txBox="1"/>
          <p:nvPr/>
        </p:nvSpPr>
        <p:spPr>
          <a:xfrm>
            <a:off x="2194560" y="2560320"/>
            <a:ext cx="4114800" cy="292388"/>
          </a:xfrm>
          <a:prstGeom prst="rect">
            <a:avLst/>
          </a:prstGeom>
          <a:noFill/>
        </p:spPr>
        <p:txBody>
          <a:bodyPr wrap="square">
            <a:spAutoFit/>
          </a:bodyPr>
          <a:lstStyle/>
          <a:p>
            <a:pPr algn="l">
              <a:defRPr sz="1300" b="1" i="0">
                <a:solidFill>
                  <a:srgbClr val="003366"/>
                </a:solidFill>
              </a:defRPr>
            </a:pPr>
            <a:r>
              <a:rPr dirty="0"/>
              <a:t>Point d'</a:t>
            </a:r>
            <a:r>
              <a:rPr lang="fr-MA" dirty="0"/>
              <a:t>équipe</a:t>
            </a:r>
            <a:endParaRPr dirty="0"/>
          </a:p>
        </p:txBody>
      </p:sp>
      <p:sp>
        <p:nvSpPr>
          <p:cNvPr id="15" name="TextBox 14"/>
          <p:cNvSpPr txBox="1"/>
          <p:nvPr/>
        </p:nvSpPr>
        <p:spPr>
          <a:xfrm>
            <a:off x="2194560" y="2880360"/>
            <a:ext cx="4114800" cy="320040"/>
          </a:xfrm>
          <a:prstGeom prst="rect">
            <a:avLst/>
          </a:prstGeom>
          <a:noFill/>
        </p:spPr>
        <p:txBody>
          <a:bodyPr wrap="square">
            <a:spAutoFit/>
          </a:bodyPr>
          <a:lstStyle/>
          <a:p>
            <a:pPr algn="l">
              <a:defRPr sz="1000" b="0" i="0">
                <a:solidFill>
                  <a:srgbClr val="666666"/>
                </a:solidFill>
              </a:defRPr>
            </a:pPr>
            <a:r>
              <a:t>Coordination Group Collaborative Solutions</a:t>
            </a:r>
          </a:p>
        </p:txBody>
      </p:sp>
      <p:sp>
        <p:nvSpPr>
          <p:cNvPr id="16" name="Rounded Rectangle 15"/>
          <p:cNvSpPr/>
          <p:nvPr/>
        </p:nvSpPr>
        <p:spPr>
          <a:xfrm>
            <a:off x="731520" y="3337560"/>
            <a:ext cx="1280160" cy="548640"/>
          </a:xfrm>
          <a:prstGeom prst="roundRect">
            <a:avLst/>
          </a:prstGeom>
          <a:solidFill>
            <a:srgbClr val="004D99"/>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Mardi</a:t>
            </a:r>
          </a:p>
        </p:txBody>
      </p:sp>
      <p:sp>
        <p:nvSpPr>
          <p:cNvPr id="17" name="TextBox 16"/>
          <p:cNvSpPr txBox="1"/>
          <p:nvPr/>
        </p:nvSpPr>
        <p:spPr>
          <a:xfrm>
            <a:off x="2194560" y="3337560"/>
            <a:ext cx="4114800" cy="320040"/>
          </a:xfrm>
          <a:prstGeom prst="rect">
            <a:avLst/>
          </a:prstGeom>
          <a:noFill/>
        </p:spPr>
        <p:txBody>
          <a:bodyPr wrap="square">
            <a:spAutoFit/>
          </a:bodyPr>
          <a:lstStyle/>
          <a:p>
            <a:pPr algn="l">
              <a:defRPr sz="1300" b="1" i="0">
                <a:solidFill>
                  <a:srgbClr val="003366"/>
                </a:solidFill>
              </a:defRPr>
            </a:pPr>
            <a:r>
              <a:t>Point de squad</a:t>
            </a:r>
          </a:p>
        </p:txBody>
      </p:sp>
      <p:sp>
        <p:nvSpPr>
          <p:cNvPr id="18" name="TextBox 17"/>
          <p:cNvSpPr txBox="1"/>
          <p:nvPr/>
        </p:nvSpPr>
        <p:spPr>
          <a:xfrm>
            <a:off x="2194560" y="3657600"/>
            <a:ext cx="4114800" cy="320040"/>
          </a:xfrm>
          <a:prstGeom prst="rect">
            <a:avLst/>
          </a:prstGeom>
          <a:noFill/>
        </p:spPr>
        <p:txBody>
          <a:bodyPr wrap="square">
            <a:spAutoFit/>
          </a:bodyPr>
          <a:lstStyle/>
          <a:p>
            <a:pPr algn="l">
              <a:defRPr sz="1000" b="0" i="0">
                <a:solidFill>
                  <a:srgbClr val="666666"/>
                </a:solidFill>
              </a:defRPr>
            </a:pPr>
            <a:r>
              <a:t>Avancement du squad M365</a:t>
            </a:r>
          </a:p>
        </p:txBody>
      </p:sp>
      <p:sp>
        <p:nvSpPr>
          <p:cNvPr id="19" name="Rounded Rectangle 18"/>
          <p:cNvSpPr/>
          <p:nvPr/>
        </p:nvSpPr>
        <p:spPr>
          <a:xfrm>
            <a:off x="731520" y="4114800"/>
            <a:ext cx="1280160" cy="548640"/>
          </a:xfrm>
          <a:prstGeom prst="roundRect">
            <a:avLst/>
          </a:prstGeom>
          <a:solidFill>
            <a:srgbClr val="004D99"/>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Vendredi</a:t>
            </a:r>
          </a:p>
        </p:txBody>
      </p:sp>
      <p:sp>
        <p:nvSpPr>
          <p:cNvPr id="20" name="TextBox 19"/>
          <p:cNvSpPr txBox="1"/>
          <p:nvPr/>
        </p:nvSpPr>
        <p:spPr>
          <a:xfrm>
            <a:off x="2194560" y="4114800"/>
            <a:ext cx="4114800" cy="320040"/>
          </a:xfrm>
          <a:prstGeom prst="rect">
            <a:avLst/>
          </a:prstGeom>
          <a:noFill/>
        </p:spPr>
        <p:txBody>
          <a:bodyPr wrap="square">
            <a:spAutoFit/>
          </a:bodyPr>
          <a:lstStyle/>
          <a:p>
            <a:pPr algn="l">
              <a:defRPr sz="1300" b="1" i="0">
                <a:solidFill>
                  <a:srgbClr val="003366"/>
                </a:solidFill>
              </a:defRPr>
            </a:pPr>
            <a:r>
              <a:t>Point technique</a:t>
            </a:r>
          </a:p>
        </p:txBody>
      </p:sp>
      <p:sp>
        <p:nvSpPr>
          <p:cNvPr id="21" name="TextBox 20"/>
          <p:cNvSpPr txBox="1"/>
          <p:nvPr/>
        </p:nvSpPr>
        <p:spPr>
          <a:xfrm>
            <a:off x="2194560" y="4434840"/>
            <a:ext cx="4114800" cy="320040"/>
          </a:xfrm>
          <a:prstGeom prst="rect">
            <a:avLst/>
          </a:prstGeom>
          <a:noFill/>
        </p:spPr>
        <p:txBody>
          <a:bodyPr wrap="square">
            <a:spAutoFit/>
          </a:bodyPr>
          <a:lstStyle/>
          <a:p>
            <a:pPr algn="l">
              <a:defRPr sz="1000" b="0" i="0">
                <a:solidFill>
                  <a:srgbClr val="666666"/>
                </a:solidFill>
              </a:defRPr>
            </a:pPr>
            <a:r>
              <a:t>Validation avec le référent technique (Nathan)</a:t>
            </a:r>
          </a:p>
        </p:txBody>
      </p:sp>
      <p:sp>
        <p:nvSpPr>
          <p:cNvPr id="22" name="TextBox 21"/>
          <p:cNvSpPr txBox="1"/>
          <p:nvPr/>
        </p:nvSpPr>
        <p:spPr>
          <a:xfrm>
            <a:off x="6400800" y="1280160"/>
            <a:ext cx="5029200" cy="365760"/>
          </a:xfrm>
          <a:prstGeom prst="rect">
            <a:avLst/>
          </a:prstGeom>
          <a:noFill/>
        </p:spPr>
        <p:txBody>
          <a:bodyPr wrap="square">
            <a:spAutoFit/>
          </a:bodyPr>
          <a:lstStyle/>
          <a:p>
            <a:pPr algn="l">
              <a:defRPr sz="1600" b="1" i="0">
                <a:solidFill>
                  <a:srgbClr val="003366"/>
                </a:solidFill>
              </a:defRPr>
            </a:pPr>
            <a:r>
              <a:rPr dirty="0" err="1"/>
              <a:t>Environnement</a:t>
            </a:r>
            <a:r>
              <a:rPr dirty="0"/>
              <a:t> technique</a:t>
            </a:r>
          </a:p>
        </p:txBody>
      </p:sp>
      <p:sp>
        <p:nvSpPr>
          <p:cNvPr id="23" name="TextBox 22"/>
          <p:cNvSpPr txBox="1"/>
          <p:nvPr/>
        </p:nvSpPr>
        <p:spPr>
          <a:xfrm>
            <a:off x="6400800" y="1783080"/>
            <a:ext cx="1645920" cy="274320"/>
          </a:xfrm>
          <a:prstGeom prst="rect">
            <a:avLst/>
          </a:prstGeom>
          <a:noFill/>
        </p:spPr>
        <p:txBody>
          <a:bodyPr wrap="square">
            <a:spAutoFit/>
          </a:bodyPr>
          <a:lstStyle/>
          <a:p>
            <a:pPr algn="l">
              <a:defRPr sz="1100" b="1" i="0">
                <a:solidFill>
                  <a:srgbClr val="003366"/>
                </a:solidFill>
              </a:defRPr>
            </a:pPr>
            <a:r>
              <a:t>Back-end</a:t>
            </a:r>
          </a:p>
        </p:txBody>
      </p:sp>
      <p:sp>
        <p:nvSpPr>
          <p:cNvPr id="24" name="TextBox 23"/>
          <p:cNvSpPr txBox="1"/>
          <p:nvPr/>
        </p:nvSpPr>
        <p:spPr>
          <a:xfrm>
            <a:off x="8229600" y="1783080"/>
            <a:ext cx="1767840" cy="261610"/>
          </a:xfrm>
          <a:prstGeom prst="rect">
            <a:avLst/>
          </a:prstGeom>
          <a:noFill/>
        </p:spPr>
        <p:txBody>
          <a:bodyPr wrap="square">
            <a:spAutoFit/>
          </a:bodyPr>
          <a:lstStyle/>
          <a:p>
            <a:pPr algn="l">
              <a:defRPr sz="1100" b="0" i="0">
                <a:solidFill>
                  <a:srgbClr val="333333"/>
                </a:solidFill>
              </a:defRPr>
            </a:pPr>
            <a:r>
              <a:rPr dirty="0"/>
              <a:t>C#, ASP.NET Core</a:t>
            </a:r>
          </a:p>
        </p:txBody>
      </p:sp>
      <p:sp>
        <p:nvSpPr>
          <p:cNvPr id="25" name="TextBox 24"/>
          <p:cNvSpPr txBox="1"/>
          <p:nvPr/>
        </p:nvSpPr>
        <p:spPr>
          <a:xfrm>
            <a:off x="6400800" y="2286000"/>
            <a:ext cx="1645920" cy="274320"/>
          </a:xfrm>
          <a:prstGeom prst="rect">
            <a:avLst/>
          </a:prstGeom>
          <a:noFill/>
        </p:spPr>
        <p:txBody>
          <a:bodyPr wrap="square">
            <a:spAutoFit/>
          </a:bodyPr>
          <a:lstStyle/>
          <a:p>
            <a:pPr algn="l">
              <a:defRPr sz="1100" b="1" i="0">
                <a:solidFill>
                  <a:srgbClr val="003366"/>
                </a:solidFill>
              </a:defRPr>
            </a:pPr>
            <a:r>
              <a:t>Front-end</a:t>
            </a:r>
          </a:p>
        </p:txBody>
      </p:sp>
      <p:sp>
        <p:nvSpPr>
          <p:cNvPr id="26" name="TextBox 25"/>
          <p:cNvSpPr txBox="1"/>
          <p:nvPr/>
        </p:nvSpPr>
        <p:spPr>
          <a:xfrm>
            <a:off x="8229600" y="2286000"/>
            <a:ext cx="1905000" cy="261610"/>
          </a:xfrm>
          <a:prstGeom prst="rect">
            <a:avLst/>
          </a:prstGeom>
          <a:noFill/>
        </p:spPr>
        <p:txBody>
          <a:bodyPr wrap="square">
            <a:spAutoFit/>
          </a:bodyPr>
          <a:lstStyle/>
          <a:p>
            <a:pPr algn="l">
              <a:defRPr sz="1100" b="0" i="0">
                <a:solidFill>
                  <a:srgbClr val="333333"/>
                </a:solidFill>
              </a:defRPr>
            </a:pPr>
            <a:r>
              <a:rPr dirty="0"/>
              <a:t>Angular 20, Angular Material</a:t>
            </a:r>
          </a:p>
        </p:txBody>
      </p:sp>
      <p:sp>
        <p:nvSpPr>
          <p:cNvPr id="27" name="TextBox 26"/>
          <p:cNvSpPr txBox="1"/>
          <p:nvPr/>
        </p:nvSpPr>
        <p:spPr>
          <a:xfrm>
            <a:off x="6400800" y="2788920"/>
            <a:ext cx="1645920" cy="274320"/>
          </a:xfrm>
          <a:prstGeom prst="rect">
            <a:avLst/>
          </a:prstGeom>
          <a:noFill/>
        </p:spPr>
        <p:txBody>
          <a:bodyPr wrap="square">
            <a:spAutoFit/>
          </a:bodyPr>
          <a:lstStyle/>
          <a:p>
            <a:pPr algn="l">
              <a:defRPr sz="1100" b="1" i="0">
                <a:solidFill>
                  <a:srgbClr val="003366"/>
                </a:solidFill>
              </a:defRPr>
            </a:pPr>
            <a:r>
              <a:t>Base de données</a:t>
            </a:r>
          </a:p>
        </p:txBody>
      </p:sp>
      <p:sp>
        <p:nvSpPr>
          <p:cNvPr id="28" name="TextBox 27"/>
          <p:cNvSpPr txBox="1"/>
          <p:nvPr/>
        </p:nvSpPr>
        <p:spPr>
          <a:xfrm>
            <a:off x="8229600" y="2788920"/>
            <a:ext cx="2143125" cy="261610"/>
          </a:xfrm>
          <a:prstGeom prst="rect">
            <a:avLst/>
          </a:prstGeom>
          <a:noFill/>
        </p:spPr>
        <p:txBody>
          <a:bodyPr wrap="square">
            <a:spAutoFit/>
          </a:bodyPr>
          <a:lstStyle/>
          <a:p>
            <a:pPr algn="l">
              <a:defRPr sz="1100" b="0" i="0">
                <a:solidFill>
                  <a:srgbClr val="333333"/>
                </a:solidFill>
              </a:defRPr>
            </a:pPr>
            <a:r>
              <a:t>Microsoft SQL Server, EF Core 10</a:t>
            </a:r>
          </a:p>
        </p:txBody>
      </p:sp>
      <p:sp>
        <p:nvSpPr>
          <p:cNvPr id="29" name="TextBox 28"/>
          <p:cNvSpPr txBox="1"/>
          <p:nvPr/>
        </p:nvSpPr>
        <p:spPr>
          <a:xfrm>
            <a:off x="6400800" y="3291840"/>
            <a:ext cx="1645920" cy="274320"/>
          </a:xfrm>
          <a:prstGeom prst="rect">
            <a:avLst/>
          </a:prstGeom>
          <a:noFill/>
        </p:spPr>
        <p:txBody>
          <a:bodyPr wrap="square">
            <a:spAutoFit/>
          </a:bodyPr>
          <a:lstStyle/>
          <a:p>
            <a:pPr algn="l">
              <a:defRPr sz="1100" b="1" i="0">
                <a:solidFill>
                  <a:srgbClr val="003366"/>
                </a:solidFill>
              </a:defRPr>
            </a:pPr>
            <a:r>
              <a:t>Cloud</a:t>
            </a:r>
          </a:p>
        </p:txBody>
      </p:sp>
      <p:sp>
        <p:nvSpPr>
          <p:cNvPr id="30" name="TextBox 29"/>
          <p:cNvSpPr txBox="1"/>
          <p:nvPr/>
        </p:nvSpPr>
        <p:spPr>
          <a:xfrm>
            <a:off x="8229600" y="3291840"/>
            <a:ext cx="2795588" cy="261610"/>
          </a:xfrm>
          <a:prstGeom prst="rect">
            <a:avLst/>
          </a:prstGeom>
          <a:noFill/>
        </p:spPr>
        <p:txBody>
          <a:bodyPr wrap="square">
            <a:spAutoFit/>
          </a:bodyPr>
          <a:lstStyle/>
          <a:p>
            <a:pPr algn="l">
              <a:defRPr sz="1100" b="0" i="0">
                <a:solidFill>
                  <a:srgbClr val="333333"/>
                </a:solidFill>
              </a:defRPr>
            </a:pPr>
            <a:r>
              <a:rPr dirty="0"/>
              <a:t>Microsoft Azure, Azure Key Vault, </a:t>
            </a:r>
            <a:r>
              <a:rPr dirty="0" err="1"/>
              <a:t>Entra</a:t>
            </a:r>
            <a:r>
              <a:rPr dirty="0"/>
              <a:t> ID</a:t>
            </a:r>
          </a:p>
        </p:txBody>
      </p:sp>
      <p:sp>
        <p:nvSpPr>
          <p:cNvPr id="31" name="TextBox 30"/>
          <p:cNvSpPr txBox="1"/>
          <p:nvPr/>
        </p:nvSpPr>
        <p:spPr>
          <a:xfrm>
            <a:off x="6400800" y="3794760"/>
            <a:ext cx="1645920" cy="274320"/>
          </a:xfrm>
          <a:prstGeom prst="rect">
            <a:avLst/>
          </a:prstGeom>
          <a:noFill/>
        </p:spPr>
        <p:txBody>
          <a:bodyPr wrap="square">
            <a:spAutoFit/>
          </a:bodyPr>
          <a:lstStyle/>
          <a:p>
            <a:pPr algn="l">
              <a:defRPr sz="1100" b="1" i="0">
                <a:solidFill>
                  <a:srgbClr val="003366"/>
                </a:solidFill>
              </a:defRPr>
            </a:pPr>
            <a:r>
              <a:t>Gestion de code</a:t>
            </a:r>
          </a:p>
        </p:txBody>
      </p:sp>
      <p:sp>
        <p:nvSpPr>
          <p:cNvPr id="32" name="TextBox 31"/>
          <p:cNvSpPr txBox="1"/>
          <p:nvPr/>
        </p:nvSpPr>
        <p:spPr>
          <a:xfrm>
            <a:off x="8229600" y="3794760"/>
            <a:ext cx="2200275" cy="261610"/>
          </a:xfrm>
          <a:prstGeom prst="rect">
            <a:avLst/>
          </a:prstGeom>
          <a:noFill/>
        </p:spPr>
        <p:txBody>
          <a:bodyPr wrap="square">
            <a:spAutoFit/>
          </a:bodyPr>
          <a:lstStyle/>
          <a:p>
            <a:pPr algn="l">
              <a:defRPr sz="1100" b="0" i="0">
                <a:solidFill>
                  <a:srgbClr val="333333"/>
                </a:solidFill>
              </a:defRPr>
            </a:pPr>
            <a:r>
              <a:rPr dirty="0"/>
              <a:t>GitLab (instance auto-</a:t>
            </a:r>
            <a:r>
              <a:rPr dirty="0" err="1"/>
              <a:t>hebergee</a:t>
            </a:r>
            <a:r>
              <a:rPr dirty="0"/>
              <a:t>)</a:t>
            </a:r>
          </a:p>
        </p:txBody>
      </p:sp>
      <p:sp>
        <p:nvSpPr>
          <p:cNvPr id="33" name="TextBox 32"/>
          <p:cNvSpPr txBox="1"/>
          <p:nvPr/>
        </p:nvSpPr>
        <p:spPr>
          <a:xfrm>
            <a:off x="6400800" y="4297680"/>
            <a:ext cx="1645920" cy="274320"/>
          </a:xfrm>
          <a:prstGeom prst="rect">
            <a:avLst/>
          </a:prstGeom>
          <a:noFill/>
        </p:spPr>
        <p:txBody>
          <a:bodyPr wrap="square">
            <a:spAutoFit/>
          </a:bodyPr>
          <a:lstStyle/>
          <a:p>
            <a:pPr algn="l">
              <a:defRPr sz="1100" b="1" i="0">
                <a:solidFill>
                  <a:srgbClr val="003366"/>
                </a:solidFill>
              </a:defRPr>
            </a:pPr>
            <a:r>
              <a:t>Suivi de projet</a:t>
            </a:r>
          </a:p>
        </p:txBody>
      </p:sp>
      <p:sp>
        <p:nvSpPr>
          <p:cNvPr id="34" name="TextBox 33"/>
          <p:cNvSpPr txBox="1"/>
          <p:nvPr/>
        </p:nvSpPr>
        <p:spPr>
          <a:xfrm>
            <a:off x="8229600" y="4297680"/>
            <a:ext cx="2290763" cy="261610"/>
          </a:xfrm>
          <a:prstGeom prst="rect">
            <a:avLst/>
          </a:prstGeom>
          <a:noFill/>
        </p:spPr>
        <p:txBody>
          <a:bodyPr wrap="square">
            <a:spAutoFit/>
          </a:bodyPr>
          <a:lstStyle/>
          <a:p>
            <a:pPr algn="l">
              <a:defRPr sz="1100" b="0" i="0">
                <a:solidFill>
                  <a:srgbClr val="333333"/>
                </a:solidFill>
              </a:defRPr>
            </a:pPr>
            <a:r>
              <a:t>Wrike (backlog, tâches, sous-tâches)</a:t>
            </a:r>
          </a:p>
        </p:txBody>
      </p:sp>
      <p:sp>
        <p:nvSpPr>
          <p:cNvPr id="35" name="TextBox 34"/>
          <p:cNvSpPr txBox="1"/>
          <p:nvPr/>
        </p:nvSpPr>
        <p:spPr>
          <a:xfrm>
            <a:off x="6400800" y="4800600"/>
            <a:ext cx="1645920" cy="274320"/>
          </a:xfrm>
          <a:prstGeom prst="rect">
            <a:avLst/>
          </a:prstGeom>
          <a:noFill/>
        </p:spPr>
        <p:txBody>
          <a:bodyPr wrap="square">
            <a:spAutoFit/>
          </a:bodyPr>
          <a:lstStyle/>
          <a:p>
            <a:pPr algn="l">
              <a:defRPr sz="1100" b="1" i="0">
                <a:solidFill>
                  <a:srgbClr val="003366"/>
                </a:solidFill>
              </a:defRPr>
            </a:pPr>
            <a:r>
              <a:t>Assistance IA</a:t>
            </a:r>
          </a:p>
        </p:txBody>
      </p:sp>
      <p:sp>
        <p:nvSpPr>
          <p:cNvPr id="36" name="TextBox 35"/>
          <p:cNvSpPr txBox="1"/>
          <p:nvPr/>
        </p:nvSpPr>
        <p:spPr>
          <a:xfrm>
            <a:off x="8229600" y="4800600"/>
            <a:ext cx="2290763" cy="261610"/>
          </a:xfrm>
          <a:prstGeom prst="rect">
            <a:avLst/>
          </a:prstGeom>
          <a:noFill/>
        </p:spPr>
        <p:txBody>
          <a:bodyPr wrap="square">
            <a:spAutoFit/>
          </a:bodyPr>
          <a:lstStyle/>
          <a:p>
            <a:pPr algn="l">
              <a:defRPr sz="1100" b="0" i="0">
                <a:solidFill>
                  <a:srgbClr val="333333"/>
                </a:solidFill>
              </a:defRPr>
            </a:pPr>
            <a:r>
              <a:rPr dirty="0"/>
              <a:t>GitHub Copilot</a:t>
            </a:r>
            <a:r>
              <a:rPr lang="fr-CH" dirty="0"/>
              <a:t>, Claude</a:t>
            </a:r>
            <a:endParaRPr dirty="0"/>
          </a:p>
        </p:txBody>
      </p:sp>
      <p:sp>
        <p:nvSpPr>
          <p:cNvPr id="37" name="Rounded Rectangle 36"/>
          <p:cNvSpPr/>
          <p:nvPr/>
        </p:nvSpPr>
        <p:spPr>
          <a:xfrm>
            <a:off x="731520" y="5852160"/>
            <a:ext cx="10698480" cy="502920"/>
          </a:xfrm>
          <a:prstGeom prst="roundRect">
            <a:avLst/>
          </a:prstGeom>
          <a:solidFill>
            <a:srgbClr val="E8F0F8"/>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14400" y="5897880"/>
            <a:ext cx="10332720" cy="457200"/>
          </a:xfrm>
          <a:prstGeom prst="rect">
            <a:avLst/>
          </a:prstGeom>
          <a:noFill/>
        </p:spPr>
        <p:txBody>
          <a:bodyPr wrap="square">
            <a:spAutoFit/>
          </a:bodyPr>
          <a:lstStyle/>
          <a:p>
            <a:pPr algn="ctr">
              <a:defRPr sz="1100" b="0" i="1">
                <a:solidFill>
                  <a:srgbClr val="003366"/>
                </a:solidFill>
              </a:defRPr>
            </a:pPr>
            <a:r>
              <a:t>Suivi Wrike : chaque lot de CS BAG = un projet dédié découpé en tâches tracées sur un tableau agile (Kanban).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04</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769441"/>
          </a:xfrm>
          <a:prstGeom prst="rect">
            <a:avLst/>
          </a:prstGeom>
          <a:noFill/>
        </p:spPr>
        <p:txBody>
          <a:bodyPr wrap="square">
            <a:spAutoFit/>
          </a:bodyPr>
          <a:lstStyle/>
          <a:p>
            <a:pPr algn="l">
              <a:defRPr sz="4400" b="1" i="0">
                <a:solidFill>
                  <a:srgbClr val="003366"/>
                </a:solidFill>
              </a:defRPr>
            </a:pPr>
            <a:r>
              <a:rPr dirty="0"/>
              <a:t>CS B</a:t>
            </a:r>
            <a:r>
              <a:rPr lang="fr-CH" dirty="0"/>
              <a:t>ag</a:t>
            </a:r>
            <a:r>
              <a:rPr dirty="0"/>
              <a:t> v2</a:t>
            </a:r>
          </a:p>
        </p:txBody>
      </p:sp>
      <p:sp>
        <p:nvSpPr>
          <p:cNvPr id="6" name="TextBox 5"/>
          <p:cNvSpPr txBox="1"/>
          <p:nvPr/>
        </p:nvSpPr>
        <p:spPr>
          <a:xfrm>
            <a:off x="4937760" y="3566160"/>
            <a:ext cx="6858000" cy="369332"/>
          </a:xfrm>
          <a:prstGeom prst="rect">
            <a:avLst/>
          </a:prstGeom>
          <a:noFill/>
        </p:spPr>
        <p:txBody>
          <a:bodyPr wrap="square">
            <a:spAutoFit/>
          </a:bodyPr>
          <a:lstStyle/>
          <a:p>
            <a:pPr algn="l">
              <a:defRPr sz="1800" b="0" i="1">
                <a:solidFill>
                  <a:srgbClr val="666666"/>
                </a:solidFill>
              </a:defRPr>
            </a:pPr>
            <a:r>
              <a:rPr dirty="0"/>
              <a:t>Mission </a:t>
            </a:r>
            <a:r>
              <a:rPr dirty="0" err="1"/>
              <a:t>principale</a:t>
            </a:r>
            <a:r>
              <a:rPr dirty="0"/>
              <a:t> : </a:t>
            </a:r>
            <a:r>
              <a:rPr dirty="0" err="1"/>
              <a:t>refonte</a:t>
            </a:r>
            <a:r>
              <a:rPr dirty="0"/>
              <a:t> de </a:t>
            </a:r>
            <a:r>
              <a:rPr lang="fr-CH" dirty="0"/>
              <a:t>CS Bag</a:t>
            </a:r>
            <a:endParaRPr dirty="0"/>
          </a:p>
        </p:txBody>
      </p:sp>
      <p:sp>
        <p:nvSpPr>
          <p:cNvPr id="7" name="Freeform 10">
            <a:extLst>
              <a:ext uri="{FF2B5EF4-FFF2-40B4-BE49-F238E27FC236}">
                <a16:creationId xmlns:a16="http://schemas.microsoft.com/office/drawing/2014/main" id="{0E8DA6EE-B778-4E9E-8890-A293B2DB680D}"/>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8" name="Image 7">
            <a:extLst>
              <a:ext uri="{FF2B5EF4-FFF2-40B4-BE49-F238E27FC236}">
                <a16:creationId xmlns:a16="http://schemas.microsoft.com/office/drawing/2014/main" id="{76B21298-AB70-42AB-9D87-91C8FD10FDD4}"/>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CS BAG - Présentation de l'application</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14 / 36</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Rectangle 8"/>
          <p:cNvSpPr/>
          <p:nvPr/>
        </p:nvSpPr>
        <p:spPr>
          <a:xfrm>
            <a:off x="731520" y="1463040"/>
            <a:ext cx="2743200" cy="228600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Logo CS BAG ]</a:t>
            </a:r>
          </a:p>
        </p:txBody>
      </p:sp>
      <p:sp>
        <p:nvSpPr>
          <p:cNvPr id="10" name="TextBox 9"/>
          <p:cNvSpPr txBox="1"/>
          <p:nvPr/>
        </p:nvSpPr>
        <p:spPr>
          <a:xfrm>
            <a:off x="3840480" y="1463040"/>
            <a:ext cx="7589520" cy="430887"/>
          </a:xfrm>
          <a:prstGeom prst="rect">
            <a:avLst/>
          </a:prstGeom>
          <a:noFill/>
        </p:spPr>
        <p:txBody>
          <a:bodyPr wrap="square">
            <a:spAutoFit/>
          </a:bodyPr>
          <a:lstStyle/>
          <a:p>
            <a:pPr algn="l">
              <a:defRPr sz="2200" b="1" i="0">
                <a:solidFill>
                  <a:srgbClr val="003366"/>
                </a:solidFill>
              </a:defRPr>
            </a:pPr>
            <a:r>
              <a:rPr dirty="0"/>
              <a:t>CS BAG </a:t>
            </a:r>
          </a:p>
        </p:txBody>
      </p:sp>
      <p:sp>
        <p:nvSpPr>
          <p:cNvPr id="11" name="TextBox 10"/>
          <p:cNvSpPr txBox="1"/>
          <p:nvPr/>
        </p:nvSpPr>
        <p:spPr>
          <a:xfrm>
            <a:off x="3840480" y="2011680"/>
            <a:ext cx="7589520" cy="365760"/>
          </a:xfrm>
          <a:prstGeom prst="rect">
            <a:avLst/>
          </a:prstGeom>
          <a:noFill/>
        </p:spPr>
        <p:txBody>
          <a:bodyPr wrap="square">
            <a:spAutoFit/>
          </a:bodyPr>
          <a:lstStyle/>
          <a:p>
            <a:pPr algn="l">
              <a:defRPr sz="1200" b="1" i="1">
                <a:solidFill>
                  <a:srgbClr val="2E8B3D"/>
                </a:solidFill>
              </a:defRPr>
            </a:pPr>
            <a:r>
              <a:rPr dirty="0" err="1"/>
              <a:t>Outil</a:t>
            </a:r>
            <a:r>
              <a:rPr dirty="0"/>
              <a:t> interne de </a:t>
            </a:r>
            <a:r>
              <a:rPr dirty="0" err="1"/>
              <a:t>cartographie</a:t>
            </a:r>
            <a:r>
              <a:rPr dirty="0"/>
              <a:t> applicative du service Collaborative Solutions</a:t>
            </a:r>
          </a:p>
        </p:txBody>
      </p:sp>
      <p:sp>
        <p:nvSpPr>
          <p:cNvPr id="12" name="TextBox 11"/>
          <p:cNvSpPr txBox="1"/>
          <p:nvPr/>
        </p:nvSpPr>
        <p:spPr>
          <a:xfrm>
            <a:off x="3840480" y="2468880"/>
            <a:ext cx="7589520" cy="1015663"/>
          </a:xfrm>
          <a:prstGeom prst="rect">
            <a:avLst/>
          </a:prstGeom>
          <a:noFill/>
        </p:spPr>
        <p:txBody>
          <a:bodyPr wrap="square">
            <a:spAutoFit/>
          </a:bodyPr>
          <a:lstStyle/>
          <a:p>
            <a:pPr algn="just">
              <a:defRPr sz="1200" b="0" i="0">
                <a:solidFill>
                  <a:srgbClr val="333333"/>
                </a:solidFill>
              </a:defRPr>
            </a:pPr>
            <a:r>
              <a:rPr lang="fr-FR" b="1" dirty="0"/>
              <a:t>CS BAG</a:t>
            </a:r>
            <a:r>
              <a:rPr lang="fr-FR" dirty="0"/>
              <a:t> est un outil interne destiné aux profils techniques du service Collaborative Solutions. Il recense et documente les applications du service ainsi que leurs composants techniques : </a:t>
            </a:r>
            <a:r>
              <a:rPr lang="fr-FR" dirty="0" err="1"/>
              <a:t>frameworks</a:t>
            </a:r>
            <a:r>
              <a:rPr lang="fr-FR" dirty="0"/>
              <a:t>, comptes de service, certificats, ressources Azure, serveurs d'exploitation et bases de données. Consulté lors des mises en production, des audits de sécurité et des renouvellements de certificats, il constitue la source de vérité technique de l'équipe. Son accès est réservé aux comptes d'administration (ADM).</a:t>
            </a:r>
            <a:endParaRPr dirty="0"/>
          </a:p>
        </p:txBody>
      </p:sp>
      <p:sp>
        <p:nvSpPr>
          <p:cNvPr id="13" name="TextBox 12"/>
          <p:cNvSpPr txBox="1"/>
          <p:nvPr/>
        </p:nvSpPr>
        <p:spPr>
          <a:xfrm>
            <a:off x="-990124" y="5207290"/>
            <a:ext cx="6276023" cy="323165"/>
          </a:xfrm>
          <a:prstGeom prst="rect">
            <a:avLst/>
          </a:prstGeom>
          <a:noFill/>
        </p:spPr>
        <p:txBody>
          <a:bodyPr wrap="square">
            <a:spAutoFit/>
          </a:bodyPr>
          <a:lstStyle/>
          <a:p>
            <a:pPr algn="ctr">
              <a:defRPr sz="1500" b="1" i="0">
                <a:solidFill>
                  <a:srgbClr val="003366"/>
                </a:solidFill>
              </a:defRPr>
            </a:pPr>
            <a:r>
              <a:rPr dirty="0"/>
              <a:t>Mod</a:t>
            </a:r>
            <a:r>
              <a:rPr lang="fr-CH" dirty="0"/>
              <a:t>é</a:t>
            </a:r>
            <a:r>
              <a:rPr dirty="0"/>
              <a:t>le m</a:t>
            </a:r>
            <a:r>
              <a:rPr lang="fr-CH" dirty="0"/>
              <a:t>é</a:t>
            </a:r>
            <a:r>
              <a:rPr dirty="0"/>
              <a:t>tier</a:t>
            </a:r>
            <a:r>
              <a:rPr lang="fr-CH" dirty="0"/>
              <a:t> : </a:t>
            </a:r>
            <a:endParaRPr dirty="0"/>
          </a:p>
        </p:txBody>
      </p:sp>
      <p:pic>
        <p:nvPicPr>
          <p:cNvPr id="29" name="Image 28">
            <a:extLst>
              <a:ext uri="{FF2B5EF4-FFF2-40B4-BE49-F238E27FC236}">
                <a16:creationId xmlns:a16="http://schemas.microsoft.com/office/drawing/2014/main" id="{DD55970F-0F76-43CB-AFF9-C9E7420CD96A}"/>
              </a:ext>
            </a:extLst>
          </p:cNvPr>
          <p:cNvPicPr>
            <a:picLocks noChangeAspect="1"/>
          </p:cNvPicPr>
          <p:nvPr/>
        </p:nvPicPr>
        <p:blipFill>
          <a:blip r:embed="rId2"/>
          <a:stretch>
            <a:fillRect/>
          </a:stretch>
        </p:blipFill>
        <p:spPr>
          <a:xfrm>
            <a:off x="1485132" y="2358199"/>
            <a:ext cx="1235975" cy="463491"/>
          </a:xfrm>
          <a:prstGeom prst="rect">
            <a:avLst/>
          </a:prstGeom>
        </p:spPr>
      </p:pic>
      <p:pic>
        <p:nvPicPr>
          <p:cNvPr id="31" name="Image 30">
            <a:extLst>
              <a:ext uri="{FF2B5EF4-FFF2-40B4-BE49-F238E27FC236}">
                <a16:creationId xmlns:a16="http://schemas.microsoft.com/office/drawing/2014/main" id="{ECF22AB6-4BE7-43C3-8729-AC2659C9B1EF}"/>
              </a:ext>
            </a:extLst>
          </p:cNvPr>
          <p:cNvPicPr>
            <a:picLocks noChangeAspect="1"/>
          </p:cNvPicPr>
          <p:nvPr/>
        </p:nvPicPr>
        <p:blipFill>
          <a:blip r:embed="rId3"/>
          <a:stretch>
            <a:fillRect/>
          </a:stretch>
        </p:blipFill>
        <p:spPr>
          <a:xfrm>
            <a:off x="4393882" y="3741419"/>
            <a:ext cx="5650230" cy="2547451"/>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V2 - ANCIEN</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CS BAG v1 : page d'accueil</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15 / 36</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457200" y="1280160"/>
            <a:ext cx="11247120" cy="320040"/>
          </a:xfrm>
          <a:prstGeom prst="rect">
            <a:avLst/>
          </a:prstGeom>
          <a:noFill/>
        </p:spPr>
        <p:txBody>
          <a:bodyPr wrap="square">
            <a:spAutoFit/>
          </a:bodyPr>
          <a:lstStyle/>
          <a:p>
            <a:pPr algn="ctr">
              <a:defRPr sz="1300" b="0" i="1">
                <a:solidFill>
                  <a:srgbClr val="666666"/>
                </a:solidFill>
              </a:defRPr>
            </a:pPr>
            <a:r>
              <a:t>Vue générale du portefeuille applicatif dans la version 1</a:t>
            </a:r>
          </a:p>
        </p:txBody>
      </p:sp>
      <p:sp>
        <p:nvSpPr>
          <p:cNvPr id="10" name="TextBox 9"/>
          <p:cNvSpPr txBox="1"/>
          <p:nvPr/>
        </p:nvSpPr>
        <p:spPr>
          <a:xfrm>
            <a:off x="1371600" y="1600200"/>
            <a:ext cx="9418320" cy="274320"/>
          </a:xfrm>
          <a:prstGeom prst="rect">
            <a:avLst/>
          </a:prstGeom>
          <a:noFill/>
        </p:spPr>
        <p:txBody>
          <a:bodyPr wrap="square">
            <a:spAutoFit/>
          </a:bodyPr>
          <a:lstStyle/>
          <a:p>
            <a:pPr algn="ctr">
              <a:defRPr sz="1300" b="1" i="0">
                <a:solidFill>
                  <a:srgbClr val="003366"/>
                </a:solidFill>
              </a:defRPr>
            </a:pPr>
            <a:r>
              <a:t>Capture 1 - CS BAG v1 : accueil / liste des applications</a:t>
            </a:r>
          </a:p>
        </p:txBody>
      </p:sp>
      <p:sp>
        <p:nvSpPr>
          <p:cNvPr id="12" name="TextBox 11"/>
          <p:cNvSpPr txBox="1"/>
          <p:nvPr/>
        </p:nvSpPr>
        <p:spPr>
          <a:xfrm>
            <a:off x="1371600" y="6080760"/>
            <a:ext cx="9418320" cy="274320"/>
          </a:xfrm>
          <a:prstGeom prst="rect">
            <a:avLst/>
          </a:prstGeom>
          <a:noFill/>
        </p:spPr>
        <p:txBody>
          <a:bodyPr wrap="square">
            <a:spAutoFit/>
          </a:bodyPr>
          <a:lstStyle/>
          <a:p>
            <a:pPr algn="ctr">
              <a:defRPr sz="1000" b="0" i="1">
                <a:solidFill>
                  <a:srgbClr val="666666"/>
                </a:solidFill>
              </a:defRPr>
            </a:pPr>
            <a:r>
              <a:t>Absence de barre de recherche, pas de filtre transverse, pas d'indicateur de chargement</a:t>
            </a:r>
          </a:p>
        </p:txBody>
      </p:sp>
      <p:pic>
        <p:nvPicPr>
          <p:cNvPr id="16" name="Image 15">
            <a:extLst>
              <a:ext uri="{FF2B5EF4-FFF2-40B4-BE49-F238E27FC236}">
                <a16:creationId xmlns:a16="http://schemas.microsoft.com/office/drawing/2014/main" id="{EDB9A228-CB85-402D-9F46-374BC650ABCD}"/>
              </a:ext>
            </a:extLst>
          </p:cNvPr>
          <p:cNvPicPr>
            <a:picLocks noChangeAspect="1"/>
          </p:cNvPicPr>
          <p:nvPr/>
        </p:nvPicPr>
        <p:blipFill>
          <a:blip r:embed="rId2"/>
          <a:stretch>
            <a:fillRect/>
          </a:stretch>
        </p:blipFill>
        <p:spPr>
          <a:xfrm>
            <a:off x="1676183" y="1952127"/>
            <a:ext cx="8536962" cy="4078224"/>
          </a:xfrm>
          <a:prstGeom prst="rect">
            <a:avLst/>
          </a:prstGeom>
          <a:effectLst>
            <a:outerShdw blurRad="63500" sx="102000" sy="102000" algn="ctr" rotWithShape="0">
              <a:prstClr val="black">
                <a:alpha val="40000"/>
              </a:prst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V2 - ANCIEN</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CS BAG v1 : gestion des modules</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16 / 36</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457200" y="1280160"/>
            <a:ext cx="11247120" cy="320040"/>
          </a:xfrm>
          <a:prstGeom prst="rect">
            <a:avLst/>
          </a:prstGeom>
          <a:noFill/>
        </p:spPr>
        <p:txBody>
          <a:bodyPr wrap="square">
            <a:spAutoFit/>
          </a:bodyPr>
          <a:lstStyle/>
          <a:p>
            <a:pPr algn="ctr">
              <a:defRPr sz="1300" b="0" i="1">
                <a:solidFill>
                  <a:srgbClr val="666666"/>
                </a:solidFill>
              </a:defRPr>
            </a:pPr>
            <a:r>
              <a:t>Formulaire de saisie et vue des ressources sensibles</a:t>
            </a:r>
          </a:p>
        </p:txBody>
      </p:sp>
      <p:sp>
        <p:nvSpPr>
          <p:cNvPr id="10" name="TextBox 9"/>
          <p:cNvSpPr txBox="1"/>
          <p:nvPr/>
        </p:nvSpPr>
        <p:spPr>
          <a:xfrm>
            <a:off x="1371600" y="1600200"/>
            <a:ext cx="9418320" cy="292388"/>
          </a:xfrm>
          <a:prstGeom prst="rect">
            <a:avLst/>
          </a:prstGeom>
          <a:noFill/>
        </p:spPr>
        <p:txBody>
          <a:bodyPr wrap="square">
            <a:spAutoFit/>
          </a:bodyPr>
          <a:lstStyle/>
          <a:p>
            <a:pPr algn="ctr">
              <a:defRPr sz="1300" b="1" i="0">
                <a:solidFill>
                  <a:srgbClr val="003366"/>
                </a:solidFill>
              </a:defRPr>
            </a:pPr>
            <a:r>
              <a:rPr dirty="0"/>
              <a:t>Capture </a:t>
            </a:r>
            <a:r>
              <a:rPr lang="fr-CH" dirty="0"/>
              <a:t>2</a:t>
            </a:r>
            <a:r>
              <a:rPr dirty="0"/>
              <a:t> - CS BAG v1 : modules / </a:t>
            </a:r>
            <a:r>
              <a:rPr dirty="0" err="1"/>
              <a:t>ressources</a:t>
            </a:r>
            <a:endParaRPr dirty="0"/>
          </a:p>
        </p:txBody>
      </p:sp>
      <p:sp>
        <p:nvSpPr>
          <p:cNvPr id="12" name="TextBox 11"/>
          <p:cNvSpPr txBox="1"/>
          <p:nvPr/>
        </p:nvSpPr>
        <p:spPr>
          <a:xfrm>
            <a:off x="1371600" y="6080760"/>
            <a:ext cx="9418320" cy="274320"/>
          </a:xfrm>
          <a:prstGeom prst="rect">
            <a:avLst/>
          </a:prstGeom>
          <a:noFill/>
        </p:spPr>
        <p:txBody>
          <a:bodyPr wrap="square">
            <a:spAutoFit/>
          </a:bodyPr>
          <a:lstStyle/>
          <a:p>
            <a:pPr algn="ctr">
              <a:defRPr sz="1000" b="0" i="1">
                <a:solidFill>
                  <a:srgbClr val="666666"/>
                </a:solidFill>
              </a:defRPr>
            </a:pPr>
            <a:r>
              <a:t>Pas d'écran d'administration des référentiels, saisie non guidée</a:t>
            </a:r>
          </a:p>
        </p:txBody>
      </p:sp>
      <p:pic>
        <p:nvPicPr>
          <p:cNvPr id="14" name="Image 13">
            <a:extLst>
              <a:ext uri="{FF2B5EF4-FFF2-40B4-BE49-F238E27FC236}">
                <a16:creationId xmlns:a16="http://schemas.microsoft.com/office/drawing/2014/main" id="{B20491F8-E077-44FA-B379-AE73E16DDEAA}"/>
              </a:ext>
            </a:extLst>
          </p:cNvPr>
          <p:cNvPicPr>
            <a:picLocks noChangeAspect="1"/>
          </p:cNvPicPr>
          <p:nvPr/>
        </p:nvPicPr>
        <p:blipFill>
          <a:blip r:embed="rId2"/>
          <a:stretch>
            <a:fillRect/>
          </a:stretch>
        </p:blipFill>
        <p:spPr>
          <a:xfrm>
            <a:off x="1987061" y="1962441"/>
            <a:ext cx="8118231" cy="4083744"/>
          </a:xfrm>
          <a:prstGeom prst="rect">
            <a:avLst/>
          </a:prstGeom>
          <a:effectLst>
            <a:outerShdw blurRad="63500" sx="102000" sy="102000" algn="ctr" rotWithShape="0">
              <a:prstClr val="black">
                <a:alpha val="40000"/>
              </a:prst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V2 - ANCIEN</a:t>
            </a:r>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dirty="0"/>
              <a:t>CS BAG v1 : </a:t>
            </a:r>
            <a:r>
              <a:rPr lang="fr-CH" dirty="0"/>
              <a:t>modification d’un module</a:t>
            </a:r>
            <a:endParaRPr dirty="0"/>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17 / 36</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10" name="TextBox 9"/>
          <p:cNvSpPr txBox="1"/>
          <p:nvPr/>
        </p:nvSpPr>
        <p:spPr>
          <a:xfrm>
            <a:off x="-2107809" y="1555813"/>
            <a:ext cx="9418320" cy="292388"/>
          </a:xfrm>
          <a:prstGeom prst="rect">
            <a:avLst/>
          </a:prstGeom>
          <a:noFill/>
        </p:spPr>
        <p:txBody>
          <a:bodyPr wrap="square">
            <a:spAutoFit/>
          </a:bodyPr>
          <a:lstStyle/>
          <a:p>
            <a:pPr algn="ctr">
              <a:defRPr sz="1300" b="1" i="0">
                <a:solidFill>
                  <a:srgbClr val="003366"/>
                </a:solidFill>
              </a:defRPr>
            </a:pPr>
            <a:r>
              <a:rPr dirty="0"/>
              <a:t>Capture </a:t>
            </a:r>
            <a:r>
              <a:rPr lang="fr-CH" dirty="0"/>
              <a:t>3</a:t>
            </a:r>
            <a:r>
              <a:rPr dirty="0"/>
              <a:t> - CS BAG v1 : </a:t>
            </a:r>
            <a:r>
              <a:rPr lang="fr-CH" dirty="0"/>
              <a:t>modification d’un module</a:t>
            </a:r>
            <a:endParaRPr dirty="0"/>
          </a:p>
        </p:txBody>
      </p:sp>
      <p:sp>
        <p:nvSpPr>
          <p:cNvPr id="12" name="TextBox 11"/>
          <p:cNvSpPr txBox="1"/>
          <p:nvPr/>
        </p:nvSpPr>
        <p:spPr>
          <a:xfrm>
            <a:off x="1371600" y="6080760"/>
            <a:ext cx="9418320" cy="274320"/>
          </a:xfrm>
          <a:prstGeom prst="rect">
            <a:avLst/>
          </a:prstGeom>
          <a:noFill/>
        </p:spPr>
        <p:txBody>
          <a:bodyPr wrap="square">
            <a:spAutoFit/>
          </a:bodyPr>
          <a:lstStyle/>
          <a:p>
            <a:pPr algn="ctr">
              <a:defRPr sz="1000" b="0" i="1">
                <a:solidFill>
                  <a:srgbClr val="666666"/>
                </a:solidFill>
              </a:defRPr>
            </a:pPr>
            <a:r>
              <a:t>Pas d'écran d'administration des référentiels, saisie non guidée</a:t>
            </a:r>
          </a:p>
        </p:txBody>
      </p:sp>
      <p:pic>
        <p:nvPicPr>
          <p:cNvPr id="15" name="Image 14">
            <a:extLst>
              <a:ext uri="{FF2B5EF4-FFF2-40B4-BE49-F238E27FC236}">
                <a16:creationId xmlns:a16="http://schemas.microsoft.com/office/drawing/2014/main" id="{BC5414B0-A407-45B9-8784-576E25E335B7}"/>
              </a:ext>
            </a:extLst>
          </p:cNvPr>
          <p:cNvPicPr>
            <a:picLocks noChangeAspect="1"/>
          </p:cNvPicPr>
          <p:nvPr/>
        </p:nvPicPr>
        <p:blipFill>
          <a:blip r:embed="rId2"/>
          <a:stretch>
            <a:fillRect/>
          </a:stretch>
        </p:blipFill>
        <p:spPr>
          <a:xfrm>
            <a:off x="731520" y="2347356"/>
            <a:ext cx="5073748" cy="2676393"/>
          </a:xfrm>
          <a:prstGeom prst="rect">
            <a:avLst/>
          </a:prstGeom>
          <a:effectLst>
            <a:outerShdw blurRad="50800" dist="38100" dir="5400000" algn="t" rotWithShape="0">
              <a:prstClr val="black">
                <a:alpha val="40000"/>
              </a:prstClr>
            </a:outerShdw>
          </a:effectLst>
        </p:spPr>
      </p:pic>
      <p:pic>
        <p:nvPicPr>
          <p:cNvPr id="20" name="Image 19">
            <a:extLst>
              <a:ext uri="{FF2B5EF4-FFF2-40B4-BE49-F238E27FC236}">
                <a16:creationId xmlns:a16="http://schemas.microsoft.com/office/drawing/2014/main" id="{37B18F7F-E597-40E9-8F65-C5E2F52F1E13}"/>
              </a:ext>
            </a:extLst>
          </p:cNvPr>
          <p:cNvPicPr>
            <a:picLocks noChangeAspect="1"/>
          </p:cNvPicPr>
          <p:nvPr/>
        </p:nvPicPr>
        <p:blipFill rotWithShape="1">
          <a:blip r:embed="rId3"/>
          <a:srcRect l="6596" t="521" r="7317" b="-521"/>
          <a:stretch/>
        </p:blipFill>
        <p:spPr>
          <a:xfrm>
            <a:off x="6217920" y="2342786"/>
            <a:ext cx="5584874" cy="2676392"/>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3428688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Cahier des charges : 3 lots complémentaires</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18 / 36</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Livraison incrémentale : chaque lot s'appuie sur le précédent</a:t>
            </a:r>
          </a:p>
        </p:txBody>
      </p:sp>
      <p:sp>
        <p:nvSpPr>
          <p:cNvPr id="10" name="Rounded Rectangle 9"/>
          <p:cNvSpPr/>
          <p:nvPr/>
        </p:nvSpPr>
        <p:spPr>
          <a:xfrm>
            <a:off x="457200" y="1828800"/>
            <a:ext cx="3611880" cy="457200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57200" y="1828800"/>
            <a:ext cx="3611880"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t>Lot 1</a:t>
            </a:r>
          </a:p>
          <a:p>
            <a:pPr algn="ctr">
              <a:defRPr sz="1400" b="1">
                <a:solidFill>
                  <a:srgbClr val="FFFFFF"/>
                </a:solidFill>
              </a:defRPr>
            </a:pPr>
            <a:r>
              <a:t>Socle de la refonte</a:t>
            </a:r>
          </a:p>
        </p:txBody>
      </p:sp>
      <p:sp>
        <p:nvSpPr>
          <p:cNvPr id="12" name="Oval 11"/>
          <p:cNvSpPr/>
          <p:nvPr/>
        </p:nvSpPr>
        <p:spPr>
          <a:xfrm>
            <a:off x="640080" y="2953512"/>
            <a:ext cx="109728" cy="109728"/>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41248" y="2880360"/>
            <a:ext cx="3108960" cy="457200"/>
          </a:xfrm>
          <a:prstGeom prst="rect">
            <a:avLst/>
          </a:prstGeom>
          <a:noFill/>
        </p:spPr>
        <p:txBody>
          <a:bodyPr wrap="square">
            <a:spAutoFit/>
          </a:bodyPr>
          <a:lstStyle/>
          <a:p>
            <a:pPr algn="l">
              <a:defRPr sz="1100" b="0" i="0">
                <a:solidFill>
                  <a:srgbClr val="333333"/>
                </a:solidFill>
              </a:defRPr>
            </a:pPr>
            <a:r>
              <a:t>Barre de recherche globale</a:t>
            </a:r>
          </a:p>
        </p:txBody>
      </p:sp>
      <p:sp>
        <p:nvSpPr>
          <p:cNvPr id="14" name="Oval 13"/>
          <p:cNvSpPr/>
          <p:nvPr/>
        </p:nvSpPr>
        <p:spPr>
          <a:xfrm>
            <a:off x="640080" y="3456432"/>
            <a:ext cx="109728" cy="109728"/>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8" y="3383280"/>
            <a:ext cx="3108960" cy="457200"/>
          </a:xfrm>
          <a:prstGeom prst="rect">
            <a:avLst/>
          </a:prstGeom>
          <a:noFill/>
        </p:spPr>
        <p:txBody>
          <a:bodyPr wrap="square">
            <a:spAutoFit/>
          </a:bodyPr>
          <a:lstStyle/>
          <a:p>
            <a:pPr algn="l">
              <a:defRPr sz="1100" b="0" i="0">
                <a:solidFill>
                  <a:srgbClr val="333333"/>
                </a:solidFill>
              </a:defRPr>
            </a:pPr>
            <a:r>
              <a:t>Filtre d'équipe (Tout / BU / Group)</a:t>
            </a:r>
          </a:p>
        </p:txBody>
      </p:sp>
      <p:sp>
        <p:nvSpPr>
          <p:cNvPr id="16" name="Oval 15"/>
          <p:cNvSpPr/>
          <p:nvPr/>
        </p:nvSpPr>
        <p:spPr>
          <a:xfrm>
            <a:off x="640080" y="3959352"/>
            <a:ext cx="109728" cy="109728"/>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8" y="3886200"/>
            <a:ext cx="3108960" cy="457200"/>
          </a:xfrm>
          <a:prstGeom prst="rect">
            <a:avLst/>
          </a:prstGeom>
          <a:noFill/>
        </p:spPr>
        <p:txBody>
          <a:bodyPr wrap="square">
            <a:spAutoFit/>
          </a:bodyPr>
          <a:lstStyle/>
          <a:p>
            <a:pPr algn="l">
              <a:defRPr sz="1100" b="0" i="0">
                <a:solidFill>
                  <a:srgbClr val="333333"/>
                </a:solidFill>
              </a:defRPr>
            </a:pPr>
            <a:r>
              <a:t>Indicateurs de chargement</a:t>
            </a:r>
          </a:p>
        </p:txBody>
      </p:sp>
      <p:sp>
        <p:nvSpPr>
          <p:cNvPr id="18" name="Oval 17"/>
          <p:cNvSpPr/>
          <p:nvPr/>
        </p:nvSpPr>
        <p:spPr>
          <a:xfrm>
            <a:off x="640080" y="4462272"/>
            <a:ext cx="109728" cy="109728"/>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1248" y="4389120"/>
            <a:ext cx="3108960" cy="457200"/>
          </a:xfrm>
          <a:prstGeom prst="rect">
            <a:avLst/>
          </a:prstGeom>
          <a:noFill/>
        </p:spPr>
        <p:txBody>
          <a:bodyPr wrap="square">
            <a:spAutoFit/>
          </a:bodyPr>
          <a:lstStyle/>
          <a:p>
            <a:pPr algn="l">
              <a:defRPr sz="1100" b="0" i="0">
                <a:solidFill>
                  <a:srgbClr val="333333"/>
                </a:solidFill>
              </a:defRPr>
            </a:pPr>
            <a:r>
              <a:t>Rattachement multi-équipes</a:t>
            </a:r>
          </a:p>
        </p:txBody>
      </p:sp>
      <p:sp>
        <p:nvSpPr>
          <p:cNvPr id="20" name="Oval 19"/>
          <p:cNvSpPr/>
          <p:nvPr/>
        </p:nvSpPr>
        <p:spPr>
          <a:xfrm>
            <a:off x="640080" y="4965192"/>
            <a:ext cx="109728" cy="109728"/>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1248" y="4892040"/>
            <a:ext cx="3108960" cy="457200"/>
          </a:xfrm>
          <a:prstGeom prst="rect">
            <a:avLst/>
          </a:prstGeom>
          <a:noFill/>
        </p:spPr>
        <p:txBody>
          <a:bodyPr wrap="square">
            <a:spAutoFit/>
          </a:bodyPr>
          <a:lstStyle/>
          <a:p>
            <a:pPr algn="l">
              <a:defRPr sz="1100" b="0" i="0">
                <a:solidFill>
                  <a:srgbClr val="333333"/>
                </a:solidFill>
              </a:defRPr>
            </a:pPr>
            <a:r>
              <a:t>Fonction des référents</a:t>
            </a:r>
          </a:p>
        </p:txBody>
      </p:sp>
      <p:sp>
        <p:nvSpPr>
          <p:cNvPr id="22" name="Oval 21"/>
          <p:cNvSpPr/>
          <p:nvPr/>
        </p:nvSpPr>
        <p:spPr>
          <a:xfrm>
            <a:off x="640080" y="5468112"/>
            <a:ext cx="109728" cy="109728"/>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1248" y="5394960"/>
            <a:ext cx="3108960" cy="457200"/>
          </a:xfrm>
          <a:prstGeom prst="rect">
            <a:avLst/>
          </a:prstGeom>
          <a:noFill/>
        </p:spPr>
        <p:txBody>
          <a:bodyPr wrap="square">
            <a:spAutoFit/>
          </a:bodyPr>
          <a:lstStyle/>
          <a:p>
            <a:pPr algn="l">
              <a:defRPr sz="1100" b="0" i="0">
                <a:solidFill>
                  <a:srgbClr val="333333"/>
                </a:solidFill>
              </a:defRPr>
            </a:pPr>
            <a:r>
              <a:t>Archivage des applications</a:t>
            </a:r>
          </a:p>
        </p:txBody>
      </p:sp>
      <p:sp>
        <p:nvSpPr>
          <p:cNvPr id="24" name="Rounded Rectangle 23"/>
          <p:cNvSpPr/>
          <p:nvPr/>
        </p:nvSpPr>
        <p:spPr>
          <a:xfrm>
            <a:off x="4297680" y="1828800"/>
            <a:ext cx="3611880" cy="4572000"/>
          </a:xfrm>
          <a:prstGeom prst="roundRect">
            <a:avLst/>
          </a:prstGeom>
          <a:solidFill>
            <a:srgbClr val="FFFFFF"/>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297680" y="1828800"/>
            <a:ext cx="3611880" cy="82296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t>Lot 2</a:t>
            </a:r>
          </a:p>
          <a:p>
            <a:pPr algn="ctr">
              <a:defRPr sz="1400" b="1">
                <a:solidFill>
                  <a:srgbClr val="FFFFFF"/>
                </a:solidFill>
              </a:defRPr>
            </a:pPr>
            <a:r>
              <a:t>Amélioration de l'outil</a:t>
            </a:r>
          </a:p>
        </p:txBody>
      </p:sp>
      <p:sp>
        <p:nvSpPr>
          <p:cNvPr id="26" name="Oval 25"/>
          <p:cNvSpPr/>
          <p:nvPr/>
        </p:nvSpPr>
        <p:spPr>
          <a:xfrm>
            <a:off x="4480560" y="2953512"/>
            <a:ext cx="109728" cy="109728"/>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681728" y="2880360"/>
            <a:ext cx="3108960" cy="457200"/>
          </a:xfrm>
          <a:prstGeom prst="rect">
            <a:avLst/>
          </a:prstGeom>
          <a:noFill/>
        </p:spPr>
        <p:txBody>
          <a:bodyPr wrap="square">
            <a:spAutoFit/>
          </a:bodyPr>
          <a:lstStyle/>
          <a:p>
            <a:pPr algn="l">
              <a:defRPr sz="1100" b="0" i="0">
                <a:solidFill>
                  <a:srgbClr val="333333"/>
                </a:solidFill>
              </a:defRPr>
            </a:pPr>
            <a:r>
              <a:t>Historique de livraison par module</a:t>
            </a:r>
          </a:p>
        </p:txBody>
      </p:sp>
      <p:sp>
        <p:nvSpPr>
          <p:cNvPr id="28" name="Oval 27"/>
          <p:cNvSpPr/>
          <p:nvPr/>
        </p:nvSpPr>
        <p:spPr>
          <a:xfrm>
            <a:off x="4480560" y="3456432"/>
            <a:ext cx="109728" cy="109728"/>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681728" y="3383280"/>
            <a:ext cx="3108960" cy="457200"/>
          </a:xfrm>
          <a:prstGeom prst="rect">
            <a:avLst/>
          </a:prstGeom>
          <a:noFill/>
        </p:spPr>
        <p:txBody>
          <a:bodyPr wrap="square">
            <a:spAutoFit/>
          </a:bodyPr>
          <a:lstStyle/>
          <a:p>
            <a:pPr algn="l">
              <a:defRPr sz="1100" b="0" i="0">
                <a:solidFill>
                  <a:srgbClr val="333333"/>
                </a:solidFill>
              </a:defRPr>
            </a:pPr>
            <a:r>
              <a:t>Document et n° de mise en prod</a:t>
            </a:r>
          </a:p>
        </p:txBody>
      </p:sp>
      <p:sp>
        <p:nvSpPr>
          <p:cNvPr id="30" name="Oval 29"/>
          <p:cNvSpPr/>
          <p:nvPr/>
        </p:nvSpPr>
        <p:spPr>
          <a:xfrm>
            <a:off x="4480560" y="3959352"/>
            <a:ext cx="109728" cy="109728"/>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681728" y="3886200"/>
            <a:ext cx="3108960" cy="457200"/>
          </a:xfrm>
          <a:prstGeom prst="rect">
            <a:avLst/>
          </a:prstGeom>
          <a:noFill/>
        </p:spPr>
        <p:txBody>
          <a:bodyPr wrap="square">
            <a:spAutoFit/>
          </a:bodyPr>
          <a:lstStyle/>
          <a:p>
            <a:pPr algn="l">
              <a:defRPr sz="1100" b="0" i="0">
                <a:solidFill>
                  <a:srgbClr val="333333"/>
                </a:solidFill>
              </a:defRPr>
            </a:pPr>
            <a:r>
              <a:t>Page comptes de service</a:t>
            </a:r>
          </a:p>
        </p:txBody>
      </p:sp>
      <p:sp>
        <p:nvSpPr>
          <p:cNvPr id="32" name="Oval 31"/>
          <p:cNvSpPr/>
          <p:nvPr/>
        </p:nvSpPr>
        <p:spPr>
          <a:xfrm>
            <a:off x="4480560" y="4462272"/>
            <a:ext cx="109728" cy="109728"/>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681728" y="4389120"/>
            <a:ext cx="3108960" cy="457200"/>
          </a:xfrm>
          <a:prstGeom prst="rect">
            <a:avLst/>
          </a:prstGeom>
          <a:noFill/>
        </p:spPr>
        <p:txBody>
          <a:bodyPr wrap="square">
            <a:spAutoFit/>
          </a:bodyPr>
          <a:lstStyle/>
          <a:p>
            <a:pPr algn="l">
              <a:defRPr sz="1100" b="0" i="0">
                <a:solidFill>
                  <a:srgbClr val="333333"/>
                </a:solidFill>
              </a:defRPr>
            </a:pPr>
            <a:r>
              <a:t>Suivi des dates d'expiration</a:t>
            </a:r>
          </a:p>
        </p:txBody>
      </p:sp>
      <p:sp>
        <p:nvSpPr>
          <p:cNvPr id="34" name="Oval 33"/>
          <p:cNvSpPr/>
          <p:nvPr/>
        </p:nvSpPr>
        <p:spPr>
          <a:xfrm>
            <a:off x="4480560" y="4965192"/>
            <a:ext cx="109728" cy="109728"/>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681728" y="4892040"/>
            <a:ext cx="3108960" cy="457200"/>
          </a:xfrm>
          <a:prstGeom prst="rect">
            <a:avLst/>
          </a:prstGeom>
          <a:noFill/>
        </p:spPr>
        <p:txBody>
          <a:bodyPr wrap="square">
            <a:spAutoFit/>
          </a:bodyPr>
          <a:lstStyle/>
          <a:p>
            <a:pPr algn="l">
              <a:defRPr sz="1100" b="0" i="0">
                <a:solidFill>
                  <a:srgbClr val="333333"/>
                </a:solidFill>
              </a:defRPr>
            </a:pPr>
            <a:r>
              <a:t>Empreinte (thumbprint) certificats</a:t>
            </a:r>
          </a:p>
        </p:txBody>
      </p:sp>
      <p:sp>
        <p:nvSpPr>
          <p:cNvPr id="36" name="Oval 35"/>
          <p:cNvSpPr/>
          <p:nvPr/>
        </p:nvSpPr>
        <p:spPr>
          <a:xfrm>
            <a:off x="4480560" y="5468112"/>
            <a:ext cx="109728" cy="109728"/>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681728" y="5394960"/>
            <a:ext cx="3108960" cy="457200"/>
          </a:xfrm>
          <a:prstGeom prst="rect">
            <a:avLst/>
          </a:prstGeom>
          <a:noFill/>
        </p:spPr>
        <p:txBody>
          <a:bodyPr wrap="square">
            <a:spAutoFit/>
          </a:bodyPr>
          <a:lstStyle/>
          <a:p>
            <a:pPr algn="l">
              <a:defRPr sz="1100" b="0" i="0">
                <a:solidFill>
                  <a:srgbClr val="333333"/>
                </a:solidFill>
              </a:defRPr>
            </a:pPr>
            <a:r>
              <a:t>Alertes expiration Dali / Elastik</a:t>
            </a:r>
          </a:p>
        </p:txBody>
      </p:sp>
      <p:sp>
        <p:nvSpPr>
          <p:cNvPr id="38" name="Rounded Rectangle 37"/>
          <p:cNvSpPr/>
          <p:nvPr/>
        </p:nvSpPr>
        <p:spPr>
          <a:xfrm>
            <a:off x="8138160" y="1828800"/>
            <a:ext cx="3611880" cy="4572000"/>
          </a:xfrm>
          <a:prstGeom prst="round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8138160" y="1828800"/>
            <a:ext cx="3611880" cy="82296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FFFFFF"/>
                </a:solidFill>
              </a:defRPr>
            </a:pPr>
            <a:r>
              <a:t>Lot 3</a:t>
            </a:r>
          </a:p>
          <a:p>
            <a:pPr algn="ctr">
              <a:defRPr sz="1400" b="1">
                <a:solidFill>
                  <a:srgbClr val="FFFFFF"/>
                </a:solidFill>
              </a:defRPr>
            </a:pPr>
            <a:r>
              <a:t>Enrichissement fonctionnel</a:t>
            </a:r>
          </a:p>
        </p:txBody>
      </p:sp>
      <p:sp>
        <p:nvSpPr>
          <p:cNvPr id="40" name="Oval 39"/>
          <p:cNvSpPr/>
          <p:nvPr/>
        </p:nvSpPr>
        <p:spPr>
          <a:xfrm>
            <a:off x="8321040" y="2953512"/>
            <a:ext cx="109728" cy="109728"/>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522208" y="2880360"/>
            <a:ext cx="3108960" cy="457200"/>
          </a:xfrm>
          <a:prstGeom prst="rect">
            <a:avLst/>
          </a:prstGeom>
          <a:noFill/>
        </p:spPr>
        <p:txBody>
          <a:bodyPr wrap="square">
            <a:spAutoFit/>
          </a:bodyPr>
          <a:lstStyle/>
          <a:p>
            <a:pPr algn="l">
              <a:defRPr sz="1100" b="0" i="0">
                <a:solidFill>
                  <a:srgbClr val="333333"/>
                </a:solidFill>
              </a:defRPr>
            </a:pPr>
            <a:r>
              <a:t>8 écrans d'admin des référentiels</a:t>
            </a:r>
          </a:p>
        </p:txBody>
      </p:sp>
      <p:sp>
        <p:nvSpPr>
          <p:cNvPr id="42" name="Oval 41"/>
          <p:cNvSpPr/>
          <p:nvPr/>
        </p:nvSpPr>
        <p:spPr>
          <a:xfrm>
            <a:off x="8321040" y="3456432"/>
            <a:ext cx="109728" cy="109728"/>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522208" y="3383280"/>
            <a:ext cx="3108960" cy="457200"/>
          </a:xfrm>
          <a:prstGeom prst="rect">
            <a:avLst/>
          </a:prstGeom>
          <a:noFill/>
        </p:spPr>
        <p:txBody>
          <a:bodyPr wrap="square">
            <a:spAutoFit/>
          </a:bodyPr>
          <a:lstStyle/>
          <a:p>
            <a:pPr algn="l">
              <a:defRPr sz="1100" b="0" i="0">
                <a:solidFill>
                  <a:srgbClr val="333333"/>
                </a:solidFill>
              </a:defRPr>
            </a:pPr>
            <a:r>
              <a:t>Historique des actions (audit trail)</a:t>
            </a:r>
          </a:p>
        </p:txBody>
      </p:sp>
      <p:sp>
        <p:nvSpPr>
          <p:cNvPr id="44" name="Oval 43"/>
          <p:cNvSpPr/>
          <p:nvPr/>
        </p:nvSpPr>
        <p:spPr>
          <a:xfrm>
            <a:off x="8321040" y="3959352"/>
            <a:ext cx="109728" cy="109728"/>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522208" y="3886200"/>
            <a:ext cx="3108960" cy="457200"/>
          </a:xfrm>
          <a:prstGeom prst="rect">
            <a:avLst/>
          </a:prstGeom>
          <a:noFill/>
        </p:spPr>
        <p:txBody>
          <a:bodyPr wrap="square">
            <a:spAutoFit/>
          </a:bodyPr>
          <a:lstStyle/>
          <a:p>
            <a:pPr algn="l">
              <a:defRPr sz="1100" b="0" i="0">
                <a:solidFill>
                  <a:srgbClr val="333333"/>
                </a:solidFill>
              </a:defRPr>
            </a:pPr>
            <a:r>
              <a:t>Corrélation auto des écritures</a:t>
            </a:r>
          </a:p>
        </p:txBody>
      </p:sp>
      <p:sp>
        <p:nvSpPr>
          <p:cNvPr id="46" name="Oval 45"/>
          <p:cNvSpPr/>
          <p:nvPr/>
        </p:nvSpPr>
        <p:spPr>
          <a:xfrm>
            <a:off x="8321040" y="4462272"/>
            <a:ext cx="109728" cy="109728"/>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522208" y="4389120"/>
            <a:ext cx="3108960" cy="457200"/>
          </a:xfrm>
          <a:prstGeom prst="rect">
            <a:avLst/>
          </a:prstGeom>
          <a:noFill/>
        </p:spPr>
        <p:txBody>
          <a:bodyPr wrap="square">
            <a:spAutoFit/>
          </a:bodyPr>
          <a:lstStyle/>
          <a:p>
            <a:pPr algn="l">
              <a:defRPr sz="1100" b="0" i="0">
                <a:solidFill>
                  <a:srgbClr val="333333"/>
                </a:solidFill>
              </a:defRPr>
            </a:pPr>
            <a:r>
              <a:t>Taxonomies : marquage des modules</a:t>
            </a:r>
          </a:p>
        </p:txBody>
      </p:sp>
      <p:sp>
        <p:nvSpPr>
          <p:cNvPr id="48" name="Oval 47"/>
          <p:cNvSpPr/>
          <p:nvPr/>
        </p:nvSpPr>
        <p:spPr>
          <a:xfrm>
            <a:off x="8321040" y="4965192"/>
            <a:ext cx="109728" cy="109728"/>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522208" y="4892040"/>
            <a:ext cx="3108960" cy="457200"/>
          </a:xfrm>
          <a:prstGeom prst="rect">
            <a:avLst/>
          </a:prstGeom>
          <a:noFill/>
        </p:spPr>
        <p:txBody>
          <a:bodyPr wrap="square">
            <a:spAutoFit/>
          </a:bodyPr>
          <a:lstStyle/>
          <a:p>
            <a:pPr algn="l">
              <a:defRPr sz="1100" b="0" i="0">
                <a:solidFill>
                  <a:srgbClr val="333333"/>
                </a:solidFill>
              </a:defRPr>
            </a:pPr>
            <a:r>
              <a:t>Page « Tout voir » + filtres</a:t>
            </a:r>
          </a:p>
        </p:txBody>
      </p:sp>
      <p:sp>
        <p:nvSpPr>
          <p:cNvPr id="50" name="Oval 49"/>
          <p:cNvSpPr/>
          <p:nvPr/>
        </p:nvSpPr>
        <p:spPr>
          <a:xfrm>
            <a:off x="8321040" y="5468112"/>
            <a:ext cx="109728" cy="109728"/>
          </a:xfrm>
          <a:prstGeom prst="ellipse">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522208" y="5394960"/>
            <a:ext cx="3108960" cy="457200"/>
          </a:xfrm>
          <a:prstGeom prst="rect">
            <a:avLst/>
          </a:prstGeom>
          <a:noFill/>
        </p:spPr>
        <p:txBody>
          <a:bodyPr wrap="square">
            <a:spAutoFit/>
          </a:bodyPr>
          <a:lstStyle/>
          <a:p>
            <a:pPr algn="l">
              <a:defRPr sz="1100" b="0" i="0">
                <a:solidFill>
                  <a:srgbClr val="333333"/>
                </a:solidFill>
              </a:defRPr>
            </a:pPr>
            <a:r>
              <a:t>Extensions ressources sensibles</a:t>
            </a:r>
          </a:p>
        </p:txBody>
      </p:sp>
      <p:sp>
        <p:nvSpPr>
          <p:cNvPr id="52" name="Right Arrow 51"/>
          <p:cNvSpPr/>
          <p:nvPr/>
        </p:nvSpPr>
        <p:spPr>
          <a:xfrm>
            <a:off x="4069080" y="3931920"/>
            <a:ext cx="320040" cy="320040"/>
          </a:xfrm>
          <a:prstGeom prst="rightArrow">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ight Arrow 52"/>
          <p:cNvSpPr/>
          <p:nvPr/>
        </p:nvSpPr>
        <p:spPr>
          <a:xfrm>
            <a:off x="7909560" y="3931920"/>
            <a:ext cx="320040" cy="320040"/>
          </a:xfrm>
          <a:prstGeom prst="rightArrow">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Diagnostic personnel de l'existant</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19 / 36</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Analyse menée avant tout développement : 3 formes de dette identifiées</a:t>
            </a:r>
          </a:p>
        </p:txBody>
      </p:sp>
      <p:sp>
        <p:nvSpPr>
          <p:cNvPr id="10" name="Rounded Rectangle 9"/>
          <p:cNvSpPr/>
          <p:nvPr/>
        </p:nvSpPr>
        <p:spPr>
          <a:xfrm>
            <a:off x="731520" y="1828800"/>
            <a:ext cx="3429000" cy="246888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914400" y="2011680"/>
            <a:ext cx="457200" cy="45720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1</a:t>
            </a:r>
          </a:p>
        </p:txBody>
      </p:sp>
      <p:sp>
        <p:nvSpPr>
          <p:cNvPr id="12" name="TextBox 11"/>
          <p:cNvSpPr txBox="1"/>
          <p:nvPr/>
        </p:nvSpPr>
        <p:spPr>
          <a:xfrm>
            <a:off x="1508760" y="2011680"/>
            <a:ext cx="2468880" cy="822960"/>
          </a:xfrm>
          <a:prstGeom prst="rect">
            <a:avLst/>
          </a:prstGeom>
          <a:noFill/>
        </p:spPr>
        <p:txBody>
          <a:bodyPr wrap="square">
            <a:spAutoFit/>
          </a:bodyPr>
          <a:lstStyle/>
          <a:p>
            <a:pPr algn="l">
              <a:defRPr sz="1300" b="1" i="0">
                <a:solidFill>
                  <a:srgbClr val="003366"/>
                </a:solidFill>
              </a:defRPr>
            </a:pPr>
            <a:r>
              <a:t>Dette technique de version</a:t>
            </a:r>
          </a:p>
        </p:txBody>
      </p:sp>
      <p:sp>
        <p:nvSpPr>
          <p:cNvPr id="13" name="TextBox 12"/>
          <p:cNvSpPr txBox="1"/>
          <p:nvPr/>
        </p:nvSpPr>
        <p:spPr>
          <a:xfrm>
            <a:off x="1005840" y="2926080"/>
            <a:ext cx="2926080" cy="1280160"/>
          </a:xfrm>
          <a:prstGeom prst="rect">
            <a:avLst/>
          </a:prstGeom>
          <a:noFill/>
        </p:spPr>
        <p:txBody>
          <a:bodyPr wrap="square">
            <a:spAutoFit/>
          </a:bodyPr>
          <a:lstStyle/>
          <a:p>
            <a:pPr algn="l">
              <a:defRPr sz="1000" b="0" i="0">
                <a:solidFill>
                  <a:srgbClr val="666666"/>
                </a:solidFill>
              </a:defRPr>
            </a:pPr>
            <a:r>
              <a:rPr dirty="0"/>
              <a:t>Angular 14.2 et .NET 6.0 hors support </a:t>
            </a:r>
            <a:r>
              <a:rPr dirty="0" err="1"/>
              <a:t>actif</a:t>
            </a:r>
            <a:r>
              <a:rPr dirty="0"/>
              <a:t>.</a:t>
            </a:r>
          </a:p>
          <a:p>
            <a:pPr algn="l">
              <a:defRPr sz="1000" b="0" i="0">
                <a:solidFill>
                  <a:srgbClr val="666666"/>
                </a:solidFill>
              </a:defRPr>
            </a:pPr>
            <a:r>
              <a:rPr dirty="0" err="1"/>
              <a:t>Vulnerabilites</a:t>
            </a:r>
            <a:r>
              <a:rPr dirty="0"/>
              <a:t> </a:t>
            </a:r>
            <a:r>
              <a:rPr dirty="0" err="1"/>
              <a:t>remontees</a:t>
            </a:r>
            <a:r>
              <a:rPr dirty="0"/>
              <a:t> par les </a:t>
            </a:r>
            <a:r>
              <a:rPr dirty="0" err="1"/>
              <a:t>outils</a:t>
            </a:r>
            <a:r>
              <a:rPr dirty="0"/>
              <a:t> </a:t>
            </a:r>
            <a:r>
              <a:rPr dirty="0" err="1"/>
              <a:t>d'analyse</a:t>
            </a:r>
            <a:r>
              <a:rPr dirty="0"/>
              <a:t>, </a:t>
            </a:r>
            <a:r>
              <a:rPr dirty="0" err="1"/>
              <a:t>impossibles</a:t>
            </a:r>
            <a:r>
              <a:rPr dirty="0"/>
              <a:t> a </a:t>
            </a:r>
            <a:r>
              <a:rPr dirty="0" err="1"/>
              <a:t>corriger</a:t>
            </a:r>
            <a:r>
              <a:rPr dirty="0"/>
              <a:t>.</a:t>
            </a:r>
          </a:p>
        </p:txBody>
      </p:sp>
      <p:sp>
        <p:nvSpPr>
          <p:cNvPr id="14" name="Rounded Rectangle 13"/>
          <p:cNvSpPr/>
          <p:nvPr/>
        </p:nvSpPr>
        <p:spPr>
          <a:xfrm>
            <a:off x="4480560" y="1828800"/>
            <a:ext cx="3429000" cy="246888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663440" y="2011680"/>
            <a:ext cx="457200" cy="45720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2</a:t>
            </a:r>
          </a:p>
        </p:txBody>
      </p:sp>
      <p:sp>
        <p:nvSpPr>
          <p:cNvPr id="16" name="TextBox 15"/>
          <p:cNvSpPr txBox="1"/>
          <p:nvPr/>
        </p:nvSpPr>
        <p:spPr>
          <a:xfrm>
            <a:off x="5257800" y="2011680"/>
            <a:ext cx="2468880" cy="822960"/>
          </a:xfrm>
          <a:prstGeom prst="rect">
            <a:avLst/>
          </a:prstGeom>
          <a:noFill/>
        </p:spPr>
        <p:txBody>
          <a:bodyPr wrap="square">
            <a:spAutoFit/>
          </a:bodyPr>
          <a:lstStyle/>
          <a:p>
            <a:pPr algn="l">
              <a:defRPr sz="1300" b="1" i="0">
                <a:solidFill>
                  <a:srgbClr val="003366"/>
                </a:solidFill>
              </a:defRPr>
            </a:pPr>
            <a:r>
              <a:t>Dette du modèle de données</a:t>
            </a:r>
          </a:p>
        </p:txBody>
      </p:sp>
      <p:sp>
        <p:nvSpPr>
          <p:cNvPr id="17" name="TextBox 16"/>
          <p:cNvSpPr txBox="1"/>
          <p:nvPr/>
        </p:nvSpPr>
        <p:spPr>
          <a:xfrm>
            <a:off x="4732020" y="2862072"/>
            <a:ext cx="2926080" cy="1280160"/>
          </a:xfrm>
          <a:prstGeom prst="rect">
            <a:avLst/>
          </a:prstGeom>
          <a:noFill/>
        </p:spPr>
        <p:txBody>
          <a:bodyPr wrap="square">
            <a:spAutoFit/>
          </a:bodyPr>
          <a:lstStyle/>
          <a:p>
            <a:pPr algn="l">
              <a:defRPr sz="1000" b="0" i="0">
                <a:solidFill>
                  <a:srgbClr val="666666"/>
                </a:solidFill>
              </a:defRPr>
            </a:pPr>
            <a:r>
              <a:rPr dirty="0" err="1"/>
              <a:t>Ressources</a:t>
            </a:r>
            <a:r>
              <a:rPr dirty="0"/>
              <a:t> </a:t>
            </a:r>
            <a:r>
              <a:rPr dirty="0" err="1"/>
              <a:t>en</a:t>
            </a:r>
            <a:r>
              <a:rPr dirty="0"/>
              <a:t> </a:t>
            </a:r>
            <a:r>
              <a:rPr dirty="0" err="1"/>
              <a:t>texte</a:t>
            </a:r>
            <a:r>
              <a:rPr dirty="0"/>
              <a:t> libre : meme framework sous </a:t>
            </a:r>
            <a:r>
              <a:rPr dirty="0" err="1"/>
              <a:t>plusieurs</a:t>
            </a:r>
            <a:r>
              <a:rPr dirty="0"/>
              <a:t> </a:t>
            </a:r>
            <a:r>
              <a:rPr dirty="0" err="1"/>
              <a:t>orthographes</a:t>
            </a:r>
            <a:r>
              <a:rPr dirty="0"/>
              <a:t>.</a:t>
            </a:r>
          </a:p>
          <a:p>
            <a:pPr algn="l">
              <a:defRPr sz="1000" b="0" i="0">
                <a:solidFill>
                  <a:srgbClr val="666666"/>
                </a:solidFill>
              </a:defRPr>
            </a:pPr>
            <a:r>
              <a:rPr dirty="0"/>
              <a:t>Absence de </a:t>
            </a:r>
            <a:r>
              <a:rPr dirty="0" err="1"/>
              <a:t>contraintes</a:t>
            </a:r>
            <a:r>
              <a:rPr dirty="0"/>
              <a:t> </a:t>
            </a:r>
            <a:r>
              <a:rPr dirty="0" err="1"/>
              <a:t>d'unicite</a:t>
            </a:r>
            <a:r>
              <a:rPr dirty="0"/>
              <a:t>, tables sans </a:t>
            </a:r>
            <a:r>
              <a:rPr dirty="0" err="1"/>
              <a:t>cle</a:t>
            </a:r>
            <a:r>
              <a:rPr dirty="0"/>
              <a:t> </a:t>
            </a:r>
            <a:r>
              <a:rPr dirty="0" err="1"/>
              <a:t>primaire</a:t>
            </a:r>
            <a:r>
              <a:rPr dirty="0"/>
              <a:t>.</a:t>
            </a:r>
          </a:p>
        </p:txBody>
      </p:sp>
      <p:sp>
        <p:nvSpPr>
          <p:cNvPr id="18" name="Rounded Rectangle 17"/>
          <p:cNvSpPr/>
          <p:nvPr/>
        </p:nvSpPr>
        <p:spPr>
          <a:xfrm>
            <a:off x="8229600" y="1828800"/>
            <a:ext cx="3429000" cy="246888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8412480" y="2011680"/>
            <a:ext cx="457200" cy="45720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3</a:t>
            </a:r>
          </a:p>
        </p:txBody>
      </p:sp>
      <p:sp>
        <p:nvSpPr>
          <p:cNvPr id="20" name="TextBox 19"/>
          <p:cNvSpPr txBox="1"/>
          <p:nvPr/>
        </p:nvSpPr>
        <p:spPr>
          <a:xfrm>
            <a:off x="9006840" y="2011680"/>
            <a:ext cx="2468880" cy="822960"/>
          </a:xfrm>
          <a:prstGeom prst="rect">
            <a:avLst/>
          </a:prstGeom>
          <a:noFill/>
        </p:spPr>
        <p:txBody>
          <a:bodyPr wrap="square">
            <a:spAutoFit/>
          </a:bodyPr>
          <a:lstStyle/>
          <a:p>
            <a:pPr algn="l">
              <a:defRPr sz="1300" b="1" i="0">
                <a:solidFill>
                  <a:srgbClr val="003366"/>
                </a:solidFill>
              </a:defRPr>
            </a:pPr>
            <a:r>
              <a:t>Dette ergonomique</a:t>
            </a:r>
          </a:p>
        </p:txBody>
      </p:sp>
      <p:sp>
        <p:nvSpPr>
          <p:cNvPr id="21" name="TextBox 20"/>
          <p:cNvSpPr txBox="1"/>
          <p:nvPr/>
        </p:nvSpPr>
        <p:spPr>
          <a:xfrm>
            <a:off x="8503920" y="2926080"/>
            <a:ext cx="2926080" cy="400110"/>
          </a:xfrm>
          <a:prstGeom prst="rect">
            <a:avLst/>
          </a:prstGeom>
          <a:noFill/>
        </p:spPr>
        <p:txBody>
          <a:bodyPr wrap="square">
            <a:spAutoFit/>
          </a:bodyPr>
          <a:lstStyle/>
          <a:p>
            <a:pPr algn="l">
              <a:defRPr sz="1000" b="0" i="0">
                <a:solidFill>
                  <a:srgbClr val="666666"/>
                </a:solidFill>
              </a:defRPr>
            </a:pPr>
            <a:r>
              <a:rPr lang="fr-CH" dirty="0"/>
              <a:t>Pas de </a:t>
            </a:r>
            <a:r>
              <a:rPr lang="fr-CH" dirty="0" err="1"/>
              <a:t>coherences</a:t>
            </a:r>
            <a:r>
              <a:rPr lang="fr-CH" dirty="0"/>
              <a:t>, pas d’organisation. Formulaires désorganisés</a:t>
            </a:r>
            <a:endParaRPr dirty="0"/>
          </a:p>
        </p:txBody>
      </p:sp>
      <p:sp>
        <p:nvSpPr>
          <p:cNvPr id="22" name="TextBox 21"/>
          <p:cNvSpPr txBox="1"/>
          <p:nvPr/>
        </p:nvSpPr>
        <p:spPr>
          <a:xfrm>
            <a:off x="731520" y="4572000"/>
            <a:ext cx="10698480" cy="365760"/>
          </a:xfrm>
          <a:prstGeom prst="rect">
            <a:avLst/>
          </a:prstGeom>
          <a:noFill/>
        </p:spPr>
        <p:txBody>
          <a:bodyPr wrap="square">
            <a:spAutoFit/>
          </a:bodyPr>
          <a:lstStyle/>
          <a:p>
            <a:pPr algn="ctr">
              <a:defRPr sz="1600" b="1" i="0">
                <a:solidFill>
                  <a:srgbClr val="2E8B3D"/>
                </a:solidFill>
              </a:defRPr>
            </a:pPr>
            <a:r>
              <a:t>Élargissement du périmètre initial (validé par le chef de projet)</a:t>
            </a:r>
          </a:p>
        </p:txBody>
      </p:sp>
      <p:sp>
        <p:nvSpPr>
          <p:cNvPr id="23" name="Rounded Rectangle 22"/>
          <p:cNvSpPr/>
          <p:nvPr/>
        </p:nvSpPr>
        <p:spPr>
          <a:xfrm>
            <a:off x="1371600" y="5029200"/>
            <a:ext cx="4480560" cy="1097280"/>
          </a:xfrm>
          <a:prstGeom prst="round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554480" y="5166360"/>
            <a:ext cx="4206240" cy="365760"/>
          </a:xfrm>
          <a:prstGeom prst="rect">
            <a:avLst/>
          </a:prstGeom>
          <a:noFill/>
        </p:spPr>
        <p:txBody>
          <a:bodyPr wrap="square">
            <a:spAutoFit/>
          </a:bodyPr>
          <a:lstStyle/>
          <a:p>
            <a:pPr algn="l">
              <a:defRPr sz="1300" b="1" i="0">
                <a:solidFill>
                  <a:srgbClr val="2E8B3D"/>
                </a:solidFill>
              </a:defRPr>
            </a:pPr>
            <a:r>
              <a:t>+ Normalisation de la base de données</a:t>
            </a:r>
          </a:p>
        </p:txBody>
      </p:sp>
      <p:sp>
        <p:nvSpPr>
          <p:cNvPr id="25" name="TextBox 24"/>
          <p:cNvSpPr txBox="1"/>
          <p:nvPr/>
        </p:nvSpPr>
        <p:spPr>
          <a:xfrm>
            <a:off x="1554480" y="5577840"/>
            <a:ext cx="4206240" cy="457200"/>
          </a:xfrm>
          <a:prstGeom prst="rect">
            <a:avLst/>
          </a:prstGeom>
          <a:noFill/>
        </p:spPr>
        <p:txBody>
          <a:bodyPr wrap="square">
            <a:spAutoFit/>
          </a:bodyPr>
          <a:lstStyle/>
          <a:p>
            <a:pPr algn="l">
              <a:defRPr sz="1100" b="0" i="1">
                <a:solidFill>
                  <a:srgbClr val="333333"/>
                </a:solidFill>
              </a:defRPr>
            </a:pPr>
            <a:r>
              <a:t>au sens des formes normales de Codd</a:t>
            </a:r>
          </a:p>
        </p:txBody>
      </p:sp>
      <p:sp>
        <p:nvSpPr>
          <p:cNvPr id="26" name="Rounded Rectangle 25"/>
          <p:cNvSpPr/>
          <p:nvPr/>
        </p:nvSpPr>
        <p:spPr>
          <a:xfrm>
            <a:off x="6400800" y="5029200"/>
            <a:ext cx="4480560" cy="1097280"/>
          </a:xfrm>
          <a:prstGeom prst="roundRect">
            <a:avLst/>
          </a:prstGeom>
          <a:solidFill>
            <a:srgbClr val="E8F5E9"/>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83680" y="5166360"/>
            <a:ext cx="4206240" cy="365760"/>
          </a:xfrm>
          <a:prstGeom prst="rect">
            <a:avLst/>
          </a:prstGeom>
          <a:noFill/>
        </p:spPr>
        <p:txBody>
          <a:bodyPr wrap="square">
            <a:spAutoFit/>
          </a:bodyPr>
          <a:lstStyle/>
          <a:p>
            <a:pPr algn="l">
              <a:defRPr sz="1300" b="1" i="0">
                <a:solidFill>
                  <a:srgbClr val="2E8B3D"/>
                </a:solidFill>
              </a:defRPr>
            </a:pPr>
            <a:r>
              <a:t>+ Mise en conformité REST de l'API</a:t>
            </a:r>
          </a:p>
        </p:txBody>
      </p:sp>
      <p:sp>
        <p:nvSpPr>
          <p:cNvPr id="28" name="TextBox 27"/>
          <p:cNvSpPr txBox="1"/>
          <p:nvPr/>
        </p:nvSpPr>
        <p:spPr>
          <a:xfrm>
            <a:off x="6583680" y="5577840"/>
            <a:ext cx="4206240" cy="457200"/>
          </a:xfrm>
          <a:prstGeom prst="rect">
            <a:avLst/>
          </a:prstGeom>
          <a:noFill/>
        </p:spPr>
        <p:txBody>
          <a:bodyPr wrap="square">
            <a:spAutoFit/>
          </a:bodyPr>
          <a:lstStyle/>
          <a:p>
            <a:pPr algn="l">
              <a:defRPr sz="1100" b="0" i="1">
                <a:solidFill>
                  <a:srgbClr val="333333"/>
                </a:solidFill>
              </a:defRPr>
            </a:pPr>
            <a:r>
              <a:t>au sens des principes de Fielding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Démarche de réalisation</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20 / 36</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Démarche appliquée à chaque livraison, du cadrage à la supervision</a:t>
            </a:r>
          </a:p>
        </p:txBody>
      </p:sp>
      <p:sp>
        <p:nvSpPr>
          <p:cNvPr id="10" name="Rounded Rectangle 9"/>
          <p:cNvSpPr/>
          <p:nvPr/>
        </p:nvSpPr>
        <p:spPr>
          <a:xfrm>
            <a:off x="731520" y="1828800"/>
            <a:ext cx="1828800" cy="457200"/>
          </a:xfrm>
          <a:prstGeom prst="round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CADRAGE</a:t>
            </a:r>
          </a:p>
        </p:txBody>
      </p:sp>
      <p:sp>
        <p:nvSpPr>
          <p:cNvPr id="11" name="Rectangle 10"/>
          <p:cNvSpPr/>
          <p:nvPr/>
        </p:nvSpPr>
        <p:spPr>
          <a:xfrm>
            <a:off x="2743200" y="1828800"/>
            <a:ext cx="7315200" cy="457200"/>
          </a:xfrm>
          <a:prstGeom prst="rect">
            <a:avLst/>
          </a:prstGeom>
          <a:solidFill>
            <a:srgbClr val="FFFFFF"/>
          </a:solidFill>
          <a:ln w="12700">
            <a:solidFill>
              <a:srgbClr val="33333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743200" y="1828800"/>
            <a:ext cx="73152" cy="457200"/>
          </a:xfrm>
          <a:prstGeom prst="rect">
            <a:avLst/>
          </a:prstGeom>
          <a:solidFill>
            <a:srgbClr val="33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26080" y="1920240"/>
            <a:ext cx="7132320" cy="320040"/>
          </a:xfrm>
          <a:prstGeom prst="rect">
            <a:avLst/>
          </a:prstGeom>
          <a:noFill/>
        </p:spPr>
        <p:txBody>
          <a:bodyPr wrap="square">
            <a:spAutoFit/>
          </a:bodyPr>
          <a:lstStyle/>
          <a:p>
            <a:pPr algn="l">
              <a:defRPr sz="1100" b="0" i="0">
                <a:solidFill>
                  <a:srgbClr val="333333"/>
                </a:solidFill>
              </a:defRPr>
            </a:pPr>
            <a:r>
              <a:t>1. Cadrage du besoin (analyste fonctionnelle)</a:t>
            </a:r>
          </a:p>
        </p:txBody>
      </p:sp>
      <p:sp>
        <p:nvSpPr>
          <p:cNvPr id="14" name="Rounded Rectangle 13"/>
          <p:cNvSpPr/>
          <p:nvPr/>
        </p:nvSpPr>
        <p:spPr>
          <a:xfrm>
            <a:off x="731520" y="2286000"/>
            <a:ext cx="1828800" cy="45720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DÉVELOPPEMENT</a:t>
            </a:r>
          </a:p>
        </p:txBody>
      </p:sp>
      <p:sp>
        <p:nvSpPr>
          <p:cNvPr id="15" name="Rectangle 14"/>
          <p:cNvSpPr/>
          <p:nvPr/>
        </p:nvSpPr>
        <p:spPr>
          <a:xfrm>
            <a:off x="2743200" y="2286000"/>
            <a:ext cx="7315200" cy="457200"/>
          </a:xfrm>
          <a:prstGeom prst="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743200" y="2286000"/>
            <a:ext cx="73152" cy="4572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926080" y="2377440"/>
            <a:ext cx="7132320" cy="320040"/>
          </a:xfrm>
          <a:prstGeom prst="rect">
            <a:avLst/>
          </a:prstGeom>
          <a:noFill/>
        </p:spPr>
        <p:txBody>
          <a:bodyPr wrap="square">
            <a:spAutoFit/>
          </a:bodyPr>
          <a:lstStyle/>
          <a:p>
            <a:pPr algn="l">
              <a:defRPr sz="1100" b="0" i="0">
                <a:solidFill>
                  <a:srgbClr val="333333"/>
                </a:solidFill>
              </a:defRPr>
            </a:pPr>
            <a:r>
              <a:t>2. Conception et développement (local)</a:t>
            </a:r>
          </a:p>
        </p:txBody>
      </p:sp>
      <p:sp>
        <p:nvSpPr>
          <p:cNvPr id="18" name="Rectangle 17"/>
          <p:cNvSpPr/>
          <p:nvPr/>
        </p:nvSpPr>
        <p:spPr>
          <a:xfrm>
            <a:off x="2743200" y="2670048"/>
            <a:ext cx="7315200" cy="457200"/>
          </a:xfrm>
          <a:prstGeom prst="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743200" y="2670048"/>
            <a:ext cx="73152" cy="4572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926080" y="2761488"/>
            <a:ext cx="7132320" cy="320040"/>
          </a:xfrm>
          <a:prstGeom prst="rect">
            <a:avLst/>
          </a:prstGeom>
          <a:noFill/>
        </p:spPr>
        <p:txBody>
          <a:bodyPr wrap="square">
            <a:spAutoFit/>
          </a:bodyPr>
          <a:lstStyle/>
          <a:p>
            <a:pPr algn="l">
              <a:defRPr sz="1100" b="0" i="0">
                <a:solidFill>
                  <a:srgbClr val="333333"/>
                </a:solidFill>
              </a:defRPr>
            </a:pPr>
            <a:r>
              <a:t>3. Déploiement sur ressources Azure DEV</a:t>
            </a:r>
          </a:p>
        </p:txBody>
      </p:sp>
      <p:sp>
        <p:nvSpPr>
          <p:cNvPr id="21" name="Rectangle 20"/>
          <p:cNvSpPr/>
          <p:nvPr/>
        </p:nvSpPr>
        <p:spPr>
          <a:xfrm>
            <a:off x="2743200" y="3054096"/>
            <a:ext cx="7315200" cy="457200"/>
          </a:xfrm>
          <a:prstGeom prst="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743200" y="3054096"/>
            <a:ext cx="73152" cy="4572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926080" y="3145536"/>
            <a:ext cx="7132320" cy="320040"/>
          </a:xfrm>
          <a:prstGeom prst="rect">
            <a:avLst/>
          </a:prstGeom>
          <a:noFill/>
        </p:spPr>
        <p:txBody>
          <a:bodyPr wrap="square">
            <a:spAutoFit/>
          </a:bodyPr>
          <a:lstStyle/>
          <a:p>
            <a:pPr algn="l">
              <a:defRPr sz="1100" b="0" i="0">
                <a:solidFill>
                  <a:srgbClr val="333333"/>
                </a:solidFill>
              </a:defRPr>
            </a:pPr>
            <a:r>
              <a:t>4. Tests développeur en DEV</a:t>
            </a:r>
          </a:p>
        </p:txBody>
      </p:sp>
      <p:sp>
        <p:nvSpPr>
          <p:cNvPr id="24" name="Rounded Rectangle 23"/>
          <p:cNvSpPr/>
          <p:nvPr/>
        </p:nvSpPr>
        <p:spPr>
          <a:xfrm>
            <a:off x="731520" y="3511296"/>
            <a:ext cx="1828800" cy="457200"/>
          </a:xfrm>
          <a:prstGeom prst="round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RECETTE</a:t>
            </a:r>
          </a:p>
        </p:txBody>
      </p:sp>
      <p:sp>
        <p:nvSpPr>
          <p:cNvPr id="25" name="Rectangle 24"/>
          <p:cNvSpPr/>
          <p:nvPr/>
        </p:nvSpPr>
        <p:spPr>
          <a:xfrm>
            <a:off x="2743200" y="3511296"/>
            <a:ext cx="7315200" cy="457200"/>
          </a:xfrm>
          <a:prstGeom prst="rect">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743200" y="3511296"/>
            <a:ext cx="73152" cy="457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926080" y="3602736"/>
            <a:ext cx="7132320" cy="320040"/>
          </a:xfrm>
          <a:prstGeom prst="rect">
            <a:avLst/>
          </a:prstGeom>
          <a:noFill/>
        </p:spPr>
        <p:txBody>
          <a:bodyPr wrap="square">
            <a:spAutoFit/>
          </a:bodyPr>
          <a:lstStyle/>
          <a:p>
            <a:pPr algn="l">
              <a:defRPr sz="1100" b="0" i="0">
                <a:solidFill>
                  <a:srgbClr val="333333"/>
                </a:solidFill>
              </a:defRPr>
            </a:pPr>
            <a:r>
              <a:t>5. Mise en recette (UAT)</a:t>
            </a:r>
          </a:p>
        </p:txBody>
      </p:sp>
      <p:sp>
        <p:nvSpPr>
          <p:cNvPr id="28" name="Rectangle 27"/>
          <p:cNvSpPr/>
          <p:nvPr/>
        </p:nvSpPr>
        <p:spPr>
          <a:xfrm>
            <a:off x="2743200" y="3895344"/>
            <a:ext cx="7315200" cy="457200"/>
          </a:xfrm>
          <a:prstGeom prst="rect">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743200" y="3895344"/>
            <a:ext cx="73152" cy="457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926080" y="3986784"/>
            <a:ext cx="7132320" cy="320040"/>
          </a:xfrm>
          <a:prstGeom prst="rect">
            <a:avLst/>
          </a:prstGeom>
          <a:noFill/>
        </p:spPr>
        <p:txBody>
          <a:bodyPr wrap="square">
            <a:spAutoFit/>
          </a:bodyPr>
          <a:lstStyle/>
          <a:p>
            <a:pPr algn="l">
              <a:defRPr sz="1100" b="0" i="0">
                <a:solidFill>
                  <a:srgbClr val="333333"/>
                </a:solidFill>
              </a:defRPr>
            </a:pPr>
            <a:r>
              <a:t>6. Tests AF - cahier d'anomalies</a:t>
            </a:r>
          </a:p>
        </p:txBody>
      </p:sp>
      <p:sp>
        <p:nvSpPr>
          <p:cNvPr id="31" name="Rectangle 30"/>
          <p:cNvSpPr/>
          <p:nvPr/>
        </p:nvSpPr>
        <p:spPr>
          <a:xfrm>
            <a:off x="2743200" y="4279392"/>
            <a:ext cx="7315200" cy="457200"/>
          </a:xfrm>
          <a:prstGeom prst="rect">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2743200" y="4279392"/>
            <a:ext cx="73152" cy="457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926080" y="4370832"/>
            <a:ext cx="7132320" cy="320040"/>
          </a:xfrm>
          <a:prstGeom prst="rect">
            <a:avLst/>
          </a:prstGeom>
          <a:noFill/>
        </p:spPr>
        <p:txBody>
          <a:bodyPr wrap="square">
            <a:spAutoFit/>
          </a:bodyPr>
          <a:lstStyle/>
          <a:p>
            <a:pPr algn="l">
              <a:defRPr sz="1100" b="0" i="0">
                <a:solidFill>
                  <a:srgbClr val="333333"/>
                </a:solidFill>
              </a:defRPr>
            </a:pPr>
            <a:r>
              <a:t>7. Correction des retours</a:t>
            </a:r>
          </a:p>
        </p:txBody>
      </p:sp>
      <p:sp>
        <p:nvSpPr>
          <p:cNvPr id="34" name="Rectangle 33"/>
          <p:cNvSpPr/>
          <p:nvPr/>
        </p:nvSpPr>
        <p:spPr>
          <a:xfrm>
            <a:off x="2743200" y="4663440"/>
            <a:ext cx="7315200" cy="457200"/>
          </a:xfrm>
          <a:prstGeom prst="rect">
            <a:avLst/>
          </a:prstGeom>
          <a:solidFill>
            <a:srgbClr val="FFFFFF"/>
          </a:solidFill>
          <a:ln w="1270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2743200" y="4663440"/>
            <a:ext cx="73152" cy="45720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926080" y="4754880"/>
            <a:ext cx="7132320" cy="320040"/>
          </a:xfrm>
          <a:prstGeom prst="rect">
            <a:avLst/>
          </a:prstGeom>
          <a:noFill/>
        </p:spPr>
        <p:txBody>
          <a:bodyPr wrap="square">
            <a:spAutoFit/>
          </a:bodyPr>
          <a:lstStyle/>
          <a:p>
            <a:pPr algn="l">
              <a:defRPr sz="1100" b="0" i="0">
                <a:solidFill>
                  <a:srgbClr val="333333"/>
                </a:solidFill>
              </a:defRPr>
            </a:pPr>
            <a:r>
              <a:t>8. Tests finaux par l'analyste fonctionnelle</a:t>
            </a:r>
          </a:p>
        </p:txBody>
      </p:sp>
      <p:sp>
        <p:nvSpPr>
          <p:cNvPr id="37" name="Rounded Rectangle 36"/>
          <p:cNvSpPr/>
          <p:nvPr/>
        </p:nvSpPr>
        <p:spPr>
          <a:xfrm>
            <a:off x="731520" y="5120640"/>
            <a:ext cx="1828800" cy="457200"/>
          </a:xfrm>
          <a:prstGeom prst="round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PRODUCTION</a:t>
            </a:r>
          </a:p>
        </p:txBody>
      </p:sp>
      <p:sp>
        <p:nvSpPr>
          <p:cNvPr id="38" name="Rectangle 37"/>
          <p:cNvSpPr/>
          <p:nvPr/>
        </p:nvSpPr>
        <p:spPr>
          <a:xfrm>
            <a:off x="2743200" y="5120640"/>
            <a:ext cx="7315200" cy="457200"/>
          </a:xfrm>
          <a:prstGeom prst="rect">
            <a:avLst/>
          </a:prstGeom>
          <a:solidFill>
            <a:srgbClr val="FFFFFF"/>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2743200" y="5120640"/>
            <a:ext cx="73152" cy="45720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926080" y="5212080"/>
            <a:ext cx="7132320" cy="320040"/>
          </a:xfrm>
          <a:prstGeom prst="rect">
            <a:avLst/>
          </a:prstGeom>
          <a:noFill/>
        </p:spPr>
        <p:txBody>
          <a:bodyPr wrap="square">
            <a:spAutoFit/>
          </a:bodyPr>
          <a:lstStyle/>
          <a:p>
            <a:pPr algn="l">
              <a:defRPr sz="1100" b="0" i="0">
                <a:solidFill>
                  <a:srgbClr val="333333"/>
                </a:solidFill>
              </a:defRPr>
            </a:pPr>
            <a:r>
              <a:t>9. Mise en production</a:t>
            </a:r>
          </a:p>
        </p:txBody>
      </p:sp>
      <p:sp>
        <p:nvSpPr>
          <p:cNvPr id="41" name="Rectangle 40"/>
          <p:cNvSpPr/>
          <p:nvPr/>
        </p:nvSpPr>
        <p:spPr>
          <a:xfrm>
            <a:off x="2743200" y="5504688"/>
            <a:ext cx="7315200" cy="457200"/>
          </a:xfrm>
          <a:prstGeom prst="rect">
            <a:avLst/>
          </a:prstGeom>
          <a:solidFill>
            <a:srgbClr val="FFFFFF"/>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2743200" y="5504688"/>
            <a:ext cx="73152" cy="45720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926080" y="5596128"/>
            <a:ext cx="7132320" cy="320040"/>
          </a:xfrm>
          <a:prstGeom prst="rect">
            <a:avLst/>
          </a:prstGeom>
          <a:noFill/>
        </p:spPr>
        <p:txBody>
          <a:bodyPr wrap="square">
            <a:spAutoFit/>
          </a:bodyPr>
          <a:lstStyle/>
          <a:p>
            <a:pPr algn="l">
              <a:defRPr sz="1100" b="0" i="0">
                <a:solidFill>
                  <a:srgbClr val="333333"/>
                </a:solidFill>
              </a:defRPr>
            </a:pPr>
            <a:r>
              <a:t>10. Supervision (monitoring)</a:t>
            </a:r>
          </a:p>
        </p:txBody>
      </p:sp>
      <p:sp>
        <p:nvSpPr>
          <p:cNvPr id="44" name="TextBox 43"/>
          <p:cNvSpPr txBox="1"/>
          <p:nvPr/>
        </p:nvSpPr>
        <p:spPr>
          <a:xfrm>
            <a:off x="9793459" y="4261104"/>
            <a:ext cx="1737360" cy="457200"/>
          </a:xfrm>
          <a:prstGeom prst="rect">
            <a:avLst/>
          </a:prstGeom>
          <a:noFill/>
        </p:spPr>
        <p:txBody>
          <a:bodyPr wrap="square">
            <a:spAutoFit/>
          </a:bodyPr>
          <a:lstStyle/>
          <a:p>
            <a:pPr algn="ctr">
              <a:defRPr sz="900" b="1" i="1">
                <a:solidFill>
                  <a:srgbClr val="E2001A"/>
                </a:solidFill>
              </a:defRPr>
            </a:pPr>
            <a:r>
              <a:rPr dirty="0"/>
              <a:t>Boucle </a:t>
            </a:r>
            <a:r>
              <a:rPr dirty="0" err="1"/>
              <a:t>si</a:t>
            </a:r>
            <a:endParaRPr dirty="0"/>
          </a:p>
          <a:p>
            <a:pPr algn="ctr">
              <a:defRPr sz="900" b="1" i="1">
                <a:solidFill>
                  <a:srgbClr val="E2001A"/>
                </a:solidFill>
              </a:defRPr>
            </a:pPr>
            <a:r>
              <a:rPr dirty="0"/>
              <a:t>anomalies</a:t>
            </a:r>
          </a:p>
          <a:p>
            <a:pPr algn="ctr">
              <a:defRPr sz="900" b="1" i="1">
                <a:solidFill>
                  <a:srgbClr val="E2001A"/>
                </a:solidFill>
              </a:defRPr>
            </a:pPr>
            <a:r>
              <a:rPr dirty="0" err="1"/>
              <a:t>restantes</a:t>
            </a:r>
            <a:endParaRPr dirty="0"/>
          </a:p>
        </p:txBody>
      </p:sp>
      <p:cxnSp>
        <p:nvCxnSpPr>
          <p:cNvPr id="46" name="Connecteur : en angle 45">
            <a:extLst>
              <a:ext uri="{FF2B5EF4-FFF2-40B4-BE49-F238E27FC236}">
                <a16:creationId xmlns:a16="http://schemas.microsoft.com/office/drawing/2014/main" id="{642F23F9-0FD2-4672-A703-FEDEC70CE463}"/>
              </a:ext>
            </a:extLst>
          </p:cNvPr>
          <p:cNvCxnSpPr>
            <a:cxnSpLocks/>
            <a:endCxn id="36" idx="3"/>
          </p:cNvCxnSpPr>
          <p:nvPr/>
        </p:nvCxnSpPr>
        <p:spPr>
          <a:xfrm rot="16200000" flipH="1">
            <a:off x="9654686" y="4511186"/>
            <a:ext cx="788670" cy="18758"/>
          </a:xfrm>
          <a:prstGeom prst="bentConnector4">
            <a:avLst>
              <a:gd name="adj1" fmla="val -576"/>
              <a:gd name="adj2" fmla="val 1318680"/>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Démarche de réalisation</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21 / 36</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07777"/>
          </a:xfrm>
          <a:prstGeom prst="rect">
            <a:avLst/>
          </a:prstGeom>
          <a:noFill/>
        </p:spPr>
        <p:txBody>
          <a:bodyPr wrap="square">
            <a:spAutoFit/>
          </a:bodyPr>
          <a:lstStyle/>
          <a:p>
            <a:pPr algn="ctr">
              <a:defRPr sz="1400" b="0" i="1">
                <a:solidFill>
                  <a:srgbClr val="666666"/>
                </a:solidFill>
              </a:defRPr>
            </a:pPr>
            <a:r>
              <a:rPr lang="fr-CH" dirty="0"/>
              <a:t>Environnements Azure : </a:t>
            </a:r>
            <a:endParaRPr dirty="0"/>
          </a:p>
        </p:txBody>
      </p:sp>
      <p:pic>
        <p:nvPicPr>
          <p:cNvPr id="47" name="Image 46">
            <a:extLst>
              <a:ext uri="{FF2B5EF4-FFF2-40B4-BE49-F238E27FC236}">
                <a16:creationId xmlns:a16="http://schemas.microsoft.com/office/drawing/2014/main" id="{BFA28BE1-AF6D-4905-ADFE-ADA659D649FE}"/>
              </a:ext>
            </a:extLst>
          </p:cNvPr>
          <p:cNvPicPr>
            <a:picLocks noChangeAspect="1"/>
          </p:cNvPicPr>
          <p:nvPr/>
        </p:nvPicPr>
        <p:blipFill>
          <a:blip r:embed="rId2"/>
          <a:stretch>
            <a:fillRect/>
          </a:stretch>
        </p:blipFill>
        <p:spPr>
          <a:xfrm>
            <a:off x="1143063" y="2114119"/>
            <a:ext cx="9801297" cy="3943379"/>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8078940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lang="fr-CH" dirty="0"/>
              <a:t>1 - </a:t>
            </a:r>
            <a:r>
              <a:rPr dirty="0" err="1"/>
              <a:t>Modernisation</a:t>
            </a:r>
            <a:r>
              <a:rPr dirty="0"/>
              <a:t> du socle technique</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22 / 36</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07777"/>
          </a:xfrm>
          <a:prstGeom prst="rect">
            <a:avLst/>
          </a:prstGeom>
          <a:noFill/>
        </p:spPr>
        <p:txBody>
          <a:bodyPr wrap="square">
            <a:spAutoFit/>
          </a:bodyPr>
          <a:lstStyle/>
          <a:p>
            <a:pPr algn="ctr">
              <a:defRPr sz="1400" b="0" i="1">
                <a:solidFill>
                  <a:srgbClr val="666666"/>
                </a:solidFill>
              </a:defRPr>
            </a:pPr>
            <a:r>
              <a:rPr dirty="0" err="1"/>
              <a:t>montées</a:t>
            </a:r>
            <a:r>
              <a:rPr dirty="0"/>
              <a:t> de version </a:t>
            </a:r>
            <a:r>
              <a:rPr dirty="0" err="1"/>
              <a:t>incrémentales</a:t>
            </a:r>
            <a:endParaRPr dirty="0"/>
          </a:p>
        </p:txBody>
      </p:sp>
      <p:sp>
        <p:nvSpPr>
          <p:cNvPr id="10" name="Rectangle 9"/>
          <p:cNvSpPr/>
          <p:nvPr/>
        </p:nvSpPr>
        <p:spPr>
          <a:xfrm>
            <a:off x="731520" y="1828800"/>
            <a:ext cx="10698480" cy="4572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1874519"/>
            <a:ext cx="2103120" cy="365760"/>
          </a:xfrm>
          <a:prstGeom prst="rect">
            <a:avLst/>
          </a:prstGeom>
          <a:noFill/>
        </p:spPr>
        <p:txBody>
          <a:bodyPr wrap="square">
            <a:spAutoFit/>
          </a:bodyPr>
          <a:lstStyle/>
          <a:p>
            <a:pPr algn="l">
              <a:defRPr sz="1200" b="1" i="0">
                <a:solidFill>
                  <a:srgbClr val="FFFFFF"/>
                </a:solidFill>
              </a:defRPr>
            </a:pPr>
            <a:r>
              <a:t>Composant</a:t>
            </a:r>
          </a:p>
        </p:txBody>
      </p:sp>
      <p:sp>
        <p:nvSpPr>
          <p:cNvPr id="12" name="TextBox 11"/>
          <p:cNvSpPr txBox="1"/>
          <p:nvPr/>
        </p:nvSpPr>
        <p:spPr>
          <a:xfrm>
            <a:off x="3474720" y="1874519"/>
            <a:ext cx="2103120" cy="365760"/>
          </a:xfrm>
          <a:prstGeom prst="rect">
            <a:avLst/>
          </a:prstGeom>
          <a:noFill/>
        </p:spPr>
        <p:txBody>
          <a:bodyPr wrap="square">
            <a:spAutoFit/>
          </a:bodyPr>
          <a:lstStyle/>
          <a:p>
            <a:pPr algn="l">
              <a:defRPr sz="1200" b="1" i="0">
                <a:solidFill>
                  <a:srgbClr val="FFFFFF"/>
                </a:solidFill>
              </a:defRPr>
            </a:pPr>
            <a:r>
              <a:t>Avant</a:t>
            </a:r>
          </a:p>
        </p:txBody>
      </p:sp>
      <p:sp>
        <p:nvSpPr>
          <p:cNvPr id="13" name="TextBox 12"/>
          <p:cNvSpPr txBox="1"/>
          <p:nvPr/>
        </p:nvSpPr>
        <p:spPr>
          <a:xfrm>
            <a:off x="6035040" y="1874519"/>
            <a:ext cx="2103120" cy="365760"/>
          </a:xfrm>
          <a:prstGeom prst="rect">
            <a:avLst/>
          </a:prstGeom>
          <a:noFill/>
        </p:spPr>
        <p:txBody>
          <a:bodyPr wrap="square">
            <a:spAutoFit/>
          </a:bodyPr>
          <a:lstStyle/>
          <a:p>
            <a:pPr algn="l">
              <a:defRPr sz="1200" b="1" i="0">
                <a:solidFill>
                  <a:srgbClr val="FFFFFF"/>
                </a:solidFill>
              </a:defRPr>
            </a:pPr>
            <a:r>
              <a:t>Après</a:t>
            </a:r>
          </a:p>
        </p:txBody>
      </p:sp>
      <p:sp>
        <p:nvSpPr>
          <p:cNvPr id="14" name="TextBox 13"/>
          <p:cNvSpPr txBox="1"/>
          <p:nvPr/>
        </p:nvSpPr>
        <p:spPr>
          <a:xfrm>
            <a:off x="8595360" y="1874519"/>
            <a:ext cx="2743200" cy="365760"/>
          </a:xfrm>
          <a:prstGeom prst="rect">
            <a:avLst/>
          </a:prstGeom>
          <a:noFill/>
        </p:spPr>
        <p:txBody>
          <a:bodyPr wrap="square">
            <a:spAutoFit/>
          </a:bodyPr>
          <a:lstStyle/>
          <a:p>
            <a:pPr algn="l">
              <a:defRPr sz="1200" b="1" i="0">
                <a:solidFill>
                  <a:srgbClr val="FFFFFF"/>
                </a:solidFill>
              </a:defRPr>
            </a:pPr>
            <a:r>
              <a:t>Enjeu principal</a:t>
            </a:r>
          </a:p>
        </p:txBody>
      </p:sp>
      <p:sp>
        <p:nvSpPr>
          <p:cNvPr id="15" name="Rectangle 14"/>
          <p:cNvSpPr/>
          <p:nvPr/>
        </p:nvSpPr>
        <p:spPr>
          <a:xfrm>
            <a:off x="731520" y="2286000"/>
            <a:ext cx="10698480" cy="457200"/>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2377440"/>
            <a:ext cx="2560320" cy="365760"/>
          </a:xfrm>
          <a:prstGeom prst="rect">
            <a:avLst/>
          </a:prstGeom>
          <a:noFill/>
        </p:spPr>
        <p:txBody>
          <a:bodyPr wrap="square">
            <a:spAutoFit/>
          </a:bodyPr>
          <a:lstStyle/>
          <a:p>
            <a:pPr algn="l">
              <a:defRPr sz="1100" b="1" i="0">
                <a:solidFill>
                  <a:srgbClr val="003366"/>
                </a:solidFill>
              </a:defRPr>
            </a:pPr>
            <a:r>
              <a:t>Front-end</a:t>
            </a:r>
          </a:p>
        </p:txBody>
      </p:sp>
      <p:sp>
        <p:nvSpPr>
          <p:cNvPr id="17" name="TextBox 16"/>
          <p:cNvSpPr txBox="1"/>
          <p:nvPr/>
        </p:nvSpPr>
        <p:spPr>
          <a:xfrm>
            <a:off x="3474720" y="2377440"/>
            <a:ext cx="2560320" cy="365760"/>
          </a:xfrm>
          <a:prstGeom prst="rect">
            <a:avLst/>
          </a:prstGeom>
          <a:noFill/>
        </p:spPr>
        <p:txBody>
          <a:bodyPr wrap="square">
            <a:spAutoFit/>
          </a:bodyPr>
          <a:lstStyle/>
          <a:p>
            <a:pPr algn="l">
              <a:defRPr sz="1100" b="0" i="0">
                <a:solidFill>
                  <a:srgbClr val="666666"/>
                </a:solidFill>
              </a:defRPr>
            </a:pPr>
            <a:r>
              <a:t>Angular 14.2</a:t>
            </a:r>
          </a:p>
        </p:txBody>
      </p:sp>
      <p:sp>
        <p:nvSpPr>
          <p:cNvPr id="18" name="TextBox 17"/>
          <p:cNvSpPr txBox="1"/>
          <p:nvPr/>
        </p:nvSpPr>
        <p:spPr>
          <a:xfrm>
            <a:off x="6035040" y="2377440"/>
            <a:ext cx="2560320" cy="365760"/>
          </a:xfrm>
          <a:prstGeom prst="rect">
            <a:avLst/>
          </a:prstGeom>
          <a:noFill/>
        </p:spPr>
        <p:txBody>
          <a:bodyPr wrap="square">
            <a:spAutoFit/>
          </a:bodyPr>
          <a:lstStyle/>
          <a:p>
            <a:pPr algn="l">
              <a:defRPr sz="1100" b="1" i="0">
                <a:solidFill>
                  <a:srgbClr val="2E8B3D"/>
                </a:solidFill>
              </a:defRPr>
            </a:pPr>
            <a:r>
              <a:t>Angular 20.0</a:t>
            </a:r>
          </a:p>
        </p:txBody>
      </p:sp>
      <p:sp>
        <p:nvSpPr>
          <p:cNvPr id="19" name="TextBox 18"/>
          <p:cNvSpPr txBox="1"/>
          <p:nvPr/>
        </p:nvSpPr>
        <p:spPr>
          <a:xfrm>
            <a:off x="8595360" y="2377440"/>
            <a:ext cx="2743200" cy="365760"/>
          </a:xfrm>
          <a:prstGeom prst="rect">
            <a:avLst/>
          </a:prstGeom>
          <a:noFill/>
        </p:spPr>
        <p:txBody>
          <a:bodyPr wrap="square">
            <a:spAutoFit/>
          </a:bodyPr>
          <a:lstStyle/>
          <a:p>
            <a:pPr algn="l">
              <a:defRPr sz="1000" b="0" i="0">
                <a:solidFill>
                  <a:srgbClr val="333333"/>
                </a:solidFill>
              </a:defRPr>
            </a:pPr>
            <a:r>
              <a:t>Support actif, correctifs de sécurité</a:t>
            </a:r>
          </a:p>
        </p:txBody>
      </p:sp>
      <p:sp>
        <p:nvSpPr>
          <p:cNvPr id="20" name="Rectangle 19"/>
          <p:cNvSpPr/>
          <p:nvPr/>
        </p:nvSpPr>
        <p:spPr>
          <a:xfrm>
            <a:off x="731520" y="2788920"/>
            <a:ext cx="10698480" cy="45720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2880360"/>
            <a:ext cx="2560320" cy="365760"/>
          </a:xfrm>
          <a:prstGeom prst="rect">
            <a:avLst/>
          </a:prstGeom>
          <a:noFill/>
        </p:spPr>
        <p:txBody>
          <a:bodyPr wrap="square">
            <a:spAutoFit/>
          </a:bodyPr>
          <a:lstStyle/>
          <a:p>
            <a:pPr algn="l">
              <a:defRPr sz="1100" b="1" i="0">
                <a:solidFill>
                  <a:srgbClr val="003366"/>
                </a:solidFill>
              </a:defRPr>
            </a:pPr>
            <a:r>
              <a:t>Back-end</a:t>
            </a:r>
          </a:p>
        </p:txBody>
      </p:sp>
      <p:sp>
        <p:nvSpPr>
          <p:cNvPr id="22" name="TextBox 21"/>
          <p:cNvSpPr txBox="1"/>
          <p:nvPr/>
        </p:nvSpPr>
        <p:spPr>
          <a:xfrm>
            <a:off x="3474720" y="2880360"/>
            <a:ext cx="2560320" cy="365760"/>
          </a:xfrm>
          <a:prstGeom prst="rect">
            <a:avLst/>
          </a:prstGeom>
          <a:noFill/>
        </p:spPr>
        <p:txBody>
          <a:bodyPr wrap="square">
            <a:spAutoFit/>
          </a:bodyPr>
          <a:lstStyle/>
          <a:p>
            <a:pPr algn="l">
              <a:defRPr sz="1100" b="0" i="0">
                <a:solidFill>
                  <a:srgbClr val="666666"/>
                </a:solidFill>
              </a:defRPr>
            </a:pPr>
            <a:r>
              <a:t>.NET 6.0</a:t>
            </a:r>
          </a:p>
        </p:txBody>
      </p:sp>
      <p:sp>
        <p:nvSpPr>
          <p:cNvPr id="23" name="TextBox 22"/>
          <p:cNvSpPr txBox="1"/>
          <p:nvPr/>
        </p:nvSpPr>
        <p:spPr>
          <a:xfrm>
            <a:off x="6035040" y="2880360"/>
            <a:ext cx="2560320" cy="365760"/>
          </a:xfrm>
          <a:prstGeom prst="rect">
            <a:avLst/>
          </a:prstGeom>
          <a:noFill/>
        </p:spPr>
        <p:txBody>
          <a:bodyPr wrap="square">
            <a:spAutoFit/>
          </a:bodyPr>
          <a:lstStyle/>
          <a:p>
            <a:pPr algn="l">
              <a:defRPr sz="1100" b="1" i="0">
                <a:solidFill>
                  <a:srgbClr val="2E8B3D"/>
                </a:solidFill>
              </a:defRPr>
            </a:pPr>
            <a:r>
              <a:t>.NET 10.0</a:t>
            </a:r>
          </a:p>
        </p:txBody>
      </p:sp>
      <p:sp>
        <p:nvSpPr>
          <p:cNvPr id="24" name="TextBox 23"/>
          <p:cNvSpPr txBox="1"/>
          <p:nvPr/>
        </p:nvSpPr>
        <p:spPr>
          <a:xfrm>
            <a:off x="8595360" y="2880360"/>
            <a:ext cx="2743200" cy="365760"/>
          </a:xfrm>
          <a:prstGeom prst="rect">
            <a:avLst/>
          </a:prstGeom>
          <a:noFill/>
        </p:spPr>
        <p:txBody>
          <a:bodyPr wrap="square">
            <a:spAutoFit/>
          </a:bodyPr>
          <a:lstStyle/>
          <a:p>
            <a:pPr algn="l">
              <a:defRPr sz="1000" b="0" i="0">
                <a:solidFill>
                  <a:srgbClr val="333333"/>
                </a:solidFill>
              </a:defRPr>
            </a:pPr>
            <a:r>
              <a:t>Support actif, performances</a:t>
            </a:r>
          </a:p>
        </p:txBody>
      </p:sp>
      <p:sp>
        <p:nvSpPr>
          <p:cNvPr id="25" name="Rectangle 24"/>
          <p:cNvSpPr/>
          <p:nvPr/>
        </p:nvSpPr>
        <p:spPr>
          <a:xfrm>
            <a:off x="731520" y="3291840"/>
            <a:ext cx="10698480" cy="457200"/>
          </a:xfrm>
          <a:prstGeom prst="rect">
            <a:avLst/>
          </a:prstGeom>
          <a:solidFill>
            <a:srgbClr val="F0F0F0"/>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4400" y="3383280"/>
            <a:ext cx="2560320" cy="365760"/>
          </a:xfrm>
          <a:prstGeom prst="rect">
            <a:avLst/>
          </a:prstGeom>
          <a:noFill/>
        </p:spPr>
        <p:txBody>
          <a:bodyPr wrap="square">
            <a:spAutoFit/>
          </a:bodyPr>
          <a:lstStyle/>
          <a:p>
            <a:pPr algn="l">
              <a:defRPr sz="1100" b="1" i="0">
                <a:solidFill>
                  <a:srgbClr val="003366"/>
                </a:solidFill>
              </a:defRPr>
            </a:pPr>
            <a:r>
              <a:t>Accès données</a:t>
            </a:r>
          </a:p>
        </p:txBody>
      </p:sp>
      <p:sp>
        <p:nvSpPr>
          <p:cNvPr id="27" name="TextBox 26"/>
          <p:cNvSpPr txBox="1"/>
          <p:nvPr/>
        </p:nvSpPr>
        <p:spPr>
          <a:xfrm>
            <a:off x="3474720" y="3383280"/>
            <a:ext cx="2560320" cy="365760"/>
          </a:xfrm>
          <a:prstGeom prst="rect">
            <a:avLst/>
          </a:prstGeom>
          <a:noFill/>
        </p:spPr>
        <p:txBody>
          <a:bodyPr wrap="square">
            <a:spAutoFit/>
          </a:bodyPr>
          <a:lstStyle/>
          <a:p>
            <a:pPr algn="l">
              <a:defRPr sz="1100" b="0" i="0">
                <a:solidFill>
                  <a:srgbClr val="666666"/>
                </a:solidFill>
              </a:defRPr>
            </a:pPr>
            <a:r>
              <a:t>EF Core 6.0.35</a:t>
            </a:r>
          </a:p>
        </p:txBody>
      </p:sp>
      <p:sp>
        <p:nvSpPr>
          <p:cNvPr id="28" name="TextBox 27"/>
          <p:cNvSpPr txBox="1"/>
          <p:nvPr/>
        </p:nvSpPr>
        <p:spPr>
          <a:xfrm>
            <a:off x="6035040" y="3383280"/>
            <a:ext cx="2560320" cy="365760"/>
          </a:xfrm>
          <a:prstGeom prst="rect">
            <a:avLst/>
          </a:prstGeom>
          <a:noFill/>
        </p:spPr>
        <p:txBody>
          <a:bodyPr wrap="square">
            <a:spAutoFit/>
          </a:bodyPr>
          <a:lstStyle/>
          <a:p>
            <a:pPr algn="l">
              <a:defRPr sz="1100" b="1" i="0">
                <a:solidFill>
                  <a:srgbClr val="2E8B3D"/>
                </a:solidFill>
              </a:defRPr>
            </a:pPr>
            <a:r>
              <a:t>EF Core 10.0.5</a:t>
            </a:r>
          </a:p>
        </p:txBody>
      </p:sp>
      <p:sp>
        <p:nvSpPr>
          <p:cNvPr id="29" name="TextBox 28"/>
          <p:cNvSpPr txBox="1"/>
          <p:nvPr/>
        </p:nvSpPr>
        <p:spPr>
          <a:xfrm>
            <a:off x="8595360" y="3383280"/>
            <a:ext cx="2743200" cy="365760"/>
          </a:xfrm>
          <a:prstGeom prst="rect">
            <a:avLst/>
          </a:prstGeom>
          <a:noFill/>
        </p:spPr>
        <p:txBody>
          <a:bodyPr wrap="square">
            <a:spAutoFit/>
          </a:bodyPr>
          <a:lstStyle/>
          <a:p>
            <a:pPr algn="l">
              <a:defRPr sz="1000" b="0" i="0">
                <a:solidFill>
                  <a:srgbClr val="333333"/>
                </a:solidFill>
              </a:defRPr>
            </a:pPr>
            <a:r>
              <a:t>Cohérence avec .NET 10, requêtes fractionnées</a:t>
            </a:r>
          </a:p>
        </p:txBody>
      </p:sp>
      <p:sp>
        <p:nvSpPr>
          <p:cNvPr id="30" name="Rectangle 29"/>
          <p:cNvSpPr/>
          <p:nvPr/>
        </p:nvSpPr>
        <p:spPr>
          <a:xfrm>
            <a:off x="731520" y="3794760"/>
            <a:ext cx="10698480" cy="457200"/>
          </a:xfrm>
          <a:prstGeom prst="rect">
            <a:avLst/>
          </a:prstGeom>
          <a:solidFill>
            <a:srgbClr val="FFFFFF"/>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14400" y="3886200"/>
            <a:ext cx="2560320" cy="365760"/>
          </a:xfrm>
          <a:prstGeom prst="rect">
            <a:avLst/>
          </a:prstGeom>
          <a:noFill/>
        </p:spPr>
        <p:txBody>
          <a:bodyPr wrap="square">
            <a:spAutoFit/>
          </a:bodyPr>
          <a:lstStyle/>
          <a:p>
            <a:pPr algn="l">
              <a:defRPr sz="1100" b="1" i="0">
                <a:solidFill>
                  <a:srgbClr val="003366"/>
                </a:solidFill>
              </a:defRPr>
            </a:pPr>
            <a:r>
              <a:t>Format projet</a:t>
            </a:r>
          </a:p>
        </p:txBody>
      </p:sp>
      <p:sp>
        <p:nvSpPr>
          <p:cNvPr id="32" name="TextBox 31"/>
          <p:cNvSpPr txBox="1"/>
          <p:nvPr/>
        </p:nvSpPr>
        <p:spPr>
          <a:xfrm>
            <a:off x="3474720" y="3886200"/>
            <a:ext cx="2560320" cy="365760"/>
          </a:xfrm>
          <a:prstGeom prst="rect">
            <a:avLst/>
          </a:prstGeom>
          <a:noFill/>
        </p:spPr>
        <p:txBody>
          <a:bodyPr wrap="square">
            <a:spAutoFit/>
          </a:bodyPr>
          <a:lstStyle/>
          <a:p>
            <a:pPr algn="l">
              <a:defRPr sz="1100" b="0" i="0">
                <a:solidFill>
                  <a:srgbClr val="666666"/>
                </a:solidFill>
              </a:defRPr>
            </a:pPr>
            <a:r>
              <a:t>packages.config</a:t>
            </a:r>
          </a:p>
        </p:txBody>
      </p:sp>
      <p:sp>
        <p:nvSpPr>
          <p:cNvPr id="33" name="TextBox 32"/>
          <p:cNvSpPr txBox="1"/>
          <p:nvPr/>
        </p:nvSpPr>
        <p:spPr>
          <a:xfrm>
            <a:off x="6035040" y="3886200"/>
            <a:ext cx="2560320" cy="365760"/>
          </a:xfrm>
          <a:prstGeom prst="rect">
            <a:avLst/>
          </a:prstGeom>
          <a:noFill/>
        </p:spPr>
        <p:txBody>
          <a:bodyPr wrap="square">
            <a:spAutoFit/>
          </a:bodyPr>
          <a:lstStyle/>
          <a:p>
            <a:pPr algn="l">
              <a:defRPr sz="1100" b="1" i="0">
                <a:solidFill>
                  <a:srgbClr val="2E8B3D"/>
                </a:solidFill>
              </a:defRPr>
            </a:pPr>
            <a:r>
              <a:t>SDK-style</a:t>
            </a:r>
          </a:p>
        </p:txBody>
      </p:sp>
      <p:sp>
        <p:nvSpPr>
          <p:cNvPr id="34" name="TextBox 33"/>
          <p:cNvSpPr txBox="1"/>
          <p:nvPr/>
        </p:nvSpPr>
        <p:spPr>
          <a:xfrm>
            <a:off x="8595360" y="3886200"/>
            <a:ext cx="2743200" cy="365760"/>
          </a:xfrm>
          <a:prstGeom prst="rect">
            <a:avLst/>
          </a:prstGeom>
          <a:noFill/>
        </p:spPr>
        <p:txBody>
          <a:bodyPr wrap="square">
            <a:spAutoFit/>
          </a:bodyPr>
          <a:lstStyle/>
          <a:p>
            <a:pPr algn="l">
              <a:defRPr sz="1000" b="0" i="0">
                <a:solidFill>
                  <a:srgbClr val="333333"/>
                </a:solidFill>
              </a:defRPr>
            </a:pPr>
            <a:r>
              <a:t>Gestion transitive des dépendances</a:t>
            </a:r>
          </a:p>
        </p:txBody>
      </p:sp>
      <p:sp>
        <p:nvSpPr>
          <p:cNvPr id="35" name="TextBox 34"/>
          <p:cNvSpPr txBox="1"/>
          <p:nvPr/>
        </p:nvSpPr>
        <p:spPr>
          <a:xfrm>
            <a:off x="731520" y="4754880"/>
            <a:ext cx="10698480" cy="365760"/>
          </a:xfrm>
          <a:prstGeom prst="rect">
            <a:avLst/>
          </a:prstGeom>
          <a:noFill/>
        </p:spPr>
        <p:txBody>
          <a:bodyPr wrap="square">
            <a:spAutoFit/>
          </a:bodyPr>
          <a:lstStyle/>
          <a:p>
            <a:pPr algn="l">
              <a:defRPr sz="1500" b="1" i="0">
                <a:solidFill>
                  <a:srgbClr val="003366"/>
                </a:solidFill>
              </a:defRPr>
            </a:pPr>
            <a:r>
              <a:t>Points clés de la migration</a:t>
            </a:r>
          </a:p>
        </p:txBody>
      </p:sp>
      <p:sp>
        <p:nvSpPr>
          <p:cNvPr id="36" name="Oval 35"/>
          <p:cNvSpPr/>
          <p:nvPr/>
        </p:nvSpPr>
        <p:spPr>
          <a:xfrm>
            <a:off x="822960" y="5303520"/>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97280" y="5212080"/>
            <a:ext cx="3657600" cy="320040"/>
          </a:xfrm>
          <a:prstGeom prst="rect">
            <a:avLst/>
          </a:prstGeom>
          <a:noFill/>
        </p:spPr>
        <p:txBody>
          <a:bodyPr wrap="square">
            <a:spAutoFit/>
          </a:bodyPr>
          <a:lstStyle/>
          <a:p>
            <a:pPr algn="l">
              <a:defRPr sz="1100" b="1" i="0">
                <a:solidFill>
                  <a:srgbClr val="003366"/>
                </a:solidFill>
              </a:defRPr>
            </a:pPr>
            <a:r>
              <a:t>Migration palier par palier</a:t>
            </a:r>
          </a:p>
        </p:txBody>
      </p:sp>
      <p:sp>
        <p:nvSpPr>
          <p:cNvPr id="38" name="TextBox 37"/>
          <p:cNvSpPr txBox="1"/>
          <p:nvPr/>
        </p:nvSpPr>
        <p:spPr>
          <a:xfrm>
            <a:off x="4846320" y="5212080"/>
            <a:ext cx="6858000" cy="320040"/>
          </a:xfrm>
          <a:prstGeom prst="rect">
            <a:avLst/>
          </a:prstGeom>
          <a:noFill/>
        </p:spPr>
        <p:txBody>
          <a:bodyPr wrap="square">
            <a:spAutoFit/>
          </a:bodyPr>
          <a:lstStyle/>
          <a:p>
            <a:pPr algn="l">
              <a:defRPr sz="1100" b="0" i="0">
                <a:solidFill>
                  <a:srgbClr val="666666"/>
                </a:solidFill>
              </a:defRPr>
            </a:pPr>
            <a:r>
              <a:t>14 → 15 → … → 20 pour Angular ; 6 → 8 → 10 pour .NET</a:t>
            </a:r>
          </a:p>
        </p:txBody>
      </p:sp>
      <p:sp>
        <p:nvSpPr>
          <p:cNvPr id="39" name="Oval 38"/>
          <p:cNvSpPr/>
          <p:nvPr/>
        </p:nvSpPr>
        <p:spPr>
          <a:xfrm>
            <a:off x="822960" y="5669280"/>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97280" y="5577840"/>
            <a:ext cx="3657600" cy="320040"/>
          </a:xfrm>
          <a:prstGeom prst="rect">
            <a:avLst/>
          </a:prstGeom>
          <a:noFill/>
        </p:spPr>
        <p:txBody>
          <a:bodyPr wrap="square">
            <a:spAutoFit/>
          </a:bodyPr>
          <a:lstStyle/>
          <a:p>
            <a:pPr algn="l">
              <a:defRPr sz="1100" b="1" i="0">
                <a:solidFill>
                  <a:srgbClr val="003366"/>
                </a:solidFill>
              </a:defRPr>
            </a:pPr>
            <a:r>
              <a:t>Versions finales uniquement</a:t>
            </a:r>
          </a:p>
        </p:txBody>
      </p:sp>
      <p:sp>
        <p:nvSpPr>
          <p:cNvPr id="41" name="TextBox 40"/>
          <p:cNvSpPr txBox="1"/>
          <p:nvPr/>
        </p:nvSpPr>
        <p:spPr>
          <a:xfrm>
            <a:off x="4846320" y="5577840"/>
            <a:ext cx="6858000" cy="320040"/>
          </a:xfrm>
          <a:prstGeom prst="rect">
            <a:avLst/>
          </a:prstGeom>
          <a:noFill/>
        </p:spPr>
        <p:txBody>
          <a:bodyPr wrap="square">
            <a:spAutoFit/>
          </a:bodyPr>
          <a:lstStyle/>
          <a:p>
            <a:pPr algn="l">
              <a:defRPr sz="1100" b="0" i="0">
                <a:solidFill>
                  <a:srgbClr val="666666"/>
                </a:solidFill>
              </a:defRPr>
            </a:pPr>
            <a:r>
              <a:t>Aucune préversion : condition posée par le service pour production</a:t>
            </a:r>
          </a:p>
        </p:txBody>
      </p:sp>
      <p:sp>
        <p:nvSpPr>
          <p:cNvPr id="42" name="Oval 41"/>
          <p:cNvSpPr/>
          <p:nvPr/>
        </p:nvSpPr>
        <p:spPr>
          <a:xfrm>
            <a:off x="822960" y="6035040"/>
            <a:ext cx="137160" cy="13716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97280" y="5943600"/>
            <a:ext cx="3657600" cy="320040"/>
          </a:xfrm>
          <a:prstGeom prst="rect">
            <a:avLst/>
          </a:prstGeom>
          <a:noFill/>
        </p:spPr>
        <p:txBody>
          <a:bodyPr wrap="square">
            <a:spAutoFit/>
          </a:bodyPr>
          <a:lstStyle/>
          <a:p>
            <a:pPr algn="l">
              <a:defRPr sz="1100" b="1" i="0">
                <a:solidFill>
                  <a:srgbClr val="003366"/>
                </a:solidFill>
              </a:defRPr>
            </a:pPr>
            <a:r>
              <a:t>Mise en conformité REST</a:t>
            </a:r>
          </a:p>
        </p:txBody>
      </p:sp>
      <p:sp>
        <p:nvSpPr>
          <p:cNvPr id="44" name="TextBox 43"/>
          <p:cNvSpPr txBox="1"/>
          <p:nvPr/>
        </p:nvSpPr>
        <p:spPr>
          <a:xfrm>
            <a:off x="4846320" y="5943600"/>
            <a:ext cx="6858000" cy="320040"/>
          </a:xfrm>
          <a:prstGeom prst="rect">
            <a:avLst/>
          </a:prstGeom>
          <a:noFill/>
        </p:spPr>
        <p:txBody>
          <a:bodyPr wrap="square">
            <a:spAutoFit/>
          </a:bodyPr>
          <a:lstStyle/>
          <a:p>
            <a:pPr algn="l">
              <a:defRPr sz="1100" b="0" i="0">
                <a:solidFill>
                  <a:srgbClr val="666666"/>
                </a:solidFill>
              </a:defRPr>
            </a:pPr>
            <a:r>
              <a:t>Réorganisation par ressource, verbes HTTP corrects, secrets retirés des réponses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lang="fr-CH" dirty="0"/>
              <a:t>2- </a:t>
            </a:r>
            <a:r>
              <a:rPr dirty="0" err="1"/>
              <a:t>Refonte</a:t>
            </a:r>
            <a:r>
              <a:rPr dirty="0"/>
              <a:t> du </a:t>
            </a:r>
            <a:r>
              <a:rPr dirty="0" err="1"/>
              <a:t>modèle</a:t>
            </a:r>
            <a:r>
              <a:rPr dirty="0"/>
              <a:t> de </a:t>
            </a:r>
            <a:r>
              <a:rPr dirty="0" err="1"/>
              <a:t>données</a:t>
            </a:r>
            <a:r>
              <a:rPr dirty="0"/>
              <a:t> - </a:t>
            </a:r>
            <a:r>
              <a:rPr dirty="0" err="1"/>
              <a:t>Diagnosti</a:t>
            </a:r>
            <a:r>
              <a:rPr lang="fr-CH" dirty="0"/>
              <a:t>que</a:t>
            </a:r>
            <a:endParaRPr dirty="0"/>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23 / 36</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pic>
        <p:nvPicPr>
          <p:cNvPr id="30" name="Image 29">
            <a:extLst>
              <a:ext uri="{FF2B5EF4-FFF2-40B4-BE49-F238E27FC236}">
                <a16:creationId xmlns:a16="http://schemas.microsoft.com/office/drawing/2014/main" id="{00139A5C-402E-484A-9B36-63EEDA06E515}"/>
              </a:ext>
            </a:extLst>
          </p:cNvPr>
          <p:cNvPicPr>
            <a:picLocks noChangeAspect="1"/>
          </p:cNvPicPr>
          <p:nvPr/>
        </p:nvPicPr>
        <p:blipFill>
          <a:blip r:embed="rId2"/>
          <a:stretch>
            <a:fillRect/>
          </a:stretch>
        </p:blipFill>
        <p:spPr>
          <a:xfrm>
            <a:off x="1871663" y="1133856"/>
            <a:ext cx="8345259" cy="5200955"/>
          </a:xfrm>
          <a:prstGeom prst="rect">
            <a:avLst/>
          </a:prstGeom>
        </p:spPr>
      </p:pic>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3401094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dirty="0"/>
              <a:t>Anomalies </a:t>
            </a:r>
            <a:r>
              <a:rPr dirty="0" err="1"/>
              <a:t>détectées</a:t>
            </a:r>
            <a:r>
              <a:rPr dirty="0"/>
              <a:t> dans le </a:t>
            </a:r>
            <a:r>
              <a:rPr dirty="0" err="1"/>
              <a:t>modèle</a:t>
            </a:r>
            <a:r>
              <a:rPr dirty="0"/>
              <a:t> initial</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24 / 36</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457200" y="1280160"/>
            <a:ext cx="11247120" cy="320040"/>
          </a:xfrm>
          <a:prstGeom prst="rect">
            <a:avLst/>
          </a:prstGeom>
          <a:noFill/>
        </p:spPr>
        <p:txBody>
          <a:bodyPr wrap="square">
            <a:spAutoFit/>
          </a:bodyPr>
          <a:lstStyle/>
          <a:p>
            <a:pPr algn="ctr">
              <a:defRPr sz="1300" b="0" i="1">
                <a:solidFill>
                  <a:srgbClr val="666666"/>
                </a:solidFill>
              </a:defRPr>
            </a:pPr>
            <a:r>
              <a:t>4 problèmes structurels identifiés sur les données réelles</a:t>
            </a:r>
          </a:p>
        </p:txBody>
      </p:sp>
      <p:sp>
        <p:nvSpPr>
          <p:cNvPr id="10" name="Rounded Rectangle 9"/>
          <p:cNvSpPr/>
          <p:nvPr/>
        </p:nvSpPr>
        <p:spPr>
          <a:xfrm>
            <a:off x="365760" y="1828800"/>
            <a:ext cx="5669280" cy="214884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48640" y="2011680"/>
            <a:ext cx="411480" cy="41148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1</a:t>
            </a:r>
          </a:p>
        </p:txBody>
      </p:sp>
      <p:sp>
        <p:nvSpPr>
          <p:cNvPr id="12" name="TextBox 11"/>
          <p:cNvSpPr txBox="1"/>
          <p:nvPr/>
        </p:nvSpPr>
        <p:spPr>
          <a:xfrm>
            <a:off x="1097280" y="1993392"/>
            <a:ext cx="4754880" cy="365760"/>
          </a:xfrm>
          <a:prstGeom prst="rect">
            <a:avLst/>
          </a:prstGeom>
          <a:noFill/>
        </p:spPr>
        <p:txBody>
          <a:bodyPr wrap="square">
            <a:spAutoFit/>
          </a:bodyPr>
          <a:lstStyle/>
          <a:p>
            <a:pPr algn="l">
              <a:defRPr sz="1300" b="1" i="0">
                <a:solidFill>
                  <a:srgbClr val="003366"/>
                </a:solidFill>
              </a:defRPr>
            </a:pPr>
            <a:r>
              <a:t>Ressources en texte libre</a:t>
            </a:r>
          </a:p>
        </p:txBody>
      </p:sp>
      <p:sp>
        <p:nvSpPr>
          <p:cNvPr id="13" name="TextBox 12"/>
          <p:cNvSpPr txBox="1"/>
          <p:nvPr/>
        </p:nvSpPr>
        <p:spPr>
          <a:xfrm>
            <a:off x="640080" y="2468880"/>
            <a:ext cx="5212080" cy="640080"/>
          </a:xfrm>
          <a:prstGeom prst="rect">
            <a:avLst/>
          </a:prstGeom>
          <a:noFill/>
        </p:spPr>
        <p:txBody>
          <a:bodyPr wrap="square">
            <a:spAutoFit/>
          </a:bodyPr>
          <a:lstStyle/>
          <a:p>
            <a:pPr algn="l">
              <a:defRPr sz="1000" b="0" i="0">
                <a:solidFill>
                  <a:srgbClr val="333333"/>
                </a:solidFill>
              </a:defRPr>
            </a:pPr>
            <a:r>
              <a:t>Les ressources techniques sont saisies dans des champs nvarchar libres, sans référentiel.</a:t>
            </a:r>
          </a:p>
        </p:txBody>
      </p:sp>
      <p:sp>
        <p:nvSpPr>
          <p:cNvPr id="14" name="Rectangle 13"/>
          <p:cNvSpPr/>
          <p:nvPr/>
        </p:nvSpPr>
        <p:spPr>
          <a:xfrm>
            <a:off x="640080" y="3108960"/>
            <a:ext cx="5212080" cy="777240"/>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wrap="square" lIns="73152" rtlCol="0" anchor="ctr"/>
          <a:lstStyle/>
          <a:p>
            <a:pPr algn="l">
              <a:defRPr sz="900" i="1">
                <a:solidFill>
                  <a:srgbClr val="004D99"/>
                </a:solidFill>
              </a:defRPr>
            </a:pPr>
            <a:r>
              <a:t>Exemple : « .NET Core », « .NET Standard » et « .NET » désignent la même technologie</a:t>
            </a:r>
          </a:p>
          <a:p>
            <a:pPr algn="l">
              <a:defRPr sz="900" i="1">
                <a:solidFill>
                  <a:srgbClr val="333333"/>
                </a:solidFill>
              </a:defRPr>
            </a:pPr>
            <a:r>
              <a:t>→ 3 lignes distinctes en base pour une seule réalité.</a:t>
            </a:r>
          </a:p>
        </p:txBody>
      </p:sp>
      <p:sp>
        <p:nvSpPr>
          <p:cNvPr id="15" name="Rounded Rectangle 14"/>
          <p:cNvSpPr/>
          <p:nvPr/>
        </p:nvSpPr>
        <p:spPr>
          <a:xfrm>
            <a:off x="6217920" y="1828800"/>
            <a:ext cx="5669280" cy="214884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400800" y="2011680"/>
            <a:ext cx="411480" cy="41148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2</a:t>
            </a:r>
          </a:p>
        </p:txBody>
      </p:sp>
      <p:sp>
        <p:nvSpPr>
          <p:cNvPr id="17" name="TextBox 16"/>
          <p:cNvSpPr txBox="1"/>
          <p:nvPr/>
        </p:nvSpPr>
        <p:spPr>
          <a:xfrm>
            <a:off x="6949440" y="1993392"/>
            <a:ext cx="4754880" cy="365760"/>
          </a:xfrm>
          <a:prstGeom prst="rect">
            <a:avLst/>
          </a:prstGeom>
          <a:noFill/>
        </p:spPr>
        <p:txBody>
          <a:bodyPr wrap="square">
            <a:spAutoFit/>
          </a:bodyPr>
          <a:lstStyle/>
          <a:p>
            <a:pPr algn="l">
              <a:defRPr sz="1300" b="1" i="0">
                <a:solidFill>
                  <a:srgbClr val="003366"/>
                </a:solidFill>
              </a:defRPr>
            </a:pPr>
            <a:r>
              <a:t>Absence de contraintes d'unicité</a:t>
            </a:r>
          </a:p>
        </p:txBody>
      </p:sp>
      <p:sp>
        <p:nvSpPr>
          <p:cNvPr id="18" name="TextBox 17"/>
          <p:cNvSpPr txBox="1"/>
          <p:nvPr/>
        </p:nvSpPr>
        <p:spPr>
          <a:xfrm>
            <a:off x="6492240" y="2468880"/>
            <a:ext cx="5212080" cy="640080"/>
          </a:xfrm>
          <a:prstGeom prst="rect">
            <a:avLst/>
          </a:prstGeom>
          <a:noFill/>
        </p:spPr>
        <p:txBody>
          <a:bodyPr wrap="square">
            <a:spAutoFit/>
          </a:bodyPr>
          <a:lstStyle/>
          <a:p>
            <a:pPr algn="l">
              <a:defRPr sz="1000" b="0" i="0">
                <a:solidFill>
                  <a:srgbClr val="333333"/>
                </a:solidFill>
              </a:defRPr>
            </a:pPr>
            <a:r>
              <a:t>7 tables de référence n'ont aucune contrainte UNIQUE sur leur identifiant métier.</a:t>
            </a:r>
          </a:p>
        </p:txBody>
      </p:sp>
      <p:sp>
        <p:nvSpPr>
          <p:cNvPr id="19" name="Rectangle 18"/>
          <p:cNvSpPr/>
          <p:nvPr/>
        </p:nvSpPr>
        <p:spPr>
          <a:xfrm>
            <a:off x="6492240" y="3108960"/>
            <a:ext cx="5212080" cy="777240"/>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wrap="square" lIns="73152" rtlCol="0" anchor="ctr"/>
          <a:lstStyle/>
          <a:p>
            <a:pPr algn="l">
              <a:defRPr sz="900" i="1">
                <a:solidFill>
                  <a:srgbClr val="004D99"/>
                </a:solidFill>
              </a:defRPr>
            </a:pPr>
            <a:r>
              <a:t>Exemple : « Azure Functions », « AzureFunctions », « Fonctions Azure »</a:t>
            </a:r>
          </a:p>
          <a:p>
            <a:pPr algn="l">
              <a:defRPr sz="900" i="1">
                <a:solidFill>
                  <a:srgbClr val="333333"/>
                </a:solidFill>
              </a:defRPr>
            </a:pPr>
            <a:r>
              <a:t>→ Le même service Azure existe en 3 exemplaires, casse la casse insensible.</a:t>
            </a:r>
          </a:p>
        </p:txBody>
      </p:sp>
      <p:sp>
        <p:nvSpPr>
          <p:cNvPr id="20" name="Rounded Rectangle 19"/>
          <p:cNvSpPr/>
          <p:nvPr/>
        </p:nvSpPr>
        <p:spPr>
          <a:xfrm>
            <a:off x="365760" y="4114800"/>
            <a:ext cx="5669280" cy="214884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548640" y="4297680"/>
            <a:ext cx="411480" cy="41148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3</a:t>
            </a:r>
          </a:p>
        </p:txBody>
      </p:sp>
      <p:sp>
        <p:nvSpPr>
          <p:cNvPr id="22" name="TextBox 21"/>
          <p:cNvSpPr txBox="1"/>
          <p:nvPr/>
        </p:nvSpPr>
        <p:spPr>
          <a:xfrm>
            <a:off x="1097280" y="4279392"/>
            <a:ext cx="4754880" cy="365760"/>
          </a:xfrm>
          <a:prstGeom prst="rect">
            <a:avLst/>
          </a:prstGeom>
          <a:noFill/>
        </p:spPr>
        <p:txBody>
          <a:bodyPr wrap="square">
            <a:spAutoFit/>
          </a:bodyPr>
          <a:lstStyle/>
          <a:p>
            <a:pPr algn="l">
              <a:defRPr sz="1300" b="1" i="0">
                <a:solidFill>
                  <a:srgbClr val="003366"/>
                </a:solidFill>
              </a:defRPr>
            </a:pPr>
            <a:r>
              <a:t>Tables d'association sans clé primaire</a:t>
            </a:r>
          </a:p>
        </p:txBody>
      </p:sp>
      <p:sp>
        <p:nvSpPr>
          <p:cNvPr id="23" name="TextBox 22"/>
          <p:cNvSpPr txBox="1"/>
          <p:nvPr/>
        </p:nvSpPr>
        <p:spPr>
          <a:xfrm>
            <a:off x="640080" y="4754880"/>
            <a:ext cx="5212080" cy="640080"/>
          </a:xfrm>
          <a:prstGeom prst="rect">
            <a:avLst/>
          </a:prstGeom>
          <a:noFill/>
        </p:spPr>
        <p:txBody>
          <a:bodyPr wrap="square">
            <a:spAutoFit/>
          </a:bodyPr>
          <a:lstStyle/>
          <a:p>
            <a:pPr algn="l">
              <a:defRPr sz="1000" b="0" i="0">
                <a:solidFill>
                  <a:srgbClr val="333333"/>
                </a:solidFill>
              </a:defRPr>
            </a:pPr>
            <a:r>
              <a:t>Certaines tables d'association ne portent aucune PK, aucun mécanisme d'unicité.</a:t>
            </a:r>
          </a:p>
        </p:txBody>
      </p:sp>
      <p:sp>
        <p:nvSpPr>
          <p:cNvPr id="24" name="Rectangle 23"/>
          <p:cNvSpPr/>
          <p:nvPr/>
        </p:nvSpPr>
        <p:spPr>
          <a:xfrm>
            <a:off x="640080" y="5394960"/>
            <a:ext cx="5212080" cy="777240"/>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wrap="square" lIns="73152" rtlCol="0" anchor="ctr"/>
          <a:lstStyle/>
          <a:p>
            <a:pPr algn="l">
              <a:defRPr sz="900" i="1">
                <a:solidFill>
                  <a:srgbClr val="004D99"/>
                </a:solidFill>
              </a:defRPr>
            </a:pPr>
            <a:r>
              <a:t>Exemple : AssocAppMod (Application ↔ Module) n'avait pas de PK</a:t>
            </a:r>
          </a:p>
          <a:p>
            <a:pPr algn="l">
              <a:defRPr sz="900" i="1">
                <a:solidFill>
                  <a:srgbClr val="333333"/>
                </a:solidFill>
              </a:defRPr>
            </a:pPr>
            <a:r>
              <a:t>→ Doublons possibles pour le même couple (IdApplication, IdModule).</a:t>
            </a:r>
          </a:p>
        </p:txBody>
      </p:sp>
      <p:sp>
        <p:nvSpPr>
          <p:cNvPr id="25" name="Rounded Rectangle 24"/>
          <p:cNvSpPr/>
          <p:nvPr/>
        </p:nvSpPr>
        <p:spPr>
          <a:xfrm>
            <a:off x="6217920" y="4114800"/>
            <a:ext cx="5669280" cy="214884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400800" y="4297680"/>
            <a:ext cx="411480" cy="411480"/>
          </a:xfrm>
          <a:prstGeom prst="ellipse">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FFFFFF"/>
                </a:solidFill>
              </a:defRPr>
            </a:pPr>
            <a:r>
              <a:t>4</a:t>
            </a:r>
          </a:p>
        </p:txBody>
      </p:sp>
      <p:sp>
        <p:nvSpPr>
          <p:cNvPr id="27" name="TextBox 26"/>
          <p:cNvSpPr txBox="1"/>
          <p:nvPr/>
        </p:nvSpPr>
        <p:spPr>
          <a:xfrm>
            <a:off x="6949440" y="4279392"/>
            <a:ext cx="4754880" cy="365760"/>
          </a:xfrm>
          <a:prstGeom prst="rect">
            <a:avLst/>
          </a:prstGeom>
          <a:noFill/>
        </p:spPr>
        <p:txBody>
          <a:bodyPr wrap="square">
            <a:spAutoFit/>
          </a:bodyPr>
          <a:lstStyle/>
          <a:p>
            <a:pPr algn="l">
              <a:defRPr sz="1300" b="1" i="0">
                <a:solidFill>
                  <a:srgbClr val="003366"/>
                </a:solidFill>
              </a:defRPr>
            </a:pPr>
            <a:r>
              <a:t>Multiplication d'enregistrements</a:t>
            </a:r>
          </a:p>
        </p:txBody>
      </p:sp>
      <p:sp>
        <p:nvSpPr>
          <p:cNvPr id="28" name="TextBox 27"/>
          <p:cNvSpPr txBox="1"/>
          <p:nvPr/>
        </p:nvSpPr>
        <p:spPr>
          <a:xfrm>
            <a:off x="6492240" y="4754880"/>
            <a:ext cx="5212080" cy="640080"/>
          </a:xfrm>
          <a:prstGeom prst="rect">
            <a:avLst/>
          </a:prstGeom>
          <a:noFill/>
        </p:spPr>
        <p:txBody>
          <a:bodyPr wrap="square">
            <a:spAutoFit/>
          </a:bodyPr>
          <a:lstStyle/>
          <a:p>
            <a:pPr algn="l">
              <a:defRPr sz="1000" b="0" i="0">
                <a:solidFill>
                  <a:srgbClr val="333333"/>
                </a:solidFill>
              </a:defRPr>
            </a:pPr>
            <a:r>
              <a:t>Une clé Azure est répétée pour chaque module rattaché, avec la date sur une seule ligne.</a:t>
            </a:r>
          </a:p>
        </p:txBody>
      </p:sp>
      <p:sp>
        <p:nvSpPr>
          <p:cNvPr id="29" name="Rectangle 28"/>
          <p:cNvSpPr/>
          <p:nvPr/>
        </p:nvSpPr>
        <p:spPr>
          <a:xfrm>
            <a:off x="6492240" y="5394960"/>
            <a:ext cx="5212080" cy="777240"/>
          </a:xfrm>
          <a:prstGeom prst="rect">
            <a:avLst/>
          </a:prstGeom>
          <a:solidFill>
            <a:srgbClr val="E8F0F8"/>
          </a:solidFill>
          <a:ln w="6350">
            <a:solidFill>
              <a:srgbClr val="004D99"/>
            </a:solidFill>
          </a:ln>
        </p:spPr>
        <p:style>
          <a:lnRef idx="1">
            <a:schemeClr val="accent1"/>
          </a:lnRef>
          <a:fillRef idx="3">
            <a:schemeClr val="accent1"/>
          </a:fillRef>
          <a:effectRef idx="2">
            <a:schemeClr val="accent1"/>
          </a:effectRef>
          <a:fontRef idx="minor">
            <a:schemeClr val="lt1"/>
          </a:fontRef>
        </p:style>
        <p:txBody>
          <a:bodyPr wrap="square" lIns="73152" rtlCol="0" anchor="ctr"/>
          <a:lstStyle/>
          <a:p>
            <a:pPr algn="l">
              <a:defRPr sz="900" i="1">
                <a:solidFill>
                  <a:srgbClr val="004D99"/>
                </a:solidFill>
              </a:defRPr>
            </a:pPr>
            <a:r>
              <a:t>Exemple : la même clé Azure figurait jusqu'à 11 fois en base</a:t>
            </a:r>
          </a:p>
          <a:p>
            <a:pPr algn="l">
              <a:defRPr sz="900" i="1">
                <a:solidFill>
                  <a:srgbClr val="333333"/>
                </a:solidFill>
              </a:defRPr>
            </a:pPr>
            <a:r>
              <a:t>→ Les alertes d'expiration dépendent de la ligne où la date a été saisie.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Refonte du modèle de données - Solutions</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25 / 36</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10" name="TextBox 9"/>
          <p:cNvSpPr txBox="1"/>
          <p:nvPr/>
        </p:nvSpPr>
        <p:spPr>
          <a:xfrm>
            <a:off x="640080" y="1346454"/>
            <a:ext cx="10698480" cy="365760"/>
          </a:xfrm>
          <a:prstGeom prst="rect">
            <a:avLst/>
          </a:prstGeom>
          <a:noFill/>
        </p:spPr>
        <p:txBody>
          <a:bodyPr wrap="square">
            <a:spAutoFit/>
          </a:bodyPr>
          <a:lstStyle/>
          <a:p>
            <a:pPr algn="l">
              <a:defRPr sz="1500" b="1" i="0">
                <a:solidFill>
                  <a:srgbClr val="003366"/>
                </a:solidFill>
              </a:defRPr>
            </a:pPr>
            <a:r>
              <a:rPr dirty="0"/>
              <a:t>Principe appliqué</a:t>
            </a:r>
          </a:p>
        </p:txBody>
      </p:sp>
      <p:sp>
        <p:nvSpPr>
          <p:cNvPr id="11" name="TextBox 10"/>
          <p:cNvSpPr txBox="1"/>
          <p:nvPr/>
        </p:nvSpPr>
        <p:spPr>
          <a:xfrm>
            <a:off x="640080" y="1691640"/>
            <a:ext cx="10698480" cy="457200"/>
          </a:xfrm>
          <a:prstGeom prst="rect">
            <a:avLst/>
          </a:prstGeom>
          <a:noFill/>
        </p:spPr>
        <p:txBody>
          <a:bodyPr wrap="square">
            <a:spAutoFit/>
          </a:bodyPr>
          <a:lstStyle/>
          <a:p>
            <a:pPr algn="l">
              <a:defRPr sz="1200" b="0" i="1">
                <a:solidFill>
                  <a:srgbClr val="333333"/>
                </a:solidFill>
              </a:defRPr>
            </a:pPr>
            <a:r>
              <a:rPr dirty="0" err="1"/>
              <a:t>Remplacer</a:t>
            </a:r>
            <a:r>
              <a:rPr dirty="0"/>
              <a:t> </a:t>
            </a:r>
            <a:r>
              <a:rPr dirty="0" err="1"/>
              <a:t>chaque</a:t>
            </a:r>
            <a:r>
              <a:rPr dirty="0"/>
              <a:t> champ de </a:t>
            </a:r>
            <a:r>
              <a:rPr dirty="0" err="1"/>
              <a:t>texte</a:t>
            </a:r>
            <a:r>
              <a:rPr dirty="0"/>
              <a:t> libre par </a:t>
            </a:r>
            <a:r>
              <a:rPr dirty="0" err="1"/>
              <a:t>une</a:t>
            </a:r>
            <a:r>
              <a:rPr dirty="0"/>
              <a:t> </a:t>
            </a:r>
            <a:r>
              <a:rPr dirty="0" err="1"/>
              <a:t>clé</a:t>
            </a:r>
            <a:r>
              <a:rPr dirty="0"/>
              <a:t> </a:t>
            </a:r>
            <a:r>
              <a:rPr dirty="0" err="1"/>
              <a:t>étrangère</a:t>
            </a:r>
            <a:r>
              <a:rPr dirty="0"/>
              <a:t> </a:t>
            </a:r>
            <a:r>
              <a:rPr dirty="0" err="1"/>
              <a:t>pointant</a:t>
            </a:r>
            <a:r>
              <a:rPr dirty="0"/>
              <a:t> </a:t>
            </a:r>
            <a:r>
              <a:rPr dirty="0" err="1"/>
              <a:t>vers</a:t>
            </a:r>
            <a:r>
              <a:rPr dirty="0"/>
              <a:t> </a:t>
            </a:r>
            <a:r>
              <a:rPr dirty="0" err="1"/>
              <a:t>une</a:t>
            </a:r>
            <a:r>
              <a:rPr dirty="0"/>
              <a:t> table de </a:t>
            </a:r>
            <a:r>
              <a:rPr dirty="0" err="1"/>
              <a:t>référence</a:t>
            </a:r>
            <a:r>
              <a:rPr dirty="0"/>
              <a:t> </a:t>
            </a:r>
            <a:r>
              <a:rPr dirty="0" err="1"/>
              <a:t>dédiée</a:t>
            </a:r>
            <a:r>
              <a:rPr dirty="0"/>
              <a:t>, </a:t>
            </a:r>
            <a:r>
              <a:rPr dirty="0" err="1"/>
              <a:t>dotée</a:t>
            </a:r>
            <a:r>
              <a:rPr dirty="0"/>
              <a:t> </a:t>
            </a:r>
            <a:r>
              <a:rPr dirty="0" err="1"/>
              <a:t>d'une</a:t>
            </a:r>
            <a:r>
              <a:rPr dirty="0"/>
              <a:t> </a:t>
            </a:r>
            <a:r>
              <a:rPr dirty="0" err="1"/>
              <a:t>contrainte</a:t>
            </a:r>
            <a:r>
              <a:rPr dirty="0"/>
              <a:t> </a:t>
            </a:r>
            <a:r>
              <a:rPr dirty="0" err="1"/>
              <a:t>d'unicité</a:t>
            </a:r>
            <a:r>
              <a:rPr dirty="0"/>
              <a:t>.</a:t>
            </a:r>
          </a:p>
        </p:txBody>
      </p:sp>
      <p:sp>
        <p:nvSpPr>
          <p:cNvPr id="44" name="TextBox 43"/>
          <p:cNvSpPr txBox="1"/>
          <p:nvPr/>
        </p:nvSpPr>
        <p:spPr>
          <a:xfrm>
            <a:off x="302455" y="5257800"/>
            <a:ext cx="10698480" cy="365760"/>
          </a:xfrm>
          <a:prstGeom prst="rect">
            <a:avLst/>
          </a:prstGeom>
          <a:noFill/>
        </p:spPr>
        <p:txBody>
          <a:bodyPr wrap="square">
            <a:spAutoFit/>
          </a:bodyPr>
          <a:lstStyle/>
          <a:p>
            <a:pPr algn="ctr">
              <a:defRPr sz="1300" b="1" i="0">
                <a:solidFill>
                  <a:srgbClr val="2E8B3D"/>
                </a:solidFill>
              </a:defRPr>
            </a:pPr>
            <a:r>
              <a:rPr dirty="0" err="1"/>
              <a:t>Gouvernance</a:t>
            </a:r>
            <a:r>
              <a:rPr dirty="0"/>
              <a:t> des migrations (</a:t>
            </a:r>
            <a:r>
              <a:rPr dirty="0" err="1"/>
              <a:t>données</a:t>
            </a:r>
            <a:r>
              <a:rPr dirty="0"/>
              <a:t> de production)</a:t>
            </a:r>
          </a:p>
        </p:txBody>
      </p:sp>
      <p:sp>
        <p:nvSpPr>
          <p:cNvPr id="45" name="Rounded Rectangle 44"/>
          <p:cNvSpPr/>
          <p:nvPr/>
        </p:nvSpPr>
        <p:spPr>
          <a:xfrm>
            <a:off x="698695" y="5602341"/>
            <a:ext cx="3383280" cy="45720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35855" y="5648061"/>
            <a:ext cx="1645920" cy="320040"/>
          </a:xfrm>
          <a:prstGeom prst="rect">
            <a:avLst/>
          </a:prstGeom>
          <a:noFill/>
        </p:spPr>
        <p:txBody>
          <a:bodyPr wrap="square">
            <a:spAutoFit/>
          </a:bodyPr>
          <a:lstStyle/>
          <a:p>
            <a:pPr algn="l">
              <a:defRPr sz="1000" b="1" i="0">
                <a:solidFill>
                  <a:srgbClr val="2E8B3D"/>
                </a:solidFill>
              </a:defRPr>
            </a:pPr>
            <a:r>
              <a:t>Scripts versionnés</a:t>
            </a:r>
          </a:p>
        </p:txBody>
      </p:sp>
      <p:sp>
        <p:nvSpPr>
          <p:cNvPr id="47" name="TextBox 46"/>
          <p:cNvSpPr txBox="1"/>
          <p:nvPr/>
        </p:nvSpPr>
        <p:spPr>
          <a:xfrm>
            <a:off x="2390335" y="5648061"/>
            <a:ext cx="1600200" cy="320040"/>
          </a:xfrm>
          <a:prstGeom prst="rect">
            <a:avLst/>
          </a:prstGeom>
          <a:noFill/>
        </p:spPr>
        <p:txBody>
          <a:bodyPr wrap="square">
            <a:spAutoFit/>
          </a:bodyPr>
          <a:lstStyle/>
          <a:p>
            <a:pPr algn="l">
              <a:defRPr sz="1000" b="0" i="1">
                <a:solidFill>
                  <a:srgbClr val="333333"/>
                </a:solidFill>
              </a:defRPr>
            </a:pPr>
            <a:r>
              <a:t>V001 à V026</a:t>
            </a:r>
          </a:p>
        </p:txBody>
      </p:sp>
      <p:sp>
        <p:nvSpPr>
          <p:cNvPr id="48" name="Rounded Rectangle 47"/>
          <p:cNvSpPr/>
          <p:nvPr/>
        </p:nvSpPr>
        <p:spPr>
          <a:xfrm>
            <a:off x="4356295" y="5602341"/>
            <a:ext cx="3383280" cy="45720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493455" y="5648061"/>
            <a:ext cx="1645920" cy="320040"/>
          </a:xfrm>
          <a:prstGeom prst="rect">
            <a:avLst/>
          </a:prstGeom>
          <a:noFill/>
        </p:spPr>
        <p:txBody>
          <a:bodyPr wrap="square">
            <a:spAutoFit/>
          </a:bodyPr>
          <a:lstStyle/>
          <a:p>
            <a:pPr algn="l">
              <a:defRPr sz="1000" b="1" i="0">
                <a:solidFill>
                  <a:srgbClr val="2E8B3D"/>
                </a:solidFill>
              </a:defRPr>
            </a:pPr>
            <a:r>
              <a:t>Retour arrière</a:t>
            </a:r>
          </a:p>
        </p:txBody>
      </p:sp>
      <p:sp>
        <p:nvSpPr>
          <p:cNvPr id="50" name="TextBox 49"/>
          <p:cNvSpPr txBox="1"/>
          <p:nvPr/>
        </p:nvSpPr>
        <p:spPr>
          <a:xfrm>
            <a:off x="6047935" y="5648061"/>
            <a:ext cx="1600200" cy="320040"/>
          </a:xfrm>
          <a:prstGeom prst="rect">
            <a:avLst/>
          </a:prstGeom>
          <a:noFill/>
        </p:spPr>
        <p:txBody>
          <a:bodyPr wrap="square">
            <a:spAutoFit/>
          </a:bodyPr>
          <a:lstStyle/>
          <a:p>
            <a:pPr algn="l">
              <a:defRPr sz="1000" b="0" i="1">
                <a:solidFill>
                  <a:srgbClr val="333333"/>
                </a:solidFill>
              </a:defRPr>
            </a:pPr>
            <a:r>
              <a:t>Un rollback par migration</a:t>
            </a:r>
          </a:p>
        </p:txBody>
      </p:sp>
      <p:sp>
        <p:nvSpPr>
          <p:cNvPr id="51" name="Rounded Rectangle 50"/>
          <p:cNvSpPr/>
          <p:nvPr/>
        </p:nvSpPr>
        <p:spPr>
          <a:xfrm>
            <a:off x="8013895" y="5602341"/>
            <a:ext cx="3383280" cy="45720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151055" y="5648061"/>
            <a:ext cx="1645920" cy="320040"/>
          </a:xfrm>
          <a:prstGeom prst="rect">
            <a:avLst/>
          </a:prstGeom>
          <a:noFill/>
        </p:spPr>
        <p:txBody>
          <a:bodyPr wrap="square">
            <a:spAutoFit/>
          </a:bodyPr>
          <a:lstStyle/>
          <a:p>
            <a:pPr algn="l">
              <a:defRPr sz="1000" b="1" i="0">
                <a:solidFill>
                  <a:srgbClr val="2E8B3D"/>
                </a:solidFill>
              </a:defRPr>
            </a:pPr>
            <a:r>
              <a:t>Contrôle préalable</a:t>
            </a:r>
          </a:p>
        </p:txBody>
      </p:sp>
      <p:sp>
        <p:nvSpPr>
          <p:cNvPr id="53" name="TextBox 52"/>
          <p:cNvSpPr txBox="1"/>
          <p:nvPr/>
        </p:nvSpPr>
        <p:spPr>
          <a:xfrm>
            <a:off x="9705535" y="5648061"/>
            <a:ext cx="1600200" cy="320040"/>
          </a:xfrm>
          <a:prstGeom prst="rect">
            <a:avLst/>
          </a:prstGeom>
          <a:noFill/>
        </p:spPr>
        <p:txBody>
          <a:bodyPr wrap="square">
            <a:spAutoFit/>
          </a:bodyPr>
          <a:lstStyle/>
          <a:p>
            <a:pPr algn="l">
              <a:defRPr sz="1000" b="0" i="1">
                <a:solidFill>
                  <a:srgbClr val="333333"/>
                </a:solidFill>
              </a:defRPr>
            </a:pPr>
            <a:r>
              <a:t>Lecture seule, verdict GO / NO GO</a:t>
            </a:r>
          </a:p>
        </p:txBody>
      </p:sp>
      <p:pic>
        <p:nvPicPr>
          <p:cNvPr id="55" name="Image 54">
            <a:extLst>
              <a:ext uri="{FF2B5EF4-FFF2-40B4-BE49-F238E27FC236}">
                <a16:creationId xmlns:a16="http://schemas.microsoft.com/office/drawing/2014/main" id="{823BF4A0-BAB4-456B-AA0D-576AFFE2D4A1}"/>
              </a:ext>
            </a:extLst>
          </p:cNvPr>
          <p:cNvPicPr>
            <a:picLocks noChangeAspect="1"/>
          </p:cNvPicPr>
          <p:nvPr/>
        </p:nvPicPr>
        <p:blipFill>
          <a:blip r:embed="rId2"/>
          <a:stretch>
            <a:fillRect/>
          </a:stretch>
        </p:blipFill>
        <p:spPr>
          <a:xfrm>
            <a:off x="2606040" y="2038636"/>
            <a:ext cx="5805525" cy="299056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26 / 36</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pic>
        <p:nvPicPr>
          <p:cNvPr id="98" name="Image 97">
            <a:extLst>
              <a:ext uri="{FF2B5EF4-FFF2-40B4-BE49-F238E27FC236}">
                <a16:creationId xmlns:a16="http://schemas.microsoft.com/office/drawing/2014/main" id="{E96DC83C-D58F-415C-9410-F2B6A59D209A}"/>
              </a:ext>
            </a:extLst>
          </p:cNvPr>
          <p:cNvPicPr>
            <a:picLocks noChangeAspect="1"/>
          </p:cNvPicPr>
          <p:nvPr/>
        </p:nvPicPr>
        <p:blipFill>
          <a:blip r:embed="rId2"/>
          <a:stretch>
            <a:fillRect/>
          </a:stretch>
        </p:blipFill>
        <p:spPr>
          <a:xfrm>
            <a:off x="1059558" y="182880"/>
            <a:ext cx="10400922" cy="6353932"/>
          </a:xfrm>
          <a:prstGeom prst="rect">
            <a:avLst/>
          </a:prstGeom>
        </p:spPr>
      </p:pic>
      <p:sp>
        <p:nvSpPr>
          <p:cNvPr id="3" name="TextBox 2"/>
          <p:cNvSpPr txBox="1"/>
          <p:nvPr/>
        </p:nvSpPr>
        <p:spPr>
          <a:xfrm>
            <a:off x="704850" y="182880"/>
            <a:ext cx="5513070" cy="261610"/>
          </a:xfrm>
          <a:prstGeom prst="rect">
            <a:avLst/>
          </a:prstGeom>
          <a:noFill/>
        </p:spPr>
        <p:txBody>
          <a:bodyPr wrap="square">
            <a:spAutoFit/>
          </a:bodyPr>
          <a:lstStyle/>
          <a:p>
            <a:pPr algn="l">
              <a:defRPr sz="1100" b="1" i="0">
                <a:solidFill>
                  <a:srgbClr val="004D99"/>
                </a:solidFill>
              </a:defRPr>
            </a:pPr>
            <a:r>
              <a:rPr dirty="0"/>
              <a:t>CS BAG V2</a:t>
            </a:r>
          </a:p>
        </p:txBody>
      </p:sp>
      <p:sp>
        <p:nvSpPr>
          <p:cNvPr id="4" name="TextBox 3"/>
          <p:cNvSpPr txBox="1"/>
          <p:nvPr/>
        </p:nvSpPr>
        <p:spPr>
          <a:xfrm>
            <a:off x="774700" y="457200"/>
            <a:ext cx="10472420" cy="492443"/>
          </a:xfrm>
          <a:prstGeom prst="rect">
            <a:avLst/>
          </a:prstGeom>
          <a:noFill/>
        </p:spPr>
        <p:txBody>
          <a:bodyPr wrap="square">
            <a:spAutoFit/>
          </a:bodyPr>
          <a:lstStyle/>
          <a:p>
            <a:pPr algn="l">
              <a:defRPr sz="2600" b="1" i="0">
                <a:solidFill>
                  <a:srgbClr val="003366"/>
                </a:solidFill>
              </a:defRPr>
            </a:pPr>
            <a:r>
              <a:rPr lang="fr-CH" dirty="0"/>
              <a:t>MLD</a:t>
            </a:r>
            <a:endParaRPr dirty="0"/>
          </a:p>
        </p:txBody>
      </p:sp>
      <p:sp>
        <p:nvSpPr>
          <p:cNvPr id="5" name="Rectangle 4"/>
          <p:cNvSpPr/>
          <p:nvPr/>
        </p:nvSpPr>
        <p:spPr>
          <a:xfrm flipV="1">
            <a:off x="731520" y="996510"/>
            <a:ext cx="887730" cy="100769"/>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9854110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492443"/>
          </a:xfrm>
          <a:prstGeom prst="rect">
            <a:avLst/>
          </a:prstGeom>
          <a:noFill/>
        </p:spPr>
        <p:txBody>
          <a:bodyPr wrap="square">
            <a:spAutoFit/>
          </a:bodyPr>
          <a:lstStyle/>
          <a:p>
            <a:pPr algn="l">
              <a:defRPr sz="2600" b="1" i="0">
                <a:solidFill>
                  <a:srgbClr val="003366"/>
                </a:solidFill>
              </a:defRPr>
            </a:pPr>
            <a:r>
              <a:rPr lang="fr-CH" dirty="0"/>
              <a:t>3- </a:t>
            </a:r>
            <a:r>
              <a:rPr dirty="0" err="1"/>
              <a:t>Enrichissement</a:t>
            </a:r>
            <a:r>
              <a:rPr dirty="0"/>
              <a:t> </a:t>
            </a:r>
            <a:r>
              <a:rPr dirty="0" err="1"/>
              <a:t>fonctionnel</a:t>
            </a:r>
            <a:endParaRPr dirty="0"/>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27 / 36</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280160"/>
            <a:ext cx="10698480" cy="365760"/>
          </a:xfrm>
          <a:prstGeom prst="rect">
            <a:avLst/>
          </a:prstGeom>
          <a:noFill/>
        </p:spPr>
        <p:txBody>
          <a:bodyPr wrap="square">
            <a:spAutoFit/>
          </a:bodyPr>
          <a:lstStyle/>
          <a:p>
            <a:pPr algn="ctr">
              <a:defRPr sz="1400" b="0" i="1">
                <a:solidFill>
                  <a:srgbClr val="666666"/>
                </a:solidFill>
              </a:defRPr>
            </a:pPr>
            <a:r>
              <a:t>Fonctionnalités livrées, regroupées par thème métier</a:t>
            </a:r>
          </a:p>
        </p:txBody>
      </p:sp>
      <p:sp>
        <p:nvSpPr>
          <p:cNvPr id="10" name="Rounded Rectangle 9"/>
          <p:cNvSpPr/>
          <p:nvPr/>
        </p:nvSpPr>
        <p:spPr>
          <a:xfrm>
            <a:off x="731520" y="18288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868680" y="19476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L1</a:t>
            </a:r>
          </a:p>
        </p:txBody>
      </p:sp>
      <p:sp>
        <p:nvSpPr>
          <p:cNvPr id="12" name="TextBox 11"/>
          <p:cNvSpPr txBox="1"/>
          <p:nvPr/>
        </p:nvSpPr>
        <p:spPr>
          <a:xfrm>
            <a:off x="1691640" y="1874520"/>
            <a:ext cx="4297680" cy="274320"/>
          </a:xfrm>
          <a:prstGeom prst="rect">
            <a:avLst/>
          </a:prstGeom>
          <a:noFill/>
        </p:spPr>
        <p:txBody>
          <a:bodyPr wrap="square">
            <a:spAutoFit/>
          </a:bodyPr>
          <a:lstStyle/>
          <a:p>
            <a:pPr algn="l">
              <a:defRPr sz="1200" b="1" i="0">
                <a:solidFill>
                  <a:srgbClr val="003366"/>
                </a:solidFill>
              </a:defRPr>
            </a:pPr>
            <a:r>
              <a:t>Consultation et recherche</a:t>
            </a:r>
          </a:p>
        </p:txBody>
      </p:sp>
      <p:sp>
        <p:nvSpPr>
          <p:cNvPr id="13" name="TextBox 12"/>
          <p:cNvSpPr txBox="1"/>
          <p:nvPr/>
        </p:nvSpPr>
        <p:spPr>
          <a:xfrm>
            <a:off x="1691640" y="2121408"/>
            <a:ext cx="4297680" cy="230832"/>
          </a:xfrm>
          <a:prstGeom prst="rect">
            <a:avLst/>
          </a:prstGeom>
          <a:noFill/>
        </p:spPr>
        <p:txBody>
          <a:bodyPr wrap="square">
            <a:spAutoFit/>
          </a:bodyPr>
          <a:lstStyle/>
          <a:p>
            <a:pPr algn="l">
              <a:defRPr sz="900" b="0" i="0">
                <a:solidFill>
                  <a:srgbClr val="666666"/>
                </a:solidFill>
              </a:defRPr>
            </a:pPr>
            <a:r>
              <a:rPr dirty="0"/>
              <a:t>Recherche, </a:t>
            </a:r>
            <a:r>
              <a:rPr dirty="0" err="1"/>
              <a:t>filtres</a:t>
            </a:r>
            <a:r>
              <a:rPr dirty="0"/>
              <a:t> d'</a:t>
            </a:r>
            <a:r>
              <a:rPr lang="fr-MA" dirty="0"/>
              <a:t>équipe</a:t>
            </a:r>
            <a:r>
              <a:rPr dirty="0"/>
              <a:t>, page Tout </a:t>
            </a:r>
            <a:r>
              <a:rPr dirty="0" err="1"/>
              <a:t>voir</a:t>
            </a:r>
            <a:r>
              <a:rPr dirty="0"/>
              <a:t>, </a:t>
            </a:r>
            <a:r>
              <a:rPr dirty="0" err="1"/>
              <a:t>indicateurs</a:t>
            </a:r>
            <a:r>
              <a:rPr dirty="0"/>
              <a:t> de </a:t>
            </a:r>
            <a:r>
              <a:rPr dirty="0" err="1"/>
              <a:t>chargement</a:t>
            </a:r>
            <a:endParaRPr dirty="0"/>
          </a:p>
        </p:txBody>
      </p:sp>
      <p:sp>
        <p:nvSpPr>
          <p:cNvPr id="14" name="Rounded Rectangle 13"/>
          <p:cNvSpPr/>
          <p:nvPr/>
        </p:nvSpPr>
        <p:spPr>
          <a:xfrm>
            <a:off x="6400800" y="18288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537960" y="19476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L1-L2</a:t>
            </a:r>
          </a:p>
        </p:txBody>
      </p:sp>
      <p:sp>
        <p:nvSpPr>
          <p:cNvPr id="16" name="TextBox 15"/>
          <p:cNvSpPr txBox="1"/>
          <p:nvPr/>
        </p:nvSpPr>
        <p:spPr>
          <a:xfrm>
            <a:off x="7360920" y="1874520"/>
            <a:ext cx="4297680" cy="274320"/>
          </a:xfrm>
          <a:prstGeom prst="rect">
            <a:avLst/>
          </a:prstGeom>
          <a:noFill/>
        </p:spPr>
        <p:txBody>
          <a:bodyPr wrap="square">
            <a:spAutoFit/>
          </a:bodyPr>
          <a:lstStyle/>
          <a:p>
            <a:pPr algn="l">
              <a:defRPr sz="1200" b="1" i="0">
                <a:solidFill>
                  <a:srgbClr val="003366"/>
                </a:solidFill>
              </a:defRPr>
            </a:pPr>
            <a:r>
              <a:t>Cycle de vie des applications</a:t>
            </a:r>
          </a:p>
        </p:txBody>
      </p:sp>
      <p:sp>
        <p:nvSpPr>
          <p:cNvPr id="17" name="TextBox 16"/>
          <p:cNvSpPr txBox="1"/>
          <p:nvPr/>
        </p:nvSpPr>
        <p:spPr>
          <a:xfrm>
            <a:off x="7360920" y="2121408"/>
            <a:ext cx="4297680" cy="230832"/>
          </a:xfrm>
          <a:prstGeom prst="rect">
            <a:avLst/>
          </a:prstGeom>
          <a:noFill/>
        </p:spPr>
        <p:txBody>
          <a:bodyPr wrap="square">
            <a:spAutoFit/>
          </a:bodyPr>
          <a:lstStyle/>
          <a:p>
            <a:pPr algn="l">
              <a:defRPr sz="900" b="0" i="0">
                <a:solidFill>
                  <a:srgbClr val="666666"/>
                </a:solidFill>
              </a:defRPr>
            </a:pPr>
            <a:r>
              <a:rPr dirty="0"/>
              <a:t>Multi-</a:t>
            </a:r>
            <a:r>
              <a:rPr lang="fr-MA" dirty="0"/>
              <a:t>équipe</a:t>
            </a:r>
            <a:r>
              <a:rPr dirty="0"/>
              <a:t>s, </a:t>
            </a:r>
            <a:r>
              <a:rPr dirty="0" err="1"/>
              <a:t>fonction</a:t>
            </a:r>
            <a:r>
              <a:rPr dirty="0"/>
              <a:t> referents, </a:t>
            </a:r>
            <a:r>
              <a:rPr dirty="0" err="1"/>
              <a:t>ordre</a:t>
            </a:r>
            <a:r>
              <a:rPr dirty="0"/>
              <a:t> </a:t>
            </a:r>
            <a:r>
              <a:rPr dirty="0" err="1"/>
              <a:t>d'affichage</a:t>
            </a:r>
            <a:r>
              <a:rPr dirty="0"/>
              <a:t>, </a:t>
            </a:r>
            <a:r>
              <a:rPr dirty="0" err="1"/>
              <a:t>archivage</a:t>
            </a:r>
            <a:endParaRPr dirty="0"/>
          </a:p>
        </p:txBody>
      </p:sp>
      <p:sp>
        <p:nvSpPr>
          <p:cNvPr id="18" name="Rounded Rectangle 17"/>
          <p:cNvSpPr/>
          <p:nvPr/>
        </p:nvSpPr>
        <p:spPr>
          <a:xfrm>
            <a:off x="731520" y="25146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68680" y="26334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L1-L2</a:t>
            </a:r>
          </a:p>
        </p:txBody>
      </p:sp>
      <p:sp>
        <p:nvSpPr>
          <p:cNvPr id="20" name="TextBox 19"/>
          <p:cNvSpPr txBox="1"/>
          <p:nvPr/>
        </p:nvSpPr>
        <p:spPr>
          <a:xfrm>
            <a:off x="1691640" y="2560320"/>
            <a:ext cx="4297680" cy="274320"/>
          </a:xfrm>
          <a:prstGeom prst="rect">
            <a:avLst/>
          </a:prstGeom>
          <a:noFill/>
        </p:spPr>
        <p:txBody>
          <a:bodyPr wrap="square">
            <a:spAutoFit/>
          </a:bodyPr>
          <a:lstStyle/>
          <a:p>
            <a:pPr algn="l">
              <a:defRPr sz="1200" b="1" i="0">
                <a:solidFill>
                  <a:srgbClr val="003366"/>
                </a:solidFill>
              </a:defRPr>
            </a:pPr>
            <a:r>
              <a:t>Traçabilité des livraisons</a:t>
            </a:r>
          </a:p>
        </p:txBody>
      </p:sp>
      <p:sp>
        <p:nvSpPr>
          <p:cNvPr id="21" name="TextBox 20"/>
          <p:cNvSpPr txBox="1"/>
          <p:nvPr/>
        </p:nvSpPr>
        <p:spPr>
          <a:xfrm>
            <a:off x="1691640" y="2807208"/>
            <a:ext cx="4297680" cy="274320"/>
          </a:xfrm>
          <a:prstGeom prst="rect">
            <a:avLst/>
          </a:prstGeom>
          <a:noFill/>
        </p:spPr>
        <p:txBody>
          <a:bodyPr wrap="square">
            <a:spAutoFit/>
          </a:bodyPr>
          <a:lstStyle/>
          <a:p>
            <a:pPr algn="l">
              <a:defRPr sz="900" b="0" i="0">
                <a:solidFill>
                  <a:srgbClr val="666666"/>
                </a:solidFill>
              </a:defRPr>
            </a:pPr>
            <a:r>
              <a:t>Historique, document et numéro de mise en production</a:t>
            </a:r>
          </a:p>
        </p:txBody>
      </p:sp>
      <p:sp>
        <p:nvSpPr>
          <p:cNvPr id="22" name="Rounded Rectangle 21"/>
          <p:cNvSpPr/>
          <p:nvPr/>
        </p:nvSpPr>
        <p:spPr>
          <a:xfrm>
            <a:off x="6400800" y="25146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6537960" y="26334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L1-L2-L3</a:t>
            </a:r>
          </a:p>
        </p:txBody>
      </p:sp>
      <p:sp>
        <p:nvSpPr>
          <p:cNvPr id="24" name="TextBox 23"/>
          <p:cNvSpPr txBox="1"/>
          <p:nvPr/>
        </p:nvSpPr>
        <p:spPr>
          <a:xfrm>
            <a:off x="7360920" y="2560320"/>
            <a:ext cx="4297680" cy="274320"/>
          </a:xfrm>
          <a:prstGeom prst="rect">
            <a:avLst/>
          </a:prstGeom>
          <a:noFill/>
        </p:spPr>
        <p:txBody>
          <a:bodyPr wrap="square">
            <a:spAutoFit/>
          </a:bodyPr>
          <a:lstStyle/>
          <a:p>
            <a:pPr algn="l">
              <a:defRPr sz="1200" b="1" i="0">
                <a:solidFill>
                  <a:srgbClr val="003366"/>
                </a:solidFill>
              </a:defRPr>
            </a:pPr>
            <a:r>
              <a:t>Ressources sensibles</a:t>
            </a:r>
          </a:p>
        </p:txBody>
      </p:sp>
      <p:sp>
        <p:nvSpPr>
          <p:cNvPr id="25" name="TextBox 24"/>
          <p:cNvSpPr txBox="1"/>
          <p:nvPr/>
        </p:nvSpPr>
        <p:spPr>
          <a:xfrm>
            <a:off x="7360920" y="2807208"/>
            <a:ext cx="4297680" cy="274320"/>
          </a:xfrm>
          <a:prstGeom prst="rect">
            <a:avLst/>
          </a:prstGeom>
          <a:noFill/>
        </p:spPr>
        <p:txBody>
          <a:bodyPr wrap="square">
            <a:spAutoFit/>
          </a:bodyPr>
          <a:lstStyle/>
          <a:p>
            <a:pPr algn="l">
              <a:defRPr sz="900" b="0" i="0">
                <a:solidFill>
                  <a:srgbClr val="666666"/>
                </a:solidFill>
              </a:defRPr>
            </a:pPr>
            <a:r>
              <a:t>Comptes de service, certificats, empreintes, alertes</a:t>
            </a:r>
          </a:p>
        </p:txBody>
      </p:sp>
      <p:sp>
        <p:nvSpPr>
          <p:cNvPr id="26" name="Rounded Rectangle 25"/>
          <p:cNvSpPr/>
          <p:nvPr/>
        </p:nvSpPr>
        <p:spPr>
          <a:xfrm>
            <a:off x="731520" y="32004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868680" y="33192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L3</a:t>
            </a:r>
          </a:p>
        </p:txBody>
      </p:sp>
      <p:sp>
        <p:nvSpPr>
          <p:cNvPr id="28" name="TextBox 27"/>
          <p:cNvSpPr txBox="1"/>
          <p:nvPr/>
        </p:nvSpPr>
        <p:spPr>
          <a:xfrm>
            <a:off x="1691640" y="3246120"/>
            <a:ext cx="4297680" cy="274320"/>
          </a:xfrm>
          <a:prstGeom prst="rect">
            <a:avLst/>
          </a:prstGeom>
          <a:noFill/>
        </p:spPr>
        <p:txBody>
          <a:bodyPr wrap="square">
            <a:spAutoFit/>
          </a:bodyPr>
          <a:lstStyle/>
          <a:p>
            <a:pPr algn="l">
              <a:defRPr sz="1200" b="1" i="0">
                <a:solidFill>
                  <a:srgbClr val="003366"/>
                </a:solidFill>
              </a:defRPr>
            </a:pPr>
            <a:r>
              <a:t>Administration référentiels</a:t>
            </a:r>
          </a:p>
        </p:txBody>
      </p:sp>
      <p:sp>
        <p:nvSpPr>
          <p:cNvPr id="29" name="TextBox 28"/>
          <p:cNvSpPr txBox="1"/>
          <p:nvPr/>
        </p:nvSpPr>
        <p:spPr>
          <a:xfrm>
            <a:off x="1691640" y="3493008"/>
            <a:ext cx="4297680" cy="274320"/>
          </a:xfrm>
          <a:prstGeom prst="rect">
            <a:avLst/>
          </a:prstGeom>
          <a:noFill/>
        </p:spPr>
        <p:txBody>
          <a:bodyPr wrap="square">
            <a:spAutoFit/>
          </a:bodyPr>
          <a:lstStyle/>
          <a:p>
            <a:pPr algn="l">
              <a:defRPr sz="900" b="0" i="0">
                <a:solidFill>
                  <a:srgbClr val="666666"/>
                </a:solidFill>
              </a:defRPr>
            </a:pPr>
            <a:r>
              <a:t>8 écrans de gestion pour les tables de référence</a:t>
            </a:r>
          </a:p>
        </p:txBody>
      </p:sp>
      <p:sp>
        <p:nvSpPr>
          <p:cNvPr id="30" name="Rounded Rectangle 29"/>
          <p:cNvSpPr/>
          <p:nvPr/>
        </p:nvSpPr>
        <p:spPr>
          <a:xfrm>
            <a:off x="6400800" y="32004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6537960" y="33192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L3</a:t>
            </a:r>
          </a:p>
        </p:txBody>
      </p:sp>
      <p:sp>
        <p:nvSpPr>
          <p:cNvPr id="32" name="TextBox 31"/>
          <p:cNvSpPr txBox="1"/>
          <p:nvPr/>
        </p:nvSpPr>
        <p:spPr>
          <a:xfrm>
            <a:off x="7360920" y="3246120"/>
            <a:ext cx="4297680" cy="274320"/>
          </a:xfrm>
          <a:prstGeom prst="rect">
            <a:avLst/>
          </a:prstGeom>
          <a:noFill/>
        </p:spPr>
        <p:txBody>
          <a:bodyPr wrap="square">
            <a:spAutoFit/>
          </a:bodyPr>
          <a:lstStyle/>
          <a:p>
            <a:pPr algn="l">
              <a:defRPr sz="1200" b="1" i="0">
                <a:solidFill>
                  <a:srgbClr val="003366"/>
                </a:solidFill>
              </a:defRPr>
            </a:pPr>
            <a:r>
              <a:t>Auditabilité</a:t>
            </a:r>
          </a:p>
        </p:txBody>
      </p:sp>
      <p:sp>
        <p:nvSpPr>
          <p:cNvPr id="33" name="TextBox 32"/>
          <p:cNvSpPr txBox="1"/>
          <p:nvPr/>
        </p:nvSpPr>
        <p:spPr>
          <a:xfrm>
            <a:off x="7360920" y="3493008"/>
            <a:ext cx="4297680" cy="274320"/>
          </a:xfrm>
          <a:prstGeom prst="rect">
            <a:avLst/>
          </a:prstGeom>
          <a:noFill/>
        </p:spPr>
        <p:txBody>
          <a:bodyPr wrap="square">
            <a:spAutoFit/>
          </a:bodyPr>
          <a:lstStyle/>
          <a:p>
            <a:pPr algn="l">
              <a:defRPr sz="900" b="0" i="0">
                <a:solidFill>
                  <a:srgbClr val="666666"/>
                </a:solidFill>
              </a:defRPr>
            </a:pPr>
            <a:r>
              <a:t>Historique des actions utilisateur, corrélation automatique</a:t>
            </a:r>
          </a:p>
        </p:txBody>
      </p:sp>
      <p:sp>
        <p:nvSpPr>
          <p:cNvPr id="34" name="Rounded Rectangle 33"/>
          <p:cNvSpPr/>
          <p:nvPr/>
        </p:nvSpPr>
        <p:spPr>
          <a:xfrm>
            <a:off x="3520440" y="3886200"/>
            <a:ext cx="5394960" cy="594360"/>
          </a:xfrm>
          <a:prstGeom prst="roundRect">
            <a:avLst/>
          </a:prstGeom>
          <a:solidFill>
            <a:srgbClr val="FFFFFF"/>
          </a:solidFill>
          <a:ln w="1270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3657600" y="4005072"/>
            <a:ext cx="731520" cy="3657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000" b="1">
                <a:solidFill>
                  <a:srgbClr val="FFFFFF"/>
                </a:solidFill>
              </a:defRPr>
            </a:pPr>
            <a:r>
              <a:t>L3</a:t>
            </a:r>
          </a:p>
        </p:txBody>
      </p:sp>
      <p:sp>
        <p:nvSpPr>
          <p:cNvPr id="36" name="TextBox 35"/>
          <p:cNvSpPr txBox="1"/>
          <p:nvPr/>
        </p:nvSpPr>
        <p:spPr>
          <a:xfrm>
            <a:off x="4480560" y="3931920"/>
            <a:ext cx="4297680" cy="274320"/>
          </a:xfrm>
          <a:prstGeom prst="rect">
            <a:avLst/>
          </a:prstGeom>
          <a:noFill/>
        </p:spPr>
        <p:txBody>
          <a:bodyPr wrap="square">
            <a:spAutoFit/>
          </a:bodyPr>
          <a:lstStyle/>
          <a:p>
            <a:pPr algn="l">
              <a:defRPr sz="1200" b="1" i="0">
                <a:solidFill>
                  <a:srgbClr val="003366"/>
                </a:solidFill>
              </a:defRPr>
            </a:pPr>
            <a:r>
              <a:t>Taxonomies</a:t>
            </a:r>
          </a:p>
        </p:txBody>
      </p:sp>
      <p:sp>
        <p:nvSpPr>
          <p:cNvPr id="37" name="TextBox 36"/>
          <p:cNvSpPr txBox="1"/>
          <p:nvPr/>
        </p:nvSpPr>
        <p:spPr>
          <a:xfrm>
            <a:off x="4480560" y="4178808"/>
            <a:ext cx="4297680" cy="274320"/>
          </a:xfrm>
          <a:prstGeom prst="rect">
            <a:avLst/>
          </a:prstGeom>
          <a:noFill/>
        </p:spPr>
        <p:txBody>
          <a:bodyPr wrap="square">
            <a:spAutoFit/>
          </a:bodyPr>
          <a:lstStyle/>
          <a:p>
            <a:pPr algn="l">
              <a:defRPr sz="900" b="0" i="0">
                <a:solidFill>
                  <a:srgbClr val="666666"/>
                </a:solidFill>
              </a:defRPr>
            </a:pPr>
            <a:r>
              <a:t>Marquage et filtrage des modules</a:t>
            </a:r>
          </a:p>
        </p:txBody>
      </p:sp>
      <p:sp>
        <p:nvSpPr>
          <p:cNvPr id="38" name="Rounded Rectangle 37"/>
          <p:cNvSpPr/>
          <p:nvPr/>
        </p:nvSpPr>
        <p:spPr>
          <a:xfrm>
            <a:off x="731520" y="5623560"/>
            <a:ext cx="10698480" cy="68580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14400" y="5669280"/>
            <a:ext cx="10332720" cy="320040"/>
          </a:xfrm>
          <a:prstGeom prst="rect">
            <a:avLst/>
          </a:prstGeom>
          <a:noFill/>
        </p:spPr>
        <p:txBody>
          <a:bodyPr wrap="square">
            <a:spAutoFit/>
          </a:bodyPr>
          <a:lstStyle/>
          <a:p>
            <a:pPr algn="l">
              <a:defRPr sz="1200" b="1" i="0">
                <a:solidFill>
                  <a:srgbClr val="2E8B3D"/>
                </a:solidFill>
              </a:defRPr>
            </a:pPr>
            <a:r>
              <a:t>Point technique : protection côté serveur des applications archivées</a:t>
            </a:r>
          </a:p>
        </p:txBody>
      </p:sp>
      <p:sp>
        <p:nvSpPr>
          <p:cNvPr id="40" name="TextBox 39"/>
          <p:cNvSpPr txBox="1"/>
          <p:nvPr/>
        </p:nvSpPr>
        <p:spPr>
          <a:xfrm>
            <a:off x="914400" y="5989320"/>
            <a:ext cx="10332720" cy="320040"/>
          </a:xfrm>
          <a:prstGeom prst="rect">
            <a:avLst/>
          </a:prstGeom>
          <a:noFill/>
        </p:spPr>
        <p:txBody>
          <a:bodyPr wrap="square">
            <a:spAutoFit/>
          </a:bodyPr>
          <a:lstStyle/>
          <a:p>
            <a:pPr algn="l">
              <a:defRPr sz="1000" b="0" i="1">
                <a:solidFill>
                  <a:srgbClr val="333333"/>
                </a:solidFill>
              </a:defRPr>
            </a:pPr>
            <a:r>
              <a:t>Un contrôle purement client aurait pu être contourné par un appel direct à l'API.</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CS BAG V2</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CS BAG v2 : écran d'enrichissement fonctionnel</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28 / 36</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457200" y="1280160"/>
            <a:ext cx="11247120" cy="320040"/>
          </a:xfrm>
          <a:prstGeom prst="rect">
            <a:avLst/>
          </a:prstGeom>
          <a:noFill/>
        </p:spPr>
        <p:txBody>
          <a:bodyPr wrap="square">
            <a:spAutoFit/>
          </a:bodyPr>
          <a:lstStyle/>
          <a:p>
            <a:pPr algn="ctr">
              <a:defRPr sz="1300" b="0" i="1">
                <a:solidFill>
                  <a:srgbClr val="666666"/>
                </a:solidFill>
              </a:defRPr>
            </a:pPr>
            <a:r>
              <a:t>Illustration d'une fonctionnalité livrée dans la version 2</a:t>
            </a:r>
          </a:p>
        </p:txBody>
      </p:sp>
      <p:sp>
        <p:nvSpPr>
          <p:cNvPr id="10" name="TextBox 9"/>
          <p:cNvSpPr txBox="1"/>
          <p:nvPr/>
        </p:nvSpPr>
        <p:spPr>
          <a:xfrm>
            <a:off x="1371600" y="1600200"/>
            <a:ext cx="9418320" cy="292388"/>
          </a:xfrm>
          <a:prstGeom prst="rect">
            <a:avLst/>
          </a:prstGeom>
          <a:noFill/>
        </p:spPr>
        <p:txBody>
          <a:bodyPr wrap="square">
            <a:spAutoFit/>
          </a:bodyPr>
          <a:lstStyle/>
          <a:p>
            <a:pPr algn="ctr">
              <a:defRPr sz="1300" b="1" i="0">
                <a:solidFill>
                  <a:srgbClr val="003366"/>
                </a:solidFill>
              </a:defRPr>
            </a:pPr>
            <a:r>
              <a:rPr dirty="0"/>
              <a:t>Capture - CS BAG v2 : </a:t>
            </a:r>
            <a:r>
              <a:rPr lang="fr-CH" dirty="0"/>
              <a:t>démo</a:t>
            </a:r>
            <a:endParaRPr dirty="0"/>
          </a:p>
        </p:txBody>
      </p:sp>
      <p:sp>
        <p:nvSpPr>
          <p:cNvPr id="12" name="TextBox 11"/>
          <p:cNvSpPr txBox="1"/>
          <p:nvPr/>
        </p:nvSpPr>
        <p:spPr>
          <a:xfrm>
            <a:off x="1371600" y="6080760"/>
            <a:ext cx="9418320" cy="274320"/>
          </a:xfrm>
          <a:prstGeom prst="rect">
            <a:avLst/>
          </a:prstGeom>
          <a:noFill/>
        </p:spPr>
        <p:txBody>
          <a:bodyPr wrap="square">
            <a:spAutoFit/>
          </a:bodyPr>
          <a:lstStyle/>
          <a:p>
            <a:pPr algn="ctr">
              <a:defRPr sz="1000" b="0" i="1">
                <a:solidFill>
                  <a:srgbClr val="666666"/>
                </a:solidFill>
              </a:defRPr>
            </a:pPr>
            <a:r>
              <a:t>Recherche, filtres, indicateurs de chargement, gestion CRUD des 8 tables de référence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05</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1371600"/>
          </a:xfrm>
          <a:prstGeom prst="rect">
            <a:avLst/>
          </a:prstGeom>
          <a:noFill/>
        </p:spPr>
        <p:txBody>
          <a:bodyPr wrap="square">
            <a:spAutoFit/>
          </a:bodyPr>
          <a:lstStyle/>
          <a:p>
            <a:pPr algn="l">
              <a:defRPr sz="4400" b="1" i="0">
                <a:solidFill>
                  <a:srgbClr val="003366"/>
                </a:solidFill>
              </a:defRPr>
            </a:pPr>
            <a:r>
              <a:t>Mission Elium Sauvegarde</a:t>
            </a:r>
          </a:p>
        </p:txBody>
      </p:sp>
      <p:sp>
        <p:nvSpPr>
          <p:cNvPr id="6" name="TextBox 5"/>
          <p:cNvSpPr txBox="1"/>
          <p:nvPr/>
        </p:nvSpPr>
        <p:spPr>
          <a:xfrm>
            <a:off x="4937760" y="3566160"/>
            <a:ext cx="6858000" cy="1371600"/>
          </a:xfrm>
          <a:prstGeom prst="rect">
            <a:avLst/>
          </a:prstGeom>
          <a:noFill/>
        </p:spPr>
        <p:txBody>
          <a:bodyPr wrap="square">
            <a:spAutoFit/>
          </a:bodyPr>
          <a:lstStyle/>
          <a:p>
            <a:pPr algn="l">
              <a:defRPr sz="1800" b="0" i="1">
                <a:solidFill>
                  <a:srgbClr val="666666"/>
                </a:solidFill>
              </a:defRPr>
            </a:pPr>
            <a:r>
              <a:t>Intervention dictée par l'urgence</a:t>
            </a:r>
          </a:p>
        </p:txBody>
      </p:sp>
      <p:sp>
        <p:nvSpPr>
          <p:cNvPr id="7" name="Freeform 10">
            <a:extLst>
              <a:ext uri="{FF2B5EF4-FFF2-40B4-BE49-F238E27FC236}">
                <a16:creationId xmlns:a16="http://schemas.microsoft.com/office/drawing/2014/main" id="{A5EA7B89-7DB8-405D-AFF4-966983BFEB71}"/>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8" name="Image 7">
            <a:extLst>
              <a:ext uri="{FF2B5EF4-FFF2-40B4-BE49-F238E27FC236}">
                <a16:creationId xmlns:a16="http://schemas.microsoft.com/office/drawing/2014/main" id="{C7244BA8-1535-4DAD-98B7-0D64E5F72150}"/>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ELIUM</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Elium Sauvegarde - Contexte et problème</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30 / 36</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371600"/>
            <a:ext cx="4754880" cy="365760"/>
          </a:xfrm>
          <a:prstGeom prst="rect">
            <a:avLst/>
          </a:prstGeom>
          <a:noFill/>
        </p:spPr>
        <p:txBody>
          <a:bodyPr wrap="square">
            <a:spAutoFit/>
          </a:bodyPr>
          <a:lstStyle/>
          <a:p>
            <a:pPr algn="l">
              <a:defRPr sz="1600" b="1" i="0">
                <a:solidFill>
                  <a:srgbClr val="003366"/>
                </a:solidFill>
              </a:defRPr>
            </a:pPr>
            <a:r>
              <a:t>Qu'est-ce qu'Elium Sauvegarde ?</a:t>
            </a:r>
          </a:p>
        </p:txBody>
      </p:sp>
      <p:sp>
        <p:nvSpPr>
          <p:cNvPr id="10" name="TextBox 9"/>
          <p:cNvSpPr txBox="1"/>
          <p:nvPr/>
        </p:nvSpPr>
        <p:spPr>
          <a:xfrm>
            <a:off x="731520" y="1828800"/>
            <a:ext cx="4754880" cy="1645920"/>
          </a:xfrm>
          <a:prstGeom prst="rect">
            <a:avLst/>
          </a:prstGeom>
          <a:noFill/>
        </p:spPr>
        <p:txBody>
          <a:bodyPr wrap="square">
            <a:spAutoFit/>
          </a:bodyPr>
          <a:lstStyle/>
          <a:p>
            <a:pPr algn="l">
              <a:defRPr sz="1100" b="0" i="0">
                <a:solidFill>
                  <a:srgbClr val="333333"/>
                </a:solidFill>
              </a:defRPr>
            </a:pPr>
            <a:r>
              <a:t>Application console .NET 6 qui archive automatiquement les articles de la plateforme de gestion des connaissances Elium vers SharePoint Online.</a:t>
            </a:r>
          </a:p>
          <a:p>
            <a:pPr algn="l">
              <a:defRPr sz="1100" b="0" i="0">
                <a:solidFill>
                  <a:srgbClr val="333333"/>
                </a:solidFill>
              </a:defRPr>
            </a:pPr>
            <a:endParaRPr/>
          </a:p>
          <a:p>
            <a:pPr algn="l">
              <a:defRPr sz="1100" b="0" i="0">
                <a:solidFill>
                  <a:srgbClr val="333333"/>
                </a:solidFill>
              </a:defRPr>
            </a:pPr>
            <a:r>
              <a:t>Flux : API GraphQL Elium → Console → Microsoft Graph → Pages SharePoint</a:t>
            </a:r>
          </a:p>
          <a:p>
            <a:pPr algn="l">
              <a:defRPr sz="1100" b="0" i="0">
                <a:solidFill>
                  <a:srgbClr val="333333"/>
                </a:solidFill>
              </a:defRPr>
            </a:pPr>
            <a:endParaRPr/>
          </a:p>
          <a:p>
            <a:pPr algn="l">
              <a:defRPr sz="1100" b="0" i="0">
                <a:solidFill>
                  <a:srgbClr val="333333"/>
                </a:solidFill>
              </a:defRPr>
            </a:pPr>
            <a:r>
              <a:t>Exécution planifiée en batch hebdomadaire.</a:t>
            </a:r>
          </a:p>
        </p:txBody>
      </p:sp>
      <p:sp>
        <p:nvSpPr>
          <p:cNvPr id="11" name="TextBox 10"/>
          <p:cNvSpPr txBox="1"/>
          <p:nvPr/>
        </p:nvSpPr>
        <p:spPr>
          <a:xfrm>
            <a:off x="731520" y="3840480"/>
            <a:ext cx="4754880" cy="365760"/>
          </a:xfrm>
          <a:prstGeom prst="rect">
            <a:avLst/>
          </a:prstGeom>
          <a:noFill/>
        </p:spPr>
        <p:txBody>
          <a:bodyPr wrap="square">
            <a:spAutoFit/>
          </a:bodyPr>
          <a:lstStyle/>
          <a:p>
            <a:pPr algn="l">
              <a:defRPr sz="1600" b="1" i="0">
                <a:solidFill>
                  <a:srgbClr val="C0392B"/>
                </a:solidFill>
              </a:defRPr>
            </a:pPr>
            <a:r>
              <a:t>Problème constaté en production</a:t>
            </a:r>
          </a:p>
        </p:txBody>
      </p:sp>
      <p:sp>
        <p:nvSpPr>
          <p:cNvPr id="12" name="Oval 11"/>
          <p:cNvSpPr/>
          <p:nvPr/>
        </p:nvSpPr>
        <p:spPr>
          <a:xfrm>
            <a:off x="822960" y="4343400"/>
            <a:ext cx="164592" cy="164592"/>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97280" y="4297680"/>
            <a:ext cx="4389120" cy="594360"/>
          </a:xfrm>
          <a:prstGeom prst="rect">
            <a:avLst/>
          </a:prstGeom>
          <a:noFill/>
        </p:spPr>
        <p:txBody>
          <a:bodyPr wrap="square">
            <a:spAutoFit/>
          </a:bodyPr>
          <a:lstStyle/>
          <a:p>
            <a:pPr algn="l">
              <a:defRPr sz="1000" b="0" i="0">
                <a:solidFill>
                  <a:srgbClr val="333333"/>
                </a:solidFill>
              </a:defRPr>
            </a:pPr>
            <a:r>
              <a:t>Une seule anomalie (article corrompu ou réponse</a:t>
            </a:r>
          </a:p>
          <a:p>
            <a:pPr algn="l">
              <a:defRPr sz="1000" b="0" i="0">
                <a:solidFill>
                  <a:srgbClr val="333333"/>
                </a:solidFill>
              </a:defRPr>
            </a:pPr>
            <a:r>
              <a:t>partielle de l'API) fait échouer TOUT le traitement</a:t>
            </a:r>
          </a:p>
        </p:txBody>
      </p:sp>
      <p:sp>
        <p:nvSpPr>
          <p:cNvPr id="14" name="Oval 13"/>
          <p:cNvSpPr/>
          <p:nvPr/>
        </p:nvSpPr>
        <p:spPr>
          <a:xfrm>
            <a:off x="822960" y="4983480"/>
            <a:ext cx="164592" cy="164592"/>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97280" y="4937760"/>
            <a:ext cx="4389120" cy="594360"/>
          </a:xfrm>
          <a:prstGeom prst="rect">
            <a:avLst/>
          </a:prstGeom>
          <a:noFill/>
        </p:spPr>
        <p:txBody>
          <a:bodyPr wrap="square">
            <a:spAutoFit/>
          </a:bodyPr>
          <a:lstStyle/>
          <a:p>
            <a:pPr algn="l">
              <a:defRPr sz="1000" b="0" i="0">
                <a:solidFill>
                  <a:srgbClr val="333333"/>
                </a:solidFill>
              </a:defRPr>
            </a:pPr>
            <a:r>
              <a:t>Comportement « tout ou rien » alors que</a:t>
            </a:r>
          </a:p>
          <a:p>
            <a:pPr algn="l">
              <a:defRPr sz="1000" b="0" i="0">
                <a:solidFill>
                  <a:srgbClr val="333333"/>
                </a:solidFill>
              </a:defRPr>
            </a:pPr>
            <a:r>
              <a:t>les articles sont indépendants</a:t>
            </a:r>
          </a:p>
        </p:txBody>
      </p:sp>
      <p:sp>
        <p:nvSpPr>
          <p:cNvPr id="16" name="Oval 15"/>
          <p:cNvSpPr/>
          <p:nvPr/>
        </p:nvSpPr>
        <p:spPr>
          <a:xfrm>
            <a:off x="822960" y="5623560"/>
            <a:ext cx="164592" cy="164592"/>
          </a:xfrm>
          <a:prstGeom prst="ellipse">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97280" y="5577840"/>
            <a:ext cx="4389120" cy="594360"/>
          </a:xfrm>
          <a:prstGeom prst="rect">
            <a:avLst/>
          </a:prstGeom>
          <a:noFill/>
        </p:spPr>
        <p:txBody>
          <a:bodyPr wrap="square">
            <a:spAutoFit/>
          </a:bodyPr>
          <a:lstStyle/>
          <a:p>
            <a:pPr algn="l">
              <a:defRPr sz="1000" b="0" i="0">
                <a:solidFill>
                  <a:srgbClr val="333333"/>
                </a:solidFill>
              </a:defRPr>
            </a:pPr>
            <a:r>
              <a:t>Impact : archivage interrompu, sauvegarde</a:t>
            </a:r>
          </a:p>
          <a:p>
            <a:pPr algn="l">
              <a:defRPr sz="1000" b="0" i="0">
                <a:solidFill>
                  <a:srgbClr val="333333"/>
                </a:solidFill>
              </a:defRPr>
            </a:pPr>
            <a:r>
              <a:t>des connaissances du service compromise</a:t>
            </a:r>
          </a:p>
        </p:txBody>
      </p:sp>
      <p:sp>
        <p:nvSpPr>
          <p:cNvPr id="18" name="TextBox 17"/>
          <p:cNvSpPr txBox="1"/>
          <p:nvPr/>
        </p:nvSpPr>
        <p:spPr>
          <a:xfrm>
            <a:off x="5943600" y="1234440"/>
            <a:ext cx="5669280" cy="274320"/>
          </a:xfrm>
          <a:prstGeom prst="rect">
            <a:avLst/>
          </a:prstGeom>
          <a:noFill/>
        </p:spPr>
        <p:txBody>
          <a:bodyPr wrap="square">
            <a:spAutoFit/>
          </a:bodyPr>
          <a:lstStyle/>
          <a:p>
            <a:pPr algn="ctr">
              <a:defRPr sz="1300" b="1" i="0">
                <a:solidFill>
                  <a:srgbClr val="003366"/>
                </a:solidFill>
              </a:defRPr>
            </a:pPr>
            <a:r>
              <a:t>Flux de traitement Elium Sauvegarde</a:t>
            </a:r>
          </a:p>
        </p:txBody>
      </p:sp>
      <p:sp>
        <p:nvSpPr>
          <p:cNvPr id="19" name="Rectangle 18"/>
          <p:cNvSpPr/>
          <p:nvPr/>
        </p:nvSpPr>
        <p:spPr>
          <a:xfrm>
            <a:off x="5943600" y="1554480"/>
            <a:ext cx="5669280" cy="438912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Capture d'écran à insérer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ELIUM</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Elium Sauvegarde - Solution retenue</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31 / 36</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TextBox 8"/>
          <p:cNvSpPr txBox="1"/>
          <p:nvPr/>
        </p:nvSpPr>
        <p:spPr>
          <a:xfrm>
            <a:off x="731520" y="1371600"/>
            <a:ext cx="5486400" cy="365760"/>
          </a:xfrm>
          <a:prstGeom prst="rect">
            <a:avLst/>
          </a:prstGeom>
          <a:noFill/>
        </p:spPr>
        <p:txBody>
          <a:bodyPr wrap="square">
            <a:spAutoFit/>
          </a:bodyPr>
          <a:lstStyle/>
          <a:p>
            <a:pPr algn="l">
              <a:defRPr sz="1600" b="1" i="0">
                <a:solidFill>
                  <a:srgbClr val="003366"/>
                </a:solidFill>
              </a:defRPr>
            </a:pPr>
            <a:r>
              <a:t>3 options étudiées</a:t>
            </a:r>
          </a:p>
        </p:txBody>
      </p:sp>
      <p:sp>
        <p:nvSpPr>
          <p:cNvPr id="10" name="Rounded Rectangle 9"/>
          <p:cNvSpPr/>
          <p:nvPr/>
        </p:nvSpPr>
        <p:spPr>
          <a:xfrm>
            <a:off x="731520" y="1874519"/>
            <a:ext cx="1097280" cy="5943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Option 1</a:t>
            </a:r>
          </a:p>
        </p:txBody>
      </p:sp>
      <p:sp>
        <p:nvSpPr>
          <p:cNvPr id="11" name="TextBox 10"/>
          <p:cNvSpPr txBox="1"/>
          <p:nvPr/>
        </p:nvSpPr>
        <p:spPr>
          <a:xfrm>
            <a:off x="1965960" y="1874519"/>
            <a:ext cx="3931920" cy="320040"/>
          </a:xfrm>
          <a:prstGeom prst="rect">
            <a:avLst/>
          </a:prstGeom>
          <a:noFill/>
        </p:spPr>
        <p:txBody>
          <a:bodyPr wrap="square">
            <a:spAutoFit/>
          </a:bodyPr>
          <a:lstStyle/>
          <a:p>
            <a:pPr algn="l">
              <a:defRPr sz="1100" b="1" i="0">
                <a:solidFill>
                  <a:srgbClr val="333333"/>
                </a:solidFill>
              </a:defRPr>
            </a:pPr>
            <a:r>
              <a:t>Relancer l'exécution complète en cas d'échec</a:t>
            </a:r>
          </a:p>
        </p:txBody>
      </p:sp>
      <p:sp>
        <p:nvSpPr>
          <p:cNvPr id="12" name="TextBox 11"/>
          <p:cNvSpPr txBox="1"/>
          <p:nvPr/>
        </p:nvSpPr>
        <p:spPr>
          <a:xfrm>
            <a:off x="1965960" y="2167127"/>
            <a:ext cx="3931920" cy="274320"/>
          </a:xfrm>
          <a:prstGeom prst="rect">
            <a:avLst/>
          </a:prstGeom>
          <a:noFill/>
        </p:spPr>
        <p:txBody>
          <a:bodyPr wrap="square">
            <a:spAutoFit/>
          </a:bodyPr>
          <a:lstStyle/>
          <a:p>
            <a:pPr algn="l">
              <a:defRPr sz="900" b="0" i="1">
                <a:solidFill>
                  <a:srgbClr val="666666"/>
                </a:solidFill>
              </a:defRPr>
            </a:pPr>
            <a:r>
              <a:t>La relance échoue au même endroit</a:t>
            </a:r>
          </a:p>
        </p:txBody>
      </p:sp>
      <p:sp>
        <p:nvSpPr>
          <p:cNvPr id="13" name="Rounded Rectangle 12"/>
          <p:cNvSpPr/>
          <p:nvPr/>
        </p:nvSpPr>
        <p:spPr>
          <a:xfrm>
            <a:off x="4846320" y="1892807"/>
            <a:ext cx="1188720" cy="27432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900" b="1">
                <a:solidFill>
                  <a:srgbClr val="FFFFFF"/>
                </a:solidFill>
              </a:defRPr>
            </a:pPr>
            <a:r>
              <a:t>Écartée</a:t>
            </a:r>
          </a:p>
        </p:txBody>
      </p:sp>
      <p:sp>
        <p:nvSpPr>
          <p:cNvPr id="14" name="Rounded Rectangle 13"/>
          <p:cNvSpPr/>
          <p:nvPr/>
        </p:nvSpPr>
        <p:spPr>
          <a:xfrm>
            <a:off x="731520" y="2651759"/>
            <a:ext cx="1097280" cy="594360"/>
          </a:xfrm>
          <a:prstGeom prst="round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Option 2</a:t>
            </a:r>
          </a:p>
        </p:txBody>
      </p:sp>
      <p:sp>
        <p:nvSpPr>
          <p:cNvPr id="15" name="TextBox 14"/>
          <p:cNvSpPr txBox="1"/>
          <p:nvPr/>
        </p:nvSpPr>
        <p:spPr>
          <a:xfrm>
            <a:off x="1965960" y="2651759"/>
            <a:ext cx="3931920" cy="320040"/>
          </a:xfrm>
          <a:prstGeom prst="rect">
            <a:avLst/>
          </a:prstGeom>
          <a:noFill/>
        </p:spPr>
        <p:txBody>
          <a:bodyPr wrap="square">
            <a:spAutoFit/>
          </a:bodyPr>
          <a:lstStyle/>
          <a:p>
            <a:pPr algn="l">
              <a:defRPr sz="1100" b="1" i="0">
                <a:solidFill>
                  <a:srgbClr val="333333"/>
                </a:solidFill>
              </a:defRPr>
            </a:pPr>
            <a:r>
              <a:t>Exclure en amont les articles non conformes</a:t>
            </a:r>
          </a:p>
        </p:txBody>
      </p:sp>
      <p:sp>
        <p:nvSpPr>
          <p:cNvPr id="16" name="TextBox 15"/>
          <p:cNvSpPr txBox="1"/>
          <p:nvPr/>
        </p:nvSpPr>
        <p:spPr>
          <a:xfrm>
            <a:off x="1965960" y="2944367"/>
            <a:ext cx="3931920" cy="274320"/>
          </a:xfrm>
          <a:prstGeom prst="rect">
            <a:avLst/>
          </a:prstGeom>
          <a:noFill/>
        </p:spPr>
        <p:txBody>
          <a:bodyPr wrap="square">
            <a:spAutoFit/>
          </a:bodyPr>
          <a:lstStyle/>
          <a:p>
            <a:pPr algn="l">
              <a:defRPr sz="900" b="0" i="1">
                <a:solidFill>
                  <a:srgbClr val="666666"/>
                </a:solidFill>
              </a:defRPr>
            </a:pPr>
            <a:r>
              <a:t>Liste d'exclusion manuelle, pas pérenne</a:t>
            </a:r>
          </a:p>
        </p:txBody>
      </p:sp>
      <p:sp>
        <p:nvSpPr>
          <p:cNvPr id="17" name="Rounded Rectangle 16"/>
          <p:cNvSpPr/>
          <p:nvPr/>
        </p:nvSpPr>
        <p:spPr>
          <a:xfrm>
            <a:off x="4846320" y="2670047"/>
            <a:ext cx="1188720" cy="27432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900" b="1">
                <a:solidFill>
                  <a:srgbClr val="FFFFFF"/>
                </a:solidFill>
              </a:defRPr>
            </a:pPr>
            <a:r>
              <a:t>Écartée</a:t>
            </a:r>
          </a:p>
        </p:txBody>
      </p:sp>
      <p:sp>
        <p:nvSpPr>
          <p:cNvPr id="18" name="Rounded Rectangle 17"/>
          <p:cNvSpPr/>
          <p:nvPr/>
        </p:nvSpPr>
        <p:spPr>
          <a:xfrm>
            <a:off x="731520" y="3428999"/>
            <a:ext cx="1097280" cy="594360"/>
          </a:xfrm>
          <a:prstGeom prst="round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1100" b="1">
                <a:solidFill>
                  <a:srgbClr val="FFFFFF"/>
                </a:solidFill>
              </a:defRPr>
            </a:pPr>
            <a:r>
              <a:t>Option 3</a:t>
            </a:r>
          </a:p>
        </p:txBody>
      </p:sp>
      <p:sp>
        <p:nvSpPr>
          <p:cNvPr id="19" name="TextBox 18"/>
          <p:cNvSpPr txBox="1"/>
          <p:nvPr/>
        </p:nvSpPr>
        <p:spPr>
          <a:xfrm>
            <a:off x="1965960" y="3428999"/>
            <a:ext cx="3931920" cy="320040"/>
          </a:xfrm>
          <a:prstGeom prst="rect">
            <a:avLst/>
          </a:prstGeom>
          <a:noFill/>
        </p:spPr>
        <p:txBody>
          <a:bodyPr wrap="square">
            <a:spAutoFit/>
          </a:bodyPr>
          <a:lstStyle/>
          <a:p>
            <a:pPr algn="l">
              <a:defRPr sz="1100" b="1" i="0">
                <a:solidFill>
                  <a:srgbClr val="333333"/>
                </a:solidFill>
              </a:defRPr>
            </a:pPr>
            <a:r>
              <a:t>Isoler le traitement de chaque article</a:t>
            </a:r>
          </a:p>
        </p:txBody>
      </p:sp>
      <p:sp>
        <p:nvSpPr>
          <p:cNvPr id="20" name="TextBox 19"/>
          <p:cNvSpPr txBox="1"/>
          <p:nvPr/>
        </p:nvSpPr>
        <p:spPr>
          <a:xfrm>
            <a:off x="1965960" y="3721607"/>
            <a:ext cx="3931920" cy="274320"/>
          </a:xfrm>
          <a:prstGeom prst="rect">
            <a:avLst/>
          </a:prstGeom>
          <a:noFill/>
        </p:spPr>
        <p:txBody>
          <a:bodyPr wrap="square">
            <a:spAutoFit/>
          </a:bodyPr>
          <a:lstStyle/>
          <a:p>
            <a:pPr algn="l">
              <a:defRPr sz="900" b="0" i="1">
                <a:solidFill>
                  <a:srgbClr val="666666"/>
                </a:solidFill>
              </a:defRPr>
            </a:pPr>
            <a:r>
              <a:t>Cause structurelle traitée, résultat partiel mais tracé</a:t>
            </a:r>
          </a:p>
        </p:txBody>
      </p:sp>
      <p:sp>
        <p:nvSpPr>
          <p:cNvPr id="21" name="Rounded Rectangle 20"/>
          <p:cNvSpPr/>
          <p:nvPr/>
        </p:nvSpPr>
        <p:spPr>
          <a:xfrm>
            <a:off x="4846320" y="3447287"/>
            <a:ext cx="1188720" cy="274320"/>
          </a:xfrm>
          <a:prstGeom prst="round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defRPr sz="900" b="1">
                <a:solidFill>
                  <a:srgbClr val="FFFFFF"/>
                </a:solidFill>
              </a:defRPr>
            </a:pPr>
            <a:r>
              <a:t>Retenue</a:t>
            </a:r>
          </a:p>
        </p:txBody>
      </p:sp>
      <p:sp>
        <p:nvSpPr>
          <p:cNvPr id="22" name="TextBox 21"/>
          <p:cNvSpPr txBox="1"/>
          <p:nvPr/>
        </p:nvSpPr>
        <p:spPr>
          <a:xfrm>
            <a:off x="731520" y="4297680"/>
            <a:ext cx="5486400" cy="365760"/>
          </a:xfrm>
          <a:prstGeom prst="rect">
            <a:avLst/>
          </a:prstGeom>
          <a:noFill/>
        </p:spPr>
        <p:txBody>
          <a:bodyPr wrap="square">
            <a:spAutoFit/>
          </a:bodyPr>
          <a:lstStyle/>
          <a:p>
            <a:pPr algn="l">
              <a:defRPr sz="1400" b="1" i="0">
                <a:solidFill>
                  <a:srgbClr val="2E8B3D"/>
                </a:solidFill>
              </a:defRPr>
            </a:pPr>
            <a:r>
              <a:t>Améliorations complémentaires</a:t>
            </a:r>
          </a:p>
        </p:txBody>
      </p:sp>
      <p:sp>
        <p:nvSpPr>
          <p:cNvPr id="23" name="Oval 22"/>
          <p:cNvSpPr/>
          <p:nvPr/>
        </p:nvSpPr>
        <p:spPr>
          <a:xfrm>
            <a:off x="822960" y="4754880"/>
            <a:ext cx="137160" cy="137160"/>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97280" y="4709160"/>
            <a:ext cx="5029200" cy="320040"/>
          </a:xfrm>
          <a:prstGeom prst="rect">
            <a:avLst/>
          </a:prstGeom>
          <a:noFill/>
        </p:spPr>
        <p:txBody>
          <a:bodyPr wrap="square">
            <a:spAutoFit/>
          </a:bodyPr>
          <a:lstStyle/>
          <a:p>
            <a:pPr algn="l">
              <a:defRPr sz="1000" b="0" i="0">
                <a:solidFill>
                  <a:srgbClr val="333333"/>
                </a:solidFill>
              </a:defRPr>
            </a:pPr>
            <a:r>
              <a:t>Création automatique des dossiers SharePoint manquants</a:t>
            </a:r>
          </a:p>
        </p:txBody>
      </p:sp>
      <p:sp>
        <p:nvSpPr>
          <p:cNvPr id="25" name="Oval 24"/>
          <p:cNvSpPr/>
          <p:nvPr/>
        </p:nvSpPr>
        <p:spPr>
          <a:xfrm>
            <a:off x="822960" y="5120640"/>
            <a:ext cx="137160" cy="137160"/>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97280" y="5074920"/>
            <a:ext cx="5029200" cy="320040"/>
          </a:xfrm>
          <a:prstGeom prst="rect">
            <a:avLst/>
          </a:prstGeom>
          <a:noFill/>
        </p:spPr>
        <p:txBody>
          <a:bodyPr wrap="square">
            <a:spAutoFit/>
          </a:bodyPr>
          <a:lstStyle/>
          <a:p>
            <a:pPr algn="l">
              <a:defRPr sz="1000" b="0" i="0">
                <a:solidFill>
                  <a:srgbClr val="333333"/>
                </a:solidFill>
              </a:defRPr>
            </a:pPr>
            <a:r>
              <a:t>Résumé d'exécution : pages créées, échecs, taux de réussite, durée</a:t>
            </a:r>
          </a:p>
        </p:txBody>
      </p:sp>
      <p:sp>
        <p:nvSpPr>
          <p:cNvPr id="27" name="Oval 26"/>
          <p:cNvSpPr/>
          <p:nvPr/>
        </p:nvSpPr>
        <p:spPr>
          <a:xfrm>
            <a:off x="822960" y="5486400"/>
            <a:ext cx="137160" cy="137160"/>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97280" y="5440680"/>
            <a:ext cx="5029200" cy="320040"/>
          </a:xfrm>
          <a:prstGeom prst="rect">
            <a:avLst/>
          </a:prstGeom>
          <a:noFill/>
        </p:spPr>
        <p:txBody>
          <a:bodyPr wrap="square">
            <a:spAutoFit/>
          </a:bodyPr>
          <a:lstStyle/>
          <a:p>
            <a:pPr algn="l">
              <a:defRPr sz="1000" b="0" i="0">
                <a:solidFill>
                  <a:srgbClr val="333333"/>
                </a:solidFill>
              </a:defRPr>
            </a:pPr>
            <a:r>
              <a:t>Mode synchronisation complète / incrémentale configurable</a:t>
            </a:r>
          </a:p>
        </p:txBody>
      </p:sp>
      <p:sp>
        <p:nvSpPr>
          <p:cNvPr id="29" name="Oval 28"/>
          <p:cNvSpPr/>
          <p:nvPr/>
        </p:nvSpPr>
        <p:spPr>
          <a:xfrm>
            <a:off x="822960" y="5852160"/>
            <a:ext cx="137160" cy="137160"/>
          </a:xfrm>
          <a:prstGeom prst="ellipse">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97280" y="5806440"/>
            <a:ext cx="5029200" cy="320040"/>
          </a:xfrm>
          <a:prstGeom prst="rect">
            <a:avLst/>
          </a:prstGeom>
          <a:noFill/>
        </p:spPr>
        <p:txBody>
          <a:bodyPr wrap="square">
            <a:spAutoFit/>
          </a:bodyPr>
          <a:lstStyle/>
          <a:p>
            <a:pPr algn="l">
              <a:defRPr sz="1000" b="0" i="0">
                <a:solidFill>
                  <a:srgbClr val="333333"/>
                </a:solidFill>
              </a:defRPr>
            </a:pPr>
            <a:r>
              <a:t>Distinction réponse partielle API vs indisponibilité serveur</a:t>
            </a:r>
          </a:p>
        </p:txBody>
      </p:sp>
      <p:sp>
        <p:nvSpPr>
          <p:cNvPr id="31" name="TextBox 30"/>
          <p:cNvSpPr txBox="1"/>
          <p:nvPr/>
        </p:nvSpPr>
        <p:spPr>
          <a:xfrm>
            <a:off x="6583680" y="1234440"/>
            <a:ext cx="5029200" cy="274320"/>
          </a:xfrm>
          <a:prstGeom prst="rect">
            <a:avLst/>
          </a:prstGeom>
          <a:noFill/>
        </p:spPr>
        <p:txBody>
          <a:bodyPr wrap="square">
            <a:spAutoFit/>
          </a:bodyPr>
          <a:lstStyle/>
          <a:p>
            <a:pPr algn="ctr">
              <a:defRPr sz="1300" b="1" i="0">
                <a:solidFill>
                  <a:srgbClr val="003366"/>
                </a:solidFill>
              </a:defRPr>
            </a:pPr>
            <a:r>
              <a:t>Résultat : pages SharePoint archivées</a:t>
            </a:r>
          </a:p>
        </p:txBody>
      </p:sp>
      <p:sp>
        <p:nvSpPr>
          <p:cNvPr id="32" name="Rectangle 31"/>
          <p:cNvSpPr/>
          <p:nvPr/>
        </p:nvSpPr>
        <p:spPr>
          <a:xfrm>
            <a:off x="6583680" y="1554480"/>
            <a:ext cx="5029200" cy="4389120"/>
          </a:xfrm>
          <a:prstGeom prst="rect">
            <a:avLst/>
          </a:prstGeom>
          <a:solidFill>
            <a:srgbClr val="F0F0F0"/>
          </a:solidFill>
          <a:ln w="12700">
            <a:solidFill>
              <a:srgbClr val="CCCCCC"/>
            </a:solidFill>
            <a:prstDash val="lgDash"/>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i="1">
                <a:solidFill>
                  <a:srgbClr val="666666"/>
                </a:solidFill>
              </a:defRPr>
            </a:pPr>
            <a:r>
              <a:t>[ Capture d'écran à insérer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06</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1371600"/>
          </a:xfrm>
          <a:prstGeom prst="rect">
            <a:avLst/>
          </a:prstGeom>
          <a:noFill/>
        </p:spPr>
        <p:txBody>
          <a:bodyPr wrap="square">
            <a:spAutoFit/>
          </a:bodyPr>
          <a:lstStyle/>
          <a:p>
            <a:pPr algn="l">
              <a:defRPr sz="4400" b="1" i="0">
                <a:solidFill>
                  <a:srgbClr val="003366"/>
                </a:solidFill>
              </a:defRPr>
            </a:pPr>
            <a:r>
              <a:t>Recul et compétences acquises</a:t>
            </a:r>
          </a:p>
        </p:txBody>
      </p:sp>
      <p:sp>
        <p:nvSpPr>
          <p:cNvPr id="6" name="TextBox 5"/>
          <p:cNvSpPr txBox="1"/>
          <p:nvPr/>
        </p:nvSpPr>
        <p:spPr>
          <a:xfrm>
            <a:off x="4937760" y="3566160"/>
            <a:ext cx="6858000" cy="1371600"/>
          </a:xfrm>
          <a:prstGeom prst="rect">
            <a:avLst/>
          </a:prstGeom>
          <a:noFill/>
        </p:spPr>
        <p:txBody>
          <a:bodyPr wrap="square">
            <a:spAutoFit/>
          </a:bodyPr>
          <a:lstStyle/>
          <a:p>
            <a:pPr algn="l">
              <a:defRPr sz="1800" b="0" i="1">
                <a:solidFill>
                  <a:srgbClr val="666666"/>
                </a:solidFill>
              </a:defRPr>
            </a:pPr>
            <a:r>
              <a:t>Ce que l'expérience m'a réellement apporté</a:t>
            </a:r>
          </a:p>
        </p:txBody>
      </p:sp>
      <p:sp>
        <p:nvSpPr>
          <p:cNvPr id="7" name="Freeform 10">
            <a:extLst>
              <a:ext uri="{FF2B5EF4-FFF2-40B4-BE49-F238E27FC236}">
                <a16:creationId xmlns:a16="http://schemas.microsoft.com/office/drawing/2014/main" id="{C78055A4-B73E-452C-87E0-0C22666AD50E}"/>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8" name="Image 7">
            <a:extLst>
              <a:ext uri="{FF2B5EF4-FFF2-40B4-BE49-F238E27FC236}">
                <a16:creationId xmlns:a16="http://schemas.microsoft.com/office/drawing/2014/main" id="{4E64E442-D1A6-4848-9CC9-691220BBB619}"/>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RECUL</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Apports du stage</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2000"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840" y="6611112"/>
            <a:ext cx="1097280" cy="228600"/>
          </a:xfrm>
          <a:prstGeom prst="rect">
            <a:avLst/>
          </a:prstGeom>
          <a:noFill/>
        </p:spPr>
        <p:txBody>
          <a:bodyPr wrap="square">
            <a:spAutoFit/>
          </a:bodyPr>
          <a:lstStyle/>
          <a:p>
            <a:pPr algn="r">
              <a:defRPr sz="1000" b="0" i="0">
                <a:solidFill>
                  <a:srgbClr val="FFFFFF"/>
                </a:solidFill>
              </a:defRPr>
            </a:pPr>
            <a:r>
              <a:t>33 / 36</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9" name="Rounded Rectangle 8"/>
          <p:cNvSpPr/>
          <p:nvPr/>
        </p:nvSpPr>
        <p:spPr>
          <a:xfrm>
            <a:off x="457200" y="1325880"/>
            <a:ext cx="3611880" cy="5074920"/>
          </a:xfrm>
          <a:prstGeom prst="roundRect">
            <a:avLst/>
          </a:prstGeom>
          <a:solidFill>
            <a:srgbClr val="FFFFFF"/>
          </a:solidFill>
          <a:ln w="19050">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57200" y="1325880"/>
            <a:ext cx="3611880" cy="5029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Apports techniques</a:t>
            </a:r>
          </a:p>
        </p:txBody>
      </p:sp>
      <p:sp>
        <p:nvSpPr>
          <p:cNvPr id="11" name="TextBox 10"/>
          <p:cNvSpPr txBox="1"/>
          <p:nvPr/>
        </p:nvSpPr>
        <p:spPr>
          <a:xfrm>
            <a:off x="640080" y="1965960"/>
            <a:ext cx="3200400" cy="274320"/>
          </a:xfrm>
          <a:prstGeom prst="rect">
            <a:avLst/>
          </a:prstGeom>
          <a:noFill/>
        </p:spPr>
        <p:txBody>
          <a:bodyPr wrap="square">
            <a:spAutoFit/>
          </a:bodyPr>
          <a:lstStyle/>
          <a:p>
            <a:pPr algn="l">
              <a:defRPr sz="1000" b="1" i="0">
                <a:solidFill>
                  <a:srgbClr val="003366"/>
                </a:solidFill>
              </a:defRPr>
            </a:pPr>
            <a:r>
              <a:t>Système en production</a:t>
            </a:r>
          </a:p>
        </p:txBody>
      </p:sp>
      <p:sp>
        <p:nvSpPr>
          <p:cNvPr id="12" name="TextBox 11"/>
          <p:cNvSpPr txBox="1"/>
          <p:nvPr/>
        </p:nvSpPr>
        <p:spPr>
          <a:xfrm>
            <a:off x="640080" y="2221992"/>
            <a:ext cx="3200400" cy="594360"/>
          </a:xfrm>
          <a:prstGeom prst="rect">
            <a:avLst/>
          </a:prstGeom>
          <a:noFill/>
        </p:spPr>
        <p:txBody>
          <a:bodyPr wrap="square">
            <a:spAutoFit/>
          </a:bodyPr>
          <a:lstStyle/>
          <a:p>
            <a:pPr algn="l">
              <a:defRPr sz="900" b="0" i="0">
                <a:solidFill>
                  <a:srgbClr val="333333"/>
                </a:solidFill>
              </a:defRPr>
            </a:pPr>
            <a:r>
              <a:t>Normaliser une base avec données</a:t>
            </a:r>
          </a:p>
          <a:p>
            <a:pPr algn="l">
              <a:defRPr sz="900" b="0" i="0">
                <a:solidFill>
                  <a:srgbClr val="333333"/>
                </a:solidFill>
              </a:defRPr>
            </a:pPr>
            <a:r>
              <a:t>dégradées ≠ normaliser une base vide</a:t>
            </a:r>
          </a:p>
        </p:txBody>
      </p:sp>
      <p:sp>
        <p:nvSpPr>
          <p:cNvPr id="13" name="TextBox 12"/>
          <p:cNvSpPr txBox="1"/>
          <p:nvPr/>
        </p:nvSpPr>
        <p:spPr>
          <a:xfrm>
            <a:off x="640080" y="2880360"/>
            <a:ext cx="3200400" cy="274320"/>
          </a:xfrm>
          <a:prstGeom prst="rect">
            <a:avLst/>
          </a:prstGeom>
          <a:noFill/>
        </p:spPr>
        <p:txBody>
          <a:bodyPr wrap="square">
            <a:spAutoFit/>
          </a:bodyPr>
          <a:lstStyle/>
          <a:p>
            <a:pPr algn="l">
              <a:defRPr sz="1000" b="1" i="0">
                <a:solidFill>
                  <a:srgbClr val="003366"/>
                </a:solidFill>
              </a:defRPr>
            </a:pPr>
            <a:r>
              <a:t>Migration incrémentale</a:t>
            </a:r>
          </a:p>
        </p:txBody>
      </p:sp>
      <p:sp>
        <p:nvSpPr>
          <p:cNvPr id="14" name="TextBox 13"/>
          <p:cNvSpPr txBox="1"/>
          <p:nvPr/>
        </p:nvSpPr>
        <p:spPr>
          <a:xfrm>
            <a:off x="640080" y="3136392"/>
            <a:ext cx="3200400" cy="594360"/>
          </a:xfrm>
          <a:prstGeom prst="rect">
            <a:avLst/>
          </a:prstGeom>
          <a:noFill/>
        </p:spPr>
        <p:txBody>
          <a:bodyPr wrap="square">
            <a:spAutoFit/>
          </a:bodyPr>
          <a:lstStyle/>
          <a:p>
            <a:pPr algn="l">
              <a:defRPr sz="900" b="0" i="0">
                <a:solidFill>
                  <a:srgbClr val="333333"/>
                </a:solidFill>
              </a:defRPr>
            </a:pPr>
            <a:r>
              <a:t>Angular 14→20 palier par palier :</a:t>
            </a:r>
          </a:p>
          <a:p>
            <a:pPr algn="l">
              <a:defRPr sz="900" b="0" i="0">
                <a:solidFill>
                  <a:srgbClr val="333333"/>
                </a:solidFill>
              </a:defRPr>
            </a:pPr>
            <a:r>
              <a:t>isoler chaque cause de régression</a:t>
            </a:r>
          </a:p>
        </p:txBody>
      </p:sp>
      <p:sp>
        <p:nvSpPr>
          <p:cNvPr id="15" name="TextBox 14"/>
          <p:cNvSpPr txBox="1"/>
          <p:nvPr/>
        </p:nvSpPr>
        <p:spPr>
          <a:xfrm>
            <a:off x="640080" y="3794760"/>
            <a:ext cx="3200400" cy="274320"/>
          </a:xfrm>
          <a:prstGeom prst="rect">
            <a:avLst/>
          </a:prstGeom>
          <a:noFill/>
        </p:spPr>
        <p:txBody>
          <a:bodyPr wrap="square">
            <a:spAutoFit/>
          </a:bodyPr>
          <a:lstStyle/>
          <a:p>
            <a:pPr algn="l">
              <a:defRPr sz="1000" b="1" i="0">
                <a:solidFill>
                  <a:srgbClr val="003366"/>
                </a:solidFill>
              </a:defRPr>
            </a:pPr>
            <a:r>
              <a:t>Diagnostic sans erreur</a:t>
            </a:r>
          </a:p>
        </p:txBody>
      </p:sp>
      <p:sp>
        <p:nvSpPr>
          <p:cNvPr id="16" name="TextBox 15"/>
          <p:cNvSpPr txBox="1"/>
          <p:nvPr/>
        </p:nvSpPr>
        <p:spPr>
          <a:xfrm>
            <a:off x="640080" y="4050792"/>
            <a:ext cx="3200400" cy="594360"/>
          </a:xfrm>
          <a:prstGeom prst="rect">
            <a:avLst/>
          </a:prstGeom>
          <a:noFill/>
        </p:spPr>
        <p:txBody>
          <a:bodyPr wrap="square">
            <a:spAutoFit/>
          </a:bodyPr>
          <a:lstStyle/>
          <a:p>
            <a:pPr algn="l">
              <a:defRPr sz="900" b="0" i="0">
                <a:solidFill>
                  <a:srgbClr val="333333"/>
                </a:solidFill>
              </a:defRPr>
            </a:pPr>
            <a:r>
              <a:t>Elium : raisonner par élimination</a:t>
            </a:r>
          </a:p>
          <a:p>
            <a:pPr algn="l">
              <a:defRPr sz="900" b="0" i="0">
                <a:solidFill>
                  <a:srgbClr val="333333"/>
                </a:solidFill>
              </a:defRPr>
            </a:pPr>
            <a:r>
              <a:t>quand aucun message d'erreur n'apparaît</a:t>
            </a:r>
          </a:p>
        </p:txBody>
      </p:sp>
      <p:sp>
        <p:nvSpPr>
          <p:cNvPr id="17" name="TextBox 16"/>
          <p:cNvSpPr txBox="1"/>
          <p:nvPr/>
        </p:nvSpPr>
        <p:spPr>
          <a:xfrm>
            <a:off x="640080" y="4709160"/>
            <a:ext cx="3200400" cy="274320"/>
          </a:xfrm>
          <a:prstGeom prst="rect">
            <a:avLst/>
          </a:prstGeom>
          <a:noFill/>
        </p:spPr>
        <p:txBody>
          <a:bodyPr wrap="square">
            <a:spAutoFit/>
          </a:bodyPr>
          <a:lstStyle/>
          <a:p>
            <a:pPr algn="l">
              <a:defRPr sz="1000" b="1" i="0">
                <a:solidFill>
                  <a:srgbClr val="003366"/>
                </a:solidFill>
              </a:defRPr>
            </a:pPr>
            <a:r>
              <a:t>Qualité imposée</a:t>
            </a:r>
          </a:p>
        </p:txBody>
      </p:sp>
      <p:sp>
        <p:nvSpPr>
          <p:cNvPr id="18" name="TextBox 17"/>
          <p:cNvSpPr txBox="1"/>
          <p:nvPr/>
        </p:nvSpPr>
        <p:spPr>
          <a:xfrm>
            <a:off x="640080" y="4965192"/>
            <a:ext cx="3200400" cy="594360"/>
          </a:xfrm>
          <a:prstGeom prst="rect">
            <a:avLst/>
          </a:prstGeom>
          <a:noFill/>
        </p:spPr>
        <p:txBody>
          <a:bodyPr wrap="square">
            <a:spAutoFit/>
          </a:bodyPr>
          <a:lstStyle/>
          <a:p>
            <a:pPr algn="l">
              <a:defRPr sz="900" b="0" i="0">
                <a:solidFill>
                  <a:srgbClr val="333333"/>
                </a:solidFill>
              </a:defRPr>
            </a:pPr>
            <a:r>
              <a:t>SonarQube + Checkmarx sur chaque</a:t>
            </a:r>
          </a:p>
          <a:p>
            <a:pPr algn="l">
              <a:defRPr sz="900" b="0" i="0">
                <a:solidFill>
                  <a:srgbClr val="333333"/>
                </a:solidFill>
              </a:defRPr>
            </a:pPr>
            <a:r>
              <a:t>livraison = standard objectif</a:t>
            </a:r>
          </a:p>
        </p:txBody>
      </p:sp>
      <p:sp>
        <p:nvSpPr>
          <p:cNvPr id="19" name="TextBox 18"/>
          <p:cNvSpPr txBox="1"/>
          <p:nvPr/>
        </p:nvSpPr>
        <p:spPr>
          <a:xfrm>
            <a:off x="640080" y="5623560"/>
            <a:ext cx="3200400" cy="274320"/>
          </a:xfrm>
          <a:prstGeom prst="rect">
            <a:avLst/>
          </a:prstGeom>
          <a:noFill/>
        </p:spPr>
        <p:txBody>
          <a:bodyPr wrap="square">
            <a:spAutoFit/>
          </a:bodyPr>
          <a:lstStyle/>
          <a:p>
            <a:pPr algn="l">
              <a:defRPr sz="1000" b="1" i="0">
                <a:solidFill>
                  <a:srgbClr val="003366"/>
                </a:solidFill>
              </a:defRPr>
            </a:pPr>
            <a:r>
              <a:t>Sécurité serveur</a:t>
            </a:r>
          </a:p>
        </p:txBody>
      </p:sp>
      <p:sp>
        <p:nvSpPr>
          <p:cNvPr id="20" name="TextBox 19"/>
          <p:cNvSpPr txBox="1"/>
          <p:nvPr/>
        </p:nvSpPr>
        <p:spPr>
          <a:xfrm>
            <a:off x="640080" y="5879592"/>
            <a:ext cx="3200400" cy="594360"/>
          </a:xfrm>
          <a:prstGeom prst="rect">
            <a:avLst/>
          </a:prstGeom>
          <a:noFill/>
        </p:spPr>
        <p:txBody>
          <a:bodyPr wrap="square">
            <a:spAutoFit/>
          </a:bodyPr>
          <a:lstStyle/>
          <a:p>
            <a:pPr algn="l">
              <a:defRPr sz="900" b="0" i="0">
                <a:solidFill>
                  <a:srgbClr val="333333"/>
                </a:solidFill>
              </a:defRPr>
            </a:pPr>
            <a:r>
              <a:t>Contrôles côté serveur, Key Vault</a:t>
            </a:r>
          </a:p>
          <a:p>
            <a:pPr algn="l">
              <a:defRPr sz="900" b="0" i="0">
                <a:solidFill>
                  <a:srgbClr val="333333"/>
                </a:solidFill>
              </a:defRPr>
            </a:pPr>
            <a:r>
              <a:t>pour externaliser les secrets</a:t>
            </a:r>
          </a:p>
        </p:txBody>
      </p:sp>
      <p:sp>
        <p:nvSpPr>
          <p:cNvPr id="21" name="Rounded Rectangle 20"/>
          <p:cNvSpPr/>
          <p:nvPr/>
        </p:nvSpPr>
        <p:spPr>
          <a:xfrm>
            <a:off x="4297680" y="1325880"/>
            <a:ext cx="3611880" cy="5074920"/>
          </a:xfrm>
          <a:prstGeom prst="roundRect">
            <a:avLst/>
          </a:prstGeom>
          <a:solidFill>
            <a:srgbClr val="FFFFFF"/>
          </a:solidFill>
          <a:ln w="1905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297680" y="1325880"/>
            <a:ext cx="3611880" cy="502920"/>
          </a:xfrm>
          <a:prstGeom prst="rect">
            <a:avLst/>
          </a:prstGeom>
          <a:solidFill>
            <a:srgbClr val="2E8B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Apports humains</a:t>
            </a:r>
          </a:p>
        </p:txBody>
      </p:sp>
      <p:sp>
        <p:nvSpPr>
          <p:cNvPr id="23" name="TextBox 22"/>
          <p:cNvSpPr txBox="1"/>
          <p:nvPr/>
        </p:nvSpPr>
        <p:spPr>
          <a:xfrm>
            <a:off x="4480560" y="1965960"/>
            <a:ext cx="3200400" cy="274320"/>
          </a:xfrm>
          <a:prstGeom prst="rect">
            <a:avLst/>
          </a:prstGeom>
          <a:noFill/>
        </p:spPr>
        <p:txBody>
          <a:bodyPr wrap="square">
            <a:spAutoFit/>
          </a:bodyPr>
          <a:lstStyle/>
          <a:p>
            <a:pPr algn="l">
              <a:defRPr sz="1000" b="1" i="0">
                <a:solidFill>
                  <a:srgbClr val="2E8B3D"/>
                </a:solidFill>
              </a:defRPr>
            </a:pPr>
            <a:r>
              <a:t>Communiquer un diagnostic</a:t>
            </a:r>
          </a:p>
        </p:txBody>
      </p:sp>
      <p:sp>
        <p:nvSpPr>
          <p:cNvPr id="24" name="TextBox 23"/>
          <p:cNvSpPr txBox="1"/>
          <p:nvPr/>
        </p:nvSpPr>
        <p:spPr>
          <a:xfrm>
            <a:off x="4480560" y="2221992"/>
            <a:ext cx="3200400" cy="594360"/>
          </a:xfrm>
          <a:prstGeom prst="rect">
            <a:avLst/>
          </a:prstGeom>
          <a:noFill/>
        </p:spPr>
        <p:txBody>
          <a:bodyPr wrap="square">
            <a:spAutoFit/>
          </a:bodyPr>
          <a:lstStyle/>
          <a:p>
            <a:pPr algn="l">
              <a:defRPr sz="900" b="0" i="0">
                <a:solidFill>
                  <a:srgbClr val="333333"/>
                </a:solidFill>
              </a:defRPr>
            </a:pPr>
            <a:r>
              <a:t>Présenter un problème technique</a:t>
            </a:r>
          </a:p>
          <a:p>
            <a:pPr algn="l">
              <a:defRPr sz="900" b="0" i="0">
                <a:solidFill>
                  <a:srgbClr val="333333"/>
                </a:solidFill>
              </a:defRPr>
            </a:pPr>
            <a:r>
              <a:t>avec des exemples de données réelles</a:t>
            </a:r>
          </a:p>
        </p:txBody>
      </p:sp>
      <p:sp>
        <p:nvSpPr>
          <p:cNvPr id="25" name="TextBox 24"/>
          <p:cNvSpPr txBox="1"/>
          <p:nvPr/>
        </p:nvSpPr>
        <p:spPr>
          <a:xfrm>
            <a:off x="4480560" y="2880360"/>
            <a:ext cx="3200400" cy="274320"/>
          </a:xfrm>
          <a:prstGeom prst="rect">
            <a:avLst/>
          </a:prstGeom>
          <a:noFill/>
        </p:spPr>
        <p:txBody>
          <a:bodyPr wrap="square">
            <a:spAutoFit/>
          </a:bodyPr>
          <a:lstStyle/>
          <a:p>
            <a:pPr algn="l">
              <a:defRPr sz="1000" b="1" i="0">
                <a:solidFill>
                  <a:srgbClr val="2E8B3D"/>
                </a:solidFill>
              </a:defRPr>
            </a:pPr>
            <a:r>
              <a:t>Accepter les retours</a:t>
            </a:r>
          </a:p>
        </p:txBody>
      </p:sp>
      <p:sp>
        <p:nvSpPr>
          <p:cNvPr id="26" name="TextBox 25"/>
          <p:cNvSpPr txBox="1"/>
          <p:nvPr/>
        </p:nvSpPr>
        <p:spPr>
          <a:xfrm>
            <a:off x="4480560" y="3136392"/>
            <a:ext cx="3200400" cy="594360"/>
          </a:xfrm>
          <a:prstGeom prst="rect">
            <a:avLst/>
          </a:prstGeom>
          <a:noFill/>
        </p:spPr>
        <p:txBody>
          <a:bodyPr wrap="square">
            <a:spAutoFit/>
          </a:bodyPr>
          <a:lstStyle/>
          <a:p>
            <a:pPr algn="l">
              <a:defRPr sz="900" b="0" i="0">
                <a:solidFill>
                  <a:srgbClr val="333333"/>
                </a:solidFill>
              </a:defRPr>
            </a:pPr>
            <a:r>
              <a:t>Cahier d'anomalies = écart entre</a:t>
            </a:r>
          </a:p>
          <a:p>
            <a:pPr algn="l">
              <a:defRPr sz="900" b="0" i="0">
                <a:solidFill>
                  <a:srgbClr val="333333"/>
                </a:solidFill>
              </a:defRPr>
            </a:pPr>
            <a:r>
              <a:t>ce que j'ai compris et ce qui est attendu</a:t>
            </a:r>
          </a:p>
        </p:txBody>
      </p:sp>
      <p:sp>
        <p:nvSpPr>
          <p:cNvPr id="27" name="TextBox 26"/>
          <p:cNvSpPr txBox="1"/>
          <p:nvPr/>
        </p:nvSpPr>
        <p:spPr>
          <a:xfrm>
            <a:off x="4480560" y="3794760"/>
            <a:ext cx="3200400" cy="274320"/>
          </a:xfrm>
          <a:prstGeom prst="rect">
            <a:avLst/>
          </a:prstGeom>
          <a:noFill/>
        </p:spPr>
        <p:txBody>
          <a:bodyPr wrap="square">
            <a:spAutoFit/>
          </a:bodyPr>
          <a:lstStyle/>
          <a:p>
            <a:pPr algn="l">
              <a:defRPr sz="1000" b="1" i="0">
                <a:solidFill>
                  <a:srgbClr val="2E8B3D"/>
                </a:solidFill>
              </a:defRPr>
            </a:pPr>
            <a:r>
              <a:t>Défendre un choix</a:t>
            </a:r>
          </a:p>
        </p:txBody>
      </p:sp>
      <p:sp>
        <p:nvSpPr>
          <p:cNvPr id="28" name="TextBox 27"/>
          <p:cNvSpPr txBox="1"/>
          <p:nvPr/>
        </p:nvSpPr>
        <p:spPr>
          <a:xfrm>
            <a:off x="4480560" y="4050792"/>
            <a:ext cx="3200400" cy="594360"/>
          </a:xfrm>
          <a:prstGeom prst="rect">
            <a:avLst/>
          </a:prstGeom>
          <a:noFill/>
        </p:spPr>
        <p:txBody>
          <a:bodyPr wrap="square">
            <a:spAutoFit/>
          </a:bodyPr>
          <a:lstStyle/>
          <a:p>
            <a:pPr algn="l">
              <a:defRPr sz="900" b="0" i="0">
                <a:solidFill>
                  <a:srgbClr val="333333"/>
                </a:solidFill>
              </a:defRPr>
            </a:pPr>
            <a:r>
              <a:t>Point technique du vendredi : argumenter</a:t>
            </a:r>
          </a:p>
          <a:p>
            <a:pPr algn="l">
              <a:defRPr sz="900" b="0" i="0">
                <a:solidFill>
                  <a:srgbClr val="333333"/>
                </a:solidFill>
              </a:defRPr>
            </a:pPr>
            <a:r>
              <a:t>devant un référent expérimenté</a:t>
            </a:r>
          </a:p>
        </p:txBody>
      </p:sp>
      <p:sp>
        <p:nvSpPr>
          <p:cNvPr id="29" name="TextBox 28"/>
          <p:cNvSpPr txBox="1"/>
          <p:nvPr/>
        </p:nvSpPr>
        <p:spPr>
          <a:xfrm>
            <a:off x="4480560" y="4709160"/>
            <a:ext cx="3200400" cy="274320"/>
          </a:xfrm>
          <a:prstGeom prst="rect">
            <a:avLst/>
          </a:prstGeom>
          <a:noFill/>
        </p:spPr>
        <p:txBody>
          <a:bodyPr wrap="square">
            <a:spAutoFit/>
          </a:bodyPr>
          <a:lstStyle/>
          <a:p>
            <a:pPr algn="l">
              <a:defRPr sz="1000" b="1" i="0">
                <a:solidFill>
                  <a:srgbClr val="2E8B3D"/>
                </a:solidFill>
              </a:defRPr>
            </a:pPr>
            <a:r>
              <a:t>Gérer l'urgence</a:t>
            </a:r>
          </a:p>
        </p:txBody>
      </p:sp>
      <p:sp>
        <p:nvSpPr>
          <p:cNvPr id="30" name="TextBox 29"/>
          <p:cNvSpPr txBox="1"/>
          <p:nvPr/>
        </p:nvSpPr>
        <p:spPr>
          <a:xfrm>
            <a:off x="4480560" y="4965192"/>
            <a:ext cx="3200400" cy="594360"/>
          </a:xfrm>
          <a:prstGeom prst="rect">
            <a:avLst/>
          </a:prstGeom>
          <a:noFill/>
        </p:spPr>
        <p:txBody>
          <a:bodyPr wrap="square">
            <a:spAutoFit/>
          </a:bodyPr>
          <a:lstStyle/>
          <a:p>
            <a:pPr algn="l">
              <a:defRPr sz="900" b="0" i="0">
                <a:solidFill>
                  <a:srgbClr val="333333"/>
                </a:solidFill>
              </a:defRPr>
            </a:pPr>
            <a:r>
              <a:t>Basculer de CS BAG vers l'incident</a:t>
            </a:r>
          </a:p>
          <a:p>
            <a:pPr algn="l">
              <a:defRPr sz="900" b="0" i="0">
                <a:solidFill>
                  <a:srgbClr val="333333"/>
                </a:solidFill>
              </a:defRPr>
            </a:pPr>
            <a:r>
              <a:t>Elium sur décision du chef de projet</a:t>
            </a:r>
          </a:p>
        </p:txBody>
      </p:sp>
      <p:sp>
        <p:nvSpPr>
          <p:cNvPr id="31" name="TextBox 30"/>
          <p:cNvSpPr txBox="1"/>
          <p:nvPr/>
        </p:nvSpPr>
        <p:spPr>
          <a:xfrm>
            <a:off x="4480560" y="5623560"/>
            <a:ext cx="3200400" cy="274320"/>
          </a:xfrm>
          <a:prstGeom prst="rect">
            <a:avLst/>
          </a:prstGeom>
          <a:noFill/>
        </p:spPr>
        <p:txBody>
          <a:bodyPr wrap="square">
            <a:spAutoFit/>
          </a:bodyPr>
          <a:lstStyle/>
          <a:p>
            <a:pPr algn="l">
              <a:defRPr sz="1000" b="1" i="0">
                <a:solidFill>
                  <a:srgbClr val="2E8B3D"/>
                </a:solidFill>
              </a:defRPr>
            </a:pPr>
            <a:r>
              <a:t>Signaler tôt</a:t>
            </a:r>
          </a:p>
        </p:txBody>
      </p:sp>
      <p:sp>
        <p:nvSpPr>
          <p:cNvPr id="32" name="TextBox 31"/>
          <p:cNvSpPr txBox="1"/>
          <p:nvPr/>
        </p:nvSpPr>
        <p:spPr>
          <a:xfrm>
            <a:off x="4480560" y="5879592"/>
            <a:ext cx="3200400" cy="594360"/>
          </a:xfrm>
          <a:prstGeom prst="rect">
            <a:avLst/>
          </a:prstGeom>
          <a:noFill/>
        </p:spPr>
        <p:txBody>
          <a:bodyPr wrap="square">
            <a:spAutoFit/>
          </a:bodyPr>
          <a:lstStyle/>
          <a:p>
            <a:pPr algn="l">
              <a:defRPr sz="900" b="0" i="0">
                <a:solidFill>
                  <a:srgbClr val="333333"/>
                </a:solidFill>
              </a:defRPr>
            </a:pPr>
            <a:r>
              <a:t>Remonter un blocage rapidement</a:t>
            </a:r>
          </a:p>
          <a:p>
            <a:pPr algn="l">
              <a:defRPr sz="900" b="0" i="0">
                <a:solidFill>
                  <a:srgbClr val="333333"/>
                </a:solidFill>
              </a:defRPr>
            </a:pPr>
            <a:r>
              <a:t>= comportement attendu, pas un aveu</a:t>
            </a:r>
          </a:p>
        </p:txBody>
      </p:sp>
      <p:sp>
        <p:nvSpPr>
          <p:cNvPr id="33" name="Rounded Rectangle 32"/>
          <p:cNvSpPr/>
          <p:nvPr/>
        </p:nvSpPr>
        <p:spPr>
          <a:xfrm>
            <a:off x="8138160" y="1325880"/>
            <a:ext cx="3611880" cy="4297680"/>
          </a:xfrm>
          <a:prstGeom prst="roundRect">
            <a:avLst/>
          </a:prstGeom>
          <a:solidFill>
            <a:srgbClr val="FFFFFF"/>
          </a:solidFill>
          <a:ln w="19050">
            <a:solidFill>
              <a:srgbClr val="007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8138160" y="1325880"/>
            <a:ext cx="3611880" cy="502920"/>
          </a:xfrm>
          <a:prstGeom prst="rect">
            <a:avLst/>
          </a:prstGeom>
          <a:solidFill>
            <a:srgbClr val="0078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Lien avec ENSIM</a:t>
            </a:r>
          </a:p>
        </p:txBody>
      </p:sp>
      <p:sp>
        <p:nvSpPr>
          <p:cNvPr id="35" name="TextBox 34"/>
          <p:cNvSpPr txBox="1"/>
          <p:nvPr/>
        </p:nvSpPr>
        <p:spPr>
          <a:xfrm>
            <a:off x="8321040" y="1965960"/>
            <a:ext cx="3200400" cy="274320"/>
          </a:xfrm>
          <a:prstGeom prst="rect">
            <a:avLst/>
          </a:prstGeom>
          <a:noFill/>
        </p:spPr>
        <p:txBody>
          <a:bodyPr wrap="square">
            <a:spAutoFit/>
          </a:bodyPr>
          <a:lstStyle/>
          <a:p>
            <a:pPr algn="l">
              <a:defRPr sz="1000" b="1" i="0">
                <a:solidFill>
                  <a:srgbClr val="0078D4"/>
                </a:solidFill>
              </a:defRPr>
            </a:pPr>
            <a:r>
              <a:t>BDD relationnelles</a:t>
            </a:r>
          </a:p>
        </p:txBody>
      </p:sp>
      <p:sp>
        <p:nvSpPr>
          <p:cNvPr id="36" name="TextBox 35"/>
          <p:cNvSpPr txBox="1"/>
          <p:nvPr/>
        </p:nvSpPr>
        <p:spPr>
          <a:xfrm>
            <a:off x="8321040" y="2221992"/>
            <a:ext cx="3200400" cy="594360"/>
          </a:xfrm>
          <a:prstGeom prst="rect">
            <a:avLst/>
          </a:prstGeom>
          <a:noFill/>
        </p:spPr>
        <p:txBody>
          <a:bodyPr wrap="square">
            <a:spAutoFit/>
          </a:bodyPr>
          <a:lstStyle/>
          <a:p>
            <a:pPr algn="l">
              <a:defRPr sz="900" b="0" i="0">
                <a:solidFill>
                  <a:srgbClr val="333333"/>
                </a:solidFill>
              </a:defRPr>
            </a:pPr>
            <a:r>
              <a:t>Formes normales de Codd appliquées</a:t>
            </a:r>
          </a:p>
          <a:p>
            <a:pPr algn="l">
              <a:defRPr sz="900" b="0" i="0">
                <a:solidFill>
                  <a:srgbClr val="333333"/>
                </a:solidFill>
              </a:defRPr>
            </a:pPr>
            <a:r>
              <a:t>sur des données de prod dégradées</a:t>
            </a:r>
          </a:p>
        </p:txBody>
      </p:sp>
      <p:sp>
        <p:nvSpPr>
          <p:cNvPr id="37" name="TextBox 36"/>
          <p:cNvSpPr txBox="1"/>
          <p:nvPr/>
        </p:nvSpPr>
        <p:spPr>
          <a:xfrm>
            <a:off x="8321040" y="2880360"/>
            <a:ext cx="3200400" cy="274320"/>
          </a:xfrm>
          <a:prstGeom prst="rect">
            <a:avLst/>
          </a:prstGeom>
          <a:noFill/>
        </p:spPr>
        <p:txBody>
          <a:bodyPr wrap="square">
            <a:spAutoFit/>
          </a:bodyPr>
          <a:lstStyle/>
          <a:p>
            <a:pPr algn="l">
              <a:defRPr sz="1000" b="1" i="0">
                <a:solidFill>
                  <a:srgbClr val="0078D4"/>
                </a:solidFill>
              </a:defRPr>
            </a:pPr>
            <a:r>
              <a:t>Génie logiciel</a:t>
            </a:r>
          </a:p>
        </p:txBody>
      </p:sp>
      <p:sp>
        <p:nvSpPr>
          <p:cNvPr id="38" name="TextBox 37"/>
          <p:cNvSpPr txBox="1"/>
          <p:nvPr/>
        </p:nvSpPr>
        <p:spPr>
          <a:xfrm>
            <a:off x="8321040" y="3136392"/>
            <a:ext cx="3200400" cy="594360"/>
          </a:xfrm>
          <a:prstGeom prst="rect">
            <a:avLst/>
          </a:prstGeom>
          <a:noFill/>
        </p:spPr>
        <p:txBody>
          <a:bodyPr wrap="square">
            <a:spAutoFit/>
          </a:bodyPr>
          <a:lstStyle/>
          <a:p>
            <a:pPr algn="l">
              <a:defRPr sz="900" b="0" i="0">
                <a:solidFill>
                  <a:srgbClr val="333333"/>
                </a:solidFill>
              </a:defRPr>
            </a:pPr>
            <a:r>
              <a:t>Architecture n-tiers concrétisée</a:t>
            </a:r>
          </a:p>
          <a:p>
            <a:pPr algn="l">
              <a:defRPr sz="900" b="0" i="0">
                <a:solidFill>
                  <a:srgbClr val="333333"/>
                </a:solidFill>
              </a:defRPr>
            </a:pPr>
            <a:r>
              <a:t>dans le découpage projet réel</a:t>
            </a:r>
          </a:p>
        </p:txBody>
      </p:sp>
      <p:sp>
        <p:nvSpPr>
          <p:cNvPr id="39" name="TextBox 38"/>
          <p:cNvSpPr txBox="1"/>
          <p:nvPr/>
        </p:nvSpPr>
        <p:spPr>
          <a:xfrm>
            <a:off x="8321040" y="3794760"/>
            <a:ext cx="3200400" cy="274320"/>
          </a:xfrm>
          <a:prstGeom prst="rect">
            <a:avLst/>
          </a:prstGeom>
          <a:noFill/>
        </p:spPr>
        <p:txBody>
          <a:bodyPr wrap="square">
            <a:spAutoFit/>
          </a:bodyPr>
          <a:lstStyle/>
          <a:p>
            <a:pPr algn="l">
              <a:defRPr sz="1000" b="1" i="0">
                <a:solidFill>
                  <a:srgbClr val="0078D4"/>
                </a:solidFill>
              </a:defRPr>
            </a:pPr>
            <a:r>
              <a:t>Spécialité IPS</a:t>
            </a:r>
          </a:p>
        </p:txBody>
      </p:sp>
      <p:sp>
        <p:nvSpPr>
          <p:cNvPr id="40" name="TextBox 39"/>
          <p:cNvSpPr txBox="1"/>
          <p:nvPr/>
        </p:nvSpPr>
        <p:spPr>
          <a:xfrm>
            <a:off x="8321040" y="4050792"/>
            <a:ext cx="3200400" cy="594360"/>
          </a:xfrm>
          <a:prstGeom prst="rect">
            <a:avLst/>
          </a:prstGeom>
          <a:noFill/>
        </p:spPr>
        <p:txBody>
          <a:bodyPr wrap="square">
            <a:spAutoFit/>
          </a:bodyPr>
          <a:lstStyle/>
          <a:p>
            <a:pPr algn="l">
              <a:defRPr sz="900" b="0" i="0">
                <a:solidFill>
                  <a:srgbClr val="333333"/>
                </a:solidFill>
              </a:defRPr>
            </a:pPr>
            <a:r>
              <a:t>Dette ergonomique identifiée :</a:t>
            </a:r>
          </a:p>
          <a:p>
            <a:pPr algn="l">
              <a:defRPr sz="900" b="0" i="0">
                <a:solidFill>
                  <a:srgbClr val="333333"/>
                </a:solidFill>
              </a:defRPr>
            </a:pPr>
            <a:r>
              <a:t>absence de feedback, listes non filtrables</a:t>
            </a:r>
          </a:p>
        </p:txBody>
      </p:sp>
      <p:sp>
        <p:nvSpPr>
          <p:cNvPr id="41" name="TextBox 40"/>
          <p:cNvSpPr txBox="1"/>
          <p:nvPr/>
        </p:nvSpPr>
        <p:spPr>
          <a:xfrm>
            <a:off x="8321040" y="4709160"/>
            <a:ext cx="3200400" cy="274320"/>
          </a:xfrm>
          <a:prstGeom prst="rect">
            <a:avLst/>
          </a:prstGeom>
          <a:noFill/>
        </p:spPr>
        <p:txBody>
          <a:bodyPr wrap="square">
            <a:spAutoFit/>
          </a:bodyPr>
          <a:lstStyle/>
          <a:p>
            <a:pPr algn="l">
              <a:defRPr sz="1000" b="1" i="0">
                <a:solidFill>
                  <a:srgbClr val="0078D4"/>
                </a:solidFill>
              </a:defRPr>
            </a:pPr>
            <a:r>
              <a:t>Écarts constatés</a:t>
            </a:r>
          </a:p>
        </p:txBody>
      </p:sp>
      <p:sp>
        <p:nvSpPr>
          <p:cNvPr id="42" name="TextBox 41"/>
          <p:cNvSpPr txBox="1"/>
          <p:nvPr/>
        </p:nvSpPr>
        <p:spPr>
          <a:xfrm>
            <a:off x="8321040" y="4965192"/>
            <a:ext cx="3200400" cy="594360"/>
          </a:xfrm>
          <a:prstGeom prst="rect">
            <a:avLst/>
          </a:prstGeom>
          <a:noFill/>
        </p:spPr>
        <p:txBody>
          <a:bodyPr wrap="square">
            <a:spAutoFit/>
          </a:bodyPr>
          <a:lstStyle/>
          <a:p>
            <a:pPr algn="l">
              <a:defRPr sz="900" b="0" i="0">
                <a:solidFill>
                  <a:srgbClr val="333333"/>
                </a:solidFill>
              </a:defRPr>
            </a:pPr>
            <a:r>
              <a:t>Cloud Azure, tests automatisés,</a:t>
            </a:r>
          </a:p>
          <a:p>
            <a:pPr algn="l">
              <a:defRPr sz="900" b="0" i="0">
                <a:solidFill>
                  <a:srgbClr val="333333"/>
                </a:solidFill>
              </a:defRPr>
            </a:pPr>
            <a:r>
              <a:t>déploiement : à combler en priorité</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4114800" cy="6858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2377440"/>
            <a:ext cx="3200400" cy="2286000"/>
          </a:xfrm>
          <a:prstGeom prst="rect">
            <a:avLst/>
          </a:prstGeom>
          <a:noFill/>
        </p:spPr>
        <p:txBody>
          <a:bodyPr wrap="square">
            <a:spAutoFit/>
          </a:bodyPr>
          <a:lstStyle/>
          <a:p>
            <a:pPr algn="ctr">
              <a:defRPr sz="18000" b="1" i="0">
                <a:solidFill>
                  <a:srgbClr val="FFFFFF"/>
                </a:solidFill>
              </a:defRPr>
            </a:pPr>
            <a:r>
              <a:t>07</a:t>
            </a:r>
          </a:p>
        </p:txBody>
      </p:sp>
      <p:sp>
        <p:nvSpPr>
          <p:cNvPr id="4" name="Rectangle 3"/>
          <p:cNvSpPr/>
          <p:nvPr/>
        </p:nvSpPr>
        <p:spPr>
          <a:xfrm>
            <a:off x="4572000" y="2286000"/>
            <a:ext cx="36576" cy="228600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937760" y="2286000"/>
            <a:ext cx="6858000" cy="1371600"/>
          </a:xfrm>
          <a:prstGeom prst="rect">
            <a:avLst/>
          </a:prstGeom>
          <a:noFill/>
        </p:spPr>
        <p:txBody>
          <a:bodyPr wrap="square">
            <a:spAutoFit/>
          </a:bodyPr>
          <a:lstStyle/>
          <a:p>
            <a:pPr algn="l">
              <a:defRPr sz="4400" b="1" i="0">
                <a:solidFill>
                  <a:srgbClr val="003366"/>
                </a:solidFill>
              </a:defRPr>
            </a:pPr>
            <a:r>
              <a:t>Conclusion et perspectives</a:t>
            </a:r>
          </a:p>
        </p:txBody>
      </p:sp>
      <p:sp>
        <p:nvSpPr>
          <p:cNvPr id="6" name="TextBox 5"/>
          <p:cNvSpPr txBox="1"/>
          <p:nvPr/>
        </p:nvSpPr>
        <p:spPr>
          <a:xfrm>
            <a:off x="4937760" y="3566160"/>
            <a:ext cx="6858000" cy="1371600"/>
          </a:xfrm>
          <a:prstGeom prst="rect">
            <a:avLst/>
          </a:prstGeom>
          <a:noFill/>
        </p:spPr>
        <p:txBody>
          <a:bodyPr wrap="square">
            <a:spAutoFit/>
          </a:bodyPr>
          <a:lstStyle/>
          <a:p>
            <a:pPr algn="l">
              <a:defRPr sz="1800" b="0" i="1">
                <a:solidFill>
                  <a:srgbClr val="666666"/>
                </a:solidFill>
              </a:defRPr>
            </a:pPr>
            <a:r>
              <a:t>Bilan global et suite du projet</a:t>
            </a:r>
          </a:p>
        </p:txBody>
      </p:sp>
      <p:sp>
        <p:nvSpPr>
          <p:cNvPr id="7" name="Freeform 10">
            <a:extLst>
              <a:ext uri="{FF2B5EF4-FFF2-40B4-BE49-F238E27FC236}">
                <a16:creationId xmlns:a16="http://schemas.microsoft.com/office/drawing/2014/main" id="{5E1A64E5-4576-4D0B-A1BD-891E4CB65664}"/>
              </a:ext>
            </a:extLst>
          </p:cNvPr>
          <p:cNvSpPr/>
          <p:nvPr/>
        </p:nvSpPr>
        <p:spPr>
          <a:xfrm>
            <a:off x="9481132" y="108126"/>
            <a:ext cx="1107757" cy="415759"/>
          </a:xfrm>
          <a:custGeom>
            <a:avLst/>
            <a:gdLst/>
            <a:ahLst/>
            <a:cxnLst/>
            <a:rect l="l" t="t" r="r" b="b"/>
            <a:pathLst>
              <a:path w="4200742" h="1405571">
                <a:moveTo>
                  <a:pt x="0" y="0"/>
                </a:moveTo>
                <a:lnTo>
                  <a:pt x="4200742" y="0"/>
                </a:lnTo>
                <a:lnTo>
                  <a:pt x="4200742" y="1405571"/>
                </a:lnTo>
                <a:lnTo>
                  <a:pt x="0" y="1405571"/>
                </a:lnTo>
                <a:lnTo>
                  <a:pt x="0" y="0"/>
                </a:lnTo>
                <a:close/>
              </a:path>
            </a:pathLst>
          </a:custGeom>
          <a:blipFill>
            <a:blip r:embed="rId2"/>
            <a:stretch>
              <a:fillRect/>
            </a:stretch>
          </a:blipFill>
        </p:spPr>
        <p:txBody>
          <a:bodyPr/>
          <a:lstStyle/>
          <a:p>
            <a:endParaRPr/>
          </a:p>
        </p:txBody>
      </p:sp>
      <p:pic>
        <p:nvPicPr>
          <p:cNvPr id="8" name="Image 7">
            <a:extLst>
              <a:ext uri="{FF2B5EF4-FFF2-40B4-BE49-F238E27FC236}">
                <a16:creationId xmlns:a16="http://schemas.microsoft.com/office/drawing/2014/main" id="{E604F985-218E-4F55-9F17-AFA12A8896AC}"/>
              </a:ext>
            </a:extLst>
          </p:cNvPr>
          <p:cNvPicPr>
            <a:picLocks noChangeAspect="1"/>
          </p:cNvPicPr>
          <p:nvPr/>
        </p:nvPicPr>
        <p:blipFill rotWithShape="1">
          <a:blip r:embed="rId3"/>
          <a:srcRect t="36165" b="33014"/>
          <a:stretch/>
        </p:blipFill>
        <p:spPr>
          <a:xfrm>
            <a:off x="10688355" y="89071"/>
            <a:ext cx="1348918" cy="41576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82880"/>
            <a:ext cx="5486400" cy="274320"/>
          </a:xfrm>
          <a:prstGeom prst="rect">
            <a:avLst/>
          </a:prstGeom>
          <a:noFill/>
        </p:spPr>
        <p:txBody>
          <a:bodyPr wrap="square">
            <a:spAutoFit/>
          </a:bodyPr>
          <a:lstStyle/>
          <a:p>
            <a:pPr algn="l">
              <a:defRPr sz="1100" b="1" i="0">
                <a:solidFill>
                  <a:srgbClr val="004D99"/>
                </a:solidFill>
              </a:defRPr>
            </a:pPr>
            <a:r>
              <a:t>CONCLUSION</a:t>
            </a:r>
          </a:p>
        </p:txBody>
      </p:sp>
      <p:sp>
        <p:nvSpPr>
          <p:cNvPr id="4" name="TextBox 3"/>
          <p:cNvSpPr txBox="1"/>
          <p:nvPr/>
        </p:nvSpPr>
        <p:spPr>
          <a:xfrm>
            <a:off x="731520" y="457200"/>
            <a:ext cx="10515600" cy="640080"/>
          </a:xfrm>
          <a:prstGeom prst="rect">
            <a:avLst/>
          </a:prstGeom>
          <a:noFill/>
        </p:spPr>
        <p:txBody>
          <a:bodyPr wrap="square">
            <a:spAutoFit/>
          </a:bodyPr>
          <a:lstStyle/>
          <a:p>
            <a:pPr algn="l">
              <a:defRPr sz="2600" b="1" i="0">
                <a:solidFill>
                  <a:srgbClr val="003366"/>
                </a:solidFill>
              </a:defRPr>
            </a:pPr>
            <a:r>
              <a:t>Conclusion et perspectives</a:t>
            </a:r>
          </a:p>
        </p:txBody>
      </p:sp>
      <p:sp>
        <p:nvSpPr>
          <p:cNvPr id="5" name="Rectangle 4"/>
          <p:cNvSpPr/>
          <p:nvPr/>
        </p:nvSpPr>
        <p:spPr>
          <a:xfrm>
            <a:off x="731520" y="1097280"/>
            <a:ext cx="1645920" cy="36576"/>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83680"/>
            <a:ext cx="12191695" cy="27432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11535" y="6611112"/>
            <a:ext cx="1097280" cy="228600"/>
          </a:xfrm>
          <a:prstGeom prst="rect">
            <a:avLst/>
          </a:prstGeom>
          <a:noFill/>
        </p:spPr>
        <p:txBody>
          <a:bodyPr wrap="square">
            <a:spAutoFit/>
          </a:bodyPr>
          <a:lstStyle/>
          <a:p>
            <a:pPr algn="r">
              <a:defRPr sz="1000" b="0" i="0">
                <a:solidFill>
                  <a:srgbClr val="FFFFFF"/>
                </a:solidFill>
              </a:defRPr>
            </a:pPr>
            <a:r>
              <a:t>35 / 36</a:t>
            </a:r>
          </a:p>
        </p:txBody>
      </p:sp>
      <p:sp>
        <p:nvSpPr>
          <p:cNvPr id="8" name="TextBox 7"/>
          <p:cNvSpPr txBox="1"/>
          <p:nvPr/>
        </p:nvSpPr>
        <p:spPr>
          <a:xfrm>
            <a:off x="457200" y="6611112"/>
            <a:ext cx="5486400" cy="228600"/>
          </a:xfrm>
          <a:prstGeom prst="rect">
            <a:avLst/>
          </a:prstGeom>
          <a:noFill/>
        </p:spPr>
        <p:txBody>
          <a:bodyPr wrap="square">
            <a:spAutoFit/>
          </a:bodyPr>
          <a:lstStyle/>
          <a:p>
            <a:pPr algn="l">
              <a:defRPr sz="1000" b="0" i="0">
                <a:solidFill>
                  <a:srgbClr val="FFFFFF"/>
                </a:solidFill>
              </a:defRPr>
            </a:pPr>
            <a:r>
              <a:t>Soutenance PFE - Ahmed BOURAZZA - VESI</a:t>
            </a:r>
          </a:p>
        </p:txBody>
      </p:sp>
      <p:sp>
        <p:nvSpPr>
          <p:cNvPr id="11" name="TextBox 10"/>
          <p:cNvSpPr txBox="1"/>
          <p:nvPr/>
        </p:nvSpPr>
        <p:spPr>
          <a:xfrm>
            <a:off x="731520" y="1737360"/>
            <a:ext cx="10698480" cy="365760"/>
          </a:xfrm>
          <a:prstGeom prst="rect">
            <a:avLst/>
          </a:prstGeom>
          <a:noFill/>
        </p:spPr>
        <p:txBody>
          <a:bodyPr wrap="square">
            <a:spAutoFit/>
          </a:bodyPr>
          <a:lstStyle/>
          <a:p>
            <a:pPr algn="l">
              <a:defRPr sz="1600" b="1" i="0">
                <a:solidFill>
                  <a:srgbClr val="2E8B3D"/>
                </a:solidFill>
              </a:defRPr>
            </a:pPr>
            <a:r>
              <a:t>Perspectives</a:t>
            </a:r>
          </a:p>
        </p:txBody>
      </p:sp>
      <p:sp>
        <p:nvSpPr>
          <p:cNvPr id="12" name="Rounded Rectangle 11"/>
          <p:cNvSpPr/>
          <p:nvPr/>
        </p:nvSpPr>
        <p:spPr>
          <a:xfrm>
            <a:off x="731520" y="2194559"/>
            <a:ext cx="10698480" cy="64008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2267711"/>
            <a:ext cx="10332720" cy="274320"/>
          </a:xfrm>
          <a:prstGeom prst="rect">
            <a:avLst/>
          </a:prstGeom>
          <a:noFill/>
        </p:spPr>
        <p:txBody>
          <a:bodyPr wrap="square">
            <a:spAutoFit/>
          </a:bodyPr>
          <a:lstStyle/>
          <a:p>
            <a:pPr algn="l">
              <a:defRPr sz="1200" b="1" i="0">
                <a:solidFill>
                  <a:srgbClr val="2E8B3D"/>
                </a:solidFill>
              </a:defRPr>
            </a:pPr>
            <a:r>
              <a:t>Tests automatisés côté serveur</a:t>
            </a:r>
          </a:p>
        </p:txBody>
      </p:sp>
      <p:sp>
        <p:nvSpPr>
          <p:cNvPr id="14" name="TextBox 13"/>
          <p:cNvSpPr txBox="1"/>
          <p:nvPr/>
        </p:nvSpPr>
        <p:spPr>
          <a:xfrm>
            <a:off x="914400" y="2542031"/>
            <a:ext cx="10332720" cy="274320"/>
          </a:xfrm>
          <a:prstGeom prst="rect">
            <a:avLst/>
          </a:prstGeom>
          <a:noFill/>
        </p:spPr>
        <p:txBody>
          <a:bodyPr wrap="square">
            <a:spAutoFit/>
          </a:bodyPr>
          <a:lstStyle/>
          <a:p>
            <a:pPr algn="l">
              <a:defRPr sz="1000" b="0" i="1">
                <a:solidFill>
                  <a:srgbClr val="333333"/>
                </a:solidFill>
              </a:defRPr>
            </a:pPr>
            <a:r>
              <a:t>Actuellement absents : sécuriser les évolutions futures après refonte du modèle</a:t>
            </a:r>
          </a:p>
        </p:txBody>
      </p:sp>
      <p:sp>
        <p:nvSpPr>
          <p:cNvPr id="15" name="Rounded Rectangle 14"/>
          <p:cNvSpPr/>
          <p:nvPr/>
        </p:nvSpPr>
        <p:spPr>
          <a:xfrm>
            <a:off x="731520" y="2880359"/>
            <a:ext cx="10698480" cy="64008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2953511"/>
            <a:ext cx="10332720" cy="274320"/>
          </a:xfrm>
          <a:prstGeom prst="rect">
            <a:avLst/>
          </a:prstGeom>
          <a:noFill/>
        </p:spPr>
        <p:txBody>
          <a:bodyPr wrap="square">
            <a:spAutoFit/>
          </a:bodyPr>
          <a:lstStyle/>
          <a:p>
            <a:pPr algn="l">
              <a:defRPr sz="1200" b="1" i="0">
                <a:solidFill>
                  <a:srgbClr val="2E8B3D"/>
                </a:solidFill>
              </a:defRPr>
            </a:pPr>
            <a:r>
              <a:t>Automatisation des déploiements</a:t>
            </a:r>
          </a:p>
        </p:txBody>
      </p:sp>
      <p:sp>
        <p:nvSpPr>
          <p:cNvPr id="17" name="TextBox 16"/>
          <p:cNvSpPr txBox="1"/>
          <p:nvPr/>
        </p:nvSpPr>
        <p:spPr>
          <a:xfrm>
            <a:off x="914400" y="3227831"/>
            <a:ext cx="10332720" cy="274320"/>
          </a:xfrm>
          <a:prstGeom prst="rect">
            <a:avLst/>
          </a:prstGeom>
          <a:noFill/>
        </p:spPr>
        <p:txBody>
          <a:bodyPr wrap="square">
            <a:spAutoFit/>
          </a:bodyPr>
          <a:lstStyle/>
          <a:p>
            <a:pPr algn="l">
              <a:defRPr sz="1000" b="0" i="1">
                <a:solidFill>
                  <a:srgbClr val="333333"/>
                </a:solidFill>
              </a:defRPr>
            </a:pPr>
            <a:r>
              <a:t>Les mises en production restent en grande partie manuelles</a:t>
            </a:r>
          </a:p>
        </p:txBody>
      </p:sp>
      <p:sp>
        <p:nvSpPr>
          <p:cNvPr id="18" name="Rounded Rectangle 17"/>
          <p:cNvSpPr/>
          <p:nvPr/>
        </p:nvSpPr>
        <p:spPr>
          <a:xfrm>
            <a:off x="731520" y="3566159"/>
            <a:ext cx="10698480" cy="640080"/>
          </a:xfrm>
          <a:prstGeom prst="roundRect">
            <a:avLst/>
          </a:prstGeom>
          <a:solidFill>
            <a:srgbClr val="E8F5E9"/>
          </a:solidFill>
          <a:ln w="12700">
            <a:solidFill>
              <a:srgbClr val="2E8B3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3639311"/>
            <a:ext cx="10332720" cy="274320"/>
          </a:xfrm>
          <a:prstGeom prst="rect">
            <a:avLst/>
          </a:prstGeom>
          <a:noFill/>
        </p:spPr>
        <p:txBody>
          <a:bodyPr wrap="square">
            <a:spAutoFit/>
          </a:bodyPr>
          <a:lstStyle/>
          <a:p>
            <a:pPr algn="l">
              <a:defRPr sz="1200" b="1" i="0">
                <a:solidFill>
                  <a:srgbClr val="2E8B3D"/>
                </a:solidFill>
              </a:defRPr>
            </a:pPr>
            <a:r>
              <a:t>Suivi régulier des montées de version</a:t>
            </a:r>
          </a:p>
        </p:txBody>
      </p:sp>
      <p:sp>
        <p:nvSpPr>
          <p:cNvPr id="20" name="TextBox 19"/>
          <p:cNvSpPr txBox="1"/>
          <p:nvPr/>
        </p:nvSpPr>
        <p:spPr>
          <a:xfrm>
            <a:off x="914400" y="3913631"/>
            <a:ext cx="10332720" cy="274320"/>
          </a:xfrm>
          <a:prstGeom prst="rect">
            <a:avLst/>
          </a:prstGeom>
          <a:noFill/>
        </p:spPr>
        <p:txBody>
          <a:bodyPr wrap="square">
            <a:spAutoFit/>
          </a:bodyPr>
          <a:lstStyle/>
          <a:p>
            <a:pPr algn="l">
              <a:defRPr sz="1000" b="0" i="1">
                <a:solidFill>
                  <a:srgbClr val="333333"/>
                </a:solidFill>
              </a:defRPr>
            </a:pPr>
            <a:r>
              <a:t>Sans quoi la dette technique traitée cette année se reconstituera</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TextBox 1"/>
          <p:cNvSpPr txBox="1"/>
          <p:nvPr/>
        </p:nvSpPr>
        <p:spPr>
          <a:xfrm>
            <a:off x="457200" y="2286000"/>
            <a:ext cx="11247120" cy="1371600"/>
          </a:xfrm>
          <a:prstGeom prst="rect">
            <a:avLst/>
          </a:prstGeom>
          <a:noFill/>
        </p:spPr>
        <p:txBody>
          <a:bodyPr wrap="square">
            <a:spAutoFit/>
          </a:bodyPr>
          <a:lstStyle/>
          <a:p>
            <a:pPr algn="ctr">
              <a:defRPr sz="6000" b="1" i="0">
                <a:solidFill>
                  <a:srgbClr val="FFFFFF"/>
                </a:solidFill>
              </a:defRPr>
            </a:pPr>
            <a:r>
              <a:t>Merci pour votre attention</a:t>
            </a:r>
          </a:p>
        </p:txBody>
      </p:sp>
      <p:sp>
        <p:nvSpPr>
          <p:cNvPr id="3" name="Rectangle 2"/>
          <p:cNvSpPr/>
          <p:nvPr/>
        </p:nvSpPr>
        <p:spPr>
          <a:xfrm>
            <a:off x="4937760" y="3657600"/>
            <a:ext cx="22860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3931920"/>
            <a:ext cx="11247120" cy="731520"/>
          </a:xfrm>
          <a:prstGeom prst="rect">
            <a:avLst/>
          </a:prstGeom>
          <a:noFill/>
        </p:spPr>
        <p:txBody>
          <a:bodyPr wrap="square">
            <a:spAutoFit/>
          </a:bodyPr>
          <a:lstStyle/>
          <a:p>
            <a:pPr algn="ctr">
              <a:defRPr sz="2800" b="0" i="1">
                <a:solidFill>
                  <a:srgbClr val="FFFFFF"/>
                </a:solidFill>
              </a:defRPr>
            </a:pPr>
            <a:r>
              <a:rPr dirty="0"/>
              <a:t>Place aux questions</a:t>
            </a:r>
          </a:p>
        </p:txBody>
      </p:sp>
      <p:sp>
        <p:nvSpPr>
          <p:cNvPr id="5" name="TextBox 4"/>
          <p:cNvSpPr txBox="1"/>
          <p:nvPr/>
        </p:nvSpPr>
        <p:spPr>
          <a:xfrm>
            <a:off x="457200" y="5943600"/>
            <a:ext cx="11247120" cy="276999"/>
          </a:xfrm>
          <a:prstGeom prst="rect">
            <a:avLst/>
          </a:prstGeom>
          <a:noFill/>
        </p:spPr>
        <p:txBody>
          <a:bodyPr wrap="square">
            <a:spAutoFit/>
          </a:bodyPr>
          <a:lstStyle/>
          <a:p>
            <a:pPr algn="ctr">
              <a:defRPr sz="1200" b="0" i="0">
                <a:solidFill>
                  <a:srgbClr val="FFFFFF"/>
                </a:solidFill>
              </a:defRPr>
            </a:pPr>
            <a:r>
              <a:rPr dirty="0"/>
              <a:t>Ahmed BOURAZZA |  2025-2026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422</TotalTime>
  <Words>2667</Words>
  <Application>Microsoft Office PowerPoint</Application>
  <PresentationFormat>Grand écran</PresentationFormat>
  <Paragraphs>538</Paragraphs>
  <Slides>36</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36</vt:i4>
      </vt:variant>
    </vt:vector>
  </HeadingPairs>
  <TitlesOfParts>
    <vt:vector size="39"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subject/>
  <dc:creator/>
  <cp:keywords/>
  <dc:description>generated using python-pptx</dc:description>
  <cp:lastModifiedBy>Ahmed Bourazza</cp:lastModifiedBy>
  <cp:revision>19</cp:revision>
  <dcterms:created xsi:type="dcterms:W3CDTF">2013-01-27T09:14:16Z</dcterms:created>
  <dcterms:modified xsi:type="dcterms:W3CDTF">2026-09-12T22:21:20Z</dcterms:modified>
  <cp:category/>
</cp:coreProperties>
</file>