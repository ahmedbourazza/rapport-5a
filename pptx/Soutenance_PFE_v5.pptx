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2" r:id="rId27"/>
    <p:sldId id="283" r:id="rId28"/>
    <p:sldId id="284" r:id="rId29"/>
    <p:sldId id="285" r:id="rId30"/>
    <p:sldId id="286" r:id="rId31"/>
    <p:sldId id="287"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0" d="100"/>
          <a:sy n="100" d="100"/>
        </p:scale>
        <p:origin x="240" y="9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74320" y="274320"/>
            <a:ext cx="11643055" cy="6309360"/>
          </a:xfrm>
          <a:prstGeom prst="rect">
            <a:avLst/>
          </a:prstGeom>
          <a:noFill/>
          <a:ln w="254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74320"/>
            <a:ext cx="11643055" cy="54864"/>
          </a:xfrm>
          <a:prstGeom prst="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474720" y="548640"/>
            <a:ext cx="5212080" cy="320040"/>
          </a:xfrm>
          <a:prstGeom prst="rect">
            <a:avLst/>
          </a:prstGeom>
          <a:noFill/>
        </p:spPr>
        <p:txBody>
          <a:bodyPr wrap="square">
            <a:spAutoFit/>
          </a:bodyPr>
          <a:lstStyle/>
          <a:p>
            <a:pPr algn="ctr">
              <a:defRPr sz="1300" b="0" i="0">
                <a:solidFill>
                  <a:srgbClr val="666666"/>
                </a:solidFill>
              </a:defRPr>
            </a:pPr>
            <a:r>
              <a:t>Ecole Nationale Superieure d'Ingenieurs du Mans (ENSIM)</a:t>
            </a:r>
          </a:p>
        </p:txBody>
      </p:sp>
      <p:sp>
        <p:nvSpPr>
          <p:cNvPr id="7" name="TextBox 6"/>
          <p:cNvSpPr txBox="1"/>
          <p:nvPr/>
        </p:nvSpPr>
        <p:spPr>
          <a:xfrm>
            <a:off x="3474720" y="868680"/>
            <a:ext cx="5212080" cy="320040"/>
          </a:xfrm>
          <a:prstGeom prst="rect">
            <a:avLst/>
          </a:prstGeom>
          <a:noFill/>
        </p:spPr>
        <p:txBody>
          <a:bodyPr wrap="square">
            <a:spAutoFit/>
          </a:bodyPr>
          <a:lstStyle/>
          <a:p>
            <a:pPr algn="ctr">
              <a:defRPr sz="1200" b="0" i="0">
                <a:solidFill>
                  <a:srgbClr val="666666"/>
                </a:solidFill>
              </a:defRPr>
            </a:pPr>
            <a:r>
              <a:t>Le Mans Universite</a:t>
            </a:r>
          </a:p>
        </p:txBody>
      </p:sp>
      <p:sp>
        <p:nvSpPr>
          <p:cNvPr id="8" name="TextBox 7"/>
          <p:cNvSpPr txBox="1"/>
          <p:nvPr/>
        </p:nvSpPr>
        <p:spPr>
          <a:xfrm>
            <a:off x="3474720" y="1188720"/>
            <a:ext cx="5212080" cy="320040"/>
          </a:xfrm>
          <a:prstGeom prst="rect">
            <a:avLst/>
          </a:prstGeom>
          <a:noFill/>
        </p:spPr>
        <p:txBody>
          <a:bodyPr wrap="square">
            <a:spAutoFit/>
          </a:bodyPr>
          <a:lstStyle/>
          <a:p>
            <a:pPr algn="ctr">
              <a:defRPr sz="1500" b="1" i="0">
                <a:solidFill>
                  <a:srgbClr val="003366"/>
                </a:solidFill>
              </a:defRPr>
            </a:pPr>
            <a:r>
              <a:t>Projet de Fin d'Etudes</a:t>
            </a:r>
          </a:p>
        </p:txBody>
      </p:sp>
      <p:sp>
        <p:nvSpPr>
          <p:cNvPr id="9" name="Rectangle 8"/>
          <p:cNvSpPr/>
          <p:nvPr/>
        </p:nvSpPr>
        <p:spPr>
          <a:xfrm>
            <a:off x="914400" y="1691640"/>
            <a:ext cx="10332720" cy="1371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0" y="2272161"/>
            <a:ext cx="9418320" cy="1463040"/>
          </a:xfrm>
          <a:prstGeom prst="rect">
            <a:avLst/>
          </a:prstGeom>
          <a:noFill/>
        </p:spPr>
        <p:txBody>
          <a:bodyPr wrap="square">
            <a:spAutoFit/>
          </a:bodyPr>
          <a:lstStyle/>
          <a:p>
            <a:pPr algn="ctr">
              <a:defRPr sz="2800" b="1" i="0">
                <a:solidFill>
                  <a:srgbClr val="003366"/>
                </a:solidFill>
              </a:defRPr>
            </a:pPr>
            <a:r>
              <a:rPr dirty="0" err="1"/>
              <a:t>Modernisation</a:t>
            </a:r>
            <a:r>
              <a:rPr dirty="0"/>
              <a:t> </a:t>
            </a:r>
            <a:r>
              <a:rPr dirty="0" err="1"/>
              <a:t>d'une</a:t>
            </a:r>
            <a:r>
              <a:rPr dirty="0"/>
              <a:t> application de gestion</a:t>
            </a:r>
          </a:p>
          <a:p>
            <a:pPr algn="ctr">
              <a:defRPr sz="2800" b="1" i="0">
                <a:solidFill>
                  <a:srgbClr val="003366"/>
                </a:solidFill>
              </a:defRPr>
            </a:pPr>
            <a:r>
              <a:rPr dirty="0"/>
              <a:t>de </a:t>
            </a:r>
            <a:r>
              <a:rPr dirty="0" err="1"/>
              <a:t>patrimoine</a:t>
            </a:r>
            <a:r>
              <a:rPr dirty="0"/>
              <a:t> </a:t>
            </a:r>
            <a:r>
              <a:rPr dirty="0" err="1"/>
              <a:t>applicatif</a:t>
            </a:r>
            <a:endParaRPr dirty="0"/>
          </a:p>
          <a:p>
            <a:pPr algn="ctr">
              <a:defRPr sz="2800" b="1" i="0">
                <a:solidFill>
                  <a:srgbClr val="003366"/>
                </a:solidFill>
              </a:defRPr>
            </a:pPr>
            <a:r>
              <a:rPr dirty="0"/>
              <a:t>au sein de VINCI Energies</a:t>
            </a:r>
          </a:p>
        </p:txBody>
      </p:sp>
      <p:sp>
        <p:nvSpPr>
          <p:cNvPr id="12" name="TextBox 11"/>
          <p:cNvSpPr txBox="1"/>
          <p:nvPr/>
        </p:nvSpPr>
        <p:spPr>
          <a:xfrm>
            <a:off x="1371600" y="3703320"/>
            <a:ext cx="9418320" cy="320040"/>
          </a:xfrm>
          <a:prstGeom prst="rect">
            <a:avLst/>
          </a:prstGeom>
          <a:noFill/>
        </p:spPr>
        <p:txBody>
          <a:bodyPr wrap="square">
            <a:spAutoFit/>
          </a:bodyPr>
          <a:lstStyle/>
          <a:p>
            <a:pPr algn="ctr">
              <a:defRPr sz="1400" b="1" i="1">
                <a:solidFill>
                  <a:srgbClr val="E2001A"/>
                </a:solidFill>
              </a:defRPr>
            </a:pPr>
            <a:r>
              <a:t>Realise au sein de : VINCI Energies Systemes d'Information (VESI)</a:t>
            </a:r>
          </a:p>
        </p:txBody>
      </p:sp>
      <p:sp>
        <p:nvSpPr>
          <p:cNvPr id="14" name="Rectangle 13"/>
          <p:cNvSpPr/>
          <p:nvPr/>
        </p:nvSpPr>
        <p:spPr>
          <a:xfrm>
            <a:off x="914400" y="5074920"/>
            <a:ext cx="10332720" cy="9144"/>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80760" y="5166360"/>
            <a:ext cx="9144" cy="8229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5166360"/>
            <a:ext cx="4754880" cy="274320"/>
          </a:xfrm>
          <a:prstGeom prst="rect">
            <a:avLst/>
          </a:prstGeom>
          <a:noFill/>
        </p:spPr>
        <p:txBody>
          <a:bodyPr wrap="square">
            <a:spAutoFit/>
          </a:bodyPr>
          <a:lstStyle/>
          <a:p>
            <a:pPr algn="l">
              <a:defRPr sz="1200" b="1" i="0">
                <a:solidFill>
                  <a:srgbClr val="003366"/>
                </a:solidFill>
              </a:defRPr>
            </a:pPr>
            <a:r>
              <a:rPr dirty="0" err="1"/>
              <a:t>Encadr</a:t>
            </a:r>
            <a:r>
              <a:rPr lang="fr-CH" dirty="0"/>
              <a:t>é</a:t>
            </a:r>
            <a:r>
              <a:rPr dirty="0"/>
              <a:t> par :</a:t>
            </a:r>
          </a:p>
        </p:txBody>
      </p:sp>
      <p:sp>
        <p:nvSpPr>
          <p:cNvPr id="17" name="TextBox 16"/>
          <p:cNvSpPr txBox="1"/>
          <p:nvPr/>
        </p:nvSpPr>
        <p:spPr>
          <a:xfrm>
            <a:off x="1097280" y="5440680"/>
            <a:ext cx="4754880" cy="769441"/>
          </a:xfrm>
          <a:prstGeom prst="rect">
            <a:avLst/>
          </a:prstGeom>
          <a:noFill/>
        </p:spPr>
        <p:txBody>
          <a:bodyPr wrap="square">
            <a:spAutoFit/>
          </a:bodyPr>
          <a:lstStyle/>
          <a:p>
            <a:pPr algn="l">
              <a:defRPr sz="1100" b="0" i="0">
                <a:solidFill>
                  <a:srgbClr val="333333"/>
                </a:solidFill>
              </a:defRPr>
            </a:pPr>
            <a:r>
              <a:rPr dirty="0" err="1"/>
              <a:t>Tuteur</a:t>
            </a:r>
            <a:r>
              <a:rPr dirty="0"/>
              <a:t> </a:t>
            </a:r>
            <a:r>
              <a:rPr dirty="0" err="1"/>
              <a:t>universit</a:t>
            </a:r>
            <a:r>
              <a:rPr lang="fr-CH" dirty="0"/>
              <a:t>é</a:t>
            </a:r>
            <a:r>
              <a:rPr dirty="0"/>
              <a:t> : M. M'HAMMEDI </a:t>
            </a:r>
            <a:r>
              <a:rPr dirty="0" err="1"/>
              <a:t>Taoufik</a:t>
            </a:r>
            <a:endParaRPr dirty="0"/>
          </a:p>
          <a:p>
            <a:pPr algn="l">
              <a:defRPr sz="1100" b="0" i="0">
                <a:solidFill>
                  <a:srgbClr val="333333"/>
                </a:solidFill>
              </a:defRPr>
            </a:pPr>
            <a:r>
              <a:rPr dirty="0" err="1"/>
              <a:t>Tuteurs</a:t>
            </a:r>
            <a:r>
              <a:rPr dirty="0"/>
              <a:t> </a:t>
            </a:r>
            <a:r>
              <a:rPr dirty="0" err="1"/>
              <a:t>entreprise</a:t>
            </a:r>
            <a:r>
              <a:rPr dirty="0"/>
              <a:t> : M. STER Alexis, M. VILLERMIN Maxime</a:t>
            </a:r>
            <a:endParaRPr lang="fr-CH" dirty="0"/>
          </a:p>
          <a:p>
            <a:pPr algn="l">
              <a:defRPr sz="1100" b="0" i="0">
                <a:solidFill>
                  <a:srgbClr val="333333"/>
                </a:solidFill>
              </a:defRPr>
            </a:pPr>
            <a:r>
              <a:rPr lang="fr-CH" dirty="0"/>
              <a:t>Jury : M. YAAKOUBI </a:t>
            </a:r>
            <a:r>
              <a:rPr lang="fr-CH" dirty="0" err="1"/>
              <a:t>Nourdin</a:t>
            </a:r>
            <a:endParaRPr lang="fr-CH" dirty="0"/>
          </a:p>
          <a:p>
            <a:pPr algn="l">
              <a:defRPr sz="1100" b="0" i="0">
                <a:solidFill>
                  <a:srgbClr val="333333"/>
                </a:solidFill>
              </a:defRPr>
            </a:pPr>
            <a:endParaRPr dirty="0"/>
          </a:p>
        </p:txBody>
      </p:sp>
      <p:sp>
        <p:nvSpPr>
          <p:cNvPr id="18" name="TextBox 17"/>
          <p:cNvSpPr txBox="1"/>
          <p:nvPr/>
        </p:nvSpPr>
        <p:spPr>
          <a:xfrm>
            <a:off x="6400800" y="5166360"/>
            <a:ext cx="4754880" cy="274320"/>
          </a:xfrm>
          <a:prstGeom prst="rect">
            <a:avLst/>
          </a:prstGeom>
          <a:noFill/>
        </p:spPr>
        <p:txBody>
          <a:bodyPr wrap="square">
            <a:spAutoFit/>
          </a:bodyPr>
          <a:lstStyle/>
          <a:p>
            <a:pPr algn="r">
              <a:defRPr sz="1200" b="1" i="0">
                <a:solidFill>
                  <a:srgbClr val="003366"/>
                </a:solidFill>
              </a:defRPr>
            </a:pPr>
            <a:r>
              <a:rPr dirty="0" err="1"/>
              <a:t>Reali</a:t>
            </a:r>
            <a:r>
              <a:rPr lang="fr-CH" dirty="0"/>
              <a:t>é</a:t>
            </a:r>
            <a:r>
              <a:rPr dirty="0"/>
              <a:t>e par :</a:t>
            </a:r>
          </a:p>
        </p:txBody>
      </p:sp>
      <p:sp>
        <p:nvSpPr>
          <p:cNvPr id="19" name="TextBox 18"/>
          <p:cNvSpPr txBox="1"/>
          <p:nvPr/>
        </p:nvSpPr>
        <p:spPr>
          <a:xfrm>
            <a:off x="6400800" y="5440680"/>
            <a:ext cx="4754880" cy="430887"/>
          </a:xfrm>
          <a:prstGeom prst="rect">
            <a:avLst/>
          </a:prstGeom>
          <a:noFill/>
        </p:spPr>
        <p:txBody>
          <a:bodyPr wrap="square">
            <a:spAutoFit/>
          </a:bodyPr>
          <a:lstStyle/>
          <a:p>
            <a:pPr algn="r">
              <a:defRPr sz="1100" b="0" i="0">
                <a:solidFill>
                  <a:srgbClr val="333333"/>
                </a:solidFill>
              </a:defRPr>
            </a:pPr>
            <a:r>
              <a:rPr dirty="0"/>
              <a:t>Ahmed BOURAZZA</a:t>
            </a:r>
          </a:p>
          <a:p>
            <a:pPr algn="r">
              <a:defRPr sz="1100" b="0" i="0">
                <a:solidFill>
                  <a:srgbClr val="333333"/>
                </a:solidFill>
              </a:defRPr>
            </a:pPr>
            <a:r>
              <a:rPr dirty="0"/>
              <a:t>Informatique</a:t>
            </a:r>
            <a:r>
              <a:rPr lang="fr-CH" dirty="0"/>
              <a:t> option IPS</a:t>
            </a:r>
            <a:r>
              <a:rPr dirty="0"/>
              <a:t>, 5</a:t>
            </a:r>
            <a:r>
              <a:rPr lang="fr-CH" dirty="0"/>
              <a:t>A</a:t>
            </a:r>
            <a:endParaRPr dirty="0"/>
          </a:p>
        </p:txBody>
      </p:sp>
      <p:sp>
        <p:nvSpPr>
          <p:cNvPr id="20" name="Rectangle 19"/>
          <p:cNvSpPr/>
          <p:nvPr/>
        </p:nvSpPr>
        <p:spPr>
          <a:xfrm>
            <a:off x="274320" y="6263640"/>
            <a:ext cx="11643055" cy="3200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74320" y="6263640"/>
            <a:ext cx="11643055" cy="36576"/>
          </a:xfrm>
          <a:prstGeom prst="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6355080"/>
            <a:ext cx="3200400" cy="246221"/>
          </a:xfrm>
          <a:prstGeom prst="rect">
            <a:avLst/>
          </a:prstGeom>
          <a:noFill/>
        </p:spPr>
        <p:txBody>
          <a:bodyPr wrap="square">
            <a:spAutoFit/>
          </a:bodyPr>
          <a:lstStyle/>
          <a:p>
            <a:pPr algn="l">
              <a:defRPr sz="1000" b="0" i="0">
                <a:solidFill>
                  <a:srgbClr val="FFFFFF"/>
                </a:solidFill>
              </a:defRPr>
            </a:pPr>
            <a:r>
              <a:rPr lang="fr-CH" dirty="0"/>
              <a:t>Pé</a:t>
            </a:r>
            <a:r>
              <a:rPr dirty="0" err="1"/>
              <a:t>riode</a:t>
            </a:r>
            <a:r>
              <a:rPr dirty="0"/>
              <a:t> : 02/03</a:t>
            </a:r>
            <a:r>
              <a:rPr lang="fr-CH" dirty="0"/>
              <a:t>/2026</a:t>
            </a:r>
            <a:r>
              <a:rPr dirty="0"/>
              <a:t> - 31/08/2026</a:t>
            </a:r>
          </a:p>
        </p:txBody>
      </p:sp>
      <p:sp>
        <p:nvSpPr>
          <p:cNvPr id="23" name="TextBox 22"/>
          <p:cNvSpPr txBox="1"/>
          <p:nvPr/>
        </p:nvSpPr>
        <p:spPr>
          <a:xfrm>
            <a:off x="4114800" y="6355080"/>
            <a:ext cx="4114800" cy="246221"/>
          </a:xfrm>
          <a:prstGeom prst="rect">
            <a:avLst/>
          </a:prstGeom>
          <a:noFill/>
        </p:spPr>
        <p:txBody>
          <a:bodyPr wrap="square">
            <a:spAutoFit/>
          </a:bodyPr>
          <a:lstStyle/>
          <a:p>
            <a:pPr algn="ctr">
              <a:defRPr sz="1000" b="0" i="0">
                <a:solidFill>
                  <a:srgbClr val="FFFFFF"/>
                </a:solidFill>
              </a:defRPr>
            </a:pPr>
            <a:r>
              <a:rPr dirty="0" err="1"/>
              <a:t>Soutenance</a:t>
            </a:r>
            <a:r>
              <a:rPr dirty="0"/>
              <a:t> : 17/09/2026  </a:t>
            </a:r>
          </a:p>
        </p:txBody>
      </p:sp>
      <p:sp>
        <p:nvSpPr>
          <p:cNvPr id="24" name="TextBox 23"/>
          <p:cNvSpPr txBox="1"/>
          <p:nvPr/>
        </p:nvSpPr>
        <p:spPr>
          <a:xfrm>
            <a:off x="8686800" y="6355080"/>
            <a:ext cx="3017520" cy="246221"/>
          </a:xfrm>
          <a:prstGeom prst="rect">
            <a:avLst/>
          </a:prstGeom>
          <a:noFill/>
        </p:spPr>
        <p:txBody>
          <a:bodyPr wrap="square">
            <a:spAutoFit/>
          </a:bodyPr>
          <a:lstStyle/>
          <a:p>
            <a:pPr algn="r">
              <a:defRPr sz="1000" b="0" i="0">
                <a:solidFill>
                  <a:srgbClr val="FFFFFF"/>
                </a:solidFill>
              </a:defRPr>
            </a:pPr>
            <a:r>
              <a:rPr dirty="0"/>
              <a:t>Ann</a:t>
            </a:r>
            <a:r>
              <a:rPr lang="fr-CH" dirty="0" err="1"/>
              <a:t>ée</a:t>
            </a:r>
            <a:r>
              <a:rPr dirty="0"/>
              <a:t> </a:t>
            </a:r>
            <a:r>
              <a:rPr dirty="0" err="1"/>
              <a:t>acad</a:t>
            </a:r>
            <a:r>
              <a:rPr lang="fr-CH" dirty="0"/>
              <a:t>é</a:t>
            </a:r>
            <a:r>
              <a:rPr dirty="0" err="1"/>
              <a:t>mique</a:t>
            </a:r>
            <a:r>
              <a:rPr dirty="0"/>
              <a:t> 2025-2026</a:t>
            </a:r>
          </a:p>
        </p:txBody>
      </p:sp>
      <p:sp>
        <p:nvSpPr>
          <p:cNvPr id="25" name="Freeform 10">
            <a:extLst>
              <a:ext uri="{FF2B5EF4-FFF2-40B4-BE49-F238E27FC236}">
                <a16:creationId xmlns:a16="http://schemas.microsoft.com/office/drawing/2014/main" id="{E80D2D62-158E-41FD-953C-355E06388260}"/>
              </a:ext>
            </a:extLst>
          </p:cNvPr>
          <p:cNvSpPr/>
          <p:nvPr/>
        </p:nvSpPr>
        <p:spPr>
          <a:xfrm>
            <a:off x="1084484" y="623306"/>
            <a:ext cx="2390236" cy="791940"/>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sp>
      <p:pic>
        <p:nvPicPr>
          <p:cNvPr id="27" name="Image 26">
            <a:extLst>
              <a:ext uri="{FF2B5EF4-FFF2-40B4-BE49-F238E27FC236}">
                <a16:creationId xmlns:a16="http://schemas.microsoft.com/office/drawing/2014/main" id="{C409ECE9-844E-4421-8469-7B645CD4E9C5}"/>
              </a:ext>
            </a:extLst>
          </p:cNvPr>
          <p:cNvPicPr>
            <a:picLocks noChangeAspect="1"/>
          </p:cNvPicPr>
          <p:nvPr/>
        </p:nvPicPr>
        <p:blipFill rotWithShape="1">
          <a:blip r:embed="rId3"/>
          <a:srcRect t="36165" b="33014"/>
          <a:stretch/>
        </p:blipFill>
        <p:spPr>
          <a:xfrm>
            <a:off x="8677699" y="593891"/>
            <a:ext cx="2569421" cy="7919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Sommaire</a:t>
            </a:r>
          </a:p>
        </p:txBody>
      </p:sp>
      <p:sp>
        <p:nvSpPr>
          <p:cNvPr id="4" name="Rectangle 3"/>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 / 32</a:t>
            </a:r>
          </a:p>
        </p:txBody>
      </p:sp>
      <p:sp>
        <p:nvSpPr>
          <p:cNvPr id="7" name="TextBox 6"/>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8" name="Rectangle 7"/>
          <p:cNvSpPr/>
          <p:nvPr/>
        </p:nvSpPr>
        <p:spPr>
          <a:xfrm>
            <a:off x="1828800" y="1463040"/>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01</a:t>
            </a:r>
          </a:p>
        </p:txBody>
      </p:sp>
      <p:sp>
        <p:nvSpPr>
          <p:cNvPr id="9" name="TextBox 8"/>
          <p:cNvSpPr txBox="1"/>
          <p:nvPr/>
        </p:nvSpPr>
        <p:spPr>
          <a:xfrm>
            <a:off x="2514600" y="1508760"/>
            <a:ext cx="8686800" cy="365760"/>
          </a:xfrm>
          <a:prstGeom prst="rect">
            <a:avLst/>
          </a:prstGeom>
          <a:noFill/>
        </p:spPr>
        <p:txBody>
          <a:bodyPr wrap="square">
            <a:spAutoFit/>
          </a:bodyPr>
          <a:lstStyle/>
          <a:p>
            <a:pPr algn="l">
              <a:defRPr sz="1600" b="0" i="0">
                <a:solidFill>
                  <a:srgbClr val="333333"/>
                </a:solidFill>
              </a:defRPr>
            </a:pPr>
            <a:r>
              <a:t>Introduction</a:t>
            </a:r>
          </a:p>
        </p:txBody>
      </p:sp>
      <p:sp>
        <p:nvSpPr>
          <p:cNvPr id="10" name="Rectangle 9"/>
          <p:cNvSpPr/>
          <p:nvPr/>
        </p:nvSpPr>
        <p:spPr>
          <a:xfrm>
            <a:off x="2514600" y="1883664"/>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828800" y="1938528"/>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02</a:t>
            </a:r>
          </a:p>
        </p:txBody>
      </p:sp>
      <p:sp>
        <p:nvSpPr>
          <p:cNvPr id="12" name="TextBox 11"/>
          <p:cNvSpPr txBox="1"/>
          <p:nvPr/>
        </p:nvSpPr>
        <p:spPr>
          <a:xfrm>
            <a:off x="2514600" y="1984248"/>
            <a:ext cx="8686800" cy="365760"/>
          </a:xfrm>
          <a:prstGeom prst="rect">
            <a:avLst/>
          </a:prstGeom>
          <a:noFill/>
        </p:spPr>
        <p:txBody>
          <a:bodyPr wrap="square">
            <a:spAutoFit/>
          </a:bodyPr>
          <a:lstStyle/>
          <a:p>
            <a:pPr algn="l">
              <a:defRPr sz="1600" b="0" i="0">
                <a:solidFill>
                  <a:srgbClr val="333333"/>
                </a:solidFill>
              </a:defRPr>
            </a:pPr>
            <a:r>
              <a:t>Organisme d'accueil</a:t>
            </a:r>
          </a:p>
        </p:txBody>
      </p:sp>
      <p:sp>
        <p:nvSpPr>
          <p:cNvPr id="13" name="Rectangle 12"/>
          <p:cNvSpPr/>
          <p:nvPr/>
        </p:nvSpPr>
        <p:spPr>
          <a:xfrm>
            <a:off x="2514600" y="2359152"/>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828800" y="2414016"/>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03</a:t>
            </a:r>
          </a:p>
        </p:txBody>
      </p:sp>
      <p:sp>
        <p:nvSpPr>
          <p:cNvPr id="15" name="TextBox 14"/>
          <p:cNvSpPr txBox="1"/>
          <p:nvPr/>
        </p:nvSpPr>
        <p:spPr>
          <a:xfrm>
            <a:off x="2514600" y="2459736"/>
            <a:ext cx="8686800" cy="338554"/>
          </a:xfrm>
          <a:prstGeom prst="rect">
            <a:avLst/>
          </a:prstGeom>
          <a:noFill/>
        </p:spPr>
        <p:txBody>
          <a:bodyPr wrap="square">
            <a:spAutoFit/>
          </a:bodyPr>
          <a:lstStyle/>
          <a:p>
            <a:pPr algn="l">
              <a:defRPr sz="1600" b="0" i="0">
                <a:solidFill>
                  <a:srgbClr val="333333"/>
                </a:solidFill>
              </a:defRPr>
            </a:pPr>
            <a:r>
              <a:rPr dirty="0"/>
              <a:t>L'</a:t>
            </a:r>
            <a:r>
              <a:rPr lang="fr-CH" dirty="0"/>
              <a:t>é</a:t>
            </a:r>
            <a:r>
              <a:rPr dirty="0" err="1"/>
              <a:t>quipe</a:t>
            </a:r>
            <a:r>
              <a:rPr dirty="0"/>
              <a:t> et son </a:t>
            </a:r>
            <a:r>
              <a:rPr dirty="0" err="1"/>
              <a:t>fonctionnement</a:t>
            </a:r>
            <a:endParaRPr dirty="0"/>
          </a:p>
        </p:txBody>
      </p:sp>
      <p:sp>
        <p:nvSpPr>
          <p:cNvPr id="16" name="Rectangle 15"/>
          <p:cNvSpPr/>
          <p:nvPr/>
        </p:nvSpPr>
        <p:spPr>
          <a:xfrm>
            <a:off x="2514600" y="2834640"/>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828800" y="2889504"/>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04</a:t>
            </a:r>
          </a:p>
        </p:txBody>
      </p:sp>
      <p:sp>
        <p:nvSpPr>
          <p:cNvPr id="18" name="TextBox 17"/>
          <p:cNvSpPr txBox="1"/>
          <p:nvPr/>
        </p:nvSpPr>
        <p:spPr>
          <a:xfrm>
            <a:off x="2514600" y="2935224"/>
            <a:ext cx="8686800" cy="365760"/>
          </a:xfrm>
          <a:prstGeom prst="rect">
            <a:avLst/>
          </a:prstGeom>
          <a:noFill/>
        </p:spPr>
        <p:txBody>
          <a:bodyPr wrap="square">
            <a:spAutoFit/>
          </a:bodyPr>
          <a:lstStyle/>
          <a:p>
            <a:pPr algn="l">
              <a:defRPr sz="1600" b="0" i="0">
                <a:solidFill>
                  <a:srgbClr val="333333"/>
                </a:solidFill>
              </a:defRPr>
            </a:pPr>
            <a:r>
              <a:t>Missions du stage</a:t>
            </a:r>
          </a:p>
        </p:txBody>
      </p:sp>
      <p:sp>
        <p:nvSpPr>
          <p:cNvPr id="19" name="Rectangle 18"/>
          <p:cNvSpPr/>
          <p:nvPr/>
        </p:nvSpPr>
        <p:spPr>
          <a:xfrm>
            <a:off x="2514600" y="3310128"/>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28800" y="3364992"/>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05</a:t>
            </a:r>
          </a:p>
        </p:txBody>
      </p:sp>
      <p:sp>
        <p:nvSpPr>
          <p:cNvPr id="21" name="TextBox 20"/>
          <p:cNvSpPr txBox="1"/>
          <p:nvPr/>
        </p:nvSpPr>
        <p:spPr>
          <a:xfrm>
            <a:off x="2514600" y="3410712"/>
            <a:ext cx="8686800" cy="365760"/>
          </a:xfrm>
          <a:prstGeom prst="rect">
            <a:avLst/>
          </a:prstGeom>
          <a:noFill/>
        </p:spPr>
        <p:txBody>
          <a:bodyPr wrap="square">
            <a:spAutoFit/>
          </a:bodyPr>
          <a:lstStyle/>
          <a:p>
            <a:pPr algn="l">
              <a:defRPr sz="1600" b="0" i="0">
                <a:solidFill>
                  <a:srgbClr val="333333"/>
                </a:solidFill>
              </a:defRPr>
            </a:pPr>
            <a:r>
              <a:t>CS BAG v2</a:t>
            </a:r>
          </a:p>
        </p:txBody>
      </p:sp>
      <p:sp>
        <p:nvSpPr>
          <p:cNvPr id="22" name="Rectangle 21"/>
          <p:cNvSpPr/>
          <p:nvPr/>
        </p:nvSpPr>
        <p:spPr>
          <a:xfrm>
            <a:off x="2514600" y="3785616"/>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828800" y="3840480"/>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06</a:t>
            </a:r>
          </a:p>
        </p:txBody>
      </p:sp>
      <p:sp>
        <p:nvSpPr>
          <p:cNvPr id="24" name="TextBox 23"/>
          <p:cNvSpPr txBox="1"/>
          <p:nvPr/>
        </p:nvSpPr>
        <p:spPr>
          <a:xfrm>
            <a:off x="2514600" y="3886200"/>
            <a:ext cx="8686800" cy="365760"/>
          </a:xfrm>
          <a:prstGeom prst="rect">
            <a:avLst/>
          </a:prstGeom>
          <a:noFill/>
        </p:spPr>
        <p:txBody>
          <a:bodyPr wrap="square">
            <a:spAutoFit/>
          </a:bodyPr>
          <a:lstStyle/>
          <a:p>
            <a:pPr algn="l">
              <a:defRPr sz="1600" b="0" i="0">
                <a:solidFill>
                  <a:srgbClr val="333333"/>
                </a:solidFill>
              </a:defRPr>
            </a:pPr>
            <a:r>
              <a:t>Mission Elium Sauvegarde</a:t>
            </a:r>
          </a:p>
        </p:txBody>
      </p:sp>
      <p:sp>
        <p:nvSpPr>
          <p:cNvPr id="25" name="Rectangle 24"/>
          <p:cNvSpPr/>
          <p:nvPr/>
        </p:nvSpPr>
        <p:spPr>
          <a:xfrm>
            <a:off x="2514600" y="4261104"/>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828800" y="4315968"/>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07</a:t>
            </a:r>
          </a:p>
        </p:txBody>
      </p:sp>
      <p:sp>
        <p:nvSpPr>
          <p:cNvPr id="27" name="TextBox 26"/>
          <p:cNvSpPr txBox="1"/>
          <p:nvPr/>
        </p:nvSpPr>
        <p:spPr>
          <a:xfrm>
            <a:off x="2514600" y="4361688"/>
            <a:ext cx="8686800" cy="338554"/>
          </a:xfrm>
          <a:prstGeom prst="rect">
            <a:avLst/>
          </a:prstGeom>
          <a:noFill/>
        </p:spPr>
        <p:txBody>
          <a:bodyPr wrap="square">
            <a:spAutoFit/>
          </a:bodyPr>
          <a:lstStyle/>
          <a:p>
            <a:pPr algn="l">
              <a:defRPr sz="1600" b="0" i="0">
                <a:solidFill>
                  <a:srgbClr val="333333"/>
                </a:solidFill>
              </a:defRPr>
            </a:pPr>
            <a:r>
              <a:rPr dirty="0"/>
              <a:t>R</a:t>
            </a:r>
            <a:r>
              <a:rPr lang="fr-CH" dirty="0"/>
              <a:t>é</a:t>
            </a:r>
            <a:r>
              <a:rPr dirty="0" err="1"/>
              <a:t>sultats</a:t>
            </a:r>
            <a:r>
              <a:rPr dirty="0"/>
              <a:t> </a:t>
            </a:r>
            <a:r>
              <a:rPr dirty="0" err="1"/>
              <a:t>obtenus</a:t>
            </a:r>
            <a:endParaRPr dirty="0"/>
          </a:p>
        </p:txBody>
      </p:sp>
      <p:sp>
        <p:nvSpPr>
          <p:cNvPr id="28" name="Rectangle 27"/>
          <p:cNvSpPr/>
          <p:nvPr/>
        </p:nvSpPr>
        <p:spPr>
          <a:xfrm>
            <a:off x="2514600" y="4736592"/>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828800" y="4791456"/>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08</a:t>
            </a:r>
          </a:p>
        </p:txBody>
      </p:sp>
      <p:sp>
        <p:nvSpPr>
          <p:cNvPr id="30" name="TextBox 29"/>
          <p:cNvSpPr txBox="1"/>
          <p:nvPr/>
        </p:nvSpPr>
        <p:spPr>
          <a:xfrm>
            <a:off x="2514600" y="4837176"/>
            <a:ext cx="8686800" cy="365760"/>
          </a:xfrm>
          <a:prstGeom prst="rect">
            <a:avLst/>
          </a:prstGeom>
          <a:noFill/>
        </p:spPr>
        <p:txBody>
          <a:bodyPr wrap="square">
            <a:spAutoFit/>
          </a:bodyPr>
          <a:lstStyle/>
          <a:p>
            <a:pPr algn="l">
              <a:defRPr sz="1600" b="0" i="0">
                <a:solidFill>
                  <a:srgbClr val="333333"/>
                </a:solidFill>
              </a:defRPr>
            </a:pPr>
            <a:r>
              <a:t>Recul et competences acquises</a:t>
            </a:r>
          </a:p>
        </p:txBody>
      </p:sp>
      <p:sp>
        <p:nvSpPr>
          <p:cNvPr id="31" name="Rectangle 30"/>
          <p:cNvSpPr/>
          <p:nvPr/>
        </p:nvSpPr>
        <p:spPr>
          <a:xfrm>
            <a:off x="2514600" y="5212080"/>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828800" y="5266944"/>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09</a:t>
            </a:r>
          </a:p>
        </p:txBody>
      </p:sp>
      <p:sp>
        <p:nvSpPr>
          <p:cNvPr id="33" name="TextBox 32"/>
          <p:cNvSpPr txBox="1"/>
          <p:nvPr/>
        </p:nvSpPr>
        <p:spPr>
          <a:xfrm>
            <a:off x="2514600" y="5312664"/>
            <a:ext cx="8686800" cy="365760"/>
          </a:xfrm>
          <a:prstGeom prst="rect">
            <a:avLst/>
          </a:prstGeom>
          <a:noFill/>
        </p:spPr>
        <p:txBody>
          <a:bodyPr wrap="square">
            <a:spAutoFit/>
          </a:bodyPr>
          <a:lstStyle/>
          <a:p>
            <a:pPr algn="l">
              <a:defRPr sz="1600" b="0" i="0">
                <a:solidFill>
                  <a:srgbClr val="333333"/>
                </a:solidFill>
              </a:defRPr>
            </a:pPr>
            <a:r>
              <a:rPr dirty="0"/>
              <a:t>Conclusion et perspectives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01</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400300"/>
            <a:ext cx="6858000" cy="1371600"/>
          </a:xfrm>
          <a:prstGeom prst="rect">
            <a:avLst/>
          </a:prstGeom>
          <a:noFill/>
        </p:spPr>
        <p:txBody>
          <a:bodyPr wrap="square">
            <a:spAutoFit/>
          </a:bodyPr>
          <a:lstStyle/>
          <a:p>
            <a:pPr algn="l">
              <a:defRPr sz="4400" b="1" i="0">
                <a:solidFill>
                  <a:srgbClr val="003366"/>
                </a:solidFill>
              </a:defRPr>
            </a:pPr>
            <a:r>
              <a:t>Introduction</a:t>
            </a:r>
          </a:p>
        </p:txBody>
      </p:sp>
      <p:sp>
        <p:nvSpPr>
          <p:cNvPr id="6" name="TextBox 5"/>
          <p:cNvSpPr txBox="1"/>
          <p:nvPr/>
        </p:nvSpPr>
        <p:spPr>
          <a:xfrm>
            <a:off x="4937760" y="3566160"/>
            <a:ext cx="6858000" cy="369332"/>
          </a:xfrm>
          <a:prstGeom prst="rect">
            <a:avLst/>
          </a:prstGeom>
          <a:noFill/>
        </p:spPr>
        <p:txBody>
          <a:bodyPr wrap="square">
            <a:spAutoFit/>
          </a:bodyPr>
          <a:lstStyle/>
          <a:p>
            <a:pPr algn="l">
              <a:defRPr sz="1800" b="0" i="1">
                <a:solidFill>
                  <a:srgbClr val="666666"/>
                </a:solidFill>
              </a:defRPr>
            </a:pPr>
            <a:r>
              <a:rPr dirty="0" err="1"/>
              <a:t>Contexte</a:t>
            </a:r>
            <a:r>
              <a:rPr dirty="0"/>
              <a:t> et cadre g</a:t>
            </a:r>
            <a:r>
              <a:rPr lang="fr-CH" dirty="0"/>
              <a:t>é</a:t>
            </a:r>
            <a:r>
              <a:rPr dirty="0"/>
              <a:t>n</a:t>
            </a:r>
            <a:r>
              <a:rPr lang="fr-CH" dirty="0"/>
              <a:t>é</a:t>
            </a:r>
            <a:r>
              <a:rPr dirty="0" err="1"/>
              <a:t>ral</a:t>
            </a:r>
            <a:r>
              <a:rPr dirty="0"/>
              <a:t> du stage</a:t>
            </a:r>
          </a:p>
        </p:txBody>
      </p:sp>
      <p:sp>
        <p:nvSpPr>
          <p:cNvPr id="7" name="Freeform 10">
            <a:extLst>
              <a:ext uri="{FF2B5EF4-FFF2-40B4-BE49-F238E27FC236}">
                <a16:creationId xmlns:a16="http://schemas.microsoft.com/office/drawing/2014/main" id="{8DA345CD-702E-48A9-9158-1B85D002C80F}"/>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sp>
      <p:pic>
        <p:nvPicPr>
          <p:cNvPr id="8" name="Image 7">
            <a:extLst>
              <a:ext uri="{FF2B5EF4-FFF2-40B4-BE49-F238E27FC236}">
                <a16:creationId xmlns:a16="http://schemas.microsoft.com/office/drawing/2014/main" id="{E8D768F5-F84B-4424-90F5-BBF3DE1D3163}"/>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INTRODUCTION</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Contexte et enjeu</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4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371600"/>
            <a:ext cx="10698480" cy="457200"/>
          </a:xfrm>
          <a:prstGeom prst="rect">
            <a:avLst/>
          </a:prstGeom>
          <a:noFill/>
        </p:spPr>
        <p:txBody>
          <a:bodyPr wrap="square">
            <a:spAutoFit/>
          </a:bodyPr>
          <a:lstStyle/>
          <a:p>
            <a:pPr algn="l">
              <a:defRPr sz="1800" b="1" i="0">
                <a:solidFill>
                  <a:srgbClr val="003366"/>
                </a:solidFill>
              </a:defRPr>
            </a:pPr>
            <a:r>
              <a:t>Un enjeu concret pour les SI d'entreprise</a:t>
            </a:r>
          </a:p>
        </p:txBody>
      </p:sp>
      <p:sp>
        <p:nvSpPr>
          <p:cNvPr id="10" name="TextBox 9"/>
          <p:cNvSpPr txBox="1"/>
          <p:nvPr/>
        </p:nvSpPr>
        <p:spPr>
          <a:xfrm>
            <a:off x="731520" y="1828800"/>
            <a:ext cx="10698480" cy="1188720"/>
          </a:xfrm>
          <a:prstGeom prst="rect">
            <a:avLst/>
          </a:prstGeom>
          <a:noFill/>
        </p:spPr>
        <p:txBody>
          <a:bodyPr wrap="square">
            <a:spAutoFit/>
          </a:bodyPr>
          <a:lstStyle/>
          <a:p>
            <a:pPr algn="l">
              <a:defRPr sz="1300" b="0" i="0">
                <a:solidFill>
                  <a:srgbClr val="333333"/>
                </a:solidFill>
              </a:defRPr>
            </a:pPr>
            <a:r>
              <a:rPr dirty="0"/>
              <a:t>Les </a:t>
            </a:r>
            <a:r>
              <a:rPr dirty="0" err="1"/>
              <a:t>systemes</a:t>
            </a:r>
            <a:r>
              <a:rPr dirty="0"/>
              <a:t> </a:t>
            </a:r>
            <a:r>
              <a:rPr dirty="0" err="1"/>
              <a:t>d'information</a:t>
            </a:r>
            <a:r>
              <a:rPr dirty="0"/>
              <a:t> </a:t>
            </a:r>
            <a:r>
              <a:rPr dirty="0" err="1"/>
              <a:t>reposent</a:t>
            </a:r>
            <a:r>
              <a:rPr dirty="0"/>
              <a:t> sur un parc </a:t>
            </a:r>
            <a:r>
              <a:rPr dirty="0" err="1"/>
              <a:t>applicatif</a:t>
            </a:r>
            <a:r>
              <a:rPr dirty="0"/>
              <a:t> </a:t>
            </a:r>
            <a:r>
              <a:rPr dirty="0" err="1"/>
              <a:t>dont</a:t>
            </a:r>
            <a:r>
              <a:rPr dirty="0"/>
              <a:t> la </a:t>
            </a:r>
            <a:r>
              <a:rPr dirty="0" err="1"/>
              <a:t>complexite</a:t>
            </a:r>
            <a:endParaRPr dirty="0"/>
          </a:p>
          <a:p>
            <a:pPr algn="l">
              <a:defRPr sz="1300" b="0" i="0">
                <a:solidFill>
                  <a:srgbClr val="333333"/>
                </a:solidFill>
              </a:defRPr>
            </a:pPr>
            <a:r>
              <a:rPr dirty="0" err="1"/>
              <a:t>croit</a:t>
            </a:r>
            <a:r>
              <a:rPr dirty="0"/>
              <a:t> avec le temps : </a:t>
            </a:r>
            <a:r>
              <a:rPr dirty="0" err="1"/>
              <a:t>certificats</a:t>
            </a:r>
            <a:r>
              <a:rPr dirty="0"/>
              <a:t>, </a:t>
            </a:r>
            <a:r>
              <a:rPr dirty="0" err="1"/>
              <a:t>comptes</a:t>
            </a:r>
            <a:r>
              <a:rPr dirty="0"/>
              <a:t> de service, </a:t>
            </a:r>
            <a:r>
              <a:rPr dirty="0" err="1"/>
              <a:t>ressources</a:t>
            </a:r>
            <a:r>
              <a:rPr dirty="0"/>
              <a:t> cloud, bases</a:t>
            </a:r>
          </a:p>
          <a:p>
            <a:pPr algn="l">
              <a:defRPr sz="1300" b="0" i="0">
                <a:solidFill>
                  <a:srgbClr val="333333"/>
                </a:solidFill>
              </a:defRPr>
            </a:pPr>
            <a:r>
              <a:rPr dirty="0"/>
              <a:t>de </a:t>
            </a:r>
            <a:r>
              <a:rPr dirty="0" err="1"/>
              <a:t>donnees</a:t>
            </a:r>
            <a:r>
              <a:rPr dirty="0"/>
              <a:t>... Un </a:t>
            </a:r>
            <a:r>
              <a:rPr dirty="0" err="1"/>
              <a:t>certificat</a:t>
            </a:r>
            <a:r>
              <a:rPr dirty="0"/>
              <a:t> qui expire sans </a:t>
            </a:r>
            <a:r>
              <a:rPr dirty="0" err="1"/>
              <a:t>alerte</a:t>
            </a:r>
            <a:r>
              <a:rPr dirty="0"/>
              <a:t> = un service de production</a:t>
            </a:r>
          </a:p>
          <a:p>
            <a:pPr algn="l">
              <a:defRPr sz="1300" b="0" i="0">
                <a:solidFill>
                  <a:srgbClr val="333333"/>
                </a:solidFill>
              </a:defRPr>
            </a:pPr>
            <a:r>
              <a:rPr dirty="0"/>
              <a:t>qui </a:t>
            </a:r>
            <a:r>
              <a:rPr dirty="0" err="1"/>
              <a:t>s'interrompt</a:t>
            </a:r>
            <a:r>
              <a:rPr dirty="0"/>
              <a:t>. </a:t>
            </a:r>
            <a:r>
              <a:rPr dirty="0" err="1"/>
              <a:t>L'inventaire</a:t>
            </a:r>
            <a:r>
              <a:rPr dirty="0"/>
              <a:t> du </a:t>
            </a:r>
            <a:r>
              <a:rPr dirty="0" err="1"/>
              <a:t>patrimoine</a:t>
            </a:r>
            <a:r>
              <a:rPr dirty="0"/>
              <a:t> </a:t>
            </a:r>
            <a:r>
              <a:rPr dirty="0" err="1"/>
              <a:t>applicatif</a:t>
            </a:r>
            <a:r>
              <a:rPr dirty="0"/>
              <a:t> </a:t>
            </a:r>
            <a:r>
              <a:rPr dirty="0" err="1"/>
              <a:t>est</a:t>
            </a:r>
            <a:r>
              <a:rPr dirty="0"/>
              <a:t> </a:t>
            </a:r>
            <a:r>
              <a:rPr dirty="0" err="1"/>
              <a:t>une</a:t>
            </a:r>
            <a:r>
              <a:rPr dirty="0"/>
              <a:t> condition de</a:t>
            </a:r>
          </a:p>
          <a:p>
            <a:pPr algn="l">
              <a:defRPr sz="1300" b="0" i="0">
                <a:solidFill>
                  <a:srgbClr val="333333"/>
                </a:solidFill>
              </a:defRPr>
            </a:pPr>
            <a:r>
              <a:rPr dirty="0" err="1"/>
              <a:t>continuite</a:t>
            </a:r>
            <a:r>
              <a:rPr dirty="0"/>
              <a:t> de service.</a:t>
            </a:r>
          </a:p>
        </p:txBody>
      </p:sp>
      <p:sp>
        <p:nvSpPr>
          <p:cNvPr id="11" name="TextBox 10"/>
          <p:cNvSpPr txBox="1"/>
          <p:nvPr/>
        </p:nvSpPr>
        <p:spPr>
          <a:xfrm>
            <a:off x="731520" y="3383280"/>
            <a:ext cx="10698480" cy="338554"/>
          </a:xfrm>
          <a:prstGeom prst="rect">
            <a:avLst/>
          </a:prstGeom>
          <a:noFill/>
        </p:spPr>
        <p:txBody>
          <a:bodyPr wrap="square">
            <a:spAutoFit/>
          </a:bodyPr>
          <a:lstStyle/>
          <a:p>
            <a:pPr algn="l">
              <a:defRPr sz="1600" b="1" i="0">
                <a:solidFill>
                  <a:srgbClr val="003366"/>
                </a:solidFill>
              </a:defRPr>
            </a:pPr>
            <a:r>
              <a:rPr dirty="0"/>
              <a:t>Deux missions au sein de </a:t>
            </a:r>
            <a:r>
              <a:rPr lang="fr-MA" dirty="0"/>
              <a:t>équipe</a:t>
            </a:r>
            <a:r>
              <a:rPr dirty="0"/>
              <a:t> Group Collaborative Solutions (VESI)</a:t>
            </a:r>
          </a:p>
        </p:txBody>
      </p:sp>
      <p:sp>
        <p:nvSpPr>
          <p:cNvPr id="12" name="Rounded Rectangle 11"/>
          <p:cNvSpPr/>
          <p:nvPr/>
        </p:nvSpPr>
        <p:spPr>
          <a:xfrm>
            <a:off x="731520" y="3931920"/>
            <a:ext cx="5394960" cy="228600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3931920"/>
            <a:ext cx="5394960" cy="5029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Mission principale</a:t>
            </a:r>
          </a:p>
        </p:txBody>
      </p:sp>
      <p:sp>
        <p:nvSpPr>
          <p:cNvPr id="14" name="TextBox 13"/>
          <p:cNvSpPr txBox="1"/>
          <p:nvPr/>
        </p:nvSpPr>
        <p:spPr>
          <a:xfrm>
            <a:off x="914400" y="4572000"/>
            <a:ext cx="5029200" cy="411480"/>
          </a:xfrm>
          <a:prstGeom prst="rect">
            <a:avLst/>
          </a:prstGeom>
          <a:noFill/>
        </p:spPr>
        <p:txBody>
          <a:bodyPr wrap="square">
            <a:spAutoFit/>
          </a:bodyPr>
          <a:lstStyle/>
          <a:p>
            <a:pPr algn="l">
              <a:defRPr sz="1500" b="1" i="0">
                <a:solidFill>
                  <a:srgbClr val="003366"/>
                </a:solidFill>
              </a:defRPr>
            </a:pPr>
            <a:r>
              <a:t>Refonte de CS BAG (version 2)</a:t>
            </a:r>
          </a:p>
        </p:txBody>
      </p:sp>
      <p:sp>
        <p:nvSpPr>
          <p:cNvPr id="15" name="TextBox 14"/>
          <p:cNvSpPr txBox="1"/>
          <p:nvPr/>
        </p:nvSpPr>
        <p:spPr>
          <a:xfrm>
            <a:off x="914400" y="5029200"/>
            <a:ext cx="4981576" cy="430887"/>
          </a:xfrm>
          <a:prstGeom prst="rect">
            <a:avLst/>
          </a:prstGeom>
          <a:noFill/>
        </p:spPr>
        <p:txBody>
          <a:bodyPr wrap="square">
            <a:spAutoFit/>
          </a:bodyPr>
          <a:lstStyle/>
          <a:p>
            <a:pPr algn="just">
              <a:defRPr sz="1100" b="0" i="0">
                <a:solidFill>
                  <a:srgbClr val="333333"/>
                </a:solidFill>
              </a:defRPr>
            </a:pPr>
            <a:r>
              <a:rPr dirty="0" err="1"/>
              <a:t>Outil</a:t>
            </a:r>
            <a:r>
              <a:rPr dirty="0"/>
              <a:t> interne </a:t>
            </a:r>
            <a:r>
              <a:rPr dirty="0" err="1"/>
              <a:t>d'inventaire</a:t>
            </a:r>
            <a:r>
              <a:rPr dirty="0"/>
              <a:t> du </a:t>
            </a:r>
            <a:r>
              <a:rPr dirty="0" err="1"/>
              <a:t>patrimoine</a:t>
            </a:r>
            <a:r>
              <a:rPr lang="fr-CH" dirty="0"/>
              <a:t> </a:t>
            </a:r>
            <a:r>
              <a:rPr dirty="0" err="1"/>
              <a:t>applicatif</a:t>
            </a:r>
            <a:r>
              <a:rPr dirty="0"/>
              <a:t> du service Collaborative Solutions,</a:t>
            </a:r>
          </a:p>
          <a:p>
            <a:pPr algn="just">
              <a:defRPr sz="1100" b="0" i="0">
                <a:solidFill>
                  <a:srgbClr val="333333"/>
                </a:solidFill>
              </a:defRPr>
            </a:pPr>
            <a:r>
              <a:rPr dirty="0" err="1"/>
              <a:t>decoupee</a:t>
            </a:r>
            <a:r>
              <a:rPr dirty="0"/>
              <a:t> </a:t>
            </a:r>
            <a:r>
              <a:rPr dirty="0" err="1"/>
              <a:t>en</a:t>
            </a:r>
            <a:r>
              <a:rPr dirty="0"/>
              <a:t> 3 lots de specifications.</a:t>
            </a:r>
          </a:p>
        </p:txBody>
      </p:sp>
      <p:sp>
        <p:nvSpPr>
          <p:cNvPr id="16" name="Rounded Rectangle 15"/>
          <p:cNvSpPr/>
          <p:nvPr/>
        </p:nvSpPr>
        <p:spPr>
          <a:xfrm>
            <a:off x="6309360" y="3931920"/>
            <a:ext cx="5394960" cy="2286000"/>
          </a:xfrm>
          <a:prstGeom prst="roundRect">
            <a:avLst/>
          </a:prstGeom>
          <a:solidFill>
            <a:srgbClr val="FFFFFF"/>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09360" y="3931920"/>
            <a:ext cx="5394960" cy="50292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Mission complementaire</a:t>
            </a:r>
          </a:p>
        </p:txBody>
      </p:sp>
      <p:sp>
        <p:nvSpPr>
          <p:cNvPr id="18" name="TextBox 17"/>
          <p:cNvSpPr txBox="1"/>
          <p:nvPr/>
        </p:nvSpPr>
        <p:spPr>
          <a:xfrm>
            <a:off x="6492240" y="4572000"/>
            <a:ext cx="5029200" cy="411480"/>
          </a:xfrm>
          <a:prstGeom prst="rect">
            <a:avLst/>
          </a:prstGeom>
          <a:noFill/>
        </p:spPr>
        <p:txBody>
          <a:bodyPr wrap="square">
            <a:spAutoFit/>
          </a:bodyPr>
          <a:lstStyle/>
          <a:p>
            <a:pPr algn="l">
              <a:defRPr sz="1500" b="1" i="0">
                <a:solidFill>
                  <a:srgbClr val="2E8B3D"/>
                </a:solidFill>
              </a:defRPr>
            </a:pPr>
            <a:r>
              <a:t>Fiabilisation d'Elium Sauvegarde</a:t>
            </a:r>
          </a:p>
        </p:txBody>
      </p:sp>
      <p:sp>
        <p:nvSpPr>
          <p:cNvPr id="19" name="TextBox 18"/>
          <p:cNvSpPr txBox="1"/>
          <p:nvPr/>
        </p:nvSpPr>
        <p:spPr>
          <a:xfrm>
            <a:off x="6492240" y="5029200"/>
            <a:ext cx="5029200" cy="1188720"/>
          </a:xfrm>
          <a:prstGeom prst="rect">
            <a:avLst/>
          </a:prstGeom>
          <a:noFill/>
        </p:spPr>
        <p:txBody>
          <a:bodyPr wrap="square">
            <a:spAutoFit/>
          </a:bodyPr>
          <a:lstStyle/>
          <a:p>
            <a:pPr algn="l">
              <a:defRPr sz="1100" b="0" i="0">
                <a:solidFill>
                  <a:srgbClr val="333333"/>
                </a:solidFill>
              </a:defRPr>
            </a:pPr>
            <a:r>
              <a:t>Application console .NET qui archive</a:t>
            </a:r>
          </a:p>
          <a:p>
            <a:pPr algn="l">
              <a:defRPr sz="1100" b="0" i="0">
                <a:solidFill>
                  <a:srgbClr val="333333"/>
                </a:solidFill>
              </a:defRPr>
            </a:pPr>
            <a:r>
              <a:t>les articles Elium vers SharePoint Online.</a:t>
            </a:r>
          </a:p>
          <a:p>
            <a:pPr algn="l">
              <a:defRPr sz="1100" b="0" i="0">
                <a:solidFill>
                  <a:srgbClr val="333333"/>
                </a:solidFill>
              </a:defRPr>
            </a:pPr>
            <a:r>
              <a:t>Intervention pour fiabiliser un traitement</a:t>
            </a:r>
          </a:p>
          <a:p>
            <a:pPr algn="l">
              <a:defRPr sz="1100" b="0" i="0">
                <a:solidFill>
                  <a:srgbClr val="333333"/>
                </a:solidFill>
              </a:defRPr>
            </a:pPr>
            <a:r>
              <a:t>qui echouait en production.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02</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Organisme d'accueil</a:t>
            </a:r>
          </a:p>
        </p:txBody>
      </p:sp>
      <p:sp>
        <p:nvSpPr>
          <p:cNvPr id="6" name="TextBox 5"/>
          <p:cNvSpPr txBox="1"/>
          <p:nvPr/>
        </p:nvSpPr>
        <p:spPr>
          <a:xfrm>
            <a:off x="4937760" y="3566160"/>
            <a:ext cx="6858000" cy="369332"/>
          </a:xfrm>
          <a:prstGeom prst="rect">
            <a:avLst/>
          </a:prstGeom>
          <a:noFill/>
        </p:spPr>
        <p:txBody>
          <a:bodyPr wrap="square">
            <a:spAutoFit/>
          </a:bodyPr>
          <a:lstStyle/>
          <a:p>
            <a:pPr algn="l">
              <a:defRPr sz="1800" b="0" i="1">
                <a:solidFill>
                  <a:srgbClr val="666666"/>
                </a:solidFill>
              </a:defRPr>
            </a:pPr>
            <a:r>
              <a:rPr dirty="0"/>
              <a:t>Du </a:t>
            </a:r>
            <a:r>
              <a:rPr dirty="0" err="1"/>
              <a:t>groupe</a:t>
            </a:r>
            <a:r>
              <a:rPr dirty="0"/>
              <a:t> VINCI a </a:t>
            </a:r>
            <a:r>
              <a:rPr lang="fr-MA" dirty="0"/>
              <a:t>équipe</a:t>
            </a:r>
            <a:r>
              <a:rPr dirty="0"/>
              <a:t> qui </a:t>
            </a:r>
            <a:r>
              <a:rPr dirty="0" err="1"/>
              <a:t>m'a</a:t>
            </a:r>
            <a:r>
              <a:rPr dirty="0"/>
              <a:t> </a:t>
            </a:r>
            <a:r>
              <a:rPr dirty="0" err="1"/>
              <a:t>accueilli</a:t>
            </a:r>
            <a:endParaRPr dirty="0"/>
          </a:p>
        </p:txBody>
      </p:sp>
      <p:sp>
        <p:nvSpPr>
          <p:cNvPr id="7" name="Freeform 10">
            <a:extLst>
              <a:ext uri="{FF2B5EF4-FFF2-40B4-BE49-F238E27FC236}">
                <a16:creationId xmlns:a16="http://schemas.microsoft.com/office/drawing/2014/main" id="{1FF4FD85-55F7-4641-85CA-EBA1E6D9022D}"/>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sp>
      <p:pic>
        <p:nvPicPr>
          <p:cNvPr id="8" name="Image 7">
            <a:extLst>
              <a:ext uri="{FF2B5EF4-FFF2-40B4-BE49-F238E27FC236}">
                <a16:creationId xmlns:a16="http://schemas.microsoft.com/office/drawing/2014/main" id="{66A3BBB7-0EAF-4B85-B086-7A43C3E49FE7}"/>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ORGANISME D'ACCUEIL</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Le groupe VINCI</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6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Acteur mondial des concessions, de l'energie et de la construction</a:t>
            </a:r>
          </a:p>
        </p:txBody>
      </p:sp>
      <p:sp>
        <p:nvSpPr>
          <p:cNvPr id="10" name="Rounded Rectangle 9"/>
          <p:cNvSpPr/>
          <p:nvPr/>
        </p:nvSpPr>
        <p:spPr>
          <a:xfrm>
            <a:off x="4937760" y="1783080"/>
            <a:ext cx="2286000" cy="64008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700" b="1">
                <a:solidFill>
                  <a:srgbClr val="FFFFFF"/>
                </a:solidFill>
              </a:defRPr>
            </a:pPr>
            <a:r>
              <a:t>GROUPE VINCI</a:t>
            </a:r>
          </a:p>
        </p:txBody>
      </p:sp>
      <p:sp>
        <p:nvSpPr>
          <p:cNvPr id="11" name="Rectangle 10"/>
          <p:cNvSpPr/>
          <p:nvPr/>
        </p:nvSpPr>
        <p:spPr>
          <a:xfrm>
            <a:off x="6035040" y="2423160"/>
            <a:ext cx="27432" cy="32004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46293" y="2720912"/>
            <a:ext cx="7390067" cy="82295"/>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383727" y="274320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14400" y="3004756"/>
            <a:ext cx="3200400" cy="7772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t>VINCI</a:t>
            </a:r>
          </a:p>
          <a:p>
            <a:pPr algn="ctr">
              <a:defRPr sz="1400" b="1">
                <a:solidFill>
                  <a:srgbClr val="FFFFFF"/>
                </a:solidFill>
              </a:defRPr>
            </a:pPr>
            <a:r>
              <a:t>Concessions</a:t>
            </a:r>
          </a:p>
        </p:txBody>
      </p:sp>
      <p:sp>
        <p:nvSpPr>
          <p:cNvPr id="15" name="Rectangle 14"/>
          <p:cNvSpPr/>
          <p:nvPr/>
        </p:nvSpPr>
        <p:spPr>
          <a:xfrm>
            <a:off x="1143000" y="3919156"/>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t>VINCI Autoroutes</a:t>
            </a:r>
          </a:p>
        </p:txBody>
      </p:sp>
      <p:sp>
        <p:nvSpPr>
          <p:cNvPr id="16" name="Rectangle 15"/>
          <p:cNvSpPr/>
          <p:nvPr/>
        </p:nvSpPr>
        <p:spPr>
          <a:xfrm>
            <a:off x="1143000" y="4422076"/>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t>VINCI Airports</a:t>
            </a:r>
          </a:p>
        </p:txBody>
      </p:sp>
      <p:sp>
        <p:nvSpPr>
          <p:cNvPr id="17" name="Rectangle 16"/>
          <p:cNvSpPr/>
          <p:nvPr/>
        </p:nvSpPr>
        <p:spPr>
          <a:xfrm>
            <a:off x="6041327" y="274320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572000" y="3004756"/>
            <a:ext cx="3200400" cy="7772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rPr lang="fr-MA" dirty="0"/>
              <a:t>Services à l'énergie </a:t>
            </a:r>
          </a:p>
        </p:txBody>
      </p:sp>
      <p:sp>
        <p:nvSpPr>
          <p:cNvPr id="19" name="Rectangle 18"/>
          <p:cNvSpPr/>
          <p:nvPr/>
        </p:nvSpPr>
        <p:spPr>
          <a:xfrm>
            <a:off x="4800600" y="3919156"/>
            <a:ext cx="2743200" cy="384048"/>
          </a:xfrm>
          <a:prstGeom prst="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8B3D"/>
                </a:solidFill>
              </a:defRPr>
            </a:pPr>
            <a:r>
              <a:t>VINCI Energies</a:t>
            </a:r>
          </a:p>
        </p:txBody>
      </p:sp>
      <p:sp>
        <p:nvSpPr>
          <p:cNvPr id="21" name="Rectangle 20"/>
          <p:cNvSpPr/>
          <p:nvPr/>
        </p:nvSpPr>
        <p:spPr>
          <a:xfrm>
            <a:off x="4800600" y="4505705"/>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t>Cobra IS</a:t>
            </a:r>
          </a:p>
        </p:txBody>
      </p:sp>
      <p:sp>
        <p:nvSpPr>
          <p:cNvPr id="22" name="Rectangle 21"/>
          <p:cNvSpPr/>
          <p:nvPr/>
        </p:nvSpPr>
        <p:spPr>
          <a:xfrm>
            <a:off x="9698927" y="274320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229600" y="3004756"/>
            <a:ext cx="3200400" cy="7772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rPr dirty="0"/>
              <a:t>VINCI</a:t>
            </a:r>
          </a:p>
          <a:p>
            <a:pPr algn="ctr">
              <a:defRPr sz="1400" b="1">
                <a:solidFill>
                  <a:srgbClr val="FFFFFF"/>
                </a:solidFill>
              </a:defRPr>
            </a:pPr>
            <a:r>
              <a:rPr lang="fr-MA" dirty="0"/>
              <a:t>Construction</a:t>
            </a:r>
            <a:endParaRPr dirty="0"/>
          </a:p>
        </p:txBody>
      </p:sp>
      <p:sp>
        <p:nvSpPr>
          <p:cNvPr id="24" name="Rectangle 23"/>
          <p:cNvSpPr/>
          <p:nvPr/>
        </p:nvSpPr>
        <p:spPr>
          <a:xfrm>
            <a:off x="8458200" y="3919156"/>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rPr lang="fr-MA" dirty="0"/>
              <a:t>VINCI Construction</a:t>
            </a:r>
          </a:p>
        </p:txBody>
      </p:sp>
      <p:sp>
        <p:nvSpPr>
          <p:cNvPr id="26" name="Rounded Rectangle 25"/>
          <p:cNvSpPr/>
          <p:nvPr/>
        </p:nvSpPr>
        <p:spPr>
          <a:xfrm>
            <a:off x="4114800" y="5989320"/>
            <a:ext cx="365760" cy="27432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0">
                <a:solidFill>
                  <a:srgbClr val="FFFFFF"/>
                </a:solidFill>
              </a:defRPr>
            </a:pPr>
            <a:endParaRPr/>
          </a:p>
        </p:txBody>
      </p:sp>
      <p:sp>
        <p:nvSpPr>
          <p:cNvPr id="27" name="TextBox 26"/>
          <p:cNvSpPr txBox="1"/>
          <p:nvPr/>
        </p:nvSpPr>
        <p:spPr>
          <a:xfrm>
            <a:off x="4572000" y="5989320"/>
            <a:ext cx="6400800" cy="320040"/>
          </a:xfrm>
          <a:prstGeom prst="rect">
            <a:avLst/>
          </a:prstGeom>
          <a:noFill/>
        </p:spPr>
        <p:txBody>
          <a:bodyPr wrap="square">
            <a:spAutoFit/>
          </a:bodyPr>
          <a:lstStyle/>
          <a:p>
            <a:pPr algn="l">
              <a:defRPr sz="1300" b="1" i="1">
                <a:solidFill>
                  <a:srgbClr val="2E8B3D"/>
                </a:solidFill>
              </a:defRPr>
            </a:pPr>
            <a:r>
              <a:rPr dirty="0"/>
              <a:t>Pole </a:t>
            </a:r>
            <a:r>
              <a:rPr dirty="0" err="1"/>
              <a:t>d'accueil</a:t>
            </a:r>
            <a:r>
              <a:rPr dirty="0"/>
              <a:t> : VINCI Energies</a:t>
            </a:r>
          </a:p>
        </p:txBody>
      </p:sp>
      <p:sp>
        <p:nvSpPr>
          <p:cNvPr id="28" name="Rectangle 27">
            <a:extLst>
              <a:ext uri="{FF2B5EF4-FFF2-40B4-BE49-F238E27FC236}">
                <a16:creationId xmlns:a16="http://schemas.microsoft.com/office/drawing/2014/main" id="{D6862CE1-1D49-4CFA-9A12-E26EDDACAEF6}"/>
              </a:ext>
            </a:extLst>
          </p:cNvPr>
          <p:cNvSpPr/>
          <p:nvPr/>
        </p:nvSpPr>
        <p:spPr>
          <a:xfrm>
            <a:off x="1143000" y="4976525"/>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rPr lang="fr-MA" dirty="0"/>
              <a:t>Autres concessions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ORGANISME D'ACCUEIL</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VINCI - Chiffres cl</a:t>
            </a:r>
            <a:r>
              <a:rPr lang="fr-CH" dirty="0"/>
              <a:t>é</a:t>
            </a:r>
            <a:r>
              <a:rPr dirty="0"/>
              <a:t>s 2025</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7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Groupe VINCI - Rapport annuel 2025</a:t>
            </a:r>
          </a:p>
        </p:txBody>
      </p:sp>
      <p:sp>
        <p:nvSpPr>
          <p:cNvPr id="10" name="Rounded Rectangle 9"/>
          <p:cNvSpPr/>
          <p:nvPr/>
        </p:nvSpPr>
        <p:spPr>
          <a:xfrm>
            <a:off x="73152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74,6 Mds</a:t>
            </a:r>
          </a:p>
          <a:p>
            <a:pPr algn="ctr">
              <a:defRPr sz="1200">
                <a:solidFill>
                  <a:srgbClr val="666666"/>
                </a:solidFill>
              </a:defRPr>
            </a:pPr>
            <a:r>
              <a:t>Chiffre d'affaires (EUR)</a:t>
            </a:r>
          </a:p>
        </p:txBody>
      </p:sp>
      <p:sp>
        <p:nvSpPr>
          <p:cNvPr id="11" name="Rectangle 10"/>
          <p:cNvSpPr/>
          <p:nvPr/>
        </p:nvSpPr>
        <p:spPr>
          <a:xfrm>
            <a:off x="73152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6616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293 800</a:t>
            </a:r>
          </a:p>
          <a:p>
            <a:pPr algn="ctr">
              <a:defRPr sz="1200">
                <a:solidFill>
                  <a:srgbClr val="666666"/>
                </a:solidFill>
              </a:defRPr>
            </a:pPr>
            <a:r>
              <a:t>Collaborateurs</a:t>
            </a:r>
          </a:p>
        </p:txBody>
      </p:sp>
      <p:sp>
        <p:nvSpPr>
          <p:cNvPr id="13" name="Rectangle 12"/>
          <p:cNvSpPr/>
          <p:nvPr/>
        </p:nvSpPr>
        <p:spPr>
          <a:xfrm>
            <a:off x="356616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0080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120+</a:t>
            </a:r>
          </a:p>
          <a:p>
            <a:pPr algn="ctr">
              <a:defRPr sz="1200">
                <a:solidFill>
                  <a:srgbClr val="666666"/>
                </a:solidFill>
              </a:defRPr>
            </a:pPr>
            <a:r>
              <a:t>Pays d'implantation</a:t>
            </a:r>
          </a:p>
        </p:txBody>
      </p:sp>
      <p:sp>
        <p:nvSpPr>
          <p:cNvPr id="15" name="Rectangle 14"/>
          <p:cNvSpPr/>
          <p:nvPr/>
        </p:nvSpPr>
        <p:spPr>
          <a:xfrm>
            <a:off x="640080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23544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4,9 Mds</a:t>
            </a:r>
          </a:p>
          <a:p>
            <a:pPr algn="ctr">
              <a:defRPr sz="1200">
                <a:solidFill>
                  <a:srgbClr val="666666"/>
                </a:solidFill>
              </a:defRPr>
            </a:pPr>
            <a:r>
              <a:t>Resultat net (EUR)</a:t>
            </a:r>
          </a:p>
        </p:txBody>
      </p:sp>
      <p:sp>
        <p:nvSpPr>
          <p:cNvPr id="17" name="Rectangle 16"/>
          <p:cNvSpPr/>
          <p:nvPr/>
        </p:nvSpPr>
        <p:spPr>
          <a:xfrm>
            <a:off x="923544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657600"/>
            <a:ext cx="10698480" cy="365760"/>
          </a:xfrm>
          <a:prstGeom prst="rect">
            <a:avLst/>
          </a:prstGeom>
          <a:noFill/>
        </p:spPr>
        <p:txBody>
          <a:bodyPr wrap="square">
            <a:spAutoFit/>
          </a:bodyPr>
          <a:lstStyle/>
          <a:p>
            <a:pPr algn="ctr">
              <a:defRPr sz="1600" b="1" i="0">
                <a:solidFill>
                  <a:srgbClr val="2E8B3D"/>
                </a:solidFill>
              </a:defRPr>
            </a:pPr>
            <a:r>
              <a:t>Zoom sur VINCI Energies (pole d'accueil)</a:t>
            </a:r>
          </a:p>
        </p:txBody>
      </p:sp>
      <p:sp>
        <p:nvSpPr>
          <p:cNvPr id="19" name="Rounded Rectangle 18"/>
          <p:cNvSpPr/>
          <p:nvPr/>
        </p:nvSpPr>
        <p:spPr>
          <a:xfrm>
            <a:off x="73152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21,6 Mds</a:t>
            </a:r>
          </a:p>
          <a:p>
            <a:pPr algn="ctr">
              <a:defRPr sz="1100">
                <a:solidFill>
                  <a:srgbClr val="333333"/>
                </a:solidFill>
              </a:defRPr>
            </a:pPr>
            <a:r>
              <a:t>CA (EUR)</a:t>
            </a:r>
          </a:p>
        </p:txBody>
      </p:sp>
      <p:sp>
        <p:nvSpPr>
          <p:cNvPr id="20" name="Rounded Rectangle 19"/>
          <p:cNvSpPr/>
          <p:nvPr/>
        </p:nvSpPr>
        <p:spPr>
          <a:xfrm>
            <a:off x="356616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109 000</a:t>
            </a:r>
          </a:p>
          <a:p>
            <a:pPr algn="ctr">
              <a:defRPr sz="1100">
                <a:solidFill>
                  <a:srgbClr val="333333"/>
                </a:solidFill>
              </a:defRPr>
            </a:pPr>
            <a:r>
              <a:t>Collaborateurs</a:t>
            </a:r>
          </a:p>
        </p:txBody>
      </p:sp>
      <p:sp>
        <p:nvSpPr>
          <p:cNvPr id="21" name="Rounded Rectangle 20"/>
          <p:cNvSpPr/>
          <p:nvPr/>
        </p:nvSpPr>
        <p:spPr>
          <a:xfrm>
            <a:off x="640080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60</a:t>
            </a:r>
          </a:p>
          <a:p>
            <a:pPr algn="ctr">
              <a:defRPr sz="1100">
                <a:solidFill>
                  <a:srgbClr val="333333"/>
                </a:solidFill>
              </a:defRPr>
            </a:pPr>
            <a:r>
              <a:t>Pays</a:t>
            </a:r>
          </a:p>
        </p:txBody>
      </p:sp>
      <p:sp>
        <p:nvSpPr>
          <p:cNvPr id="22" name="Rounded Rectangle 21"/>
          <p:cNvSpPr/>
          <p:nvPr/>
        </p:nvSpPr>
        <p:spPr>
          <a:xfrm>
            <a:off x="923544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 2 200</a:t>
            </a:r>
          </a:p>
          <a:p>
            <a:pPr algn="ctr">
              <a:defRPr sz="1100">
                <a:solidFill>
                  <a:srgbClr val="333333"/>
                </a:solidFill>
              </a:defRPr>
            </a:pPr>
            <a:r>
              <a:t>Entreprises</a:t>
            </a:r>
          </a:p>
        </p:txBody>
      </p:sp>
      <p:sp>
        <p:nvSpPr>
          <p:cNvPr id="23" name="TextBox 22"/>
          <p:cNvSpPr txBox="1"/>
          <p:nvPr/>
        </p:nvSpPr>
        <p:spPr>
          <a:xfrm>
            <a:off x="731520" y="5715000"/>
            <a:ext cx="10698480" cy="365760"/>
          </a:xfrm>
          <a:prstGeom prst="rect">
            <a:avLst/>
          </a:prstGeom>
          <a:noFill/>
        </p:spPr>
        <p:txBody>
          <a:bodyPr wrap="square">
            <a:spAutoFit/>
          </a:bodyPr>
          <a:lstStyle/>
          <a:p>
            <a:pPr algn="ctr">
              <a:defRPr sz="1200" b="0" i="1">
                <a:solidFill>
                  <a:srgbClr val="666666"/>
                </a:solidFill>
              </a:defRPr>
            </a:pPr>
            <a:r>
              <a:t>Marques transverses : Actemium, Axians, Omexom, Citeos, VINCI Facilities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03</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446550"/>
          </a:xfrm>
          <a:prstGeom prst="rect">
            <a:avLst/>
          </a:prstGeom>
          <a:noFill/>
        </p:spPr>
        <p:txBody>
          <a:bodyPr wrap="square">
            <a:spAutoFit/>
          </a:bodyPr>
          <a:lstStyle/>
          <a:p>
            <a:pPr algn="l">
              <a:defRPr sz="4400" b="1" i="0">
                <a:solidFill>
                  <a:srgbClr val="003366"/>
                </a:solidFill>
              </a:defRPr>
            </a:pPr>
            <a:r>
              <a:rPr dirty="0"/>
              <a:t>L'</a:t>
            </a:r>
            <a:r>
              <a:rPr lang="fr-CH" dirty="0"/>
              <a:t>é</a:t>
            </a:r>
            <a:r>
              <a:rPr dirty="0" err="1"/>
              <a:t>quipe</a:t>
            </a:r>
            <a:r>
              <a:rPr dirty="0"/>
              <a:t> et son </a:t>
            </a:r>
            <a:r>
              <a:rPr dirty="0" err="1"/>
              <a:t>fonctionnement</a:t>
            </a:r>
            <a:endParaRPr dirty="0"/>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VESI, la direction Custom Applications et le squad M365</a:t>
            </a:r>
          </a:p>
        </p:txBody>
      </p:sp>
      <p:sp>
        <p:nvSpPr>
          <p:cNvPr id="7" name="Freeform 10">
            <a:extLst>
              <a:ext uri="{FF2B5EF4-FFF2-40B4-BE49-F238E27FC236}">
                <a16:creationId xmlns:a16="http://schemas.microsoft.com/office/drawing/2014/main" id="{83BEE508-6F37-41CE-8C1B-F182AC3FD7C3}"/>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sp>
      <p:pic>
        <p:nvPicPr>
          <p:cNvPr id="8" name="Image 7">
            <a:extLst>
              <a:ext uri="{FF2B5EF4-FFF2-40B4-BE49-F238E27FC236}">
                <a16:creationId xmlns:a16="http://schemas.microsoft.com/office/drawing/2014/main" id="{31381C66-FF9B-4B4D-8A30-953214EE4C35}"/>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61610"/>
          </a:xfrm>
          <a:prstGeom prst="rect">
            <a:avLst/>
          </a:prstGeom>
          <a:noFill/>
        </p:spPr>
        <p:txBody>
          <a:bodyPr wrap="square">
            <a:spAutoFit/>
          </a:bodyPr>
          <a:lstStyle/>
          <a:p>
            <a:pPr algn="l">
              <a:defRPr sz="1100" b="1" i="0">
                <a:solidFill>
                  <a:srgbClr val="004D99"/>
                </a:solidFill>
              </a:defRPr>
            </a:pPr>
            <a:r>
              <a:rPr lang="fr-MA" dirty="0"/>
              <a:t>équipe</a:t>
            </a:r>
            <a:endParaRPr dirty="0"/>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VESI - De la DSI au squad M365</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9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292388"/>
          </a:xfrm>
          <a:prstGeom prst="rect">
            <a:avLst/>
          </a:prstGeom>
          <a:noFill/>
        </p:spPr>
        <p:txBody>
          <a:bodyPr wrap="square">
            <a:spAutoFit/>
          </a:bodyPr>
          <a:lstStyle/>
          <a:p>
            <a:pPr algn="ctr">
              <a:defRPr sz="1300" b="0" i="1">
                <a:solidFill>
                  <a:srgbClr val="666666"/>
                </a:solidFill>
              </a:defRPr>
            </a:pPr>
            <a:r>
              <a:rPr dirty="0" err="1"/>
              <a:t>Positionnement</a:t>
            </a:r>
            <a:r>
              <a:rPr dirty="0"/>
              <a:t> de </a:t>
            </a:r>
            <a:r>
              <a:rPr lang="fr-MA" dirty="0"/>
              <a:t>équipe</a:t>
            </a:r>
            <a:r>
              <a:rPr dirty="0"/>
              <a:t> </a:t>
            </a:r>
            <a:r>
              <a:rPr dirty="0" err="1"/>
              <a:t>d'accueil</a:t>
            </a:r>
            <a:r>
              <a:rPr dirty="0"/>
              <a:t> dans </a:t>
            </a:r>
            <a:r>
              <a:rPr dirty="0" err="1"/>
              <a:t>l'organisation</a:t>
            </a:r>
            <a:endParaRPr dirty="0"/>
          </a:p>
        </p:txBody>
      </p:sp>
      <p:sp>
        <p:nvSpPr>
          <p:cNvPr id="10" name="Rounded Rectangle 9"/>
          <p:cNvSpPr/>
          <p:nvPr/>
        </p:nvSpPr>
        <p:spPr>
          <a:xfrm>
            <a:off x="2286000" y="1783080"/>
            <a:ext cx="7589520" cy="68580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60320" y="1856232"/>
            <a:ext cx="7132320" cy="274320"/>
          </a:xfrm>
          <a:prstGeom prst="rect">
            <a:avLst/>
          </a:prstGeom>
          <a:noFill/>
        </p:spPr>
        <p:txBody>
          <a:bodyPr wrap="square">
            <a:spAutoFit/>
          </a:bodyPr>
          <a:lstStyle/>
          <a:p>
            <a:pPr algn="l">
              <a:defRPr sz="1400" b="1" i="0">
                <a:solidFill>
                  <a:srgbClr val="003366"/>
                </a:solidFill>
              </a:defRPr>
            </a:pPr>
            <a:r>
              <a:t>VESI</a:t>
            </a:r>
          </a:p>
        </p:txBody>
      </p:sp>
      <p:sp>
        <p:nvSpPr>
          <p:cNvPr id="12" name="TextBox 11"/>
          <p:cNvSpPr txBox="1"/>
          <p:nvPr/>
        </p:nvSpPr>
        <p:spPr>
          <a:xfrm>
            <a:off x="2560320" y="2130552"/>
            <a:ext cx="7132320" cy="320040"/>
          </a:xfrm>
          <a:prstGeom prst="rect">
            <a:avLst/>
          </a:prstGeom>
          <a:noFill/>
        </p:spPr>
        <p:txBody>
          <a:bodyPr wrap="square">
            <a:spAutoFit/>
          </a:bodyPr>
          <a:lstStyle/>
          <a:p>
            <a:pPr algn="l">
              <a:defRPr sz="1000" b="0" i="1">
                <a:solidFill>
                  <a:srgbClr val="666666"/>
                </a:solidFill>
              </a:defRPr>
            </a:pPr>
            <a:r>
              <a:t>VINCI Energies Systemes d'Information</a:t>
            </a:r>
          </a:p>
        </p:txBody>
      </p:sp>
      <p:sp>
        <p:nvSpPr>
          <p:cNvPr id="13" name="Down Arrow 12"/>
          <p:cNvSpPr/>
          <p:nvPr/>
        </p:nvSpPr>
        <p:spPr>
          <a:xfrm>
            <a:off x="5897880" y="2496312"/>
            <a:ext cx="320040" cy="137160"/>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286000" y="2651760"/>
            <a:ext cx="7589520" cy="68580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60320" y="2724912"/>
            <a:ext cx="7132320" cy="274320"/>
          </a:xfrm>
          <a:prstGeom prst="rect">
            <a:avLst/>
          </a:prstGeom>
          <a:noFill/>
        </p:spPr>
        <p:txBody>
          <a:bodyPr wrap="square">
            <a:spAutoFit/>
          </a:bodyPr>
          <a:lstStyle/>
          <a:p>
            <a:pPr algn="l">
              <a:defRPr sz="1400" b="1" i="0">
                <a:solidFill>
                  <a:srgbClr val="003366"/>
                </a:solidFill>
              </a:defRPr>
            </a:pPr>
            <a:r>
              <a:t>Direction Custom Applications</a:t>
            </a:r>
          </a:p>
        </p:txBody>
      </p:sp>
      <p:sp>
        <p:nvSpPr>
          <p:cNvPr id="16" name="TextBox 15"/>
          <p:cNvSpPr txBox="1"/>
          <p:nvPr/>
        </p:nvSpPr>
        <p:spPr>
          <a:xfrm>
            <a:off x="2560320" y="2999232"/>
            <a:ext cx="7132320" cy="320040"/>
          </a:xfrm>
          <a:prstGeom prst="rect">
            <a:avLst/>
          </a:prstGeom>
          <a:noFill/>
        </p:spPr>
        <p:txBody>
          <a:bodyPr wrap="square">
            <a:spAutoFit/>
          </a:bodyPr>
          <a:lstStyle/>
          <a:p>
            <a:pPr algn="l">
              <a:defRPr sz="1000" b="0" i="1">
                <a:solidFill>
                  <a:srgbClr val="666666"/>
                </a:solidFill>
              </a:defRPr>
            </a:pPr>
            <a:r>
              <a:t>~98 collaborateurs (2025) - portefeuille &gt;50 apps</a:t>
            </a:r>
          </a:p>
        </p:txBody>
      </p:sp>
      <p:sp>
        <p:nvSpPr>
          <p:cNvPr id="17" name="Down Arrow 16"/>
          <p:cNvSpPr/>
          <p:nvPr/>
        </p:nvSpPr>
        <p:spPr>
          <a:xfrm>
            <a:off x="5897880" y="3364992"/>
            <a:ext cx="320040" cy="137160"/>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286000" y="3520440"/>
            <a:ext cx="7589520" cy="68580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60320" y="3593592"/>
            <a:ext cx="7132320" cy="307777"/>
          </a:xfrm>
          <a:prstGeom prst="rect">
            <a:avLst/>
          </a:prstGeom>
          <a:noFill/>
        </p:spPr>
        <p:txBody>
          <a:bodyPr wrap="square">
            <a:spAutoFit/>
          </a:bodyPr>
          <a:lstStyle/>
          <a:p>
            <a:pPr algn="l">
              <a:defRPr sz="1400" b="1" i="0">
                <a:solidFill>
                  <a:srgbClr val="003366"/>
                </a:solidFill>
              </a:defRPr>
            </a:pPr>
            <a:r>
              <a:rPr dirty="0"/>
              <a:t>Collaborative Solutions</a:t>
            </a:r>
          </a:p>
        </p:txBody>
      </p:sp>
      <p:sp>
        <p:nvSpPr>
          <p:cNvPr id="20" name="TextBox 19"/>
          <p:cNvSpPr txBox="1"/>
          <p:nvPr/>
        </p:nvSpPr>
        <p:spPr>
          <a:xfrm>
            <a:off x="2560320" y="3867912"/>
            <a:ext cx="7132320" cy="320040"/>
          </a:xfrm>
          <a:prstGeom prst="rect">
            <a:avLst/>
          </a:prstGeom>
          <a:noFill/>
        </p:spPr>
        <p:txBody>
          <a:bodyPr wrap="square">
            <a:spAutoFit/>
          </a:bodyPr>
          <a:lstStyle/>
          <a:p>
            <a:pPr algn="l">
              <a:defRPr sz="1000" b="0" i="1">
                <a:solidFill>
                  <a:srgbClr val="666666"/>
                </a:solidFill>
              </a:defRPr>
            </a:pPr>
            <a:r>
              <a:t>Solutions collaboratives sur base Microsoft 365</a:t>
            </a:r>
          </a:p>
        </p:txBody>
      </p:sp>
      <p:sp>
        <p:nvSpPr>
          <p:cNvPr id="21" name="Down Arrow 20"/>
          <p:cNvSpPr/>
          <p:nvPr/>
        </p:nvSpPr>
        <p:spPr>
          <a:xfrm>
            <a:off x="5897880" y="4233672"/>
            <a:ext cx="320040" cy="137160"/>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286000" y="4389120"/>
            <a:ext cx="7589520" cy="685800"/>
          </a:xfrm>
          <a:prstGeom prst="roundRect">
            <a:avLst/>
          </a:prstGeom>
          <a:solidFill>
            <a:srgbClr val="E8F0F8"/>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560320" y="4462272"/>
            <a:ext cx="7132320" cy="307777"/>
          </a:xfrm>
          <a:prstGeom prst="rect">
            <a:avLst/>
          </a:prstGeom>
          <a:noFill/>
        </p:spPr>
        <p:txBody>
          <a:bodyPr wrap="square">
            <a:spAutoFit/>
          </a:bodyPr>
          <a:lstStyle/>
          <a:p>
            <a:pPr algn="l">
              <a:defRPr sz="1400" b="1" i="0">
                <a:solidFill>
                  <a:srgbClr val="2E8B3D"/>
                </a:solidFill>
              </a:defRPr>
            </a:pPr>
            <a:r>
              <a:rPr lang="fr-CH" dirty="0"/>
              <a:t>é</a:t>
            </a:r>
            <a:r>
              <a:rPr dirty="0" err="1"/>
              <a:t>quipe</a:t>
            </a:r>
            <a:r>
              <a:rPr dirty="0"/>
              <a:t> Group Collaborative Solutions</a:t>
            </a:r>
          </a:p>
        </p:txBody>
      </p:sp>
      <p:sp>
        <p:nvSpPr>
          <p:cNvPr id="24" name="TextBox 23"/>
          <p:cNvSpPr txBox="1"/>
          <p:nvPr/>
        </p:nvSpPr>
        <p:spPr>
          <a:xfrm>
            <a:off x="2560320" y="4736592"/>
            <a:ext cx="7132320" cy="320040"/>
          </a:xfrm>
          <a:prstGeom prst="rect">
            <a:avLst/>
          </a:prstGeom>
          <a:noFill/>
        </p:spPr>
        <p:txBody>
          <a:bodyPr wrap="square">
            <a:spAutoFit/>
          </a:bodyPr>
          <a:lstStyle/>
          <a:p>
            <a:pPr algn="l">
              <a:defRPr sz="1000" b="0" i="1">
                <a:solidFill>
                  <a:srgbClr val="666666"/>
                </a:solidFill>
              </a:defRPr>
            </a:pPr>
            <a:r>
              <a:t>Perimetre Groupe : MyVIEW, Connect, espaces collaboratifs</a:t>
            </a:r>
          </a:p>
        </p:txBody>
      </p:sp>
      <p:sp>
        <p:nvSpPr>
          <p:cNvPr id="25" name="Down Arrow 24"/>
          <p:cNvSpPr/>
          <p:nvPr/>
        </p:nvSpPr>
        <p:spPr>
          <a:xfrm>
            <a:off x="5897880" y="5102352"/>
            <a:ext cx="320040" cy="137160"/>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2286000" y="5257800"/>
            <a:ext cx="7589520" cy="685800"/>
          </a:xfrm>
          <a:prstGeom prst="roundRect">
            <a:avLst/>
          </a:prstGeom>
          <a:solidFill>
            <a:srgbClr val="E8F5E9"/>
          </a:solidFill>
          <a:ln w="254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60320" y="5330952"/>
            <a:ext cx="7132320" cy="274320"/>
          </a:xfrm>
          <a:prstGeom prst="rect">
            <a:avLst/>
          </a:prstGeom>
          <a:noFill/>
        </p:spPr>
        <p:txBody>
          <a:bodyPr wrap="square">
            <a:spAutoFit/>
          </a:bodyPr>
          <a:lstStyle/>
          <a:p>
            <a:pPr algn="l">
              <a:defRPr sz="1400" b="1" i="0">
                <a:solidFill>
                  <a:srgbClr val="2E8B3D"/>
                </a:solidFill>
              </a:defRPr>
            </a:pPr>
            <a:r>
              <a:t>Squad M365</a:t>
            </a:r>
          </a:p>
        </p:txBody>
      </p:sp>
      <p:sp>
        <p:nvSpPr>
          <p:cNvPr id="28" name="TextBox 27"/>
          <p:cNvSpPr txBox="1"/>
          <p:nvPr/>
        </p:nvSpPr>
        <p:spPr>
          <a:xfrm>
            <a:off x="2560320" y="5605272"/>
            <a:ext cx="7132320" cy="320040"/>
          </a:xfrm>
          <a:prstGeom prst="rect">
            <a:avLst/>
          </a:prstGeom>
          <a:noFill/>
        </p:spPr>
        <p:txBody>
          <a:bodyPr wrap="square">
            <a:spAutoFit/>
          </a:bodyPr>
          <a:lstStyle/>
          <a:p>
            <a:pPr algn="l">
              <a:defRPr sz="1000" b="0" i="1">
                <a:solidFill>
                  <a:srgbClr val="666666"/>
                </a:solidFill>
              </a:defRPr>
            </a:pPr>
            <a:r>
              <a:t>Squad d'accueil - refonte CS BAG et missions M365</a:t>
            </a:r>
          </a:p>
        </p:txBody>
      </p:sp>
      <p:sp>
        <p:nvSpPr>
          <p:cNvPr id="29" name="TextBox 28"/>
          <p:cNvSpPr txBox="1"/>
          <p:nvPr/>
        </p:nvSpPr>
        <p:spPr>
          <a:xfrm>
            <a:off x="2286000" y="6126480"/>
            <a:ext cx="7589520" cy="320040"/>
          </a:xfrm>
          <a:prstGeom prst="rect">
            <a:avLst/>
          </a:prstGeom>
          <a:noFill/>
        </p:spPr>
        <p:txBody>
          <a:bodyPr wrap="square">
            <a:spAutoFit/>
          </a:bodyPr>
          <a:lstStyle/>
          <a:p>
            <a:pPr algn="ctr">
              <a:defRPr sz="1100" b="1" i="1">
                <a:solidFill>
                  <a:srgbClr val="2E8B3D"/>
                </a:solidFill>
              </a:defRPr>
            </a:pPr>
            <a:r>
              <a:t>Vert : perimetre d'accueil - integration au squad M365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61610"/>
          </a:xfrm>
          <a:prstGeom prst="rect">
            <a:avLst/>
          </a:prstGeom>
          <a:noFill/>
        </p:spPr>
        <p:txBody>
          <a:bodyPr wrap="square">
            <a:spAutoFit/>
          </a:bodyPr>
          <a:lstStyle/>
          <a:p>
            <a:pPr algn="l">
              <a:defRPr sz="1100" b="1" i="0">
                <a:solidFill>
                  <a:srgbClr val="004D99"/>
                </a:solidFill>
              </a:defRPr>
            </a:pPr>
            <a:r>
              <a:rPr lang="fr-MA" dirty="0"/>
              <a:t>équipe</a:t>
            </a:r>
            <a:endParaRPr dirty="0"/>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Applications ger</a:t>
            </a:r>
            <a:r>
              <a:rPr lang="fr-CH" dirty="0"/>
              <a:t>é</a:t>
            </a:r>
            <a:r>
              <a:rPr dirty="0"/>
              <a:t>es par l'</a:t>
            </a:r>
            <a:r>
              <a:rPr lang="fr-CH" dirty="0"/>
              <a:t>é</a:t>
            </a:r>
            <a:r>
              <a:rPr dirty="0" err="1"/>
              <a:t>quipe</a:t>
            </a:r>
            <a:endParaRPr dirty="0"/>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10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07777"/>
          </a:xfrm>
          <a:prstGeom prst="rect">
            <a:avLst/>
          </a:prstGeom>
          <a:noFill/>
        </p:spPr>
        <p:txBody>
          <a:bodyPr wrap="square">
            <a:spAutoFit/>
          </a:bodyPr>
          <a:lstStyle/>
          <a:p>
            <a:pPr algn="l">
              <a:defRPr sz="1400" b="0" i="1">
                <a:solidFill>
                  <a:srgbClr val="666666"/>
                </a:solidFill>
              </a:defRPr>
            </a:pPr>
            <a:r>
              <a:rPr dirty="0" err="1"/>
              <a:t>Portefeuille</a:t>
            </a:r>
            <a:r>
              <a:rPr dirty="0"/>
              <a:t> de l'</a:t>
            </a:r>
            <a:r>
              <a:rPr lang="fr-CH" dirty="0"/>
              <a:t>é</a:t>
            </a:r>
            <a:r>
              <a:rPr dirty="0" err="1"/>
              <a:t>quipe</a:t>
            </a:r>
            <a:r>
              <a:rPr dirty="0"/>
              <a:t> Group Collaborative Solutions</a:t>
            </a:r>
          </a:p>
        </p:txBody>
      </p:sp>
      <p:sp>
        <p:nvSpPr>
          <p:cNvPr id="10" name="Rounded Rectangle 9"/>
          <p:cNvSpPr/>
          <p:nvPr/>
        </p:nvSpPr>
        <p:spPr>
          <a:xfrm>
            <a:off x="731520" y="182880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14400" y="201168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rPr dirty="0"/>
              <a:t>[ Logo ]</a:t>
            </a:r>
          </a:p>
        </p:txBody>
      </p:sp>
      <p:sp>
        <p:nvSpPr>
          <p:cNvPr id="12" name="TextBox 11"/>
          <p:cNvSpPr txBox="1"/>
          <p:nvPr/>
        </p:nvSpPr>
        <p:spPr>
          <a:xfrm>
            <a:off x="2148840" y="2057400"/>
            <a:ext cx="2057400" cy="548640"/>
          </a:xfrm>
          <a:prstGeom prst="rect">
            <a:avLst/>
          </a:prstGeom>
          <a:noFill/>
        </p:spPr>
        <p:txBody>
          <a:bodyPr wrap="square">
            <a:spAutoFit/>
          </a:bodyPr>
          <a:lstStyle/>
          <a:p>
            <a:pPr algn="l">
              <a:defRPr sz="1400" b="1" i="0">
                <a:solidFill>
                  <a:srgbClr val="003366"/>
                </a:solidFill>
              </a:defRPr>
            </a:pPr>
            <a:r>
              <a:t>MyVIEW</a:t>
            </a:r>
          </a:p>
        </p:txBody>
      </p:sp>
      <p:sp>
        <p:nvSpPr>
          <p:cNvPr id="13" name="TextBox 12"/>
          <p:cNvSpPr txBox="1"/>
          <p:nvPr/>
        </p:nvSpPr>
        <p:spPr>
          <a:xfrm>
            <a:off x="2148840" y="2651760"/>
            <a:ext cx="2057400" cy="822960"/>
          </a:xfrm>
          <a:prstGeom prst="rect">
            <a:avLst/>
          </a:prstGeom>
          <a:noFill/>
        </p:spPr>
        <p:txBody>
          <a:bodyPr wrap="square">
            <a:spAutoFit/>
          </a:bodyPr>
          <a:lstStyle/>
          <a:p>
            <a:pPr algn="l">
              <a:defRPr sz="1000" b="0" i="0">
                <a:solidFill>
                  <a:srgbClr val="666666"/>
                </a:solidFill>
              </a:defRPr>
            </a:pPr>
            <a:r>
              <a:t>Intranet du groupe VINCI Energies</a:t>
            </a:r>
          </a:p>
        </p:txBody>
      </p:sp>
      <p:sp>
        <p:nvSpPr>
          <p:cNvPr id="14" name="Rounded Rectangle 13"/>
          <p:cNvSpPr/>
          <p:nvPr/>
        </p:nvSpPr>
        <p:spPr>
          <a:xfrm>
            <a:off x="4572000" y="182880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754880" y="201168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16" name="TextBox 15"/>
          <p:cNvSpPr txBox="1"/>
          <p:nvPr/>
        </p:nvSpPr>
        <p:spPr>
          <a:xfrm>
            <a:off x="5989320" y="2057400"/>
            <a:ext cx="2057400" cy="548640"/>
          </a:xfrm>
          <a:prstGeom prst="rect">
            <a:avLst/>
          </a:prstGeom>
          <a:noFill/>
        </p:spPr>
        <p:txBody>
          <a:bodyPr wrap="square">
            <a:spAutoFit/>
          </a:bodyPr>
          <a:lstStyle/>
          <a:p>
            <a:pPr algn="l">
              <a:defRPr sz="1400" b="1" i="0">
                <a:solidFill>
                  <a:srgbClr val="003366"/>
                </a:solidFill>
              </a:defRPr>
            </a:pPr>
            <a:r>
              <a:t>Connect</a:t>
            </a:r>
          </a:p>
        </p:txBody>
      </p:sp>
      <p:sp>
        <p:nvSpPr>
          <p:cNvPr id="17" name="TextBox 16"/>
          <p:cNvSpPr txBox="1"/>
          <p:nvPr/>
        </p:nvSpPr>
        <p:spPr>
          <a:xfrm>
            <a:off x="5989320" y="2651760"/>
            <a:ext cx="2057400" cy="822960"/>
          </a:xfrm>
          <a:prstGeom prst="rect">
            <a:avLst/>
          </a:prstGeom>
          <a:noFill/>
        </p:spPr>
        <p:txBody>
          <a:bodyPr wrap="square">
            <a:spAutoFit/>
          </a:bodyPr>
          <a:lstStyle/>
          <a:p>
            <a:pPr algn="l">
              <a:defRPr sz="1000" b="0" i="0">
                <a:solidFill>
                  <a:srgbClr val="666666"/>
                </a:solidFill>
              </a:defRPr>
            </a:pPr>
            <a:r>
              <a:t>Moteur de recherche et annuaire</a:t>
            </a:r>
          </a:p>
        </p:txBody>
      </p:sp>
      <p:sp>
        <p:nvSpPr>
          <p:cNvPr id="18" name="Rounded Rectangle 17"/>
          <p:cNvSpPr/>
          <p:nvPr/>
        </p:nvSpPr>
        <p:spPr>
          <a:xfrm>
            <a:off x="8412480" y="182880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595360" y="201168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20" name="TextBox 19"/>
          <p:cNvSpPr txBox="1"/>
          <p:nvPr/>
        </p:nvSpPr>
        <p:spPr>
          <a:xfrm>
            <a:off x="9829800" y="2057400"/>
            <a:ext cx="2057400" cy="307777"/>
          </a:xfrm>
          <a:prstGeom prst="rect">
            <a:avLst/>
          </a:prstGeom>
          <a:noFill/>
        </p:spPr>
        <p:txBody>
          <a:bodyPr wrap="square">
            <a:spAutoFit/>
          </a:bodyPr>
          <a:lstStyle/>
          <a:p>
            <a:pPr algn="l">
              <a:defRPr sz="1400" b="1" i="0">
                <a:solidFill>
                  <a:srgbClr val="003366"/>
                </a:solidFill>
              </a:defRPr>
            </a:pPr>
            <a:r>
              <a:rPr lang="fr-MA" dirty="0" err="1"/>
              <a:t>Alert</a:t>
            </a:r>
            <a:r>
              <a:rPr lang="fr-MA" dirty="0"/>
              <a:t> SSI</a:t>
            </a:r>
            <a:endParaRPr dirty="0"/>
          </a:p>
        </p:txBody>
      </p:sp>
      <p:sp>
        <p:nvSpPr>
          <p:cNvPr id="21" name="TextBox 20"/>
          <p:cNvSpPr txBox="1"/>
          <p:nvPr/>
        </p:nvSpPr>
        <p:spPr>
          <a:xfrm>
            <a:off x="9829800" y="2651760"/>
            <a:ext cx="2057400" cy="246221"/>
          </a:xfrm>
          <a:prstGeom prst="rect">
            <a:avLst/>
          </a:prstGeom>
          <a:noFill/>
        </p:spPr>
        <p:txBody>
          <a:bodyPr wrap="square">
            <a:spAutoFit/>
          </a:bodyPr>
          <a:lstStyle/>
          <a:p>
            <a:pPr algn="l">
              <a:defRPr sz="1000" b="0" i="0">
                <a:solidFill>
                  <a:srgbClr val="666666"/>
                </a:solidFill>
              </a:defRPr>
            </a:pPr>
            <a:r>
              <a:rPr lang="fr-MA" dirty="0"/>
              <a:t>Report Spam mail</a:t>
            </a:r>
            <a:endParaRPr dirty="0"/>
          </a:p>
        </p:txBody>
      </p:sp>
      <p:sp>
        <p:nvSpPr>
          <p:cNvPr id="22" name="Rounded Rectangle 21"/>
          <p:cNvSpPr/>
          <p:nvPr/>
        </p:nvSpPr>
        <p:spPr>
          <a:xfrm>
            <a:off x="731520" y="384048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14400" y="402336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24" name="TextBox 23"/>
          <p:cNvSpPr txBox="1"/>
          <p:nvPr/>
        </p:nvSpPr>
        <p:spPr>
          <a:xfrm>
            <a:off x="2148840" y="4069080"/>
            <a:ext cx="2057400" cy="548640"/>
          </a:xfrm>
          <a:prstGeom prst="rect">
            <a:avLst/>
          </a:prstGeom>
          <a:noFill/>
        </p:spPr>
        <p:txBody>
          <a:bodyPr wrap="square">
            <a:spAutoFit/>
          </a:bodyPr>
          <a:lstStyle/>
          <a:p>
            <a:pPr algn="l">
              <a:defRPr sz="1400" b="1" i="0">
                <a:solidFill>
                  <a:srgbClr val="003366"/>
                </a:solidFill>
              </a:defRPr>
            </a:pPr>
            <a:r>
              <a:t>CS BAG</a:t>
            </a:r>
          </a:p>
        </p:txBody>
      </p:sp>
      <p:sp>
        <p:nvSpPr>
          <p:cNvPr id="25" name="TextBox 24"/>
          <p:cNvSpPr txBox="1"/>
          <p:nvPr/>
        </p:nvSpPr>
        <p:spPr>
          <a:xfrm>
            <a:off x="2148840" y="4663440"/>
            <a:ext cx="2057400" cy="822960"/>
          </a:xfrm>
          <a:prstGeom prst="rect">
            <a:avLst/>
          </a:prstGeom>
          <a:noFill/>
        </p:spPr>
        <p:txBody>
          <a:bodyPr wrap="square">
            <a:spAutoFit/>
          </a:bodyPr>
          <a:lstStyle/>
          <a:p>
            <a:pPr algn="l">
              <a:defRPr sz="1000" b="0" i="0">
                <a:solidFill>
                  <a:srgbClr val="666666"/>
                </a:solidFill>
              </a:defRPr>
            </a:pPr>
            <a:r>
              <a:t>Inventaire du patrimoine applicatif interne</a:t>
            </a:r>
          </a:p>
        </p:txBody>
      </p:sp>
      <p:sp>
        <p:nvSpPr>
          <p:cNvPr id="26" name="Rounded Rectangle 25"/>
          <p:cNvSpPr/>
          <p:nvPr/>
        </p:nvSpPr>
        <p:spPr>
          <a:xfrm>
            <a:off x="4572000" y="384048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754880" y="402336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28" name="TextBox 27"/>
          <p:cNvSpPr txBox="1"/>
          <p:nvPr/>
        </p:nvSpPr>
        <p:spPr>
          <a:xfrm>
            <a:off x="5989320" y="4069080"/>
            <a:ext cx="2057400" cy="548640"/>
          </a:xfrm>
          <a:prstGeom prst="rect">
            <a:avLst/>
          </a:prstGeom>
          <a:noFill/>
        </p:spPr>
        <p:txBody>
          <a:bodyPr wrap="square">
            <a:spAutoFit/>
          </a:bodyPr>
          <a:lstStyle/>
          <a:p>
            <a:pPr algn="l">
              <a:defRPr sz="1400" b="1" i="0">
                <a:solidFill>
                  <a:srgbClr val="003366"/>
                </a:solidFill>
              </a:defRPr>
            </a:pPr>
            <a:r>
              <a:t>Elium</a:t>
            </a:r>
          </a:p>
          <a:p>
            <a:pPr algn="l">
              <a:defRPr sz="1400" b="1" i="0">
                <a:solidFill>
                  <a:srgbClr val="003366"/>
                </a:solidFill>
              </a:defRPr>
            </a:pPr>
            <a:r>
              <a:t>Sauvegarde</a:t>
            </a:r>
          </a:p>
        </p:txBody>
      </p:sp>
      <p:sp>
        <p:nvSpPr>
          <p:cNvPr id="29" name="TextBox 28"/>
          <p:cNvSpPr txBox="1"/>
          <p:nvPr/>
        </p:nvSpPr>
        <p:spPr>
          <a:xfrm>
            <a:off x="5989320" y="4663440"/>
            <a:ext cx="2057400" cy="822960"/>
          </a:xfrm>
          <a:prstGeom prst="rect">
            <a:avLst/>
          </a:prstGeom>
          <a:noFill/>
        </p:spPr>
        <p:txBody>
          <a:bodyPr wrap="square">
            <a:spAutoFit/>
          </a:bodyPr>
          <a:lstStyle/>
          <a:p>
            <a:pPr algn="l">
              <a:defRPr sz="1000" b="0" i="0">
                <a:solidFill>
                  <a:srgbClr val="666666"/>
                </a:solidFill>
              </a:defRPr>
            </a:pPr>
            <a:r>
              <a:t>Archivage des articles Elium vers SharePoint</a:t>
            </a:r>
          </a:p>
        </p:txBody>
      </p:sp>
      <p:sp>
        <p:nvSpPr>
          <p:cNvPr id="30" name="Rounded Rectangle 29"/>
          <p:cNvSpPr/>
          <p:nvPr/>
        </p:nvSpPr>
        <p:spPr>
          <a:xfrm>
            <a:off x="8412480" y="384048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595360" y="402336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32" name="TextBox 31"/>
          <p:cNvSpPr txBox="1"/>
          <p:nvPr/>
        </p:nvSpPr>
        <p:spPr>
          <a:xfrm>
            <a:off x="9829800" y="4069080"/>
            <a:ext cx="2057400" cy="307777"/>
          </a:xfrm>
          <a:prstGeom prst="rect">
            <a:avLst/>
          </a:prstGeom>
          <a:noFill/>
        </p:spPr>
        <p:txBody>
          <a:bodyPr wrap="square">
            <a:spAutoFit/>
          </a:bodyPr>
          <a:lstStyle/>
          <a:p>
            <a:pPr algn="l">
              <a:defRPr sz="1400" b="1" i="0">
                <a:solidFill>
                  <a:srgbClr val="003366"/>
                </a:solidFill>
              </a:defRPr>
            </a:pPr>
            <a:r>
              <a:rPr lang="fr-CH" dirty="0"/>
              <a:t>Gouvernance Office 365</a:t>
            </a:r>
            <a:endParaRPr dirty="0"/>
          </a:p>
        </p:txBody>
      </p:sp>
      <p:sp>
        <p:nvSpPr>
          <p:cNvPr id="33" name="TextBox 32"/>
          <p:cNvSpPr txBox="1"/>
          <p:nvPr/>
        </p:nvSpPr>
        <p:spPr>
          <a:xfrm>
            <a:off x="9829800" y="4663440"/>
            <a:ext cx="2057400" cy="553998"/>
          </a:xfrm>
          <a:prstGeom prst="rect">
            <a:avLst/>
          </a:prstGeom>
          <a:noFill/>
        </p:spPr>
        <p:txBody>
          <a:bodyPr wrap="square">
            <a:spAutoFit/>
          </a:bodyPr>
          <a:lstStyle/>
          <a:p>
            <a:pPr algn="l">
              <a:defRPr sz="1000" b="0" i="0">
                <a:solidFill>
                  <a:srgbClr val="666666"/>
                </a:solidFill>
              </a:defRPr>
            </a:pPr>
            <a:r>
              <a:rPr lang="fr-FR" dirty="0"/>
              <a:t>Garant de la gouvernance</a:t>
            </a:r>
          </a:p>
          <a:p>
            <a:pPr algn="l">
              <a:defRPr sz="1000" b="0" i="0">
                <a:solidFill>
                  <a:srgbClr val="666666"/>
                </a:solidFill>
              </a:defRPr>
            </a:pPr>
            <a:r>
              <a:rPr lang="fr-FR" dirty="0"/>
              <a:t>des droits / Console</a:t>
            </a:r>
          </a:p>
          <a:p>
            <a:pPr algn="l">
              <a:defRPr sz="1000" b="0" i="0">
                <a:solidFill>
                  <a:srgbClr val="666666"/>
                </a:solidFill>
              </a:defRPr>
            </a:pPr>
            <a:r>
              <a:rPr lang="fr-FR" dirty="0"/>
              <a:t>d’administration</a:t>
            </a:r>
            <a:endParaRPr dirty="0"/>
          </a:p>
        </p:txBody>
      </p:sp>
      <p:pic>
        <p:nvPicPr>
          <p:cNvPr id="35" name="Image 34">
            <a:extLst>
              <a:ext uri="{FF2B5EF4-FFF2-40B4-BE49-F238E27FC236}">
                <a16:creationId xmlns:a16="http://schemas.microsoft.com/office/drawing/2014/main" id="{CD0B1270-1CC7-479D-A55C-0437BFDAE769}"/>
              </a:ext>
            </a:extLst>
          </p:cNvPr>
          <p:cNvPicPr>
            <a:picLocks noChangeAspect="1"/>
          </p:cNvPicPr>
          <p:nvPr/>
        </p:nvPicPr>
        <p:blipFill>
          <a:blip r:embed="rId2"/>
          <a:stretch>
            <a:fillRect/>
          </a:stretch>
        </p:blipFill>
        <p:spPr>
          <a:xfrm>
            <a:off x="995367" y="2453352"/>
            <a:ext cx="926236" cy="503492"/>
          </a:xfrm>
          <a:prstGeom prst="rect">
            <a:avLst/>
          </a:prstGeom>
        </p:spPr>
      </p:pic>
      <p:pic>
        <p:nvPicPr>
          <p:cNvPr id="37" name="Image 36">
            <a:extLst>
              <a:ext uri="{FF2B5EF4-FFF2-40B4-BE49-F238E27FC236}">
                <a16:creationId xmlns:a16="http://schemas.microsoft.com/office/drawing/2014/main" id="{698AF155-067A-4951-8E08-5EE3A5AF133F}"/>
              </a:ext>
            </a:extLst>
          </p:cNvPr>
          <p:cNvPicPr>
            <a:picLocks noChangeAspect="1"/>
          </p:cNvPicPr>
          <p:nvPr/>
        </p:nvPicPr>
        <p:blipFill>
          <a:blip r:embed="rId3"/>
          <a:stretch>
            <a:fillRect/>
          </a:stretch>
        </p:blipFill>
        <p:spPr>
          <a:xfrm>
            <a:off x="4990143" y="2401912"/>
            <a:ext cx="626754" cy="606371"/>
          </a:xfrm>
          <a:prstGeom prst="rect">
            <a:avLst/>
          </a:prstGeom>
        </p:spPr>
      </p:pic>
      <p:pic>
        <p:nvPicPr>
          <p:cNvPr id="41" name="Image 40">
            <a:extLst>
              <a:ext uri="{FF2B5EF4-FFF2-40B4-BE49-F238E27FC236}">
                <a16:creationId xmlns:a16="http://schemas.microsoft.com/office/drawing/2014/main" id="{B925C211-2871-4409-A7D8-65140A70EC78}"/>
              </a:ext>
            </a:extLst>
          </p:cNvPr>
          <p:cNvPicPr>
            <a:picLocks noChangeAspect="1"/>
          </p:cNvPicPr>
          <p:nvPr/>
        </p:nvPicPr>
        <p:blipFill>
          <a:blip r:embed="rId4"/>
          <a:stretch>
            <a:fillRect/>
          </a:stretch>
        </p:blipFill>
        <p:spPr>
          <a:xfrm>
            <a:off x="8906826" y="2429218"/>
            <a:ext cx="557214" cy="579065"/>
          </a:xfrm>
          <a:prstGeom prst="rect">
            <a:avLst/>
          </a:prstGeom>
        </p:spPr>
      </p:pic>
      <p:pic>
        <p:nvPicPr>
          <p:cNvPr id="43" name="Image 42">
            <a:extLst>
              <a:ext uri="{FF2B5EF4-FFF2-40B4-BE49-F238E27FC236}">
                <a16:creationId xmlns:a16="http://schemas.microsoft.com/office/drawing/2014/main" id="{CEBBE783-DED3-4F47-BAFB-616FF48C67C9}"/>
              </a:ext>
            </a:extLst>
          </p:cNvPr>
          <p:cNvPicPr>
            <a:picLocks noChangeAspect="1"/>
          </p:cNvPicPr>
          <p:nvPr/>
        </p:nvPicPr>
        <p:blipFill>
          <a:blip r:embed="rId5"/>
          <a:stretch>
            <a:fillRect/>
          </a:stretch>
        </p:blipFill>
        <p:spPr>
          <a:xfrm>
            <a:off x="4860604" y="4571999"/>
            <a:ext cx="885831" cy="381003"/>
          </a:xfrm>
          <a:prstGeom prst="rect">
            <a:avLst/>
          </a:prstGeom>
        </p:spPr>
      </p:pic>
      <p:pic>
        <p:nvPicPr>
          <p:cNvPr id="45" name="Image 44">
            <a:extLst>
              <a:ext uri="{FF2B5EF4-FFF2-40B4-BE49-F238E27FC236}">
                <a16:creationId xmlns:a16="http://schemas.microsoft.com/office/drawing/2014/main" id="{CED47314-03C1-4DA0-9DB2-A8DB25F600A5}"/>
              </a:ext>
            </a:extLst>
          </p:cNvPr>
          <p:cNvPicPr>
            <a:picLocks noChangeAspect="1"/>
          </p:cNvPicPr>
          <p:nvPr/>
        </p:nvPicPr>
        <p:blipFill>
          <a:blip r:embed="rId6"/>
          <a:stretch>
            <a:fillRect/>
          </a:stretch>
        </p:blipFill>
        <p:spPr>
          <a:xfrm>
            <a:off x="1007196" y="4537708"/>
            <a:ext cx="914407" cy="342903"/>
          </a:xfrm>
          <a:prstGeom prst="rect">
            <a:avLst/>
          </a:prstGeom>
        </p:spPr>
      </p:pic>
      <p:pic>
        <p:nvPicPr>
          <p:cNvPr id="47" name="Image 46">
            <a:extLst>
              <a:ext uri="{FF2B5EF4-FFF2-40B4-BE49-F238E27FC236}">
                <a16:creationId xmlns:a16="http://schemas.microsoft.com/office/drawing/2014/main" id="{ECAE1D79-CB25-40CC-9916-B7B7FF34E18F}"/>
              </a:ext>
            </a:extLst>
          </p:cNvPr>
          <p:cNvPicPr>
            <a:picLocks noChangeAspect="1"/>
          </p:cNvPicPr>
          <p:nvPr/>
        </p:nvPicPr>
        <p:blipFill>
          <a:blip r:embed="rId7"/>
          <a:stretch>
            <a:fillRect/>
          </a:stretch>
        </p:blipFill>
        <p:spPr>
          <a:xfrm>
            <a:off x="8692515" y="4510917"/>
            <a:ext cx="902970" cy="44494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61610"/>
          </a:xfrm>
          <a:prstGeom prst="rect">
            <a:avLst/>
          </a:prstGeom>
          <a:noFill/>
        </p:spPr>
        <p:txBody>
          <a:bodyPr wrap="square">
            <a:spAutoFit/>
          </a:bodyPr>
          <a:lstStyle/>
          <a:p>
            <a:pPr algn="l">
              <a:defRPr sz="1100" b="1" i="0">
                <a:solidFill>
                  <a:srgbClr val="004D99"/>
                </a:solidFill>
              </a:defRPr>
            </a:pPr>
            <a:r>
              <a:rPr lang="fr-MA" dirty="0"/>
              <a:t>équipe</a:t>
            </a:r>
            <a:endParaRPr dirty="0"/>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lang="fr-MA" dirty="0"/>
              <a:t>équipe</a:t>
            </a:r>
            <a:r>
              <a:rPr dirty="0"/>
              <a:t> </a:t>
            </a:r>
            <a:r>
              <a:rPr dirty="0" err="1"/>
              <a:t>projet</a:t>
            </a:r>
            <a:r>
              <a:rPr dirty="0"/>
              <a:t> CS BAG v2</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11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4 roles autour de la refonte, chacun avec une responsabilite propre</a:t>
            </a:r>
          </a:p>
        </p:txBody>
      </p:sp>
      <p:sp>
        <p:nvSpPr>
          <p:cNvPr id="10" name="Rounded Rectangle 9"/>
          <p:cNvSpPr/>
          <p:nvPr/>
        </p:nvSpPr>
        <p:spPr>
          <a:xfrm>
            <a:off x="731520" y="1920240"/>
            <a:ext cx="5394960" cy="1828800"/>
          </a:xfrm>
          <a:prstGeom prst="roundRect">
            <a:avLst/>
          </a:prstGeom>
          <a:solidFill>
            <a:srgbClr val="FFFFFF"/>
          </a:solidFill>
          <a:ln w="222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1920240"/>
            <a:ext cx="53949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103120"/>
            <a:ext cx="4937760" cy="457200"/>
          </a:xfrm>
          <a:prstGeom prst="rect">
            <a:avLst/>
          </a:prstGeom>
          <a:noFill/>
        </p:spPr>
        <p:txBody>
          <a:bodyPr wrap="square">
            <a:spAutoFit/>
          </a:bodyPr>
          <a:lstStyle/>
          <a:p>
            <a:pPr algn="l">
              <a:defRPr sz="1800" b="1" i="0">
                <a:solidFill>
                  <a:srgbClr val="003366"/>
                </a:solidFill>
              </a:defRPr>
            </a:pPr>
            <a:r>
              <a:t>Chef de projet</a:t>
            </a:r>
          </a:p>
        </p:txBody>
      </p:sp>
      <p:sp>
        <p:nvSpPr>
          <p:cNvPr id="13" name="TextBox 12"/>
          <p:cNvSpPr txBox="1"/>
          <p:nvPr/>
        </p:nvSpPr>
        <p:spPr>
          <a:xfrm>
            <a:off x="1005840" y="2606040"/>
            <a:ext cx="4937760" cy="365760"/>
          </a:xfrm>
          <a:prstGeom prst="rect">
            <a:avLst/>
          </a:prstGeom>
          <a:noFill/>
        </p:spPr>
        <p:txBody>
          <a:bodyPr wrap="square">
            <a:spAutoFit/>
          </a:bodyPr>
          <a:lstStyle/>
          <a:p>
            <a:pPr algn="l">
              <a:defRPr sz="1200" b="1" i="0">
                <a:solidFill>
                  <a:srgbClr val="333333"/>
                </a:solidFill>
              </a:defRPr>
            </a:pPr>
            <a:r>
              <a:t>Pilotage, planning, arbitrages</a:t>
            </a:r>
          </a:p>
        </p:txBody>
      </p:sp>
      <p:sp>
        <p:nvSpPr>
          <p:cNvPr id="14" name="TextBox 13"/>
          <p:cNvSpPr txBox="1"/>
          <p:nvPr/>
        </p:nvSpPr>
        <p:spPr>
          <a:xfrm>
            <a:off x="1005840" y="2971800"/>
            <a:ext cx="4937760" cy="685800"/>
          </a:xfrm>
          <a:prstGeom prst="rect">
            <a:avLst/>
          </a:prstGeom>
          <a:noFill/>
        </p:spPr>
        <p:txBody>
          <a:bodyPr wrap="square">
            <a:spAutoFit/>
          </a:bodyPr>
          <a:lstStyle/>
          <a:p>
            <a:pPr algn="l">
              <a:defRPr sz="1100" b="0" i="1">
                <a:solidFill>
                  <a:srgbClr val="666666"/>
                </a:solidFill>
              </a:defRPr>
            </a:pPr>
            <a:r>
              <a:t>Interface avec le metier, priorisation des lots</a:t>
            </a:r>
          </a:p>
        </p:txBody>
      </p:sp>
      <p:sp>
        <p:nvSpPr>
          <p:cNvPr id="15" name="Rounded Rectangle 14"/>
          <p:cNvSpPr/>
          <p:nvPr/>
        </p:nvSpPr>
        <p:spPr>
          <a:xfrm>
            <a:off x="6400800" y="1920240"/>
            <a:ext cx="5394960" cy="1828800"/>
          </a:xfrm>
          <a:prstGeom prst="roundRect">
            <a:avLst/>
          </a:prstGeom>
          <a:solidFill>
            <a:srgbClr val="FFFFFF"/>
          </a:solidFill>
          <a:ln w="222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0" y="1920240"/>
            <a:ext cx="53949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0" y="2103120"/>
            <a:ext cx="4937760" cy="457200"/>
          </a:xfrm>
          <a:prstGeom prst="rect">
            <a:avLst/>
          </a:prstGeom>
          <a:noFill/>
        </p:spPr>
        <p:txBody>
          <a:bodyPr wrap="square">
            <a:spAutoFit/>
          </a:bodyPr>
          <a:lstStyle/>
          <a:p>
            <a:pPr algn="l">
              <a:defRPr sz="1800" b="1" i="0">
                <a:solidFill>
                  <a:srgbClr val="003366"/>
                </a:solidFill>
              </a:defRPr>
            </a:pPr>
            <a:r>
              <a:t>Referent technique</a:t>
            </a:r>
          </a:p>
        </p:txBody>
      </p:sp>
      <p:sp>
        <p:nvSpPr>
          <p:cNvPr id="18" name="TextBox 17"/>
          <p:cNvSpPr txBox="1"/>
          <p:nvPr/>
        </p:nvSpPr>
        <p:spPr>
          <a:xfrm>
            <a:off x="6675120" y="2606040"/>
            <a:ext cx="4937760" cy="365760"/>
          </a:xfrm>
          <a:prstGeom prst="rect">
            <a:avLst/>
          </a:prstGeom>
          <a:noFill/>
        </p:spPr>
        <p:txBody>
          <a:bodyPr wrap="square">
            <a:spAutoFit/>
          </a:bodyPr>
          <a:lstStyle/>
          <a:p>
            <a:pPr algn="l">
              <a:defRPr sz="1200" b="1" i="0">
                <a:solidFill>
                  <a:srgbClr val="333333"/>
                </a:solidFill>
              </a:defRPr>
            </a:pPr>
            <a:r>
              <a:t>Architecture et revue de code</a:t>
            </a:r>
          </a:p>
        </p:txBody>
      </p:sp>
      <p:sp>
        <p:nvSpPr>
          <p:cNvPr id="19" name="TextBox 18"/>
          <p:cNvSpPr txBox="1"/>
          <p:nvPr/>
        </p:nvSpPr>
        <p:spPr>
          <a:xfrm>
            <a:off x="6675120" y="2971800"/>
            <a:ext cx="4937760" cy="685800"/>
          </a:xfrm>
          <a:prstGeom prst="rect">
            <a:avLst/>
          </a:prstGeom>
          <a:noFill/>
        </p:spPr>
        <p:txBody>
          <a:bodyPr wrap="square">
            <a:spAutoFit/>
          </a:bodyPr>
          <a:lstStyle/>
          <a:p>
            <a:pPr algn="l">
              <a:defRPr sz="1100" b="0" i="1">
                <a:solidFill>
                  <a:srgbClr val="666666"/>
                </a:solidFill>
              </a:defRPr>
            </a:pPr>
            <a:r>
              <a:t>Validation des choix techniques lors du point du vendredi</a:t>
            </a:r>
          </a:p>
        </p:txBody>
      </p:sp>
      <p:sp>
        <p:nvSpPr>
          <p:cNvPr id="20" name="Rounded Rectangle 19"/>
          <p:cNvSpPr/>
          <p:nvPr/>
        </p:nvSpPr>
        <p:spPr>
          <a:xfrm>
            <a:off x="731520" y="4114800"/>
            <a:ext cx="5394960" cy="1828800"/>
          </a:xfrm>
          <a:prstGeom prst="roundRect">
            <a:avLst/>
          </a:prstGeom>
          <a:solidFill>
            <a:srgbClr val="FFFFFF"/>
          </a:solidFill>
          <a:ln w="222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1520" y="4114800"/>
            <a:ext cx="53949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 y="4297680"/>
            <a:ext cx="4937760" cy="457200"/>
          </a:xfrm>
          <a:prstGeom prst="rect">
            <a:avLst/>
          </a:prstGeom>
          <a:noFill/>
        </p:spPr>
        <p:txBody>
          <a:bodyPr wrap="square">
            <a:spAutoFit/>
          </a:bodyPr>
          <a:lstStyle/>
          <a:p>
            <a:pPr algn="l">
              <a:defRPr sz="1800" b="1" i="0">
                <a:solidFill>
                  <a:srgbClr val="003366"/>
                </a:solidFill>
              </a:defRPr>
            </a:pPr>
            <a:r>
              <a:t>Analyste fonctionnelle</a:t>
            </a:r>
          </a:p>
        </p:txBody>
      </p:sp>
      <p:sp>
        <p:nvSpPr>
          <p:cNvPr id="23" name="TextBox 22"/>
          <p:cNvSpPr txBox="1"/>
          <p:nvPr/>
        </p:nvSpPr>
        <p:spPr>
          <a:xfrm>
            <a:off x="1005840" y="4800600"/>
            <a:ext cx="4937760" cy="365760"/>
          </a:xfrm>
          <a:prstGeom prst="rect">
            <a:avLst/>
          </a:prstGeom>
          <a:noFill/>
        </p:spPr>
        <p:txBody>
          <a:bodyPr wrap="square">
            <a:spAutoFit/>
          </a:bodyPr>
          <a:lstStyle/>
          <a:p>
            <a:pPr algn="l">
              <a:defRPr sz="1200" b="1" i="0">
                <a:solidFill>
                  <a:srgbClr val="333333"/>
                </a:solidFill>
              </a:defRPr>
            </a:pPr>
            <a:r>
              <a:t>Redaction des specifications et recette</a:t>
            </a:r>
          </a:p>
        </p:txBody>
      </p:sp>
      <p:sp>
        <p:nvSpPr>
          <p:cNvPr id="24" name="TextBox 23"/>
          <p:cNvSpPr txBox="1"/>
          <p:nvPr/>
        </p:nvSpPr>
        <p:spPr>
          <a:xfrm>
            <a:off x="1005840" y="5166360"/>
            <a:ext cx="4937760" cy="685800"/>
          </a:xfrm>
          <a:prstGeom prst="rect">
            <a:avLst/>
          </a:prstGeom>
          <a:noFill/>
        </p:spPr>
        <p:txBody>
          <a:bodyPr wrap="square">
            <a:spAutoFit/>
          </a:bodyPr>
          <a:lstStyle/>
          <a:p>
            <a:pPr algn="l">
              <a:defRPr sz="1100" b="0" i="1">
                <a:solidFill>
                  <a:srgbClr val="666666"/>
                </a:solidFill>
              </a:defRPr>
            </a:pPr>
            <a:r>
              <a:t>Redige les 3 lots, tient le cahier d'anomalies apres chaque livraison</a:t>
            </a:r>
          </a:p>
        </p:txBody>
      </p:sp>
      <p:sp>
        <p:nvSpPr>
          <p:cNvPr id="25" name="Rounded Rectangle 24"/>
          <p:cNvSpPr/>
          <p:nvPr/>
        </p:nvSpPr>
        <p:spPr>
          <a:xfrm>
            <a:off x="6400800" y="4114800"/>
            <a:ext cx="5394960" cy="1828800"/>
          </a:xfrm>
          <a:prstGeom prst="roundRect">
            <a:avLst/>
          </a:prstGeom>
          <a:solidFill>
            <a:srgbClr val="FFFFFF"/>
          </a:solidFill>
          <a:ln w="2222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00800" y="4114800"/>
            <a:ext cx="5394960" cy="73152"/>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4297680"/>
            <a:ext cx="4937760" cy="457200"/>
          </a:xfrm>
          <a:prstGeom prst="rect">
            <a:avLst/>
          </a:prstGeom>
          <a:noFill/>
        </p:spPr>
        <p:txBody>
          <a:bodyPr wrap="square">
            <a:spAutoFit/>
          </a:bodyPr>
          <a:lstStyle/>
          <a:p>
            <a:pPr algn="l">
              <a:defRPr sz="1800" b="1" i="0">
                <a:solidFill>
                  <a:srgbClr val="2E8B3D"/>
                </a:solidFill>
              </a:defRPr>
            </a:pPr>
            <a:r>
              <a:rPr dirty="0" err="1"/>
              <a:t>Analyste</a:t>
            </a:r>
            <a:r>
              <a:rPr dirty="0"/>
              <a:t> </a:t>
            </a:r>
            <a:r>
              <a:rPr dirty="0" err="1"/>
              <a:t>developpeur</a:t>
            </a:r>
            <a:endParaRPr dirty="0"/>
          </a:p>
        </p:txBody>
      </p:sp>
      <p:sp>
        <p:nvSpPr>
          <p:cNvPr id="28" name="TextBox 27"/>
          <p:cNvSpPr txBox="1"/>
          <p:nvPr/>
        </p:nvSpPr>
        <p:spPr>
          <a:xfrm>
            <a:off x="6675120" y="4800600"/>
            <a:ext cx="4937760" cy="365760"/>
          </a:xfrm>
          <a:prstGeom prst="rect">
            <a:avLst/>
          </a:prstGeom>
          <a:noFill/>
        </p:spPr>
        <p:txBody>
          <a:bodyPr wrap="square">
            <a:spAutoFit/>
          </a:bodyPr>
          <a:lstStyle/>
          <a:p>
            <a:pPr algn="l">
              <a:defRPr sz="1200" b="1" i="0">
                <a:solidFill>
                  <a:srgbClr val="333333"/>
                </a:solidFill>
              </a:defRPr>
            </a:pPr>
            <a:r>
              <a:t>Conception, developpement, tests, deploiement</a:t>
            </a:r>
          </a:p>
        </p:txBody>
      </p:sp>
      <p:sp>
        <p:nvSpPr>
          <p:cNvPr id="29" name="TextBox 28"/>
          <p:cNvSpPr txBox="1"/>
          <p:nvPr/>
        </p:nvSpPr>
        <p:spPr>
          <a:xfrm>
            <a:off x="6675120" y="5166360"/>
            <a:ext cx="4937760" cy="685800"/>
          </a:xfrm>
          <a:prstGeom prst="rect">
            <a:avLst/>
          </a:prstGeom>
          <a:noFill/>
        </p:spPr>
        <p:txBody>
          <a:bodyPr wrap="square">
            <a:spAutoFit/>
          </a:bodyPr>
          <a:lstStyle/>
          <a:p>
            <a:pPr algn="l">
              <a:defRPr sz="1100" b="0" i="1">
                <a:solidFill>
                  <a:srgbClr val="666666"/>
                </a:solidFill>
              </a:defRPr>
            </a:pPr>
            <a:r>
              <a:t>Role occupe pendant mon PFE - 252 des 255 livraisons de code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61610"/>
          </a:xfrm>
          <a:prstGeom prst="rect">
            <a:avLst/>
          </a:prstGeom>
          <a:noFill/>
        </p:spPr>
        <p:txBody>
          <a:bodyPr wrap="square">
            <a:spAutoFit/>
          </a:bodyPr>
          <a:lstStyle/>
          <a:p>
            <a:pPr algn="l">
              <a:defRPr sz="1100" b="1" i="0">
                <a:solidFill>
                  <a:srgbClr val="004D99"/>
                </a:solidFill>
              </a:defRPr>
            </a:pPr>
            <a:r>
              <a:rPr lang="fr-MA" dirty="0"/>
              <a:t>équipe</a:t>
            </a:r>
            <a:endParaRPr dirty="0"/>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Methode agile et environnement technique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12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5303520" cy="365760"/>
          </a:xfrm>
          <a:prstGeom prst="rect">
            <a:avLst/>
          </a:prstGeom>
          <a:noFill/>
        </p:spPr>
        <p:txBody>
          <a:bodyPr wrap="square">
            <a:spAutoFit/>
          </a:bodyPr>
          <a:lstStyle/>
          <a:p>
            <a:pPr algn="l">
              <a:defRPr sz="1600" b="1" i="0">
                <a:solidFill>
                  <a:srgbClr val="003366"/>
                </a:solidFill>
              </a:defRPr>
            </a:pPr>
            <a:r>
              <a:t>Rituels de la semaine</a:t>
            </a:r>
          </a:p>
        </p:txBody>
      </p:sp>
      <p:sp>
        <p:nvSpPr>
          <p:cNvPr id="10" name="Rounded Rectangle 9"/>
          <p:cNvSpPr/>
          <p:nvPr/>
        </p:nvSpPr>
        <p:spPr>
          <a:xfrm>
            <a:off x="731520" y="178308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Quotidien</a:t>
            </a:r>
          </a:p>
        </p:txBody>
      </p:sp>
      <p:sp>
        <p:nvSpPr>
          <p:cNvPr id="11" name="TextBox 10"/>
          <p:cNvSpPr txBox="1"/>
          <p:nvPr/>
        </p:nvSpPr>
        <p:spPr>
          <a:xfrm>
            <a:off x="2194560" y="1783080"/>
            <a:ext cx="4114800" cy="320040"/>
          </a:xfrm>
          <a:prstGeom prst="rect">
            <a:avLst/>
          </a:prstGeom>
          <a:noFill/>
        </p:spPr>
        <p:txBody>
          <a:bodyPr wrap="square">
            <a:spAutoFit/>
          </a:bodyPr>
          <a:lstStyle/>
          <a:p>
            <a:pPr algn="l">
              <a:defRPr sz="1300" b="1" i="0">
                <a:solidFill>
                  <a:srgbClr val="003366"/>
                </a:solidFill>
              </a:defRPr>
            </a:pPr>
            <a:r>
              <a:t>Daily squad</a:t>
            </a:r>
          </a:p>
        </p:txBody>
      </p:sp>
      <p:sp>
        <p:nvSpPr>
          <p:cNvPr id="12" name="TextBox 11"/>
          <p:cNvSpPr txBox="1"/>
          <p:nvPr/>
        </p:nvSpPr>
        <p:spPr>
          <a:xfrm>
            <a:off x="2194560" y="2103120"/>
            <a:ext cx="4114800" cy="320040"/>
          </a:xfrm>
          <a:prstGeom prst="rect">
            <a:avLst/>
          </a:prstGeom>
          <a:noFill/>
        </p:spPr>
        <p:txBody>
          <a:bodyPr wrap="square">
            <a:spAutoFit/>
          </a:bodyPr>
          <a:lstStyle/>
          <a:p>
            <a:pPr algn="l">
              <a:defRPr sz="1000" b="0" i="0">
                <a:solidFill>
                  <a:srgbClr val="666666"/>
                </a:solidFill>
              </a:defRPr>
            </a:pPr>
            <a:r>
              <a:t>Point veille / jour / bloquants</a:t>
            </a:r>
          </a:p>
        </p:txBody>
      </p:sp>
      <p:sp>
        <p:nvSpPr>
          <p:cNvPr id="13" name="Rounded Rectangle 12"/>
          <p:cNvSpPr/>
          <p:nvPr/>
        </p:nvSpPr>
        <p:spPr>
          <a:xfrm>
            <a:off x="731520" y="256032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Lundi</a:t>
            </a:r>
          </a:p>
        </p:txBody>
      </p:sp>
      <p:sp>
        <p:nvSpPr>
          <p:cNvPr id="14" name="TextBox 13"/>
          <p:cNvSpPr txBox="1"/>
          <p:nvPr/>
        </p:nvSpPr>
        <p:spPr>
          <a:xfrm>
            <a:off x="2194560" y="2560320"/>
            <a:ext cx="4114800" cy="292388"/>
          </a:xfrm>
          <a:prstGeom prst="rect">
            <a:avLst/>
          </a:prstGeom>
          <a:noFill/>
        </p:spPr>
        <p:txBody>
          <a:bodyPr wrap="square">
            <a:spAutoFit/>
          </a:bodyPr>
          <a:lstStyle/>
          <a:p>
            <a:pPr algn="l">
              <a:defRPr sz="1300" b="1" i="0">
                <a:solidFill>
                  <a:srgbClr val="003366"/>
                </a:solidFill>
              </a:defRPr>
            </a:pPr>
            <a:r>
              <a:rPr dirty="0"/>
              <a:t>Point d'</a:t>
            </a:r>
            <a:r>
              <a:rPr lang="fr-MA" dirty="0"/>
              <a:t>équipe</a:t>
            </a:r>
            <a:endParaRPr dirty="0"/>
          </a:p>
        </p:txBody>
      </p:sp>
      <p:sp>
        <p:nvSpPr>
          <p:cNvPr id="15" name="TextBox 14"/>
          <p:cNvSpPr txBox="1"/>
          <p:nvPr/>
        </p:nvSpPr>
        <p:spPr>
          <a:xfrm>
            <a:off x="2194560" y="2880360"/>
            <a:ext cx="4114800" cy="320040"/>
          </a:xfrm>
          <a:prstGeom prst="rect">
            <a:avLst/>
          </a:prstGeom>
          <a:noFill/>
        </p:spPr>
        <p:txBody>
          <a:bodyPr wrap="square">
            <a:spAutoFit/>
          </a:bodyPr>
          <a:lstStyle/>
          <a:p>
            <a:pPr algn="l">
              <a:defRPr sz="1000" b="0" i="0">
                <a:solidFill>
                  <a:srgbClr val="666666"/>
                </a:solidFill>
              </a:defRPr>
            </a:pPr>
            <a:r>
              <a:t>Coordination Group Collaborative Solutions</a:t>
            </a:r>
          </a:p>
        </p:txBody>
      </p:sp>
      <p:sp>
        <p:nvSpPr>
          <p:cNvPr id="16" name="Rounded Rectangle 15"/>
          <p:cNvSpPr/>
          <p:nvPr/>
        </p:nvSpPr>
        <p:spPr>
          <a:xfrm>
            <a:off x="731520" y="333756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Mardi</a:t>
            </a:r>
          </a:p>
        </p:txBody>
      </p:sp>
      <p:sp>
        <p:nvSpPr>
          <p:cNvPr id="17" name="TextBox 16"/>
          <p:cNvSpPr txBox="1"/>
          <p:nvPr/>
        </p:nvSpPr>
        <p:spPr>
          <a:xfrm>
            <a:off x="2194560" y="3337560"/>
            <a:ext cx="4114800" cy="320040"/>
          </a:xfrm>
          <a:prstGeom prst="rect">
            <a:avLst/>
          </a:prstGeom>
          <a:noFill/>
        </p:spPr>
        <p:txBody>
          <a:bodyPr wrap="square">
            <a:spAutoFit/>
          </a:bodyPr>
          <a:lstStyle/>
          <a:p>
            <a:pPr algn="l">
              <a:defRPr sz="1300" b="1" i="0">
                <a:solidFill>
                  <a:srgbClr val="003366"/>
                </a:solidFill>
              </a:defRPr>
            </a:pPr>
            <a:r>
              <a:t>Point de squad</a:t>
            </a:r>
          </a:p>
        </p:txBody>
      </p:sp>
      <p:sp>
        <p:nvSpPr>
          <p:cNvPr id="18" name="TextBox 17"/>
          <p:cNvSpPr txBox="1"/>
          <p:nvPr/>
        </p:nvSpPr>
        <p:spPr>
          <a:xfrm>
            <a:off x="2194560" y="3657600"/>
            <a:ext cx="4114800" cy="320040"/>
          </a:xfrm>
          <a:prstGeom prst="rect">
            <a:avLst/>
          </a:prstGeom>
          <a:noFill/>
        </p:spPr>
        <p:txBody>
          <a:bodyPr wrap="square">
            <a:spAutoFit/>
          </a:bodyPr>
          <a:lstStyle/>
          <a:p>
            <a:pPr algn="l">
              <a:defRPr sz="1000" b="0" i="0">
                <a:solidFill>
                  <a:srgbClr val="666666"/>
                </a:solidFill>
              </a:defRPr>
            </a:pPr>
            <a:r>
              <a:t>Avancement du squad M365</a:t>
            </a:r>
          </a:p>
        </p:txBody>
      </p:sp>
      <p:sp>
        <p:nvSpPr>
          <p:cNvPr id="19" name="Rounded Rectangle 18"/>
          <p:cNvSpPr/>
          <p:nvPr/>
        </p:nvSpPr>
        <p:spPr>
          <a:xfrm>
            <a:off x="731520" y="411480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Vendredi</a:t>
            </a:r>
          </a:p>
        </p:txBody>
      </p:sp>
      <p:sp>
        <p:nvSpPr>
          <p:cNvPr id="20" name="TextBox 19"/>
          <p:cNvSpPr txBox="1"/>
          <p:nvPr/>
        </p:nvSpPr>
        <p:spPr>
          <a:xfrm>
            <a:off x="2194560" y="4114800"/>
            <a:ext cx="4114800" cy="320040"/>
          </a:xfrm>
          <a:prstGeom prst="rect">
            <a:avLst/>
          </a:prstGeom>
          <a:noFill/>
        </p:spPr>
        <p:txBody>
          <a:bodyPr wrap="square">
            <a:spAutoFit/>
          </a:bodyPr>
          <a:lstStyle/>
          <a:p>
            <a:pPr algn="l">
              <a:defRPr sz="1300" b="1" i="0">
                <a:solidFill>
                  <a:srgbClr val="003366"/>
                </a:solidFill>
              </a:defRPr>
            </a:pPr>
            <a:r>
              <a:t>Point technique</a:t>
            </a:r>
          </a:p>
        </p:txBody>
      </p:sp>
      <p:sp>
        <p:nvSpPr>
          <p:cNvPr id="21" name="TextBox 20"/>
          <p:cNvSpPr txBox="1"/>
          <p:nvPr/>
        </p:nvSpPr>
        <p:spPr>
          <a:xfrm>
            <a:off x="2194560" y="4434840"/>
            <a:ext cx="4114800" cy="320040"/>
          </a:xfrm>
          <a:prstGeom prst="rect">
            <a:avLst/>
          </a:prstGeom>
          <a:noFill/>
        </p:spPr>
        <p:txBody>
          <a:bodyPr wrap="square">
            <a:spAutoFit/>
          </a:bodyPr>
          <a:lstStyle/>
          <a:p>
            <a:pPr algn="l">
              <a:defRPr sz="1000" b="0" i="0">
                <a:solidFill>
                  <a:srgbClr val="666666"/>
                </a:solidFill>
              </a:defRPr>
            </a:pPr>
            <a:r>
              <a:t>Validation avec le referent technique (Nathan)</a:t>
            </a:r>
          </a:p>
        </p:txBody>
      </p:sp>
      <p:sp>
        <p:nvSpPr>
          <p:cNvPr id="22" name="TextBox 21"/>
          <p:cNvSpPr txBox="1"/>
          <p:nvPr/>
        </p:nvSpPr>
        <p:spPr>
          <a:xfrm>
            <a:off x="6400800" y="1280160"/>
            <a:ext cx="5029200" cy="365760"/>
          </a:xfrm>
          <a:prstGeom prst="rect">
            <a:avLst/>
          </a:prstGeom>
          <a:noFill/>
        </p:spPr>
        <p:txBody>
          <a:bodyPr wrap="square">
            <a:spAutoFit/>
          </a:bodyPr>
          <a:lstStyle/>
          <a:p>
            <a:pPr algn="l">
              <a:defRPr sz="1600" b="1" i="0">
                <a:solidFill>
                  <a:srgbClr val="003366"/>
                </a:solidFill>
              </a:defRPr>
            </a:pPr>
            <a:r>
              <a:rPr dirty="0" err="1"/>
              <a:t>Environnement</a:t>
            </a:r>
            <a:r>
              <a:rPr dirty="0"/>
              <a:t> technique</a:t>
            </a:r>
          </a:p>
        </p:txBody>
      </p:sp>
      <p:sp>
        <p:nvSpPr>
          <p:cNvPr id="23" name="TextBox 22"/>
          <p:cNvSpPr txBox="1"/>
          <p:nvPr/>
        </p:nvSpPr>
        <p:spPr>
          <a:xfrm>
            <a:off x="6400800" y="1783080"/>
            <a:ext cx="1645920" cy="274320"/>
          </a:xfrm>
          <a:prstGeom prst="rect">
            <a:avLst/>
          </a:prstGeom>
          <a:noFill/>
        </p:spPr>
        <p:txBody>
          <a:bodyPr wrap="square">
            <a:spAutoFit/>
          </a:bodyPr>
          <a:lstStyle/>
          <a:p>
            <a:pPr algn="l">
              <a:defRPr sz="1100" b="1" i="0">
                <a:solidFill>
                  <a:srgbClr val="003366"/>
                </a:solidFill>
              </a:defRPr>
            </a:pPr>
            <a:r>
              <a:t>Back-end</a:t>
            </a:r>
          </a:p>
        </p:txBody>
      </p:sp>
      <p:sp>
        <p:nvSpPr>
          <p:cNvPr id="24" name="TextBox 23"/>
          <p:cNvSpPr txBox="1"/>
          <p:nvPr/>
        </p:nvSpPr>
        <p:spPr>
          <a:xfrm>
            <a:off x="8229600" y="1783080"/>
            <a:ext cx="1767840" cy="261610"/>
          </a:xfrm>
          <a:prstGeom prst="rect">
            <a:avLst/>
          </a:prstGeom>
          <a:noFill/>
        </p:spPr>
        <p:txBody>
          <a:bodyPr wrap="square">
            <a:spAutoFit/>
          </a:bodyPr>
          <a:lstStyle/>
          <a:p>
            <a:pPr algn="l">
              <a:defRPr sz="1100" b="0" i="0">
                <a:solidFill>
                  <a:srgbClr val="333333"/>
                </a:solidFill>
              </a:defRPr>
            </a:pPr>
            <a:r>
              <a:rPr dirty="0"/>
              <a:t>C#, ASP.NET Core</a:t>
            </a:r>
          </a:p>
        </p:txBody>
      </p:sp>
      <p:sp>
        <p:nvSpPr>
          <p:cNvPr id="25" name="TextBox 24"/>
          <p:cNvSpPr txBox="1"/>
          <p:nvPr/>
        </p:nvSpPr>
        <p:spPr>
          <a:xfrm>
            <a:off x="6400800" y="2286000"/>
            <a:ext cx="1645920" cy="274320"/>
          </a:xfrm>
          <a:prstGeom prst="rect">
            <a:avLst/>
          </a:prstGeom>
          <a:noFill/>
        </p:spPr>
        <p:txBody>
          <a:bodyPr wrap="square">
            <a:spAutoFit/>
          </a:bodyPr>
          <a:lstStyle/>
          <a:p>
            <a:pPr algn="l">
              <a:defRPr sz="1100" b="1" i="0">
                <a:solidFill>
                  <a:srgbClr val="003366"/>
                </a:solidFill>
              </a:defRPr>
            </a:pPr>
            <a:r>
              <a:t>Front-end</a:t>
            </a:r>
          </a:p>
        </p:txBody>
      </p:sp>
      <p:sp>
        <p:nvSpPr>
          <p:cNvPr id="26" name="TextBox 25"/>
          <p:cNvSpPr txBox="1"/>
          <p:nvPr/>
        </p:nvSpPr>
        <p:spPr>
          <a:xfrm>
            <a:off x="8229600" y="2286000"/>
            <a:ext cx="1905000" cy="261610"/>
          </a:xfrm>
          <a:prstGeom prst="rect">
            <a:avLst/>
          </a:prstGeom>
          <a:noFill/>
        </p:spPr>
        <p:txBody>
          <a:bodyPr wrap="square">
            <a:spAutoFit/>
          </a:bodyPr>
          <a:lstStyle/>
          <a:p>
            <a:pPr algn="l">
              <a:defRPr sz="1100" b="0" i="0">
                <a:solidFill>
                  <a:srgbClr val="333333"/>
                </a:solidFill>
              </a:defRPr>
            </a:pPr>
            <a:r>
              <a:rPr dirty="0"/>
              <a:t>Angular 20, Angular Material</a:t>
            </a:r>
          </a:p>
        </p:txBody>
      </p:sp>
      <p:sp>
        <p:nvSpPr>
          <p:cNvPr id="27" name="TextBox 26"/>
          <p:cNvSpPr txBox="1"/>
          <p:nvPr/>
        </p:nvSpPr>
        <p:spPr>
          <a:xfrm>
            <a:off x="6400800" y="2788920"/>
            <a:ext cx="1645920" cy="274320"/>
          </a:xfrm>
          <a:prstGeom prst="rect">
            <a:avLst/>
          </a:prstGeom>
          <a:noFill/>
        </p:spPr>
        <p:txBody>
          <a:bodyPr wrap="square">
            <a:spAutoFit/>
          </a:bodyPr>
          <a:lstStyle/>
          <a:p>
            <a:pPr algn="l">
              <a:defRPr sz="1100" b="1" i="0">
                <a:solidFill>
                  <a:srgbClr val="003366"/>
                </a:solidFill>
              </a:defRPr>
            </a:pPr>
            <a:r>
              <a:t>Base de donnees</a:t>
            </a:r>
          </a:p>
        </p:txBody>
      </p:sp>
      <p:sp>
        <p:nvSpPr>
          <p:cNvPr id="28" name="TextBox 27"/>
          <p:cNvSpPr txBox="1"/>
          <p:nvPr/>
        </p:nvSpPr>
        <p:spPr>
          <a:xfrm>
            <a:off x="8229600" y="2788920"/>
            <a:ext cx="2143125" cy="261610"/>
          </a:xfrm>
          <a:prstGeom prst="rect">
            <a:avLst/>
          </a:prstGeom>
          <a:noFill/>
        </p:spPr>
        <p:txBody>
          <a:bodyPr wrap="square">
            <a:spAutoFit/>
          </a:bodyPr>
          <a:lstStyle/>
          <a:p>
            <a:pPr algn="l">
              <a:defRPr sz="1100" b="0" i="0">
                <a:solidFill>
                  <a:srgbClr val="333333"/>
                </a:solidFill>
              </a:defRPr>
            </a:pPr>
            <a:r>
              <a:t>Microsoft SQL Server, EF Core 10</a:t>
            </a:r>
          </a:p>
        </p:txBody>
      </p:sp>
      <p:sp>
        <p:nvSpPr>
          <p:cNvPr id="29" name="TextBox 28"/>
          <p:cNvSpPr txBox="1"/>
          <p:nvPr/>
        </p:nvSpPr>
        <p:spPr>
          <a:xfrm>
            <a:off x="6400800" y="3291840"/>
            <a:ext cx="1645920" cy="274320"/>
          </a:xfrm>
          <a:prstGeom prst="rect">
            <a:avLst/>
          </a:prstGeom>
          <a:noFill/>
        </p:spPr>
        <p:txBody>
          <a:bodyPr wrap="square">
            <a:spAutoFit/>
          </a:bodyPr>
          <a:lstStyle/>
          <a:p>
            <a:pPr algn="l">
              <a:defRPr sz="1100" b="1" i="0">
                <a:solidFill>
                  <a:srgbClr val="003366"/>
                </a:solidFill>
              </a:defRPr>
            </a:pPr>
            <a:r>
              <a:t>Cloud</a:t>
            </a:r>
          </a:p>
        </p:txBody>
      </p:sp>
      <p:sp>
        <p:nvSpPr>
          <p:cNvPr id="30" name="TextBox 29"/>
          <p:cNvSpPr txBox="1"/>
          <p:nvPr/>
        </p:nvSpPr>
        <p:spPr>
          <a:xfrm>
            <a:off x="8229600" y="3291840"/>
            <a:ext cx="2795588" cy="261610"/>
          </a:xfrm>
          <a:prstGeom prst="rect">
            <a:avLst/>
          </a:prstGeom>
          <a:noFill/>
        </p:spPr>
        <p:txBody>
          <a:bodyPr wrap="square">
            <a:spAutoFit/>
          </a:bodyPr>
          <a:lstStyle/>
          <a:p>
            <a:pPr algn="l">
              <a:defRPr sz="1100" b="0" i="0">
                <a:solidFill>
                  <a:srgbClr val="333333"/>
                </a:solidFill>
              </a:defRPr>
            </a:pPr>
            <a:r>
              <a:rPr dirty="0"/>
              <a:t>Microsoft Azure, Azure Key Vault, </a:t>
            </a:r>
            <a:r>
              <a:rPr dirty="0" err="1"/>
              <a:t>Entra</a:t>
            </a:r>
            <a:r>
              <a:rPr dirty="0"/>
              <a:t> ID</a:t>
            </a:r>
          </a:p>
        </p:txBody>
      </p:sp>
      <p:sp>
        <p:nvSpPr>
          <p:cNvPr id="31" name="TextBox 30"/>
          <p:cNvSpPr txBox="1"/>
          <p:nvPr/>
        </p:nvSpPr>
        <p:spPr>
          <a:xfrm>
            <a:off x="6400800" y="3794760"/>
            <a:ext cx="1645920" cy="274320"/>
          </a:xfrm>
          <a:prstGeom prst="rect">
            <a:avLst/>
          </a:prstGeom>
          <a:noFill/>
        </p:spPr>
        <p:txBody>
          <a:bodyPr wrap="square">
            <a:spAutoFit/>
          </a:bodyPr>
          <a:lstStyle/>
          <a:p>
            <a:pPr algn="l">
              <a:defRPr sz="1100" b="1" i="0">
                <a:solidFill>
                  <a:srgbClr val="003366"/>
                </a:solidFill>
              </a:defRPr>
            </a:pPr>
            <a:r>
              <a:t>Gestion de code</a:t>
            </a:r>
          </a:p>
        </p:txBody>
      </p:sp>
      <p:sp>
        <p:nvSpPr>
          <p:cNvPr id="32" name="TextBox 31"/>
          <p:cNvSpPr txBox="1"/>
          <p:nvPr/>
        </p:nvSpPr>
        <p:spPr>
          <a:xfrm>
            <a:off x="8229600" y="3794760"/>
            <a:ext cx="2200275" cy="261610"/>
          </a:xfrm>
          <a:prstGeom prst="rect">
            <a:avLst/>
          </a:prstGeom>
          <a:noFill/>
        </p:spPr>
        <p:txBody>
          <a:bodyPr wrap="square">
            <a:spAutoFit/>
          </a:bodyPr>
          <a:lstStyle/>
          <a:p>
            <a:pPr algn="l">
              <a:defRPr sz="1100" b="0" i="0">
                <a:solidFill>
                  <a:srgbClr val="333333"/>
                </a:solidFill>
              </a:defRPr>
            </a:pPr>
            <a:r>
              <a:rPr dirty="0"/>
              <a:t>GitLab (instance auto-</a:t>
            </a:r>
            <a:r>
              <a:rPr dirty="0" err="1"/>
              <a:t>hebergee</a:t>
            </a:r>
            <a:r>
              <a:rPr dirty="0"/>
              <a:t>)</a:t>
            </a:r>
          </a:p>
        </p:txBody>
      </p:sp>
      <p:sp>
        <p:nvSpPr>
          <p:cNvPr id="33" name="TextBox 32"/>
          <p:cNvSpPr txBox="1"/>
          <p:nvPr/>
        </p:nvSpPr>
        <p:spPr>
          <a:xfrm>
            <a:off x="6400800" y="4297680"/>
            <a:ext cx="1645920" cy="274320"/>
          </a:xfrm>
          <a:prstGeom prst="rect">
            <a:avLst/>
          </a:prstGeom>
          <a:noFill/>
        </p:spPr>
        <p:txBody>
          <a:bodyPr wrap="square">
            <a:spAutoFit/>
          </a:bodyPr>
          <a:lstStyle/>
          <a:p>
            <a:pPr algn="l">
              <a:defRPr sz="1100" b="1" i="0">
                <a:solidFill>
                  <a:srgbClr val="003366"/>
                </a:solidFill>
              </a:defRPr>
            </a:pPr>
            <a:r>
              <a:t>Suivi de projet</a:t>
            </a:r>
          </a:p>
        </p:txBody>
      </p:sp>
      <p:sp>
        <p:nvSpPr>
          <p:cNvPr id="34" name="TextBox 33"/>
          <p:cNvSpPr txBox="1"/>
          <p:nvPr/>
        </p:nvSpPr>
        <p:spPr>
          <a:xfrm>
            <a:off x="8229600" y="4297680"/>
            <a:ext cx="2290763" cy="261610"/>
          </a:xfrm>
          <a:prstGeom prst="rect">
            <a:avLst/>
          </a:prstGeom>
          <a:noFill/>
        </p:spPr>
        <p:txBody>
          <a:bodyPr wrap="square">
            <a:spAutoFit/>
          </a:bodyPr>
          <a:lstStyle/>
          <a:p>
            <a:pPr algn="l">
              <a:defRPr sz="1100" b="0" i="0">
                <a:solidFill>
                  <a:srgbClr val="333333"/>
                </a:solidFill>
              </a:defRPr>
            </a:pPr>
            <a:r>
              <a:t>Wrike (backlog, taches, sous-taches)</a:t>
            </a:r>
          </a:p>
        </p:txBody>
      </p:sp>
      <p:sp>
        <p:nvSpPr>
          <p:cNvPr id="35" name="TextBox 34"/>
          <p:cNvSpPr txBox="1"/>
          <p:nvPr/>
        </p:nvSpPr>
        <p:spPr>
          <a:xfrm>
            <a:off x="6400800" y="4800600"/>
            <a:ext cx="1645920" cy="274320"/>
          </a:xfrm>
          <a:prstGeom prst="rect">
            <a:avLst/>
          </a:prstGeom>
          <a:noFill/>
        </p:spPr>
        <p:txBody>
          <a:bodyPr wrap="square">
            <a:spAutoFit/>
          </a:bodyPr>
          <a:lstStyle/>
          <a:p>
            <a:pPr algn="l">
              <a:defRPr sz="1100" b="1" i="0">
                <a:solidFill>
                  <a:srgbClr val="003366"/>
                </a:solidFill>
              </a:defRPr>
            </a:pPr>
            <a:r>
              <a:t>Assistance IA</a:t>
            </a:r>
          </a:p>
        </p:txBody>
      </p:sp>
      <p:sp>
        <p:nvSpPr>
          <p:cNvPr id="36" name="TextBox 35"/>
          <p:cNvSpPr txBox="1"/>
          <p:nvPr/>
        </p:nvSpPr>
        <p:spPr>
          <a:xfrm>
            <a:off x="8229600" y="4800600"/>
            <a:ext cx="2290763" cy="261610"/>
          </a:xfrm>
          <a:prstGeom prst="rect">
            <a:avLst/>
          </a:prstGeom>
          <a:noFill/>
        </p:spPr>
        <p:txBody>
          <a:bodyPr wrap="square">
            <a:spAutoFit/>
          </a:bodyPr>
          <a:lstStyle/>
          <a:p>
            <a:pPr algn="l">
              <a:defRPr sz="1100" b="0" i="0">
                <a:solidFill>
                  <a:srgbClr val="333333"/>
                </a:solidFill>
              </a:defRPr>
            </a:pPr>
            <a:r>
              <a:rPr dirty="0"/>
              <a:t>GitHub Copilot</a:t>
            </a:r>
            <a:r>
              <a:rPr lang="fr-CH" dirty="0"/>
              <a:t>, Claude</a:t>
            </a:r>
            <a:endParaRPr dirty="0"/>
          </a:p>
        </p:txBody>
      </p:sp>
      <p:sp>
        <p:nvSpPr>
          <p:cNvPr id="37" name="Rounded Rectangle 36"/>
          <p:cNvSpPr/>
          <p:nvPr/>
        </p:nvSpPr>
        <p:spPr>
          <a:xfrm>
            <a:off x="731520" y="5852160"/>
            <a:ext cx="10698480" cy="502920"/>
          </a:xfrm>
          <a:prstGeom prst="roundRect">
            <a:avLst/>
          </a:prstGeom>
          <a:solidFill>
            <a:srgbClr val="E8F0F8"/>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4400" y="5897880"/>
            <a:ext cx="10332720" cy="457200"/>
          </a:xfrm>
          <a:prstGeom prst="rect">
            <a:avLst/>
          </a:prstGeom>
          <a:noFill/>
        </p:spPr>
        <p:txBody>
          <a:bodyPr wrap="square">
            <a:spAutoFit/>
          </a:bodyPr>
          <a:lstStyle/>
          <a:p>
            <a:pPr algn="ctr">
              <a:defRPr sz="1100" b="0" i="1">
                <a:solidFill>
                  <a:srgbClr val="003366"/>
                </a:solidFill>
              </a:defRPr>
            </a:pPr>
            <a:r>
              <a:t>Suivi Wrike : chaque lot de CS BAG = un projet dedie decoupe en taches tracees sur un tableau agile (Kanban).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04</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Missions du stage</a:t>
            </a:r>
          </a:p>
        </p:txBody>
      </p:sp>
      <p:sp>
        <p:nvSpPr>
          <p:cNvPr id="6" name="Freeform 10">
            <a:extLst>
              <a:ext uri="{FF2B5EF4-FFF2-40B4-BE49-F238E27FC236}">
                <a16:creationId xmlns:a16="http://schemas.microsoft.com/office/drawing/2014/main" id="{CEA0BD7F-0E83-4C92-9767-5537BB0D603C}"/>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sp>
      <p:pic>
        <p:nvPicPr>
          <p:cNvPr id="7" name="Image 6">
            <a:extLst>
              <a:ext uri="{FF2B5EF4-FFF2-40B4-BE49-F238E27FC236}">
                <a16:creationId xmlns:a16="http://schemas.microsoft.com/office/drawing/2014/main" id="{41830F97-7DFD-484D-B4BE-57B54F0B98A8}"/>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05</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769441"/>
          </a:xfrm>
          <a:prstGeom prst="rect">
            <a:avLst/>
          </a:prstGeom>
          <a:noFill/>
        </p:spPr>
        <p:txBody>
          <a:bodyPr wrap="square">
            <a:spAutoFit/>
          </a:bodyPr>
          <a:lstStyle/>
          <a:p>
            <a:pPr algn="l">
              <a:defRPr sz="4400" b="1" i="0">
                <a:solidFill>
                  <a:srgbClr val="003366"/>
                </a:solidFill>
              </a:defRPr>
            </a:pPr>
            <a:r>
              <a:rPr dirty="0"/>
              <a:t>CS B</a:t>
            </a:r>
            <a:r>
              <a:rPr lang="fr-CH" dirty="0"/>
              <a:t>ag</a:t>
            </a:r>
            <a:r>
              <a:rPr dirty="0"/>
              <a:t> v2</a:t>
            </a:r>
          </a:p>
        </p:txBody>
      </p:sp>
      <p:sp>
        <p:nvSpPr>
          <p:cNvPr id="6" name="TextBox 5"/>
          <p:cNvSpPr txBox="1"/>
          <p:nvPr/>
        </p:nvSpPr>
        <p:spPr>
          <a:xfrm>
            <a:off x="4937760" y="3566160"/>
            <a:ext cx="6858000" cy="369332"/>
          </a:xfrm>
          <a:prstGeom prst="rect">
            <a:avLst/>
          </a:prstGeom>
          <a:noFill/>
        </p:spPr>
        <p:txBody>
          <a:bodyPr wrap="square">
            <a:spAutoFit/>
          </a:bodyPr>
          <a:lstStyle/>
          <a:p>
            <a:pPr algn="l">
              <a:defRPr sz="1800" b="0" i="1">
                <a:solidFill>
                  <a:srgbClr val="666666"/>
                </a:solidFill>
              </a:defRPr>
            </a:pPr>
            <a:r>
              <a:rPr dirty="0"/>
              <a:t>Mission </a:t>
            </a:r>
            <a:r>
              <a:rPr dirty="0" err="1"/>
              <a:t>principale</a:t>
            </a:r>
            <a:r>
              <a:rPr dirty="0"/>
              <a:t> : </a:t>
            </a:r>
            <a:r>
              <a:rPr dirty="0" err="1"/>
              <a:t>refonte</a:t>
            </a:r>
            <a:r>
              <a:rPr dirty="0"/>
              <a:t> de </a:t>
            </a:r>
            <a:r>
              <a:rPr lang="fr-CH" dirty="0"/>
              <a:t>CS Bag</a:t>
            </a:r>
            <a:endParaRPr dirty="0"/>
          </a:p>
        </p:txBody>
      </p:sp>
      <p:sp>
        <p:nvSpPr>
          <p:cNvPr id="7" name="Freeform 10">
            <a:extLst>
              <a:ext uri="{FF2B5EF4-FFF2-40B4-BE49-F238E27FC236}">
                <a16:creationId xmlns:a16="http://schemas.microsoft.com/office/drawing/2014/main" id="{0E8DA6EE-B778-4E9E-8890-A293B2DB680D}"/>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sp>
      <p:pic>
        <p:nvPicPr>
          <p:cNvPr id="8" name="Image 7">
            <a:extLst>
              <a:ext uri="{FF2B5EF4-FFF2-40B4-BE49-F238E27FC236}">
                <a16:creationId xmlns:a16="http://schemas.microsoft.com/office/drawing/2014/main" id="{76B21298-AB70-42AB-9D87-91C8FD10FDD4}"/>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CS BAG - Presentation de l'application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15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Rectangle 8"/>
          <p:cNvSpPr/>
          <p:nvPr/>
        </p:nvSpPr>
        <p:spPr>
          <a:xfrm>
            <a:off x="731520" y="1463040"/>
            <a:ext cx="2743200" cy="22860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CS BAG ]</a:t>
            </a:r>
          </a:p>
        </p:txBody>
      </p:sp>
      <p:sp>
        <p:nvSpPr>
          <p:cNvPr id="10" name="TextBox 9"/>
          <p:cNvSpPr txBox="1"/>
          <p:nvPr/>
        </p:nvSpPr>
        <p:spPr>
          <a:xfrm>
            <a:off x="3840480" y="1463040"/>
            <a:ext cx="7589520" cy="457200"/>
          </a:xfrm>
          <a:prstGeom prst="rect">
            <a:avLst/>
          </a:prstGeom>
          <a:noFill/>
        </p:spPr>
        <p:txBody>
          <a:bodyPr wrap="square">
            <a:spAutoFit/>
          </a:bodyPr>
          <a:lstStyle/>
          <a:p>
            <a:pPr algn="l">
              <a:defRPr sz="2200" b="1" i="0">
                <a:solidFill>
                  <a:srgbClr val="003366"/>
                </a:solidFill>
              </a:defRPr>
            </a:pPr>
            <a:r>
              <a:t>CS BAG (Inventory)</a:t>
            </a:r>
          </a:p>
        </p:txBody>
      </p:sp>
      <p:sp>
        <p:nvSpPr>
          <p:cNvPr id="11" name="TextBox 10"/>
          <p:cNvSpPr txBox="1"/>
          <p:nvPr/>
        </p:nvSpPr>
        <p:spPr>
          <a:xfrm>
            <a:off x="3840480" y="2011680"/>
            <a:ext cx="7589520" cy="365760"/>
          </a:xfrm>
          <a:prstGeom prst="rect">
            <a:avLst/>
          </a:prstGeom>
          <a:noFill/>
        </p:spPr>
        <p:txBody>
          <a:bodyPr wrap="square">
            <a:spAutoFit/>
          </a:bodyPr>
          <a:lstStyle/>
          <a:p>
            <a:pPr algn="l">
              <a:defRPr sz="1200" b="1" i="1">
                <a:solidFill>
                  <a:srgbClr val="2E8B3D"/>
                </a:solidFill>
              </a:defRPr>
            </a:pPr>
            <a:r>
              <a:t>Outil interne de cartographie applicative du service Collaborative Solutions</a:t>
            </a:r>
          </a:p>
        </p:txBody>
      </p:sp>
      <p:sp>
        <p:nvSpPr>
          <p:cNvPr id="12" name="TextBox 11"/>
          <p:cNvSpPr txBox="1"/>
          <p:nvPr/>
        </p:nvSpPr>
        <p:spPr>
          <a:xfrm>
            <a:off x="3840480" y="2468880"/>
            <a:ext cx="7589520" cy="1280160"/>
          </a:xfrm>
          <a:prstGeom prst="rect">
            <a:avLst/>
          </a:prstGeom>
          <a:noFill/>
        </p:spPr>
        <p:txBody>
          <a:bodyPr wrap="square">
            <a:spAutoFit/>
          </a:bodyPr>
          <a:lstStyle/>
          <a:p>
            <a:pPr algn="l">
              <a:defRPr sz="1200" b="0" i="0">
                <a:solidFill>
                  <a:srgbClr val="333333"/>
                </a:solidFill>
              </a:defRPr>
            </a:pPr>
            <a:r>
              <a:t>Recense les applications gerees par le service ainsi que leurs modules et les ressources techniques mobilisees. Constitue la source de verite consultee lors des mises en production, des audits de securite et des renouvellements de certificats. Acces restreint aux comptes d'administration (ADM).</a:t>
            </a:r>
          </a:p>
        </p:txBody>
      </p:sp>
      <p:sp>
        <p:nvSpPr>
          <p:cNvPr id="13" name="TextBox 12"/>
          <p:cNvSpPr txBox="1"/>
          <p:nvPr/>
        </p:nvSpPr>
        <p:spPr>
          <a:xfrm>
            <a:off x="-1708786" y="5020190"/>
            <a:ext cx="6276023" cy="323165"/>
          </a:xfrm>
          <a:prstGeom prst="rect">
            <a:avLst/>
          </a:prstGeom>
          <a:noFill/>
        </p:spPr>
        <p:txBody>
          <a:bodyPr wrap="square">
            <a:spAutoFit/>
          </a:bodyPr>
          <a:lstStyle/>
          <a:p>
            <a:pPr algn="ctr">
              <a:defRPr sz="1500" b="1" i="0">
                <a:solidFill>
                  <a:srgbClr val="003366"/>
                </a:solidFill>
              </a:defRPr>
            </a:pPr>
            <a:r>
              <a:rPr dirty="0"/>
              <a:t>Mod</a:t>
            </a:r>
            <a:r>
              <a:rPr lang="fr-CH" dirty="0"/>
              <a:t>é</a:t>
            </a:r>
            <a:r>
              <a:rPr dirty="0"/>
              <a:t>le m</a:t>
            </a:r>
            <a:r>
              <a:rPr lang="fr-CH" dirty="0"/>
              <a:t>é</a:t>
            </a:r>
            <a:r>
              <a:rPr dirty="0"/>
              <a:t>tier</a:t>
            </a:r>
            <a:r>
              <a:rPr lang="fr-CH" dirty="0"/>
              <a:t> : </a:t>
            </a:r>
            <a:endParaRPr dirty="0"/>
          </a:p>
        </p:txBody>
      </p:sp>
      <p:pic>
        <p:nvPicPr>
          <p:cNvPr id="29" name="Image 28">
            <a:extLst>
              <a:ext uri="{FF2B5EF4-FFF2-40B4-BE49-F238E27FC236}">
                <a16:creationId xmlns:a16="http://schemas.microsoft.com/office/drawing/2014/main" id="{DD55970F-0F76-43CB-AFF9-C9E7420CD96A}"/>
              </a:ext>
            </a:extLst>
          </p:cNvPr>
          <p:cNvPicPr>
            <a:picLocks noChangeAspect="1"/>
          </p:cNvPicPr>
          <p:nvPr/>
        </p:nvPicPr>
        <p:blipFill>
          <a:blip r:embed="rId2"/>
          <a:stretch>
            <a:fillRect/>
          </a:stretch>
        </p:blipFill>
        <p:spPr>
          <a:xfrm>
            <a:off x="1485132" y="2358199"/>
            <a:ext cx="1235975" cy="463491"/>
          </a:xfrm>
          <a:prstGeom prst="rect">
            <a:avLst/>
          </a:prstGeom>
        </p:spPr>
      </p:pic>
      <p:pic>
        <p:nvPicPr>
          <p:cNvPr id="31" name="Image 30">
            <a:extLst>
              <a:ext uri="{FF2B5EF4-FFF2-40B4-BE49-F238E27FC236}">
                <a16:creationId xmlns:a16="http://schemas.microsoft.com/office/drawing/2014/main" id="{ECF22AB6-4BE7-43C3-8729-AC2659C9B1EF}"/>
              </a:ext>
            </a:extLst>
          </p:cNvPr>
          <p:cNvPicPr>
            <a:picLocks noChangeAspect="1"/>
          </p:cNvPicPr>
          <p:nvPr/>
        </p:nvPicPr>
        <p:blipFill>
          <a:blip r:embed="rId3"/>
          <a:stretch>
            <a:fillRect/>
          </a:stretch>
        </p:blipFill>
        <p:spPr>
          <a:xfrm>
            <a:off x="4393882" y="3741419"/>
            <a:ext cx="5650230" cy="254745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Cahier des charges </a:t>
            </a:r>
            <a:r>
              <a:rPr lang="fr-CH" dirty="0"/>
              <a:t>:</a:t>
            </a:r>
            <a:r>
              <a:rPr dirty="0"/>
              <a:t> 3 lots </a:t>
            </a:r>
            <a:r>
              <a:rPr dirty="0" err="1"/>
              <a:t>complementaires</a:t>
            </a:r>
            <a:endParaRPr dirty="0"/>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16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Livraison incrementale : chaque lot s'appuie sur le precedent</a:t>
            </a:r>
          </a:p>
        </p:txBody>
      </p:sp>
      <p:sp>
        <p:nvSpPr>
          <p:cNvPr id="10" name="Rounded Rectangle 9"/>
          <p:cNvSpPr/>
          <p:nvPr/>
        </p:nvSpPr>
        <p:spPr>
          <a:xfrm>
            <a:off x="731520" y="1828800"/>
            <a:ext cx="3520440" cy="438912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1828800"/>
            <a:ext cx="352044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Lot 1</a:t>
            </a:r>
          </a:p>
          <a:p>
            <a:pPr algn="ctr">
              <a:defRPr sz="1300">
                <a:solidFill>
                  <a:srgbClr val="FFFFFF"/>
                </a:solidFill>
              </a:defRPr>
            </a:pPr>
            <a:r>
              <a:t>Socle de la refonte</a:t>
            </a:r>
          </a:p>
        </p:txBody>
      </p:sp>
      <p:sp>
        <p:nvSpPr>
          <p:cNvPr id="12" name="Oval 11"/>
          <p:cNvSpPr/>
          <p:nvPr/>
        </p:nvSpPr>
        <p:spPr>
          <a:xfrm>
            <a:off x="1005840" y="299008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34440" y="2880360"/>
            <a:ext cx="2926080" cy="685800"/>
          </a:xfrm>
          <a:prstGeom prst="rect">
            <a:avLst/>
          </a:prstGeom>
          <a:noFill/>
        </p:spPr>
        <p:txBody>
          <a:bodyPr wrap="square">
            <a:spAutoFit/>
          </a:bodyPr>
          <a:lstStyle/>
          <a:p>
            <a:pPr algn="l">
              <a:defRPr sz="1100" b="0" i="0">
                <a:solidFill>
                  <a:srgbClr val="333333"/>
                </a:solidFill>
              </a:defRPr>
            </a:pPr>
            <a:r>
              <a:t>Recherche et filtres transverses</a:t>
            </a:r>
          </a:p>
        </p:txBody>
      </p:sp>
      <p:sp>
        <p:nvSpPr>
          <p:cNvPr id="14" name="Oval 13"/>
          <p:cNvSpPr/>
          <p:nvPr/>
        </p:nvSpPr>
        <p:spPr>
          <a:xfrm>
            <a:off x="1005840" y="376732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34440" y="3657600"/>
            <a:ext cx="2926080" cy="685800"/>
          </a:xfrm>
          <a:prstGeom prst="rect">
            <a:avLst/>
          </a:prstGeom>
          <a:noFill/>
        </p:spPr>
        <p:txBody>
          <a:bodyPr wrap="square">
            <a:spAutoFit/>
          </a:bodyPr>
          <a:lstStyle/>
          <a:p>
            <a:pPr algn="l">
              <a:defRPr sz="1100" b="0" i="0">
                <a:solidFill>
                  <a:srgbClr val="333333"/>
                </a:solidFill>
              </a:defRPr>
            </a:pPr>
            <a:r>
              <a:t>Indicateurs de chargement</a:t>
            </a:r>
          </a:p>
        </p:txBody>
      </p:sp>
      <p:sp>
        <p:nvSpPr>
          <p:cNvPr id="16" name="Oval 15"/>
          <p:cNvSpPr/>
          <p:nvPr/>
        </p:nvSpPr>
        <p:spPr>
          <a:xfrm>
            <a:off x="1005840" y="454456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34440" y="4434840"/>
            <a:ext cx="2926080" cy="685800"/>
          </a:xfrm>
          <a:prstGeom prst="rect">
            <a:avLst/>
          </a:prstGeom>
          <a:noFill/>
        </p:spPr>
        <p:txBody>
          <a:bodyPr wrap="square">
            <a:spAutoFit/>
          </a:bodyPr>
          <a:lstStyle/>
          <a:p>
            <a:pPr algn="l">
              <a:defRPr sz="1100" b="0" i="0">
                <a:solidFill>
                  <a:srgbClr val="333333"/>
                </a:solidFill>
              </a:defRPr>
            </a:pPr>
            <a:r>
              <a:t>Cycle de vie des applications</a:t>
            </a:r>
          </a:p>
        </p:txBody>
      </p:sp>
      <p:sp>
        <p:nvSpPr>
          <p:cNvPr id="18" name="Oval 17"/>
          <p:cNvSpPr/>
          <p:nvPr/>
        </p:nvSpPr>
        <p:spPr>
          <a:xfrm>
            <a:off x="1005840" y="53218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34440" y="5212080"/>
            <a:ext cx="2926080" cy="261610"/>
          </a:xfrm>
          <a:prstGeom prst="rect">
            <a:avLst/>
          </a:prstGeom>
          <a:noFill/>
        </p:spPr>
        <p:txBody>
          <a:bodyPr wrap="square">
            <a:spAutoFit/>
          </a:bodyPr>
          <a:lstStyle/>
          <a:p>
            <a:pPr algn="l">
              <a:defRPr sz="1100" b="0" i="0">
                <a:solidFill>
                  <a:srgbClr val="333333"/>
                </a:solidFill>
              </a:defRPr>
            </a:pPr>
            <a:r>
              <a:rPr dirty="0"/>
              <a:t>Multi-</a:t>
            </a:r>
            <a:r>
              <a:rPr lang="fr-MA" dirty="0"/>
              <a:t>équipe</a:t>
            </a:r>
            <a:r>
              <a:rPr dirty="0"/>
              <a:t>s et </a:t>
            </a:r>
            <a:r>
              <a:rPr dirty="0" err="1"/>
              <a:t>archivage</a:t>
            </a:r>
            <a:endParaRPr dirty="0"/>
          </a:p>
        </p:txBody>
      </p:sp>
      <p:sp>
        <p:nvSpPr>
          <p:cNvPr id="20" name="Rounded Rectangle 19"/>
          <p:cNvSpPr/>
          <p:nvPr/>
        </p:nvSpPr>
        <p:spPr>
          <a:xfrm>
            <a:off x="4480559" y="1828800"/>
            <a:ext cx="3520440" cy="438912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480559" y="1828800"/>
            <a:ext cx="352044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Lot 2</a:t>
            </a:r>
          </a:p>
          <a:p>
            <a:pPr algn="ctr">
              <a:defRPr sz="1300">
                <a:solidFill>
                  <a:srgbClr val="FFFFFF"/>
                </a:solidFill>
              </a:defRPr>
            </a:pPr>
            <a:r>
              <a:t>Amelioration de l'outil</a:t>
            </a:r>
          </a:p>
        </p:txBody>
      </p:sp>
      <p:sp>
        <p:nvSpPr>
          <p:cNvPr id="22" name="Oval 21"/>
          <p:cNvSpPr/>
          <p:nvPr/>
        </p:nvSpPr>
        <p:spPr>
          <a:xfrm>
            <a:off x="4754879" y="299008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983479" y="2880360"/>
            <a:ext cx="2926080" cy="685800"/>
          </a:xfrm>
          <a:prstGeom prst="rect">
            <a:avLst/>
          </a:prstGeom>
          <a:noFill/>
        </p:spPr>
        <p:txBody>
          <a:bodyPr wrap="square">
            <a:spAutoFit/>
          </a:bodyPr>
          <a:lstStyle/>
          <a:p>
            <a:pPr algn="l">
              <a:defRPr sz="1100" b="0" i="0">
                <a:solidFill>
                  <a:srgbClr val="333333"/>
                </a:solidFill>
              </a:defRPr>
            </a:pPr>
            <a:r>
              <a:t>Tracabilite des livraisons</a:t>
            </a:r>
          </a:p>
        </p:txBody>
      </p:sp>
      <p:sp>
        <p:nvSpPr>
          <p:cNvPr id="24" name="Oval 23"/>
          <p:cNvSpPr/>
          <p:nvPr/>
        </p:nvSpPr>
        <p:spPr>
          <a:xfrm>
            <a:off x="4754879" y="376732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983479" y="3657600"/>
            <a:ext cx="2926080" cy="685800"/>
          </a:xfrm>
          <a:prstGeom prst="rect">
            <a:avLst/>
          </a:prstGeom>
          <a:noFill/>
        </p:spPr>
        <p:txBody>
          <a:bodyPr wrap="square">
            <a:spAutoFit/>
          </a:bodyPr>
          <a:lstStyle/>
          <a:p>
            <a:pPr algn="l">
              <a:defRPr sz="1100" b="0" i="0">
                <a:solidFill>
                  <a:srgbClr val="333333"/>
                </a:solidFill>
              </a:defRPr>
            </a:pPr>
            <a:r>
              <a:t>Historique et documents</a:t>
            </a:r>
          </a:p>
        </p:txBody>
      </p:sp>
      <p:sp>
        <p:nvSpPr>
          <p:cNvPr id="26" name="Oval 25"/>
          <p:cNvSpPr/>
          <p:nvPr/>
        </p:nvSpPr>
        <p:spPr>
          <a:xfrm>
            <a:off x="4754879" y="454456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983479" y="4434840"/>
            <a:ext cx="2926080" cy="685800"/>
          </a:xfrm>
          <a:prstGeom prst="rect">
            <a:avLst/>
          </a:prstGeom>
          <a:noFill/>
        </p:spPr>
        <p:txBody>
          <a:bodyPr wrap="square">
            <a:spAutoFit/>
          </a:bodyPr>
          <a:lstStyle/>
          <a:p>
            <a:pPr algn="l">
              <a:defRPr sz="1100" b="0" i="0">
                <a:solidFill>
                  <a:srgbClr val="333333"/>
                </a:solidFill>
              </a:defRPr>
            </a:pPr>
            <a:r>
              <a:t>Suivi des ressources sensibles</a:t>
            </a:r>
          </a:p>
        </p:txBody>
      </p:sp>
      <p:sp>
        <p:nvSpPr>
          <p:cNvPr id="28" name="Oval 27"/>
          <p:cNvSpPr/>
          <p:nvPr/>
        </p:nvSpPr>
        <p:spPr>
          <a:xfrm>
            <a:off x="4754879" y="53218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83479" y="5212080"/>
            <a:ext cx="2926080" cy="685800"/>
          </a:xfrm>
          <a:prstGeom prst="rect">
            <a:avLst/>
          </a:prstGeom>
          <a:noFill/>
        </p:spPr>
        <p:txBody>
          <a:bodyPr wrap="square">
            <a:spAutoFit/>
          </a:bodyPr>
          <a:lstStyle/>
          <a:p>
            <a:pPr algn="l">
              <a:defRPr sz="1100" b="0" i="0">
                <a:solidFill>
                  <a:srgbClr val="333333"/>
                </a:solidFill>
              </a:defRPr>
            </a:pPr>
            <a:r>
              <a:t>Notifications d'expiration</a:t>
            </a:r>
          </a:p>
        </p:txBody>
      </p:sp>
      <p:sp>
        <p:nvSpPr>
          <p:cNvPr id="30" name="Rounded Rectangle 29"/>
          <p:cNvSpPr/>
          <p:nvPr/>
        </p:nvSpPr>
        <p:spPr>
          <a:xfrm>
            <a:off x="8229598" y="1828800"/>
            <a:ext cx="3520440" cy="438912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229598" y="1828800"/>
            <a:ext cx="352044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Lot 3</a:t>
            </a:r>
          </a:p>
          <a:p>
            <a:pPr algn="ctr">
              <a:defRPr sz="1300">
                <a:solidFill>
                  <a:srgbClr val="FFFFFF"/>
                </a:solidFill>
              </a:defRPr>
            </a:pPr>
            <a:r>
              <a:t>Enrichissement fonctionnel</a:t>
            </a:r>
          </a:p>
        </p:txBody>
      </p:sp>
      <p:sp>
        <p:nvSpPr>
          <p:cNvPr id="32" name="Oval 31"/>
          <p:cNvSpPr/>
          <p:nvPr/>
        </p:nvSpPr>
        <p:spPr>
          <a:xfrm>
            <a:off x="8503918" y="299008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732518" y="2880360"/>
            <a:ext cx="2926080" cy="685800"/>
          </a:xfrm>
          <a:prstGeom prst="rect">
            <a:avLst/>
          </a:prstGeom>
          <a:noFill/>
        </p:spPr>
        <p:txBody>
          <a:bodyPr wrap="square">
            <a:spAutoFit/>
          </a:bodyPr>
          <a:lstStyle/>
          <a:p>
            <a:pPr algn="l">
              <a:defRPr sz="1100" b="0" i="0">
                <a:solidFill>
                  <a:srgbClr val="333333"/>
                </a:solidFill>
              </a:defRPr>
            </a:pPr>
            <a:r>
              <a:t>Administration des referentiels</a:t>
            </a:r>
          </a:p>
          <a:p>
            <a:pPr algn="l">
              <a:defRPr sz="1100" b="0" i="0">
                <a:solidFill>
                  <a:srgbClr val="333333"/>
                </a:solidFill>
              </a:defRPr>
            </a:pPr>
            <a:r>
              <a:t>(8 ecrans)</a:t>
            </a:r>
          </a:p>
        </p:txBody>
      </p:sp>
      <p:sp>
        <p:nvSpPr>
          <p:cNvPr id="34" name="Oval 33"/>
          <p:cNvSpPr/>
          <p:nvPr/>
        </p:nvSpPr>
        <p:spPr>
          <a:xfrm>
            <a:off x="8503918" y="376732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732518" y="3657600"/>
            <a:ext cx="2926080" cy="685800"/>
          </a:xfrm>
          <a:prstGeom prst="rect">
            <a:avLst/>
          </a:prstGeom>
          <a:noFill/>
        </p:spPr>
        <p:txBody>
          <a:bodyPr wrap="square">
            <a:spAutoFit/>
          </a:bodyPr>
          <a:lstStyle/>
          <a:p>
            <a:pPr algn="l">
              <a:defRPr sz="1100" b="0" i="0">
                <a:solidFill>
                  <a:srgbClr val="333333"/>
                </a:solidFill>
              </a:defRPr>
            </a:pPr>
            <a:r>
              <a:t>Auditabilite des actions utilisateur</a:t>
            </a:r>
          </a:p>
        </p:txBody>
      </p:sp>
      <p:sp>
        <p:nvSpPr>
          <p:cNvPr id="36" name="Oval 35"/>
          <p:cNvSpPr/>
          <p:nvPr/>
        </p:nvSpPr>
        <p:spPr>
          <a:xfrm>
            <a:off x="8503918" y="454456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732518" y="4434840"/>
            <a:ext cx="2926080" cy="685800"/>
          </a:xfrm>
          <a:prstGeom prst="rect">
            <a:avLst/>
          </a:prstGeom>
          <a:noFill/>
        </p:spPr>
        <p:txBody>
          <a:bodyPr wrap="square">
            <a:spAutoFit/>
          </a:bodyPr>
          <a:lstStyle/>
          <a:p>
            <a:pPr algn="l">
              <a:defRPr sz="1100" b="0" i="0">
                <a:solidFill>
                  <a:srgbClr val="333333"/>
                </a:solidFill>
              </a:defRPr>
            </a:pPr>
            <a:r>
              <a:t>Taxonomies (marquage / filtrage)</a:t>
            </a:r>
          </a:p>
        </p:txBody>
      </p:sp>
      <p:sp>
        <p:nvSpPr>
          <p:cNvPr id="38" name="Oval 37"/>
          <p:cNvSpPr/>
          <p:nvPr/>
        </p:nvSpPr>
        <p:spPr>
          <a:xfrm>
            <a:off x="8503918" y="53218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732518" y="5212080"/>
            <a:ext cx="2926080" cy="685800"/>
          </a:xfrm>
          <a:prstGeom prst="rect">
            <a:avLst/>
          </a:prstGeom>
          <a:noFill/>
        </p:spPr>
        <p:txBody>
          <a:bodyPr wrap="square">
            <a:spAutoFit/>
          </a:bodyPr>
          <a:lstStyle/>
          <a:p>
            <a:pPr algn="l">
              <a:defRPr sz="1100" b="0" i="0">
                <a:solidFill>
                  <a:srgbClr val="333333"/>
                </a:solidFill>
              </a:defRPr>
            </a:pPr>
            <a:r>
              <a:t>Extensions ressources sensibles</a:t>
            </a:r>
          </a:p>
        </p:txBody>
      </p:sp>
      <p:sp>
        <p:nvSpPr>
          <p:cNvPr id="40" name="Right Arrow 39"/>
          <p:cNvSpPr/>
          <p:nvPr/>
        </p:nvSpPr>
        <p:spPr>
          <a:xfrm>
            <a:off x="4251960" y="3840480"/>
            <a:ext cx="320040" cy="320040"/>
          </a:xfrm>
          <a:prstGeom prst="rightArrow">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ight Arrow 40"/>
          <p:cNvSpPr/>
          <p:nvPr/>
        </p:nvSpPr>
        <p:spPr>
          <a:xfrm>
            <a:off x="8000999" y="3840480"/>
            <a:ext cx="320040" cy="320040"/>
          </a:xfrm>
          <a:prstGeom prst="rightArrow">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31520" y="6309360"/>
            <a:ext cx="10698480" cy="274320"/>
          </a:xfrm>
          <a:prstGeom prst="rect">
            <a:avLst/>
          </a:prstGeom>
          <a:noFill/>
        </p:spPr>
        <p:txBody>
          <a:bodyPr wrap="square">
            <a:spAutoFit/>
          </a:bodyPr>
          <a:lstStyle/>
          <a:p>
            <a:pPr algn="ctr">
              <a:defRPr sz="1100" b="0" i="1">
                <a:solidFill>
                  <a:srgbClr val="666666"/>
                </a:solidFill>
              </a:defRPr>
            </a:pPr>
            <a:r>
              <a:t>Chaque lot est formalise dans un document de specifications propre.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Diagnostic personnel de l'existant</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17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Analyse menee avant tout developpement : 3 formes de dette identifiees</a:t>
            </a:r>
          </a:p>
        </p:txBody>
      </p:sp>
      <p:sp>
        <p:nvSpPr>
          <p:cNvPr id="10" name="Rounded Rectangle 9"/>
          <p:cNvSpPr/>
          <p:nvPr/>
        </p:nvSpPr>
        <p:spPr>
          <a:xfrm>
            <a:off x="731520" y="1828800"/>
            <a:ext cx="3429000" cy="246888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14400" y="201168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1</a:t>
            </a:r>
          </a:p>
        </p:txBody>
      </p:sp>
      <p:sp>
        <p:nvSpPr>
          <p:cNvPr id="12" name="TextBox 11"/>
          <p:cNvSpPr txBox="1"/>
          <p:nvPr/>
        </p:nvSpPr>
        <p:spPr>
          <a:xfrm>
            <a:off x="1508760" y="2011680"/>
            <a:ext cx="2468880" cy="822960"/>
          </a:xfrm>
          <a:prstGeom prst="rect">
            <a:avLst/>
          </a:prstGeom>
          <a:noFill/>
        </p:spPr>
        <p:txBody>
          <a:bodyPr wrap="square">
            <a:spAutoFit/>
          </a:bodyPr>
          <a:lstStyle/>
          <a:p>
            <a:pPr algn="l">
              <a:defRPr sz="1300" b="1" i="0">
                <a:solidFill>
                  <a:srgbClr val="003366"/>
                </a:solidFill>
              </a:defRPr>
            </a:pPr>
            <a:r>
              <a:t>Dette technique de version</a:t>
            </a:r>
          </a:p>
        </p:txBody>
      </p:sp>
      <p:sp>
        <p:nvSpPr>
          <p:cNvPr id="13" name="TextBox 12"/>
          <p:cNvSpPr txBox="1"/>
          <p:nvPr/>
        </p:nvSpPr>
        <p:spPr>
          <a:xfrm>
            <a:off x="1005840" y="2926080"/>
            <a:ext cx="2926080" cy="1280160"/>
          </a:xfrm>
          <a:prstGeom prst="rect">
            <a:avLst/>
          </a:prstGeom>
          <a:noFill/>
        </p:spPr>
        <p:txBody>
          <a:bodyPr wrap="square">
            <a:spAutoFit/>
          </a:bodyPr>
          <a:lstStyle/>
          <a:p>
            <a:pPr algn="l">
              <a:defRPr sz="1000" b="0" i="0">
                <a:solidFill>
                  <a:srgbClr val="666666"/>
                </a:solidFill>
              </a:defRPr>
            </a:pPr>
            <a:r>
              <a:rPr dirty="0"/>
              <a:t>Angular 14.2 et .NET 6.0 hors support </a:t>
            </a:r>
            <a:r>
              <a:rPr dirty="0" err="1"/>
              <a:t>actif</a:t>
            </a:r>
            <a:r>
              <a:rPr dirty="0"/>
              <a:t>.</a:t>
            </a:r>
          </a:p>
          <a:p>
            <a:pPr algn="l">
              <a:defRPr sz="1000" b="0" i="0">
                <a:solidFill>
                  <a:srgbClr val="666666"/>
                </a:solidFill>
              </a:defRPr>
            </a:pPr>
            <a:r>
              <a:rPr dirty="0" err="1"/>
              <a:t>Vulnerabilites</a:t>
            </a:r>
            <a:r>
              <a:rPr dirty="0"/>
              <a:t> </a:t>
            </a:r>
            <a:r>
              <a:rPr dirty="0" err="1"/>
              <a:t>remontees</a:t>
            </a:r>
            <a:r>
              <a:rPr dirty="0"/>
              <a:t> par les </a:t>
            </a:r>
            <a:r>
              <a:rPr dirty="0" err="1"/>
              <a:t>outils</a:t>
            </a:r>
            <a:r>
              <a:rPr dirty="0"/>
              <a:t> </a:t>
            </a:r>
            <a:r>
              <a:rPr dirty="0" err="1"/>
              <a:t>d'analyse</a:t>
            </a:r>
            <a:r>
              <a:rPr dirty="0"/>
              <a:t>, </a:t>
            </a:r>
            <a:r>
              <a:rPr dirty="0" err="1"/>
              <a:t>impossibles</a:t>
            </a:r>
            <a:r>
              <a:rPr dirty="0"/>
              <a:t> a </a:t>
            </a:r>
            <a:r>
              <a:rPr dirty="0" err="1"/>
              <a:t>corriger</a:t>
            </a:r>
            <a:r>
              <a:rPr dirty="0"/>
              <a:t>.</a:t>
            </a:r>
          </a:p>
        </p:txBody>
      </p:sp>
      <p:sp>
        <p:nvSpPr>
          <p:cNvPr id="14" name="Rounded Rectangle 13"/>
          <p:cNvSpPr/>
          <p:nvPr/>
        </p:nvSpPr>
        <p:spPr>
          <a:xfrm>
            <a:off x="4480560" y="1828800"/>
            <a:ext cx="3429000" cy="246888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663440" y="201168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2</a:t>
            </a:r>
          </a:p>
        </p:txBody>
      </p:sp>
      <p:sp>
        <p:nvSpPr>
          <p:cNvPr id="16" name="TextBox 15"/>
          <p:cNvSpPr txBox="1"/>
          <p:nvPr/>
        </p:nvSpPr>
        <p:spPr>
          <a:xfrm>
            <a:off x="5257800" y="2011680"/>
            <a:ext cx="2468880" cy="822960"/>
          </a:xfrm>
          <a:prstGeom prst="rect">
            <a:avLst/>
          </a:prstGeom>
          <a:noFill/>
        </p:spPr>
        <p:txBody>
          <a:bodyPr wrap="square">
            <a:spAutoFit/>
          </a:bodyPr>
          <a:lstStyle/>
          <a:p>
            <a:pPr algn="l">
              <a:defRPr sz="1300" b="1" i="0">
                <a:solidFill>
                  <a:srgbClr val="003366"/>
                </a:solidFill>
              </a:defRPr>
            </a:pPr>
            <a:r>
              <a:t>Dette du modele de donnees</a:t>
            </a:r>
          </a:p>
        </p:txBody>
      </p:sp>
      <p:sp>
        <p:nvSpPr>
          <p:cNvPr id="17" name="TextBox 16"/>
          <p:cNvSpPr txBox="1"/>
          <p:nvPr/>
        </p:nvSpPr>
        <p:spPr>
          <a:xfrm>
            <a:off x="4732020" y="2862072"/>
            <a:ext cx="2926080" cy="1280160"/>
          </a:xfrm>
          <a:prstGeom prst="rect">
            <a:avLst/>
          </a:prstGeom>
          <a:noFill/>
        </p:spPr>
        <p:txBody>
          <a:bodyPr wrap="square">
            <a:spAutoFit/>
          </a:bodyPr>
          <a:lstStyle/>
          <a:p>
            <a:pPr algn="l">
              <a:defRPr sz="1000" b="0" i="0">
                <a:solidFill>
                  <a:srgbClr val="666666"/>
                </a:solidFill>
              </a:defRPr>
            </a:pPr>
            <a:r>
              <a:rPr dirty="0" err="1"/>
              <a:t>Ressources</a:t>
            </a:r>
            <a:r>
              <a:rPr dirty="0"/>
              <a:t> </a:t>
            </a:r>
            <a:r>
              <a:rPr dirty="0" err="1"/>
              <a:t>en</a:t>
            </a:r>
            <a:r>
              <a:rPr dirty="0"/>
              <a:t> </a:t>
            </a:r>
            <a:r>
              <a:rPr dirty="0" err="1"/>
              <a:t>texte</a:t>
            </a:r>
            <a:r>
              <a:rPr dirty="0"/>
              <a:t> libre : meme framework sous </a:t>
            </a:r>
            <a:r>
              <a:rPr dirty="0" err="1"/>
              <a:t>plusieurs</a:t>
            </a:r>
            <a:r>
              <a:rPr dirty="0"/>
              <a:t> </a:t>
            </a:r>
            <a:r>
              <a:rPr dirty="0" err="1"/>
              <a:t>orthographes</a:t>
            </a:r>
            <a:r>
              <a:rPr dirty="0"/>
              <a:t>.</a:t>
            </a:r>
          </a:p>
          <a:p>
            <a:pPr algn="l">
              <a:defRPr sz="1000" b="0" i="0">
                <a:solidFill>
                  <a:srgbClr val="666666"/>
                </a:solidFill>
              </a:defRPr>
            </a:pPr>
            <a:r>
              <a:rPr dirty="0"/>
              <a:t>Absence de </a:t>
            </a:r>
            <a:r>
              <a:rPr dirty="0" err="1"/>
              <a:t>contraintes</a:t>
            </a:r>
            <a:r>
              <a:rPr dirty="0"/>
              <a:t> </a:t>
            </a:r>
            <a:r>
              <a:rPr dirty="0" err="1"/>
              <a:t>d'unicite</a:t>
            </a:r>
            <a:r>
              <a:rPr dirty="0"/>
              <a:t>, tables sans </a:t>
            </a:r>
            <a:r>
              <a:rPr dirty="0" err="1"/>
              <a:t>cle</a:t>
            </a:r>
            <a:r>
              <a:rPr dirty="0"/>
              <a:t> </a:t>
            </a:r>
            <a:r>
              <a:rPr dirty="0" err="1"/>
              <a:t>primaire</a:t>
            </a:r>
            <a:r>
              <a:rPr dirty="0"/>
              <a:t>.</a:t>
            </a:r>
          </a:p>
        </p:txBody>
      </p:sp>
      <p:sp>
        <p:nvSpPr>
          <p:cNvPr id="18" name="Rounded Rectangle 17"/>
          <p:cNvSpPr/>
          <p:nvPr/>
        </p:nvSpPr>
        <p:spPr>
          <a:xfrm>
            <a:off x="8229600" y="1828800"/>
            <a:ext cx="3429000" cy="246888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412480" y="201168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3</a:t>
            </a:r>
          </a:p>
        </p:txBody>
      </p:sp>
      <p:sp>
        <p:nvSpPr>
          <p:cNvPr id="20" name="TextBox 19"/>
          <p:cNvSpPr txBox="1"/>
          <p:nvPr/>
        </p:nvSpPr>
        <p:spPr>
          <a:xfrm>
            <a:off x="9006840" y="2011680"/>
            <a:ext cx="2468880" cy="822960"/>
          </a:xfrm>
          <a:prstGeom prst="rect">
            <a:avLst/>
          </a:prstGeom>
          <a:noFill/>
        </p:spPr>
        <p:txBody>
          <a:bodyPr wrap="square">
            <a:spAutoFit/>
          </a:bodyPr>
          <a:lstStyle/>
          <a:p>
            <a:pPr algn="l">
              <a:defRPr sz="1300" b="1" i="0">
                <a:solidFill>
                  <a:srgbClr val="003366"/>
                </a:solidFill>
              </a:defRPr>
            </a:pPr>
            <a:r>
              <a:t>Dette ergonomique</a:t>
            </a:r>
          </a:p>
        </p:txBody>
      </p:sp>
      <p:sp>
        <p:nvSpPr>
          <p:cNvPr id="21" name="TextBox 20"/>
          <p:cNvSpPr txBox="1"/>
          <p:nvPr/>
        </p:nvSpPr>
        <p:spPr>
          <a:xfrm>
            <a:off x="8503920" y="2926080"/>
            <a:ext cx="2926080" cy="400110"/>
          </a:xfrm>
          <a:prstGeom prst="rect">
            <a:avLst/>
          </a:prstGeom>
          <a:noFill/>
        </p:spPr>
        <p:txBody>
          <a:bodyPr wrap="square">
            <a:spAutoFit/>
          </a:bodyPr>
          <a:lstStyle/>
          <a:p>
            <a:pPr algn="l">
              <a:defRPr sz="1000" b="0" i="0">
                <a:solidFill>
                  <a:srgbClr val="666666"/>
                </a:solidFill>
              </a:defRPr>
            </a:pPr>
            <a:r>
              <a:rPr lang="fr-CH" dirty="0"/>
              <a:t>Pas de </a:t>
            </a:r>
            <a:r>
              <a:rPr lang="fr-CH" dirty="0" err="1"/>
              <a:t>coherences</a:t>
            </a:r>
            <a:r>
              <a:rPr lang="fr-CH" dirty="0"/>
              <a:t>, pas d’organisation. Formulaires désorganisés</a:t>
            </a:r>
            <a:endParaRPr dirty="0"/>
          </a:p>
        </p:txBody>
      </p:sp>
      <p:sp>
        <p:nvSpPr>
          <p:cNvPr id="22" name="TextBox 21"/>
          <p:cNvSpPr txBox="1"/>
          <p:nvPr/>
        </p:nvSpPr>
        <p:spPr>
          <a:xfrm>
            <a:off x="731520" y="4572000"/>
            <a:ext cx="10698480" cy="365760"/>
          </a:xfrm>
          <a:prstGeom prst="rect">
            <a:avLst/>
          </a:prstGeom>
          <a:noFill/>
        </p:spPr>
        <p:txBody>
          <a:bodyPr wrap="square">
            <a:spAutoFit/>
          </a:bodyPr>
          <a:lstStyle/>
          <a:p>
            <a:pPr algn="ctr">
              <a:defRPr sz="1600" b="1" i="0">
                <a:solidFill>
                  <a:srgbClr val="2E8B3D"/>
                </a:solidFill>
              </a:defRPr>
            </a:pPr>
            <a:r>
              <a:t>Elargissement du perimetre initial (valide par le chef de projet)</a:t>
            </a:r>
          </a:p>
        </p:txBody>
      </p:sp>
      <p:sp>
        <p:nvSpPr>
          <p:cNvPr id="23" name="Rounded Rectangle 22"/>
          <p:cNvSpPr/>
          <p:nvPr/>
        </p:nvSpPr>
        <p:spPr>
          <a:xfrm>
            <a:off x="1371600" y="5029200"/>
            <a:ext cx="4480560" cy="109728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554480" y="5166360"/>
            <a:ext cx="4206240" cy="365760"/>
          </a:xfrm>
          <a:prstGeom prst="rect">
            <a:avLst/>
          </a:prstGeom>
          <a:noFill/>
        </p:spPr>
        <p:txBody>
          <a:bodyPr wrap="square">
            <a:spAutoFit/>
          </a:bodyPr>
          <a:lstStyle/>
          <a:p>
            <a:pPr algn="l">
              <a:defRPr sz="1300" b="1" i="0">
                <a:solidFill>
                  <a:srgbClr val="2E8B3D"/>
                </a:solidFill>
              </a:defRPr>
            </a:pPr>
            <a:r>
              <a:t>+ Normalisation de la base de donnees</a:t>
            </a:r>
          </a:p>
        </p:txBody>
      </p:sp>
      <p:sp>
        <p:nvSpPr>
          <p:cNvPr id="25" name="TextBox 24"/>
          <p:cNvSpPr txBox="1"/>
          <p:nvPr/>
        </p:nvSpPr>
        <p:spPr>
          <a:xfrm>
            <a:off x="1554480" y="5577840"/>
            <a:ext cx="4206240" cy="457200"/>
          </a:xfrm>
          <a:prstGeom prst="rect">
            <a:avLst/>
          </a:prstGeom>
          <a:noFill/>
        </p:spPr>
        <p:txBody>
          <a:bodyPr wrap="square">
            <a:spAutoFit/>
          </a:bodyPr>
          <a:lstStyle/>
          <a:p>
            <a:pPr algn="l">
              <a:defRPr sz="1100" b="0" i="1">
                <a:solidFill>
                  <a:srgbClr val="333333"/>
                </a:solidFill>
              </a:defRPr>
            </a:pPr>
            <a:r>
              <a:t>au sens des formes normales de Codd</a:t>
            </a:r>
          </a:p>
        </p:txBody>
      </p:sp>
      <p:sp>
        <p:nvSpPr>
          <p:cNvPr id="26" name="Rounded Rectangle 25"/>
          <p:cNvSpPr/>
          <p:nvPr/>
        </p:nvSpPr>
        <p:spPr>
          <a:xfrm>
            <a:off x="6400800" y="5029200"/>
            <a:ext cx="4480560" cy="109728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3680" y="5166360"/>
            <a:ext cx="4206240" cy="365760"/>
          </a:xfrm>
          <a:prstGeom prst="rect">
            <a:avLst/>
          </a:prstGeom>
          <a:noFill/>
        </p:spPr>
        <p:txBody>
          <a:bodyPr wrap="square">
            <a:spAutoFit/>
          </a:bodyPr>
          <a:lstStyle/>
          <a:p>
            <a:pPr algn="l">
              <a:defRPr sz="1300" b="1" i="0">
                <a:solidFill>
                  <a:srgbClr val="2E8B3D"/>
                </a:solidFill>
              </a:defRPr>
            </a:pPr>
            <a:r>
              <a:t>+ Mise en conformite REST de l'API</a:t>
            </a:r>
          </a:p>
        </p:txBody>
      </p:sp>
      <p:sp>
        <p:nvSpPr>
          <p:cNvPr id="28" name="TextBox 27"/>
          <p:cNvSpPr txBox="1"/>
          <p:nvPr/>
        </p:nvSpPr>
        <p:spPr>
          <a:xfrm>
            <a:off x="6583680" y="5577840"/>
            <a:ext cx="4206240" cy="457200"/>
          </a:xfrm>
          <a:prstGeom prst="rect">
            <a:avLst/>
          </a:prstGeom>
          <a:noFill/>
        </p:spPr>
        <p:txBody>
          <a:bodyPr wrap="square">
            <a:spAutoFit/>
          </a:bodyPr>
          <a:lstStyle/>
          <a:p>
            <a:pPr algn="l">
              <a:defRPr sz="1100" b="0" i="1">
                <a:solidFill>
                  <a:srgbClr val="333333"/>
                </a:solidFill>
              </a:defRPr>
            </a:pPr>
            <a:r>
              <a:t>au sens des principes de Fielding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Demarche de realisation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18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Demarche appliquee a chaque livraison, du cadrage a la supervision</a:t>
            </a:r>
          </a:p>
        </p:txBody>
      </p:sp>
      <p:sp>
        <p:nvSpPr>
          <p:cNvPr id="10" name="Rounded Rectangle 9"/>
          <p:cNvSpPr/>
          <p:nvPr/>
        </p:nvSpPr>
        <p:spPr>
          <a:xfrm>
            <a:off x="731520" y="1828800"/>
            <a:ext cx="1828800" cy="457200"/>
          </a:xfrm>
          <a:prstGeom prst="round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CADRAGE</a:t>
            </a:r>
          </a:p>
        </p:txBody>
      </p:sp>
      <p:sp>
        <p:nvSpPr>
          <p:cNvPr id="11" name="Rectangle 10"/>
          <p:cNvSpPr/>
          <p:nvPr/>
        </p:nvSpPr>
        <p:spPr>
          <a:xfrm>
            <a:off x="2743200" y="1828800"/>
            <a:ext cx="7315200" cy="457200"/>
          </a:xfrm>
          <a:prstGeom prst="rect">
            <a:avLst/>
          </a:prstGeom>
          <a:solidFill>
            <a:srgbClr val="FFFFFF"/>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0" y="1828800"/>
            <a:ext cx="73152" cy="4572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26080" y="1920240"/>
            <a:ext cx="7132320" cy="320040"/>
          </a:xfrm>
          <a:prstGeom prst="rect">
            <a:avLst/>
          </a:prstGeom>
          <a:noFill/>
        </p:spPr>
        <p:txBody>
          <a:bodyPr wrap="square">
            <a:spAutoFit/>
          </a:bodyPr>
          <a:lstStyle/>
          <a:p>
            <a:pPr algn="l">
              <a:defRPr sz="1100" b="0" i="0">
                <a:solidFill>
                  <a:srgbClr val="333333"/>
                </a:solidFill>
              </a:defRPr>
            </a:pPr>
            <a:r>
              <a:t>1. Cadrage du besoin (analyste fonctionnelle)</a:t>
            </a:r>
          </a:p>
        </p:txBody>
      </p:sp>
      <p:sp>
        <p:nvSpPr>
          <p:cNvPr id="14" name="Rounded Rectangle 13"/>
          <p:cNvSpPr/>
          <p:nvPr/>
        </p:nvSpPr>
        <p:spPr>
          <a:xfrm>
            <a:off x="731520" y="2286000"/>
            <a:ext cx="1828800" cy="45720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DEVELOPPEMENT</a:t>
            </a:r>
          </a:p>
        </p:txBody>
      </p:sp>
      <p:sp>
        <p:nvSpPr>
          <p:cNvPr id="15" name="Rectangle 14"/>
          <p:cNvSpPr/>
          <p:nvPr/>
        </p:nvSpPr>
        <p:spPr>
          <a:xfrm>
            <a:off x="2743200" y="2286000"/>
            <a:ext cx="7315200" cy="45720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43200" y="2286000"/>
            <a:ext cx="73152"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26080" y="2377440"/>
            <a:ext cx="7132320" cy="320040"/>
          </a:xfrm>
          <a:prstGeom prst="rect">
            <a:avLst/>
          </a:prstGeom>
          <a:noFill/>
        </p:spPr>
        <p:txBody>
          <a:bodyPr wrap="square">
            <a:spAutoFit/>
          </a:bodyPr>
          <a:lstStyle/>
          <a:p>
            <a:pPr algn="l">
              <a:defRPr sz="1100" b="0" i="0">
                <a:solidFill>
                  <a:srgbClr val="333333"/>
                </a:solidFill>
              </a:defRPr>
            </a:pPr>
            <a:r>
              <a:t>2. Conception et developpement (local)</a:t>
            </a:r>
          </a:p>
        </p:txBody>
      </p:sp>
      <p:sp>
        <p:nvSpPr>
          <p:cNvPr id="18" name="Rectangle 17"/>
          <p:cNvSpPr/>
          <p:nvPr/>
        </p:nvSpPr>
        <p:spPr>
          <a:xfrm>
            <a:off x="2743200" y="2670048"/>
            <a:ext cx="7315200" cy="45720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0" y="2670048"/>
            <a:ext cx="73152"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26080" y="2761488"/>
            <a:ext cx="7132320" cy="320040"/>
          </a:xfrm>
          <a:prstGeom prst="rect">
            <a:avLst/>
          </a:prstGeom>
          <a:noFill/>
        </p:spPr>
        <p:txBody>
          <a:bodyPr wrap="square">
            <a:spAutoFit/>
          </a:bodyPr>
          <a:lstStyle/>
          <a:p>
            <a:pPr algn="l">
              <a:defRPr sz="1100" b="0" i="0">
                <a:solidFill>
                  <a:srgbClr val="333333"/>
                </a:solidFill>
              </a:defRPr>
            </a:pPr>
            <a:r>
              <a:t>3. Deploiement sur ressources Azure DEV</a:t>
            </a:r>
          </a:p>
        </p:txBody>
      </p:sp>
      <p:sp>
        <p:nvSpPr>
          <p:cNvPr id="21" name="Rectangle 20"/>
          <p:cNvSpPr/>
          <p:nvPr/>
        </p:nvSpPr>
        <p:spPr>
          <a:xfrm>
            <a:off x="2743200" y="3054096"/>
            <a:ext cx="7315200" cy="45720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743200" y="3054096"/>
            <a:ext cx="73152"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926080" y="3145536"/>
            <a:ext cx="7132320" cy="320040"/>
          </a:xfrm>
          <a:prstGeom prst="rect">
            <a:avLst/>
          </a:prstGeom>
          <a:noFill/>
        </p:spPr>
        <p:txBody>
          <a:bodyPr wrap="square">
            <a:spAutoFit/>
          </a:bodyPr>
          <a:lstStyle/>
          <a:p>
            <a:pPr algn="l">
              <a:defRPr sz="1100" b="0" i="0">
                <a:solidFill>
                  <a:srgbClr val="333333"/>
                </a:solidFill>
              </a:defRPr>
            </a:pPr>
            <a:r>
              <a:t>4. Tests developpeur en DEV</a:t>
            </a:r>
          </a:p>
        </p:txBody>
      </p:sp>
      <p:sp>
        <p:nvSpPr>
          <p:cNvPr id="24" name="Rounded Rectangle 23"/>
          <p:cNvSpPr/>
          <p:nvPr/>
        </p:nvSpPr>
        <p:spPr>
          <a:xfrm>
            <a:off x="731520" y="3511296"/>
            <a:ext cx="182880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RECETTE</a:t>
            </a:r>
          </a:p>
        </p:txBody>
      </p:sp>
      <p:sp>
        <p:nvSpPr>
          <p:cNvPr id="25" name="Rectangle 24"/>
          <p:cNvSpPr/>
          <p:nvPr/>
        </p:nvSpPr>
        <p:spPr>
          <a:xfrm>
            <a:off x="2743200" y="3511296"/>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743200" y="3511296"/>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926080" y="3602736"/>
            <a:ext cx="7132320" cy="320040"/>
          </a:xfrm>
          <a:prstGeom prst="rect">
            <a:avLst/>
          </a:prstGeom>
          <a:noFill/>
        </p:spPr>
        <p:txBody>
          <a:bodyPr wrap="square">
            <a:spAutoFit/>
          </a:bodyPr>
          <a:lstStyle/>
          <a:p>
            <a:pPr algn="l">
              <a:defRPr sz="1100" b="0" i="0">
                <a:solidFill>
                  <a:srgbClr val="333333"/>
                </a:solidFill>
              </a:defRPr>
            </a:pPr>
            <a:r>
              <a:t>5. Mise en recette (UAT)</a:t>
            </a:r>
          </a:p>
        </p:txBody>
      </p:sp>
      <p:sp>
        <p:nvSpPr>
          <p:cNvPr id="28" name="Rectangle 27"/>
          <p:cNvSpPr/>
          <p:nvPr/>
        </p:nvSpPr>
        <p:spPr>
          <a:xfrm>
            <a:off x="2743200" y="3895344"/>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743200" y="3895344"/>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26080" y="3986784"/>
            <a:ext cx="7132320" cy="320040"/>
          </a:xfrm>
          <a:prstGeom prst="rect">
            <a:avLst/>
          </a:prstGeom>
          <a:noFill/>
        </p:spPr>
        <p:txBody>
          <a:bodyPr wrap="square">
            <a:spAutoFit/>
          </a:bodyPr>
          <a:lstStyle/>
          <a:p>
            <a:pPr algn="l">
              <a:defRPr sz="1100" b="0" i="0">
                <a:solidFill>
                  <a:srgbClr val="333333"/>
                </a:solidFill>
              </a:defRPr>
            </a:pPr>
            <a:r>
              <a:t>6. Tests AF - cahier d'anomalies</a:t>
            </a:r>
          </a:p>
        </p:txBody>
      </p:sp>
      <p:sp>
        <p:nvSpPr>
          <p:cNvPr id="31" name="Rectangle 30"/>
          <p:cNvSpPr/>
          <p:nvPr/>
        </p:nvSpPr>
        <p:spPr>
          <a:xfrm>
            <a:off x="2743200" y="4279392"/>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43200" y="4279392"/>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26080" y="4370832"/>
            <a:ext cx="7132320" cy="320040"/>
          </a:xfrm>
          <a:prstGeom prst="rect">
            <a:avLst/>
          </a:prstGeom>
          <a:noFill/>
        </p:spPr>
        <p:txBody>
          <a:bodyPr wrap="square">
            <a:spAutoFit/>
          </a:bodyPr>
          <a:lstStyle/>
          <a:p>
            <a:pPr algn="l">
              <a:defRPr sz="1100" b="0" i="0">
                <a:solidFill>
                  <a:srgbClr val="333333"/>
                </a:solidFill>
              </a:defRPr>
            </a:pPr>
            <a:r>
              <a:t>7. Correction des retours</a:t>
            </a:r>
          </a:p>
        </p:txBody>
      </p:sp>
      <p:sp>
        <p:nvSpPr>
          <p:cNvPr id="34" name="Rectangle 33"/>
          <p:cNvSpPr/>
          <p:nvPr/>
        </p:nvSpPr>
        <p:spPr>
          <a:xfrm>
            <a:off x="2743200" y="4663440"/>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43200" y="4663440"/>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926080" y="4754880"/>
            <a:ext cx="7132320" cy="320040"/>
          </a:xfrm>
          <a:prstGeom prst="rect">
            <a:avLst/>
          </a:prstGeom>
          <a:noFill/>
        </p:spPr>
        <p:txBody>
          <a:bodyPr wrap="square">
            <a:spAutoFit/>
          </a:bodyPr>
          <a:lstStyle/>
          <a:p>
            <a:pPr algn="l">
              <a:defRPr sz="1100" b="0" i="0">
                <a:solidFill>
                  <a:srgbClr val="333333"/>
                </a:solidFill>
              </a:defRPr>
            </a:pPr>
            <a:r>
              <a:t>8. Tests finaux par l'analyste fonctionnelle</a:t>
            </a:r>
          </a:p>
        </p:txBody>
      </p:sp>
      <p:sp>
        <p:nvSpPr>
          <p:cNvPr id="37" name="Rounded Rectangle 36"/>
          <p:cNvSpPr/>
          <p:nvPr/>
        </p:nvSpPr>
        <p:spPr>
          <a:xfrm>
            <a:off x="731520" y="5120640"/>
            <a:ext cx="1828800" cy="45720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PRODUCTION</a:t>
            </a:r>
          </a:p>
        </p:txBody>
      </p:sp>
      <p:sp>
        <p:nvSpPr>
          <p:cNvPr id="38" name="Rectangle 37"/>
          <p:cNvSpPr/>
          <p:nvPr/>
        </p:nvSpPr>
        <p:spPr>
          <a:xfrm>
            <a:off x="2743200" y="5120640"/>
            <a:ext cx="7315200" cy="457200"/>
          </a:xfrm>
          <a:prstGeom prst="rect">
            <a:avLst/>
          </a:prstGeom>
          <a:solidFill>
            <a:srgbClr val="FFFFFF"/>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743200" y="5120640"/>
            <a:ext cx="73152" cy="45720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926080" y="5212080"/>
            <a:ext cx="7132320" cy="320040"/>
          </a:xfrm>
          <a:prstGeom prst="rect">
            <a:avLst/>
          </a:prstGeom>
          <a:noFill/>
        </p:spPr>
        <p:txBody>
          <a:bodyPr wrap="square">
            <a:spAutoFit/>
          </a:bodyPr>
          <a:lstStyle/>
          <a:p>
            <a:pPr algn="l">
              <a:defRPr sz="1100" b="0" i="0">
                <a:solidFill>
                  <a:srgbClr val="333333"/>
                </a:solidFill>
              </a:defRPr>
            </a:pPr>
            <a:r>
              <a:t>9. Mise en production</a:t>
            </a:r>
          </a:p>
        </p:txBody>
      </p:sp>
      <p:sp>
        <p:nvSpPr>
          <p:cNvPr id="41" name="Rectangle 40"/>
          <p:cNvSpPr/>
          <p:nvPr/>
        </p:nvSpPr>
        <p:spPr>
          <a:xfrm>
            <a:off x="2743200" y="5504688"/>
            <a:ext cx="7315200" cy="457200"/>
          </a:xfrm>
          <a:prstGeom prst="rect">
            <a:avLst/>
          </a:prstGeom>
          <a:solidFill>
            <a:srgbClr val="FFFFFF"/>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743200" y="5504688"/>
            <a:ext cx="73152" cy="45720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926080" y="5596128"/>
            <a:ext cx="7132320" cy="320040"/>
          </a:xfrm>
          <a:prstGeom prst="rect">
            <a:avLst/>
          </a:prstGeom>
          <a:noFill/>
        </p:spPr>
        <p:txBody>
          <a:bodyPr wrap="square">
            <a:spAutoFit/>
          </a:bodyPr>
          <a:lstStyle/>
          <a:p>
            <a:pPr algn="l">
              <a:defRPr sz="1100" b="0" i="0">
                <a:solidFill>
                  <a:srgbClr val="333333"/>
                </a:solidFill>
              </a:defRPr>
            </a:pPr>
            <a:r>
              <a:t>10. Supervision (monitoring)</a:t>
            </a:r>
          </a:p>
        </p:txBody>
      </p:sp>
      <p:sp>
        <p:nvSpPr>
          <p:cNvPr id="44" name="TextBox 43"/>
          <p:cNvSpPr txBox="1"/>
          <p:nvPr/>
        </p:nvSpPr>
        <p:spPr>
          <a:xfrm>
            <a:off x="10332720" y="4206240"/>
            <a:ext cx="1737360" cy="457200"/>
          </a:xfrm>
          <a:prstGeom prst="rect">
            <a:avLst/>
          </a:prstGeom>
          <a:noFill/>
        </p:spPr>
        <p:txBody>
          <a:bodyPr wrap="square">
            <a:spAutoFit/>
          </a:bodyPr>
          <a:lstStyle/>
          <a:p>
            <a:pPr algn="ctr">
              <a:defRPr sz="900" b="1" i="1">
                <a:solidFill>
                  <a:srgbClr val="E2001A"/>
                </a:solidFill>
              </a:defRPr>
            </a:pPr>
            <a:r>
              <a:t>Boucle si</a:t>
            </a:r>
          </a:p>
          <a:p>
            <a:pPr algn="ctr">
              <a:defRPr sz="900" b="1" i="1">
                <a:solidFill>
                  <a:srgbClr val="E2001A"/>
                </a:solidFill>
              </a:defRPr>
            </a:pPr>
            <a:r>
              <a:t>anomalies</a:t>
            </a:r>
          </a:p>
          <a:p>
            <a:pPr algn="ctr">
              <a:defRPr sz="900" b="1" i="1">
                <a:solidFill>
                  <a:srgbClr val="E2001A"/>
                </a:solidFill>
              </a:defRPr>
            </a:pPr>
            <a:r>
              <a:t>restantes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Modernisation du socle technique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19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Prerequis a toute evolution fonctionnelle - montees de version incrementales</a:t>
            </a:r>
          </a:p>
        </p:txBody>
      </p:sp>
      <p:sp>
        <p:nvSpPr>
          <p:cNvPr id="10" name="Rectangle 9"/>
          <p:cNvSpPr/>
          <p:nvPr/>
        </p:nvSpPr>
        <p:spPr>
          <a:xfrm>
            <a:off x="731520" y="1828800"/>
            <a:ext cx="10698480"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874519"/>
            <a:ext cx="2103120" cy="365760"/>
          </a:xfrm>
          <a:prstGeom prst="rect">
            <a:avLst/>
          </a:prstGeom>
          <a:noFill/>
        </p:spPr>
        <p:txBody>
          <a:bodyPr wrap="square">
            <a:spAutoFit/>
          </a:bodyPr>
          <a:lstStyle/>
          <a:p>
            <a:pPr algn="l">
              <a:defRPr sz="1200" b="1" i="0">
                <a:solidFill>
                  <a:srgbClr val="FFFFFF"/>
                </a:solidFill>
              </a:defRPr>
            </a:pPr>
            <a:r>
              <a:t>Composant</a:t>
            </a:r>
          </a:p>
        </p:txBody>
      </p:sp>
      <p:sp>
        <p:nvSpPr>
          <p:cNvPr id="12" name="TextBox 11"/>
          <p:cNvSpPr txBox="1"/>
          <p:nvPr/>
        </p:nvSpPr>
        <p:spPr>
          <a:xfrm>
            <a:off x="3474720" y="1874519"/>
            <a:ext cx="2103120" cy="365760"/>
          </a:xfrm>
          <a:prstGeom prst="rect">
            <a:avLst/>
          </a:prstGeom>
          <a:noFill/>
        </p:spPr>
        <p:txBody>
          <a:bodyPr wrap="square">
            <a:spAutoFit/>
          </a:bodyPr>
          <a:lstStyle/>
          <a:p>
            <a:pPr algn="l">
              <a:defRPr sz="1200" b="1" i="0">
                <a:solidFill>
                  <a:srgbClr val="FFFFFF"/>
                </a:solidFill>
              </a:defRPr>
            </a:pPr>
            <a:r>
              <a:t>Avant</a:t>
            </a:r>
          </a:p>
        </p:txBody>
      </p:sp>
      <p:sp>
        <p:nvSpPr>
          <p:cNvPr id="13" name="TextBox 12"/>
          <p:cNvSpPr txBox="1"/>
          <p:nvPr/>
        </p:nvSpPr>
        <p:spPr>
          <a:xfrm>
            <a:off x="6035040" y="1874519"/>
            <a:ext cx="2103120" cy="365760"/>
          </a:xfrm>
          <a:prstGeom prst="rect">
            <a:avLst/>
          </a:prstGeom>
          <a:noFill/>
        </p:spPr>
        <p:txBody>
          <a:bodyPr wrap="square">
            <a:spAutoFit/>
          </a:bodyPr>
          <a:lstStyle/>
          <a:p>
            <a:pPr algn="l">
              <a:defRPr sz="1200" b="1" i="0">
                <a:solidFill>
                  <a:srgbClr val="FFFFFF"/>
                </a:solidFill>
              </a:defRPr>
            </a:pPr>
            <a:r>
              <a:t>Apres</a:t>
            </a:r>
          </a:p>
        </p:txBody>
      </p:sp>
      <p:sp>
        <p:nvSpPr>
          <p:cNvPr id="14" name="TextBox 13"/>
          <p:cNvSpPr txBox="1"/>
          <p:nvPr/>
        </p:nvSpPr>
        <p:spPr>
          <a:xfrm>
            <a:off x="8595360" y="1874519"/>
            <a:ext cx="2743200" cy="365760"/>
          </a:xfrm>
          <a:prstGeom prst="rect">
            <a:avLst/>
          </a:prstGeom>
          <a:noFill/>
        </p:spPr>
        <p:txBody>
          <a:bodyPr wrap="square">
            <a:spAutoFit/>
          </a:bodyPr>
          <a:lstStyle/>
          <a:p>
            <a:pPr algn="l">
              <a:defRPr sz="1200" b="1" i="0">
                <a:solidFill>
                  <a:srgbClr val="FFFFFF"/>
                </a:solidFill>
              </a:defRPr>
            </a:pPr>
            <a:r>
              <a:t>Enjeu principal</a:t>
            </a:r>
          </a:p>
        </p:txBody>
      </p:sp>
      <p:sp>
        <p:nvSpPr>
          <p:cNvPr id="15" name="Rectangle 14"/>
          <p:cNvSpPr/>
          <p:nvPr/>
        </p:nvSpPr>
        <p:spPr>
          <a:xfrm>
            <a:off x="731520" y="2286000"/>
            <a:ext cx="10698480" cy="45720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2377440"/>
            <a:ext cx="2560320" cy="365760"/>
          </a:xfrm>
          <a:prstGeom prst="rect">
            <a:avLst/>
          </a:prstGeom>
          <a:noFill/>
        </p:spPr>
        <p:txBody>
          <a:bodyPr wrap="square">
            <a:spAutoFit/>
          </a:bodyPr>
          <a:lstStyle/>
          <a:p>
            <a:pPr algn="l">
              <a:defRPr sz="1100" b="1" i="0">
                <a:solidFill>
                  <a:srgbClr val="003366"/>
                </a:solidFill>
              </a:defRPr>
            </a:pPr>
            <a:r>
              <a:t>Front-end</a:t>
            </a:r>
          </a:p>
        </p:txBody>
      </p:sp>
      <p:sp>
        <p:nvSpPr>
          <p:cNvPr id="17" name="TextBox 16"/>
          <p:cNvSpPr txBox="1"/>
          <p:nvPr/>
        </p:nvSpPr>
        <p:spPr>
          <a:xfrm>
            <a:off x="3474720" y="2377440"/>
            <a:ext cx="2560320" cy="365760"/>
          </a:xfrm>
          <a:prstGeom prst="rect">
            <a:avLst/>
          </a:prstGeom>
          <a:noFill/>
        </p:spPr>
        <p:txBody>
          <a:bodyPr wrap="square">
            <a:spAutoFit/>
          </a:bodyPr>
          <a:lstStyle/>
          <a:p>
            <a:pPr algn="l">
              <a:defRPr sz="1100" b="0" i="0">
                <a:solidFill>
                  <a:srgbClr val="666666"/>
                </a:solidFill>
              </a:defRPr>
            </a:pPr>
            <a:r>
              <a:t>Angular 14.2</a:t>
            </a:r>
          </a:p>
        </p:txBody>
      </p:sp>
      <p:sp>
        <p:nvSpPr>
          <p:cNvPr id="18" name="TextBox 17"/>
          <p:cNvSpPr txBox="1"/>
          <p:nvPr/>
        </p:nvSpPr>
        <p:spPr>
          <a:xfrm>
            <a:off x="6035040" y="2377440"/>
            <a:ext cx="2560320" cy="365760"/>
          </a:xfrm>
          <a:prstGeom prst="rect">
            <a:avLst/>
          </a:prstGeom>
          <a:noFill/>
        </p:spPr>
        <p:txBody>
          <a:bodyPr wrap="square">
            <a:spAutoFit/>
          </a:bodyPr>
          <a:lstStyle/>
          <a:p>
            <a:pPr algn="l">
              <a:defRPr sz="1100" b="1" i="0">
                <a:solidFill>
                  <a:srgbClr val="2E8B3D"/>
                </a:solidFill>
              </a:defRPr>
            </a:pPr>
            <a:r>
              <a:t>Angular 20.0</a:t>
            </a:r>
          </a:p>
        </p:txBody>
      </p:sp>
      <p:sp>
        <p:nvSpPr>
          <p:cNvPr id="19" name="TextBox 18"/>
          <p:cNvSpPr txBox="1"/>
          <p:nvPr/>
        </p:nvSpPr>
        <p:spPr>
          <a:xfrm>
            <a:off x="8595360" y="2377440"/>
            <a:ext cx="2743200" cy="365760"/>
          </a:xfrm>
          <a:prstGeom prst="rect">
            <a:avLst/>
          </a:prstGeom>
          <a:noFill/>
        </p:spPr>
        <p:txBody>
          <a:bodyPr wrap="square">
            <a:spAutoFit/>
          </a:bodyPr>
          <a:lstStyle/>
          <a:p>
            <a:pPr algn="l">
              <a:defRPr sz="1000" b="0" i="0">
                <a:solidFill>
                  <a:srgbClr val="333333"/>
                </a:solidFill>
              </a:defRPr>
            </a:pPr>
            <a:r>
              <a:t>Support actif, correctifs de securite</a:t>
            </a:r>
          </a:p>
        </p:txBody>
      </p:sp>
      <p:sp>
        <p:nvSpPr>
          <p:cNvPr id="20" name="Rectangle 19"/>
          <p:cNvSpPr/>
          <p:nvPr/>
        </p:nvSpPr>
        <p:spPr>
          <a:xfrm>
            <a:off x="731520" y="2788920"/>
            <a:ext cx="10698480"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2880360"/>
            <a:ext cx="2560320" cy="365760"/>
          </a:xfrm>
          <a:prstGeom prst="rect">
            <a:avLst/>
          </a:prstGeom>
          <a:noFill/>
        </p:spPr>
        <p:txBody>
          <a:bodyPr wrap="square">
            <a:spAutoFit/>
          </a:bodyPr>
          <a:lstStyle/>
          <a:p>
            <a:pPr algn="l">
              <a:defRPr sz="1100" b="1" i="0">
                <a:solidFill>
                  <a:srgbClr val="003366"/>
                </a:solidFill>
              </a:defRPr>
            </a:pPr>
            <a:r>
              <a:t>Back-end</a:t>
            </a:r>
          </a:p>
        </p:txBody>
      </p:sp>
      <p:sp>
        <p:nvSpPr>
          <p:cNvPr id="22" name="TextBox 21"/>
          <p:cNvSpPr txBox="1"/>
          <p:nvPr/>
        </p:nvSpPr>
        <p:spPr>
          <a:xfrm>
            <a:off x="3474720" y="2880360"/>
            <a:ext cx="2560320" cy="365760"/>
          </a:xfrm>
          <a:prstGeom prst="rect">
            <a:avLst/>
          </a:prstGeom>
          <a:noFill/>
        </p:spPr>
        <p:txBody>
          <a:bodyPr wrap="square">
            <a:spAutoFit/>
          </a:bodyPr>
          <a:lstStyle/>
          <a:p>
            <a:pPr algn="l">
              <a:defRPr sz="1100" b="0" i="0">
                <a:solidFill>
                  <a:srgbClr val="666666"/>
                </a:solidFill>
              </a:defRPr>
            </a:pPr>
            <a:r>
              <a:t>.NET 6.0</a:t>
            </a:r>
          </a:p>
        </p:txBody>
      </p:sp>
      <p:sp>
        <p:nvSpPr>
          <p:cNvPr id="23" name="TextBox 22"/>
          <p:cNvSpPr txBox="1"/>
          <p:nvPr/>
        </p:nvSpPr>
        <p:spPr>
          <a:xfrm>
            <a:off x="6035040" y="2880360"/>
            <a:ext cx="2560320" cy="365760"/>
          </a:xfrm>
          <a:prstGeom prst="rect">
            <a:avLst/>
          </a:prstGeom>
          <a:noFill/>
        </p:spPr>
        <p:txBody>
          <a:bodyPr wrap="square">
            <a:spAutoFit/>
          </a:bodyPr>
          <a:lstStyle/>
          <a:p>
            <a:pPr algn="l">
              <a:defRPr sz="1100" b="1" i="0">
                <a:solidFill>
                  <a:srgbClr val="2E8B3D"/>
                </a:solidFill>
              </a:defRPr>
            </a:pPr>
            <a:r>
              <a:t>.NET 10.0</a:t>
            </a:r>
          </a:p>
        </p:txBody>
      </p:sp>
      <p:sp>
        <p:nvSpPr>
          <p:cNvPr id="24" name="TextBox 23"/>
          <p:cNvSpPr txBox="1"/>
          <p:nvPr/>
        </p:nvSpPr>
        <p:spPr>
          <a:xfrm>
            <a:off x="8595360" y="2880360"/>
            <a:ext cx="2743200" cy="365760"/>
          </a:xfrm>
          <a:prstGeom prst="rect">
            <a:avLst/>
          </a:prstGeom>
          <a:noFill/>
        </p:spPr>
        <p:txBody>
          <a:bodyPr wrap="square">
            <a:spAutoFit/>
          </a:bodyPr>
          <a:lstStyle/>
          <a:p>
            <a:pPr algn="l">
              <a:defRPr sz="1000" b="0" i="0">
                <a:solidFill>
                  <a:srgbClr val="333333"/>
                </a:solidFill>
              </a:defRPr>
            </a:pPr>
            <a:r>
              <a:t>Support actif, performances</a:t>
            </a:r>
          </a:p>
        </p:txBody>
      </p:sp>
      <p:sp>
        <p:nvSpPr>
          <p:cNvPr id="25" name="Rectangle 24"/>
          <p:cNvSpPr/>
          <p:nvPr/>
        </p:nvSpPr>
        <p:spPr>
          <a:xfrm>
            <a:off x="731520" y="3291840"/>
            <a:ext cx="10698480" cy="45720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3383280"/>
            <a:ext cx="2560320" cy="365760"/>
          </a:xfrm>
          <a:prstGeom prst="rect">
            <a:avLst/>
          </a:prstGeom>
          <a:noFill/>
        </p:spPr>
        <p:txBody>
          <a:bodyPr wrap="square">
            <a:spAutoFit/>
          </a:bodyPr>
          <a:lstStyle/>
          <a:p>
            <a:pPr algn="l">
              <a:defRPr sz="1100" b="1" i="0">
                <a:solidFill>
                  <a:srgbClr val="003366"/>
                </a:solidFill>
              </a:defRPr>
            </a:pPr>
            <a:r>
              <a:t>Acces donnees</a:t>
            </a:r>
          </a:p>
        </p:txBody>
      </p:sp>
      <p:sp>
        <p:nvSpPr>
          <p:cNvPr id="27" name="TextBox 26"/>
          <p:cNvSpPr txBox="1"/>
          <p:nvPr/>
        </p:nvSpPr>
        <p:spPr>
          <a:xfrm>
            <a:off x="3474720" y="3383280"/>
            <a:ext cx="2560320" cy="365760"/>
          </a:xfrm>
          <a:prstGeom prst="rect">
            <a:avLst/>
          </a:prstGeom>
          <a:noFill/>
        </p:spPr>
        <p:txBody>
          <a:bodyPr wrap="square">
            <a:spAutoFit/>
          </a:bodyPr>
          <a:lstStyle/>
          <a:p>
            <a:pPr algn="l">
              <a:defRPr sz="1100" b="0" i="0">
                <a:solidFill>
                  <a:srgbClr val="666666"/>
                </a:solidFill>
              </a:defRPr>
            </a:pPr>
            <a:r>
              <a:t>EF Core 6.0.35</a:t>
            </a:r>
          </a:p>
        </p:txBody>
      </p:sp>
      <p:sp>
        <p:nvSpPr>
          <p:cNvPr id="28" name="TextBox 27"/>
          <p:cNvSpPr txBox="1"/>
          <p:nvPr/>
        </p:nvSpPr>
        <p:spPr>
          <a:xfrm>
            <a:off x="6035040" y="3383280"/>
            <a:ext cx="2560320" cy="365760"/>
          </a:xfrm>
          <a:prstGeom prst="rect">
            <a:avLst/>
          </a:prstGeom>
          <a:noFill/>
        </p:spPr>
        <p:txBody>
          <a:bodyPr wrap="square">
            <a:spAutoFit/>
          </a:bodyPr>
          <a:lstStyle/>
          <a:p>
            <a:pPr algn="l">
              <a:defRPr sz="1100" b="1" i="0">
                <a:solidFill>
                  <a:srgbClr val="2E8B3D"/>
                </a:solidFill>
              </a:defRPr>
            </a:pPr>
            <a:r>
              <a:t>EF Core 10.0.5</a:t>
            </a:r>
          </a:p>
        </p:txBody>
      </p:sp>
      <p:sp>
        <p:nvSpPr>
          <p:cNvPr id="29" name="TextBox 28"/>
          <p:cNvSpPr txBox="1"/>
          <p:nvPr/>
        </p:nvSpPr>
        <p:spPr>
          <a:xfrm>
            <a:off x="8595360" y="3383280"/>
            <a:ext cx="2743200" cy="365760"/>
          </a:xfrm>
          <a:prstGeom prst="rect">
            <a:avLst/>
          </a:prstGeom>
          <a:noFill/>
        </p:spPr>
        <p:txBody>
          <a:bodyPr wrap="square">
            <a:spAutoFit/>
          </a:bodyPr>
          <a:lstStyle/>
          <a:p>
            <a:pPr algn="l">
              <a:defRPr sz="1000" b="0" i="0">
                <a:solidFill>
                  <a:srgbClr val="333333"/>
                </a:solidFill>
              </a:defRPr>
            </a:pPr>
            <a:r>
              <a:t>Coherence avec .NET 10, requetes fractionnees</a:t>
            </a:r>
          </a:p>
        </p:txBody>
      </p:sp>
      <p:sp>
        <p:nvSpPr>
          <p:cNvPr id="30" name="Rectangle 29"/>
          <p:cNvSpPr/>
          <p:nvPr/>
        </p:nvSpPr>
        <p:spPr>
          <a:xfrm>
            <a:off x="731520" y="3794760"/>
            <a:ext cx="10698480"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3886200"/>
            <a:ext cx="2560320" cy="365760"/>
          </a:xfrm>
          <a:prstGeom prst="rect">
            <a:avLst/>
          </a:prstGeom>
          <a:noFill/>
        </p:spPr>
        <p:txBody>
          <a:bodyPr wrap="square">
            <a:spAutoFit/>
          </a:bodyPr>
          <a:lstStyle/>
          <a:p>
            <a:pPr algn="l">
              <a:defRPr sz="1100" b="1" i="0">
                <a:solidFill>
                  <a:srgbClr val="003366"/>
                </a:solidFill>
              </a:defRPr>
            </a:pPr>
            <a:r>
              <a:t>Format projet</a:t>
            </a:r>
          </a:p>
        </p:txBody>
      </p:sp>
      <p:sp>
        <p:nvSpPr>
          <p:cNvPr id="32" name="TextBox 31"/>
          <p:cNvSpPr txBox="1"/>
          <p:nvPr/>
        </p:nvSpPr>
        <p:spPr>
          <a:xfrm>
            <a:off x="3474720" y="3886200"/>
            <a:ext cx="2560320" cy="365760"/>
          </a:xfrm>
          <a:prstGeom prst="rect">
            <a:avLst/>
          </a:prstGeom>
          <a:noFill/>
        </p:spPr>
        <p:txBody>
          <a:bodyPr wrap="square">
            <a:spAutoFit/>
          </a:bodyPr>
          <a:lstStyle/>
          <a:p>
            <a:pPr algn="l">
              <a:defRPr sz="1100" b="0" i="0">
                <a:solidFill>
                  <a:srgbClr val="666666"/>
                </a:solidFill>
              </a:defRPr>
            </a:pPr>
            <a:r>
              <a:t>packages.config</a:t>
            </a:r>
          </a:p>
        </p:txBody>
      </p:sp>
      <p:sp>
        <p:nvSpPr>
          <p:cNvPr id="33" name="TextBox 32"/>
          <p:cNvSpPr txBox="1"/>
          <p:nvPr/>
        </p:nvSpPr>
        <p:spPr>
          <a:xfrm>
            <a:off x="6035040" y="3886200"/>
            <a:ext cx="2560320" cy="365760"/>
          </a:xfrm>
          <a:prstGeom prst="rect">
            <a:avLst/>
          </a:prstGeom>
          <a:noFill/>
        </p:spPr>
        <p:txBody>
          <a:bodyPr wrap="square">
            <a:spAutoFit/>
          </a:bodyPr>
          <a:lstStyle/>
          <a:p>
            <a:pPr algn="l">
              <a:defRPr sz="1100" b="1" i="0">
                <a:solidFill>
                  <a:srgbClr val="2E8B3D"/>
                </a:solidFill>
              </a:defRPr>
            </a:pPr>
            <a:r>
              <a:t>SDK-style</a:t>
            </a:r>
          </a:p>
        </p:txBody>
      </p:sp>
      <p:sp>
        <p:nvSpPr>
          <p:cNvPr id="34" name="TextBox 33"/>
          <p:cNvSpPr txBox="1"/>
          <p:nvPr/>
        </p:nvSpPr>
        <p:spPr>
          <a:xfrm>
            <a:off x="8595360" y="3886200"/>
            <a:ext cx="2743200" cy="365760"/>
          </a:xfrm>
          <a:prstGeom prst="rect">
            <a:avLst/>
          </a:prstGeom>
          <a:noFill/>
        </p:spPr>
        <p:txBody>
          <a:bodyPr wrap="square">
            <a:spAutoFit/>
          </a:bodyPr>
          <a:lstStyle/>
          <a:p>
            <a:pPr algn="l">
              <a:defRPr sz="1000" b="0" i="0">
                <a:solidFill>
                  <a:srgbClr val="333333"/>
                </a:solidFill>
              </a:defRPr>
            </a:pPr>
            <a:r>
              <a:t>Gestion transitive des dependances</a:t>
            </a:r>
          </a:p>
        </p:txBody>
      </p:sp>
      <p:sp>
        <p:nvSpPr>
          <p:cNvPr id="35" name="TextBox 34"/>
          <p:cNvSpPr txBox="1"/>
          <p:nvPr/>
        </p:nvSpPr>
        <p:spPr>
          <a:xfrm>
            <a:off x="731520" y="4754880"/>
            <a:ext cx="10698480" cy="365760"/>
          </a:xfrm>
          <a:prstGeom prst="rect">
            <a:avLst/>
          </a:prstGeom>
          <a:noFill/>
        </p:spPr>
        <p:txBody>
          <a:bodyPr wrap="square">
            <a:spAutoFit/>
          </a:bodyPr>
          <a:lstStyle/>
          <a:p>
            <a:pPr algn="l">
              <a:defRPr sz="1500" b="1" i="0">
                <a:solidFill>
                  <a:srgbClr val="003366"/>
                </a:solidFill>
              </a:defRPr>
            </a:pPr>
            <a:r>
              <a:t>Points cles de la migration</a:t>
            </a:r>
          </a:p>
        </p:txBody>
      </p:sp>
      <p:sp>
        <p:nvSpPr>
          <p:cNvPr id="36" name="Oval 35"/>
          <p:cNvSpPr/>
          <p:nvPr/>
        </p:nvSpPr>
        <p:spPr>
          <a:xfrm>
            <a:off x="822960" y="5303520"/>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97280" y="5212080"/>
            <a:ext cx="3657600" cy="320040"/>
          </a:xfrm>
          <a:prstGeom prst="rect">
            <a:avLst/>
          </a:prstGeom>
          <a:noFill/>
        </p:spPr>
        <p:txBody>
          <a:bodyPr wrap="square">
            <a:spAutoFit/>
          </a:bodyPr>
          <a:lstStyle/>
          <a:p>
            <a:pPr algn="l">
              <a:defRPr sz="1100" b="1" i="0">
                <a:solidFill>
                  <a:srgbClr val="003366"/>
                </a:solidFill>
              </a:defRPr>
            </a:pPr>
            <a:r>
              <a:t>Migration palier par palier</a:t>
            </a:r>
          </a:p>
        </p:txBody>
      </p:sp>
      <p:sp>
        <p:nvSpPr>
          <p:cNvPr id="38" name="TextBox 37"/>
          <p:cNvSpPr txBox="1"/>
          <p:nvPr/>
        </p:nvSpPr>
        <p:spPr>
          <a:xfrm>
            <a:off x="4846320" y="5212080"/>
            <a:ext cx="6858000" cy="320040"/>
          </a:xfrm>
          <a:prstGeom prst="rect">
            <a:avLst/>
          </a:prstGeom>
          <a:noFill/>
        </p:spPr>
        <p:txBody>
          <a:bodyPr wrap="square">
            <a:spAutoFit/>
          </a:bodyPr>
          <a:lstStyle/>
          <a:p>
            <a:pPr algn="l">
              <a:defRPr sz="1100" b="0" i="0">
                <a:solidFill>
                  <a:srgbClr val="666666"/>
                </a:solidFill>
              </a:defRPr>
            </a:pPr>
            <a:r>
              <a:t>14 -&gt; 15 -&gt; ... -&gt; 20 pour Angular ; 6 -&gt; 8 -&gt; 10 pour .NET</a:t>
            </a:r>
          </a:p>
        </p:txBody>
      </p:sp>
      <p:sp>
        <p:nvSpPr>
          <p:cNvPr id="39" name="Oval 38"/>
          <p:cNvSpPr/>
          <p:nvPr/>
        </p:nvSpPr>
        <p:spPr>
          <a:xfrm>
            <a:off x="822960" y="5669280"/>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97280" y="5577840"/>
            <a:ext cx="3657600" cy="320040"/>
          </a:xfrm>
          <a:prstGeom prst="rect">
            <a:avLst/>
          </a:prstGeom>
          <a:noFill/>
        </p:spPr>
        <p:txBody>
          <a:bodyPr wrap="square">
            <a:spAutoFit/>
          </a:bodyPr>
          <a:lstStyle/>
          <a:p>
            <a:pPr algn="l">
              <a:defRPr sz="1100" b="1" i="0">
                <a:solidFill>
                  <a:srgbClr val="003366"/>
                </a:solidFill>
              </a:defRPr>
            </a:pPr>
            <a:r>
              <a:t>Versions finales uniquement</a:t>
            </a:r>
          </a:p>
        </p:txBody>
      </p:sp>
      <p:sp>
        <p:nvSpPr>
          <p:cNvPr id="41" name="TextBox 40"/>
          <p:cNvSpPr txBox="1"/>
          <p:nvPr/>
        </p:nvSpPr>
        <p:spPr>
          <a:xfrm>
            <a:off x="4846320" y="5577840"/>
            <a:ext cx="6858000" cy="320040"/>
          </a:xfrm>
          <a:prstGeom prst="rect">
            <a:avLst/>
          </a:prstGeom>
          <a:noFill/>
        </p:spPr>
        <p:txBody>
          <a:bodyPr wrap="square">
            <a:spAutoFit/>
          </a:bodyPr>
          <a:lstStyle/>
          <a:p>
            <a:pPr algn="l">
              <a:defRPr sz="1100" b="0" i="0">
                <a:solidFill>
                  <a:srgbClr val="666666"/>
                </a:solidFill>
              </a:defRPr>
            </a:pPr>
            <a:r>
              <a:t>Aucune preversion : condition posee par le service pour production</a:t>
            </a:r>
          </a:p>
        </p:txBody>
      </p:sp>
      <p:sp>
        <p:nvSpPr>
          <p:cNvPr id="42" name="Oval 41"/>
          <p:cNvSpPr/>
          <p:nvPr/>
        </p:nvSpPr>
        <p:spPr>
          <a:xfrm>
            <a:off x="822960" y="6035040"/>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97280" y="5943600"/>
            <a:ext cx="3657600" cy="320040"/>
          </a:xfrm>
          <a:prstGeom prst="rect">
            <a:avLst/>
          </a:prstGeom>
          <a:noFill/>
        </p:spPr>
        <p:txBody>
          <a:bodyPr wrap="square">
            <a:spAutoFit/>
          </a:bodyPr>
          <a:lstStyle/>
          <a:p>
            <a:pPr algn="l">
              <a:defRPr sz="1100" b="1" i="0">
                <a:solidFill>
                  <a:srgbClr val="003366"/>
                </a:solidFill>
              </a:defRPr>
            </a:pPr>
            <a:r>
              <a:t>Mise en conformite REST</a:t>
            </a:r>
          </a:p>
        </p:txBody>
      </p:sp>
      <p:sp>
        <p:nvSpPr>
          <p:cNvPr id="44" name="TextBox 43"/>
          <p:cNvSpPr txBox="1"/>
          <p:nvPr/>
        </p:nvSpPr>
        <p:spPr>
          <a:xfrm>
            <a:off x="4846320" y="5943600"/>
            <a:ext cx="6858000" cy="320040"/>
          </a:xfrm>
          <a:prstGeom prst="rect">
            <a:avLst/>
          </a:prstGeom>
          <a:noFill/>
        </p:spPr>
        <p:txBody>
          <a:bodyPr wrap="square">
            <a:spAutoFit/>
          </a:bodyPr>
          <a:lstStyle/>
          <a:p>
            <a:pPr algn="l">
              <a:defRPr sz="1100" b="0" i="0">
                <a:solidFill>
                  <a:srgbClr val="666666"/>
                </a:solidFill>
              </a:defRPr>
            </a:pPr>
            <a:r>
              <a:t>Reorganisation par ressource, verbes HTTP corrects, secrets retires des reponses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Refonte du modele de donnees - Diagnostic</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20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Requetes menees sur les donnees reelles avant toute decision technique</a:t>
            </a:r>
          </a:p>
        </p:txBody>
      </p:sp>
      <p:sp>
        <p:nvSpPr>
          <p:cNvPr id="10" name="TextBox 9"/>
          <p:cNvSpPr txBox="1"/>
          <p:nvPr/>
        </p:nvSpPr>
        <p:spPr>
          <a:xfrm>
            <a:off x="731520" y="1828800"/>
            <a:ext cx="5303520" cy="365760"/>
          </a:xfrm>
          <a:prstGeom prst="rect">
            <a:avLst/>
          </a:prstGeom>
          <a:noFill/>
        </p:spPr>
        <p:txBody>
          <a:bodyPr wrap="square">
            <a:spAutoFit/>
          </a:bodyPr>
          <a:lstStyle/>
          <a:p>
            <a:pPr algn="l">
              <a:defRPr sz="1500" b="1" i="0">
                <a:solidFill>
                  <a:srgbClr val="003366"/>
                </a:solidFill>
              </a:defRPr>
            </a:pPr>
            <a:r>
              <a:t>Problemes structurels</a:t>
            </a:r>
          </a:p>
        </p:txBody>
      </p:sp>
      <p:sp>
        <p:nvSpPr>
          <p:cNvPr id="11" name="Oval 10"/>
          <p:cNvSpPr/>
          <p:nvPr/>
        </p:nvSpPr>
        <p:spPr>
          <a:xfrm>
            <a:off x="822960" y="2450592"/>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2331720"/>
            <a:ext cx="4937760" cy="365760"/>
          </a:xfrm>
          <a:prstGeom prst="rect">
            <a:avLst/>
          </a:prstGeom>
          <a:noFill/>
        </p:spPr>
        <p:txBody>
          <a:bodyPr wrap="square">
            <a:spAutoFit/>
          </a:bodyPr>
          <a:lstStyle/>
          <a:p>
            <a:pPr algn="l">
              <a:defRPr sz="1100" b="0" i="0">
                <a:solidFill>
                  <a:srgbClr val="333333"/>
                </a:solidFill>
              </a:defRPr>
            </a:pPr>
            <a:r>
              <a:t>7 tables de reference sans contrainte d'unicite</a:t>
            </a:r>
          </a:p>
        </p:txBody>
      </p:sp>
      <p:sp>
        <p:nvSpPr>
          <p:cNvPr id="13" name="Oval 12"/>
          <p:cNvSpPr/>
          <p:nvPr/>
        </p:nvSpPr>
        <p:spPr>
          <a:xfrm>
            <a:off x="822960" y="2907792"/>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2788920"/>
            <a:ext cx="4937760" cy="365760"/>
          </a:xfrm>
          <a:prstGeom prst="rect">
            <a:avLst/>
          </a:prstGeom>
          <a:noFill/>
        </p:spPr>
        <p:txBody>
          <a:bodyPr wrap="square">
            <a:spAutoFit/>
          </a:bodyPr>
          <a:lstStyle/>
          <a:p>
            <a:pPr algn="l">
              <a:defRPr sz="1100" b="0" i="0">
                <a:solidFill>
                  <a:srgbClr val="333333"/>
                </a:solidFill>
              </a:defRPr>
            </a:pPr>
            <a:r>
              <a:t>Certaines tables d'association sans cle primaire</a:t>
            </a:r>
          </a:p>
        </p:txBody>
      </p:sp>
      <p:sp>
        <p:nvSpPr>
          <p:cNvPr id="15" name="Oval 14"/>
          <p:cNvSpPr/>
          <p:nvPr/>
        </p:nvSpPr>
        <p:spPr>
          <a:xfrm>
            <a:off x="822960" y="3364992"/>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3246120"/>
            <a:ext cx="4937760" cy="365760"/>
          </a:xfrm>
          <a:prstGeom prst="rect">
            <a:avLst/>
          </a:prstGeom>
          <a:noFill/>
        </p:spPr>
        <p:txBody>
          <a:bodyPr wrap="square">
            <a:spAutoFit/>
          </a:bodyPr>
          <a:lstStyle/>
          <a:p>
            <a:pPr algn="l">
              <a:defRPr sz="1100" b="0" i="0">
                <a:solidFill>
                  <a:srgbClr val="333333"/>
                </a:solidFill>
              </a:defRPr>
            </a:pPr>
            <a:r>
              <a:t>Ressources techniques stockees en texte libre</a:t>
            </a:r>
          </a:p>
        </p:txBody>
      </p:sp>
      <p:sp>
        <p:nvSpPr>
          <p:cNvPr id="17" name="Oval 16"/>
          <p:cNvSpPr/>
          <p:nvPr/>
        </p:nvSpPr>
        <p:spPr>
          <a:xfrm>
            <a:off x="822960" y="3822192"/>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97280" y="3703320"/>
            <a:ext cx="4937760" cy="365760"/>
          </a:xfrm>
          <a:prstGeom prst="rect">
            <a:avLst/>
          </a:prstGeom>
          <a:noFill/>
        </p:spPr>
        <p:txBody>
          <a:bodyPr wrap="square">
            <a:spAutoFit/>
          </a:bodyPr>
          <a:lstStyle/>
          <a:p>
            <a:pPr algn="l">
              <a:defRPr sz="1100" b="0" i="0">
                <a:solidFill>
                  <a:srgbClr val="333333"/>
                </a:solidFill>
              </a:defRPr>
            </a:pPr>
            <a:r>
              <a:t>Nommage non harmonise (fr / en melanges)</a:t>
            </a:r>
          </a:p>
        </p:txBody>
      </p:sp>
      <p:sp>
        <p:nvSpPr>
          <p:cNvPr id="19" name="TextBox 18"/>
          <p:cNvSpPr txBox="1"/>
          <p:nvPr/>
        </p:nvSpPr>
        <p:spPr>
          <a:xfrm>
            <a:off x="6400800" y="1828800"/>
            <a:ext cx="5303520" cy="365760"/>
          </a:xfrm>
          <a:prstGeom prst="rect">
            <a:avLst/>
          </a:prstGeom>
          <a:noFill/>
        </p:spPr>
        <p:txBody>
          <a:bodyPr wrap="square">
            <a:spAutoFit/>
          </a:bodyPr>
          <a:lstStyle/>
          <a:p>
            <a:pPr algn="l">
              <a:defRPr sz="1500" b="1" i="0">
                <a:solidFill>
                  <a:srgbClr val="003366"/>
                </a:solidFill>
              </a:defRPr>
            </a:pPr>
            <a:r>
              <a:t>Exemples concrets</a:t>
            </a:r>
          </a:p>
        </p:txBody>
      </p:sp>
      <p:sp>
        <p:nvSpPr>
          <p:cNvPr id="20" name="Rounded Rectangle 19"/>
          <p:cNvSpPr/>
          <p:nvPr/>
        </p:nvSpPr>
        <p:spPr>
          <a:xfrm>
            <a:off x="6400800" y="2331720"/>
            <a:ext cx="5212080" cy="1005840"/>
          </a:xfrm>
          <a:prstGeom prst="round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0" y="2377440"/>
            <a:ext cx="4937760" cy="274320"/>
          </a:xfrm>
          <a:prstGeom prst="rect">
            <a:avLst/>
          </a:prstGeom>
          <a:noFill/>
        </p:spPr>
        <p:txBody>
          <a:bodyPr wrap="square">
            <a:spAutoFit/>
          </a:bodyPr>
          <a:lstStyle/>
          <a:p>
            <a:pPr algn="l">
              <a:defRPr sz="1100" b="1" i="0">
                <a:solidFill>
                  <a:srgbClr val="003366"/>
                </a:solidFill>
              </a:defRPr>
            </a:pPr>
            <a:r>
              <a:t>Framework .NET (1 seule technologie) :</a:t>
            </a:r>
          </a:p>
        </p:txBody>
      </p:sp>
      <p:sp>
        <p:nvSpPr>
          <p:cNvPr id="22" name="TextBox 21"/>
          <p:cNvSpPr txBox="1"/>
          <p:nvPr/>
        </p:nvSpPr>
        <p:spPr>
          <a:xfrm>
            <a:off x="6583680" y="2651760"/>
            <a:ext cx="4937760" cy="640080"/>
          </a:xfrm>
          <a:prstGeom prst="rect">
            <a:avLst/>
          </a:prstGeom>
          <a:noFill/>
        </p:spPr>
        <p:txBody>
          <a:bodyPr wrap="square">
            <a:spAutoFit/>
          </a:bodyPr>
          <a:lstStyle/>
          <a:p>
            <a:pPr algn="l">
              <a:defRPr sz="1000" b="0" i="1">
                <a:solidFill>
                  <a:srgbClr val="333333"/>
                </a:solidFill>
              </a:defRPr>
            </a:pPr>
            <a:r>
              <a:t>".NET Core"  ".NET Standard"  ".NET"</a:t>
            </a:r>
          </a:p>
          <a:p>
            <a:pPr algn="l">
              <a:defRPr sz="1000" b="0" i="1">
                <a:solidFill>
                  <a:srgbClr val="333333"/>
                </a:solidFill>
              </a:defRPr>
            </a:pPr>
            <a:r>
              <a:t>-&gt; 3 lignes distinctes en base</a:t>
            </a:r>
          </a:p>
        </p:txBody>
      </p:sp>
      <p:sp>
        <p:nvSpPr>
          <p:cNvPr id="23" name="Rounded Rectangle 22"/>
          <p:cNvSpPr/>
          <p:nvPr/>
        </p:nvSpPr>
        <p:spPr>
          <a:xfrm>
            <a:off x="6400800" y="3429000"/>
            <a:ext cx="5212080" cy="1005840"/>
          </a:xfrm>
          <a:prstGeom prst="round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83680" y="3474720"/>
            <a:ext cx="4937760" cy="274320"/>
          </a:xfrm>
          <a:prstGeom prst="rect">
            <a:avLst/>
          </a:prstGeom>
          <a:noFill/>
        </p:spPr>
        <p:txBody>
          <a:bodyPr wrap="square">
            <a:spAutoFit/>
          </a:bodyPr>
          <a:lstStyle/>
          <a:p>
            <a:pPr algn="l">
              <a:defRPr sz="1100" b="1" i="0">
                <a:solidFill>
                  <a:srgbClr val="003366"/>
                </a:solidFill>
              </a:defRPr>
            </a:pPr>
            <a:r>
              <a:t>Fonctions Azure (1 seul service) :</a:t>
            </a:r>
          </a:p>
        </p:txBody>
      </p:sp>
      <p:sp>
        <p:nvSpPr>
          <p:cNvPr id="25" name="TextBox 24"/>
          <p:cNvSpPr txBox="1"/>
          <p:nvPr/>
        </p:nvSpPr>
        <p:spPr>
          <a:xfrm>
            <a:off x="6583680" y="3749039"/>
            <a:ext cx="4937760" cy="640080"/>
          </a:xfrm>
          <a:prstGeom prst="rect">
            <a:avLst/>
          </a:prstGeom>
          <a:noFill/>
        </p:spPr>
        <p:txBody>
          <a:bodyPr wrap="square">
            <a:spAutoFit/>
          </a:bodyPr>
          <a:lstStyle/>
          <a:p>
            <a:pPr algn="l">
              <a:defRPr sz="1000" b="0" i="1">
                <a:solidFill>
                  <a:srgbClr val="333333"/>
                </a:solidFill>
              </a:defRPr>
            </a:pPr>
            <a:r>
              <a:t>"Azure Functions"  "AzureFunctions"  "Fonctions Azure"</a:t>
            </a:r>
          </a:p>
          <a:p>
            <a:pPr algn="l">
              <a:defRPr sz="1000" b="0" i="1">
                <a:solidFill>
                  <a:srgbClr val="333333"/>
                </a:solidFill>
              </a:defRPr>
            </a:pPr>
            <a:r>
              <a:t>-&gt; 3 lignes distinctes en base</a:t>
            </a:r>
          </a:p>
        </p:txBody>
      </p:sp>
      <p:sp>
        <p:nvSpPr>
          <p:cNvPr id="26" name="Rounded Rectangle 25"/>
          <p:cNvSpPr/>
          <p:nvPr/>
        </p:nvSpPr>
        <p:spPr>
          <a:xfrm>
            <a:off x="731520" y="4572000"/>
            <a:ext cx="10881360" cy="17373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4663440"/>
            <a:ext cx="10515600" cy="365760"/>
          </a:xfrm>
          <a:prstGeom prst="rect">
            <a:avLst/>
          </a:prstGeom>
          <a:noFill/>
        </p:spPr>
        <p:txBody>
          <a:bodyPr wrap="square">
            <a:spAutoFit/>
          </a:bodyPr>
          <a:lstStyle/>
          <a:p>
            <a:pPr algn="l">
              <a:defRPr sz="1500" b="1" i="0">
                <a:solidFill>
                  <a:srgbClr val="2E8B3D"/>
                </a:solidFill>
              </a:defRPr>
            </a:pPr>
            <a:r>
              <a:t>Impact critique : les alertes d'expiration</a:t>
            </a:r>
          </a:p>
        </p:txBody>
      </p:sp>
      <p:sp>
        <p:nvSpPr>
          <p:cNvPr id="28" name="TextBox 27"/>
          <p:cNvSpPr txBox="1"/>
          <p:nvPr/>
        </p:nvSpPr>
        <p:spPr>
          <a:xfrm>
            <a:off x="914400" y="5074920"/>
            <a:ext cx="10515600" cy="1188720"/>
          </a:xfrm>
          <a:prstGeom prst="rect">
            <a:avLst/>
          </a:prstGeom>
          <a:noFill/>
        </p:spPr>
        <p:txBody>
          <a:bodyPr wrap="square">
            <a:spAutoFit/>
          </a:bodyPr>
          <a:lstStyle/>
          <a:p>
            <a:pPr algn="l">
              <a:defRPr sz="1100" b="0" i="0">
                <a:solidFill>
                  <a:srgbClr val="333333"/>
                </a:solidFill>
              </a:defRPr>
            </a:pPr>
            <a:r>
              <a:t>Le batch mensuel ne remonte une cle que si elle porte une date d'expiration ET un module rattache.</a:t>
            </a:r>
          </a:p>
          <a:p>
            <a:pPr algn="l">
              <a:defRPr sz="1100" b="0" i="0">
                <a:solidFill>
                  <a:srgbClr val="333333"/>
                </a:solidFill>
              </a:defRPr>
            </a:pPr>
            <a:r>
              <a:t>Or l'heritage de v1 avait multiplie les enregistrements : la meme cle Azure pouvait figurer jusqu'a 11 fois</a:t>
            </a:r>
          </a:p>
          <a:p>
            <a:pPr algn="l">
              <a:defRPr sz="1100" b="0" i="0">
                <a:solidFill>
                  <a:srgbClr val="333333"/>
                </a:solidFill>
              </a:defRPr>
            </a:pPr>
            <a:r>
              <a:t>(une par module rattache), avec la date renseignee sur une seule ligne.</a:t>
            </a:r>
          </a:p>
          <a:p>
            <a:pPr algn="l">
              <a:defRPr sz="1100" b="0" i="0">
                <a:solidFill>
                  <a:srgbClr val="333333"/>
                </a:solidFill>
              </a:defRPr>
            </a:pPr>
            <a:r>
              <a:t>-&gt; Sans normalisation : les alertes restaient structurellement fragiles.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Refonte du modele de donnees - Solutions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21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Normalisation selon les formes normales de Codd (7 migrations)</a:t>
            </a:r>
          </a:p>
        </p:txBody>
      </p:sp>
      <p:sp>
        <p:nvSpPr>
          <p:cNvPr id="10" name="TextBox 9"/>
          <p:cNvSpPr txBox="1"/>
          <p:nvPr/>
        </p:nvSpPr>
        <p:spPr>
          <a:xfrm>
            <a:off x="731520" y="1783080"/>
            <a:ext cx="10698480" cy="365760"/>
          </a:xfrm>
          <a:prstGeom prst="rect">
            <a:avLst/>
          </a:prstGeom>
          <a:noFill/>
        </p:spPr>
        <p:txBody>
          <a:bodyPr wrap="square">
            <a:spAutoFit/>
          </a:bodyPr>
          <a:lstStyle/>
          <a:p>
            <a:pPr algn="l">
              <a:defRPr sz="1500" b="1" i="0">
                <a:solidFill>
                  <a:srgbClr val="003366"/>
                </a:solidFill>
              </a:defRPr>
            </a:pPr>
            <a:r>
              <a:t>Principe applique</a:t>
            </a:r>
          </a:p>
        </p:txBody>
      </p:sp>
      <p:sp>
        <p:nvSpPr>
          <p:cNvPr id="11" name="TextBox 10"/>
          <p:cNvSpPr txBox="1"/>
          <p:nvPr/>
        </p:nvSpPr>
        <p:spPr>
          <a:xfrm>
            <a:off x="731520" y="2194560"/>
            <a:ext cx="10698480" cy="457200"/>
          </a:xfrm>
          <a:prstGeom prst="rect">
            <a:avLst/>
          </a:prstGeom>
          <a:noFill/>
        </p:spPr>
        <p:txBody>
          <a:bodyPr wrap="square">
            <a:spAutoFit/>
          </a:bodyPr>
          <a:lstStyle/>
          <a:p>
            <a:pPr algn="l">
              <a:defRPr sz="1200" b="0" i="1">
                <a:solidFill>
                  <a:srgbClr val="333333"/>
                </a:solidFill>
              </a:defRPr>
            </a:pPr>
            <a:r>
              <a:t>Remplacer chaque champ de texte libre par une cle etrangere pointant vers une table de reference dediee, dotee d'une contrainte d'unicite.</a:t>
            </a:r>
          </a:p>
        </p:txBody>
      </p:sp>
      <p:sp>
        <p:nvSpPr>
          <p:cNvPr id="12" name="Rectangle 11"/>
          <p:cNvSpPr/>
          <p:nvPr/>
        </p:nvSpPr>
        <p:spPr>
          <a:xfrm>
            <a:off x="731520" y="2880360"/>
            <a:ext cx="10698480"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2926080"/>
            <a:ext cx="1188720" cy="274320"/>
          </a:xfrm>
          <a:prstGeom prst="rect">
            <a:avLst/>
          </a:prstGeom>
          <a:noFill/>
        </p:spPr>
        <p:txBody>
          <a:bodyPr wrap="square">
            <a:spAutoFit/>
          </a:bodyPr>
          <a:lstStyle/>
          <a:p>
            <a:pPr algn="l">
              <a:defRPr sz="1100" b="1" i="0">
                <a:solidFill>
                  <a:srgbClr val="FFFFFF"/>
                </a:solidFill>
              </a:defRPr>
            </a:pPr>
            <a:r>
              <a:t>Migration</a:t>
            </a:r>
          </a:p>
        </p:txBody>
      </p:sp>
      <p:sp>
        <p:nvSpPr>
          <p:cNvPr id="14" name="TextBox 13"/>
          <p:cNvSpPr txBox="1"/>
          <p:nvPr/>
        </p:nvSpPr>
        <p:spPr>
          <a:xfrm>
            <a:off x="2377440" y="2926080"/>
            <a:ext cx="3200400" cy="274320"/>
          </a:xfrm>
          <a:prstGeom prst="rect">
            <a:avLst/>
          </a:prstGeom>
          <a:noFill/>
        </p:spPr>
        <p:txBody>
          <a:bodyPr wrap="square">
            <a:spAutoFit/>
          </a:bodyPr>
          <a:lstStyle/>
          <a:p>
            <a:pPr algn="l">
              <a:defRPr sz="1100" b="1" i="0">
                <a:solidFill>
                  <a:srgbClr val="FFFFFF"/>
                </a:solidFill>
              </a:defRPr>
            </a:pPr>
            <a:r>
              <a:t>Table de reference</a:t>
            </a:r>
          </a:p>
        </p:txBody>
      </p:sp>
      <p:sp>
        <p:nvSpPr>
          <p:cNvPr id="15" name="TextBox 14"/>
          <p:cNvSpPr txBox="1"/>
          <p:nvPr/>
        </p:nvSpPr>
        <p:spPr>
          <a:xfrm>
            <a:off x="5760720" y="2926080"/>
            <a:ext cx="5760720" cy="274320"/>
          </a:xfrm>
          <a:prstGeom prst="rect">
            <a:avLst/>
          </a:prstGeom>
          <a:noFill/>
        </p:spPr>
        <p:txBody>
          <a:bodyPr wrap="square">
            <a:spAutoFit/>
          </a:bodyPr>
          <a:lstStyle/>
          <a:p>
            <a:pPr algn="l">
              <a:defRPr sz="1100" b="1" i="0">
                <a:solidFill>
                  <a:srgbClr val="FFFFFF"/>
                </a:solidFill>
              </a:defRPr>
            </a:pPr>
            <a:r>
              <a:t>Apport</a:t>
            </a:r>
          </a:p>
        </p:txBody>
      </p:sp>
      <p:sp>
        <p:nvSpPr>
          <p:cNvPr id="16" name="Rectangle 15"/>
          <p:cNvSpPr/>
          <p:nvPr/>
        </p:nvSpPr>
        <p:spPr>
          <a:xfrm>
            <a:off x="731520" y="3246120"/>
            <a:ext cx="10698480" cy="310896"/>
          </a:xfrm>
          <a:prstGeom prst="rect">
            <a:avLst/>
          </a:prstGeom>
          <a:solidFill>
            <a:srgbClr val="F0F0F0"/>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3291840"/>
            <a:ext cx="1188720" cy="274320"/>
          </a:xfrm>
          <a:prstGeom prst="rect">
            <a:avLst/>
          </a:prstGeom>
          <a:noFill/>
        </p:spPr>
        <p:txBody>
          <a:bodyPr wrap="square">
            <a:spAutoFit/>
          </a:bodyPr>
          <a:lstStyle/>
          <a:p>
            <a:pPr algn="l">
              <a:defRPr sz="1000" b="1" i="0">
                <a:solidFill>
                  <a:srgbClr val="003366"/>
                </a:solidFill>
              </a:defRPr>
            </a:pPr>
            <a:r>
              <a:t>V011</a:t>
            </a:r>
          </a:p>
        </p:txBody>
      </p:sp>
      <p:sp>
        <p:nvSpPr>
          <p:cNvPr id="18" name="TextBox 17"/>
          <p:cNvSpPr txBox="1"/>
          <p:nvPr/>
        </p:nvSpPr>
        <p:spPr>
          <a:xfrm>
            <a:off x="2377440" y="3291840"/>
            <a:ext cx="3200400" cy="274320"/>
          </a:xfrm>
          <a:prstGeom prst="rect">
            <a:avLst/>
          </a:prstGeom>
          <a:noFill/>
        </p:spPr>
        <p:txBody>
          <a:bodyPr wrap="square">
            <a:spAutoFit/>
          </a:bodyPr>
          <a:lstStyle/>
          <a:p>
            <a:pPr algn="l">
              <a:defRPr sz="1000" b="1" i="0">
                <a:solidFill>
                  <a:srgbClr val="333333"/>
                </a:solidFill>
              </a:defRPr>
            </a:pPr>
            <a:r>
              <a:t>Frameworks</a:t>
            </a:r>
          </a:p>
        </p:txBody>
      </p:sp>
      <p:sp>
        <p:nvSpPr>
          <p:cNvPr id="19" name="TextBox 18"/>
          <p:cNvSpPr txBox="1"/>
          <p:nvPr/>
        </p:nvSpPr>
        <p:spPr>
          <a:xfrm>
            <a:off x="5760720" y="3291840"/>
            <a:ext cx="5760720" cy="274320"/>
          </a:xfrm>
          <a:prstGeom prst="rect">
            <a:avLst/>
          </a:prstGeom>
          <a:noFill/>
        </p:spPr>
        <p:txBody>
          <a:bodyPr wrap="square">
            <a:spAutoFit/>
          </a:bodyPr>
          <a:lstStyle/>
          <a:p>
            <a:pPr algn="l">
              <a:defRPr sz="1000" b="0" i="0">
                <a:solidFill>
                  <a:srgbClr val="666666"/>
                </a:solidFill>
              </a:defRPr>
            </a:pPr>
            <a:r>
              <a:t>Unicite du couple framework / version</a:t>
            </a:r>
          </a:p>
        </p:txBody>
      </p:sp>
      <p:sp>
        <p:nvSpPr>
          <p:cNvPr id="20" name="Rectangle 19"/>
          <p:cNvSpPr/>
          <p:nvPr/>
        </p:nvSpPr>
        <p:spPr>
          <a:xfrm>
            <a:off x="731520" y="3575304"/>
            <a:ext cx="10698480" cy="310896"/>
          </a:xfrm>
          <a:prstGeom prst="rect">
            <a:avLst/>
          </a:prstGeom>
          <a:solidFill>
            <a:srgbClr val="FFFFFF"/>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3621024"/>
            <a:ext cx="1188720" cy="274320"/>
          </a:xfrm>
          <a:prstGeom prst="rect">
            <a:avLst/>
          </a:prstGeom>
          <a:noFill/>
        </p:spPr>
        <p:txBody>
          <a:bodyPr wrap="square">
            <a:spAutoFit/>
          </a:bodyPr>
          <a:lstStyle/>
          <a:p>
            <a:pPr algn="l">
              <a:defRPr sz="1000" b="1" i="0">
                <a:solidFill>
                  <a:srgbClr val="003366"/>
                </a:solidFill>
              </a:defRPr>
            </a:pPr>
            <a:r>
              <a:t>V012</a:t>
            </a:r>
          </a:p>
        </p:txBody>
      </p:sp>
      <p:sp>
        <p:nvSpPr>
          <p:cNvPr id="22" name="TextBox 21"/>
          <p:cNvSpPr txBox="1"/>
          <p:nvPr/>
        </p:nvSpPr>
        <p:spPr>
          <a:xfrm>
            <a:off x="2377440" y="3621024"/>
            <a:ext cx="3200400" cy="274320"/>
          </a:xfrm>
          <a:prstGeom prst="rect">
            <a:avLst/>
          </a:prstGeom>
          <a:noFill/>
        </p:spPr>
        <p:txBody>
          <a:bodyPr wrap="square">
            <a:spAutoFit/>
          </a:bodyPr>
          <a:lstStyle/>
          <a:p>
            <a:pPr algn="l">
              <a:defRPr sz="1000" b="1" i="0">
                <a:solidFill>
                  <a:srgbClr val="333333"/>
                </a:solidFill>
              </a:defRPr>
            </a:pPr>
            <a:r>
              <a:t>TypeModule</a:t>
            </a:r>
          </a:p>
        </p:txBody>
      </p:sp>
      <p:sp>
        <p:nvSpPr>
          <p:cNvPr id="23" name="TextBox 22"/>
          <p:cNvSpPr txBox="1"/>
          <p:nvPr/>
        </p:nvSpPr>
        <p:spPr>
          <a:xfrm>
            <a:off x="5760720" y="3621024"/>
            <a:ext cx="5760720" cy="274320"/>
          </a:xfrm>
          <a:prstGeom prst="rect">
            <a:avLst/>
          </a:prstGeom>
          <a:noFill/>
        </p:spPr>
        <p:txBody>
          <a:bodyPr wrap="square">
            <a:spAutoFit/>
          </a:bodyPr>
          <a:lstStyle/>
          <a:p>
            <a:pPr algn="l">
              <a:defRPr sz="1000" b="0" i="0">
                <a:solidFill>
                  <a:srgbClr val="666666"/>
                </a:solidFill>
              </a:defRPr>
            </a:pPr>
            <a:r>
              <a:t>Typage fiable des modules</a:t>
            </a:r>
          </a:p>
        </p:txBody>
      </p:sp>
      <p:sp>
        <p:nvSpPr>
          <p:cNvPr id="24" name="Rectangle 23"/>
          <p:cNvSpPr/>
          <p:nvPr/>
        </p:nvSpPr>
        <p:spPr>
          <a:xfrm>
            <a:off x="731520" y="3904488"/>
            <a:ext cx="10698480" cy="310896"/>
          </a:xfrm>
          <a:prstGeom prst="rect">
            <a:avLst/>
          </a:prstGeom>
          <a:solidFill>
            <a:srgbClr val="F0F0F0"/>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3950208"/>
            <a:ext cx="1188720" cy="274320"/>
          </a:xfrm>
          <a:prstGeom prst="rect">
            <a:avLst/>
          </a:prstGeom>
          <a:noFill/>
        </p:spPr>
        <p:txBody>
          <a:bodyPr wrap="square">
            <a:spAutoFit/>
          </a:bodyPr>
          <a:lstStyle/>
          <a:p>
            <a:pPr algn="l">
              <a:defRPr sz="1000" b="1" i="0">
                <a:solidFill>
                  <a:srgbClr val="003366"/>
                </a:solidFill>
              </a:defRPr>
            </a:pPr>
            <a:r>
              <a:t>V013</a:t>
            </a:r>
          </a:p>
        </p:txBody>
      </p:sp>
      <p:sp>
        <p:nvSpPr>
          <p:cNvPr id="26" name="TextBox 25"/>
          <p:cNvSpPr txBox="1"/>
          <p:nvPr/>
        </p:nvSpPr>
        <p:spPr>
          <a:xfrm>
            <a:off x="2377440" y="3950208"/>
            <a:ext cx="3200400" cy="274320"/>
          </a:xfrm>
          <a:prstGeom prst="rect">
            <a:avLst/>
          </a:prstGeom>
          <a:noFill/>
        </p:spPr>
        <p:txBody>
          <a:bodyPr wrap="square">
            <a:spAutoFit/>
          </a:bodyPr>
          <a:lstStyle/>
          <a:p>
            <a:pPr algn="l">
              <a:defRPr sz="1000" b="1" i="0">
                <a:solidFill>
                  <a:srgbClr val="333333"/>
                </a:solidFill>
              </a:defRPr>
            </a:pPr>
            <a:r>
              <a:t>ComptesServices</a:t>
            </a:r>
          </a:p>
        </p:txBody>
      </p:sp>
      <p:sp>
        <p:nvSpPr>
          <p:cNvPr id="27" name="TextBox 26"/>
          <p:cNvSpPr txBox="1"/>
          <p:nvPr/>
        </p:nvSpPr>
        <p:spPr>
          <a:xfrm>
            <a:off x="5760720" y="3950208"/>
            <a:ext cx="5760720" cy="274320"/>
          </a:xfrm>
          <a:prstGeom prst="rect">
            <a:avLst/>
          </a:prstGeom>
          <a:noFill/>
        </p:spPr>
        <p:txBody>
          <a:bodyPr wrap="square">
            <a:spAutoFit/>
          </a:bodyPr>
          <a:lstStyle/>
          <a:p>
            <a:pPr algn="l">
              <a:defRPr sz="1000" b="0" i="0">
                <a:solidFill>
                  <a:srgbClr val="666666"/>
                </a:solidFill>
              </a:defRPr>
            </a:pPr>
            <a:r>
              <a:t>Suivi des dates d'expiration</a:t>
            </a:r>
          </a:p>
        </p:txBody>
      </p:sp>
      <p:sp>
        <p:nvSpPr>
          <p:cNvPr id="28" name="Rectangle 27"/>
          <p:cNvSpPr/>
          <p:nvPr/>
        </p:nvSpPr>
        <p:spPr>
          <a:xfrm>
            <a:off x="731520" y="4233672"/>
            <a:ext cx="10698480" cy="310896"/>
          </a:xfrm>
          <a:prstGeom prst="rect">
            <a:avLst/>
          </a:prstGeom>
          <a:solidFill>
            <a:srgbClr val="FFFFFF"/>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4279392"/>
            <a:ext cx="1188720" cy="274320"/>
          </a:xfrm>
          <a:prstGeom prst="rect">
            <a:avLst/>
          </a:prstGeom>
          <a:noFill/>
        </p:spPr>
        <p:txBody>
          <a:bodyPr wrap="square">
            <a:spAutoFit/>
          </a:bodyPr>
          <a:lstStyle/>
          <a:p>
            <a:pPr algn="l">
              <a:defRPr sz="1000" b="1" i="0">
                <a:solidFill>
                  <a:srgbClr val="003366"/>
                </a:solidFill>
              </a:defRPr>
            </a:pPr>
            <a:r>
              <a:t>V015</a:t>
            </a:r>
          </a:p>
        </p:txBody>
      </p:sp>
      <p:sp>
        <p:nvSpPr>
          <p:cNvPr id="30" name="TextBox 29"/>
          <p:cNvSpPr txBox="1"/>
          <p:nvPr/>
        </p:nvSpPr>
        <p:spPr>
          <a:xfrm>
            <a:off x="2377440" y="4279392"/>
            <a:ext cx="3200400" cy="274320"/>
          </a:xfrm>
          <a:prstGeom prst="rect">
            <a:avLst/>
          </a:prstGeom>
          <a:noFill/>
        </p:spPr>
        <p:txBody>
          <a:bodyPr wrap="square">
            <a:spAutoFit/>
          </a:bodyPr>
          <a:lstStyle/>
          <a:p>
            <a:pPr algn="l">
              <a:defRPr sz="1000" b="1" i="0">
                <a:solidFill>
                  <a:srgbClr val="333333"/>
                </a:solidFill>
              </a:defRPr>
            </a:pPr>
            <a:r>
              <a:t>ServeursExploitation</a:t>
            </a:r>
          </a:p>
        </p:txBody>
      </p:sp>
      <p:sp>
        <p:nvSpPr>
          <p:cNvPr id="31" name="TextBox 30"/>
          <p:cNvSpPr txBox="1"/>
          <p:nvPr/>
        </p:nvSpPr>
        <p:spPr>
          <a:xfrm>
            <a:off x="5760720" y="4279392"/>
            <a:ext cx="5760720" cy="274320"/>
          </a:xfrm>
          <a:prstGeom prst="rect">
            <a:avLst/>
          </a:prstGeom>
          <a:noFill/>
        </p:spPr>
        <p:txBody>
          <a:bodyPr wrap="square">
            <a:spAutoFit/>
          </a:bodyPr>
          <a:lstStyle/>
          <a:p>
            <a:pPr algn="l">
              <a:defRPr sz="1000" b="0" i="0">
                <a:solidFill>
                  <a:srgbClr val="666666"/>
                </a:solidFill>
              </a:defRPr>
            </a:pPr>
            <a:r>
              <a:t>Rattachement VM / dossier VM</a:t>
            </a:r>
          </a:p>
        </p:txBody>
      </p:sp>
      <p:sp>
        <p:nvSpPr>
          <p:cNvPr id="32" name="Rectangle 31"/>
          <p:cNvSpPr/>
          <p:nvPr/>
        </p:nvSpPr>
        <p:spPr>
          <a:xfrm>
            <a:off x="731520" y="4562856"/>
            <a:ext cx="10698480" cy="310896"/>
          </a:xfrm>
          <a:prstGeom prst="rect">
            <a:avLst/>
          </a:prstGeom>
          <a:solidFill>
            <a:srgbClr val="F0F0F0"/>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14400" y="4608576"/>
            <a:ext cx="1188720" cy="274320"/>
          </a:xfrm>
          <a:prstGeom prst="rect">
            <a:avLst/>
          </a:prstGeom>
          <a:noFill/>
        </p:spPr>
        <p:txBody>
          <a:bodyPr wrap="square">
            <a:spAutoFit/>
          </a:bodyPr>
          <a:lstStyle/>
          <a:p>
            <a:pPr algn="l">
              <a:defRPr sz="1000" b="1" i="0">
                <a:solidFill>
                  <a:srgbClr val="003366"/>
                </a:solidFill>
              </a:defRPr>
            </a:pPr>
            <a:r>
              <a:t>V016</a:t>
            </a:r>
          </a:p>
        </p:txBody>
      </p:sp>
      <p:sp>
        <p:nvSpPr>
          <p:cNvPr id="34" name="TextBox 33"/>
          <p:cNvSpPr txBox="1"/>
          <p:nvPr/>
        </p:nvSpPr>
        <p:spPr>
          <a:xfrm>
            <a:off x="2377440" y="4608576"/>
            <a:ext cx="3200400" cy="274320"/>
          </a:xfrm>
          <a:prstGeom prst="rect">
            <a:avLst/>
          </a:prstGeom>
          <a:noFill/>
        </p:spPr>
        <p:txBody>
          <a:bodyPr wrap="square">
            <a:spAutoFit/>
          </a:bodyPr>
          <a:lstStyle/>
          <a:p>
            <a:pPr algn="l">
              <a:defRPr sz="1000" b="1" i="0">
                <a:solidFill>
                  <a:srgbClr val="333333"/>
                </a:solidFill>
              </a:defRPr>
            </a:pPr>
            <a:r>
              <a:t>ApplicationsAzure</a:t>
            </a:r>
          </a:p>
        </p:txBody>
      </p:sp>
      <p:sp>
        <p:nvSpPr>
          <p:cNvPr id="35" name="TextBox 34"/>
          <p:cNvSpPr txBox="1"/>
          <p:nvPr/>
        </p:nvSpPr>
        <p:spPr>
          <a:xfrm>
            <a:off x="5760720" y="4608576"/>
            <a:ext cx="5760720" cy="274320"/>
          </a:xfrm>
          <a:prstGeom prst="rect">
            <a:avLst/>
          </a:prstGeom>
          <a:noFill/>
        </p:spPr>
        <p:txBody>
          <a:bodyPr wrap="square">
            <a:spAutoFit/>
          </a:bodyPr>
          <a:lstStyle/>
          <a:p>
            <a:pPr algn="l">
              <a:defRPr sz="1000" b="0" i="0">
                <a:solidFill>
                  <a:srgbClr val="666666"/>
                </a:solidFill>
              </a:defRPr>
            </a:pPr>
            <a:r>
              <a:t>Nom et description structures</a:t>
            </a:r>
          </a:p>
        </p:txBody>
      </p:sp>
      <p:sp>
        <p:nvSpPr>
          <p:cNvPr id="36" name="Rectangle 35"/>
          <p:cNvSpPr/>
          <p:nvPr/>
        </p:nvSpPr>
        <p:spPr>
          <a:xfrm>
            <a:off x="731520" y="4892040"/>
            <a:ext cx="10698480" cy="310896"/>
          </a:xfrm>
          <a:prstGeom prst="rect">
            <a:avLst/>
          </a:prstGeom>
          <a:solidFill>
            <a:srgbClr val="FFFFFF"/>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 y="4937760"/>
            <a:ext cx="1188720" cy="274320"/>
          </a:xfrm>
          <a:prstGeom prst="rect">
            <a:avLst/>
          </a:prstGeom>
          <a:noFill/>
        </p:spPr>
        <p:txBody>
          <a:bodyPr wrap="square">
            <a:spAutoFit/>
          </a:bodyPr>
          <a:lstStyle/>
          <a:p>
            <a:pPr algn="l">
              <a:defRPr sz="1000" b="1" i="0">
                <a:solidFill>
                  <a:srgbClr val="003366"/>
                </a:solidFill>
              </a:defRPr>
            </a:pPr>
            <a:r>
              <a:t>V017</a:t>
            </a:r>
          </a:p>
        </p:txBody>
      </p:sp>
      <p:sp>
        <p:nvSpPr>
          <p:cNvPr id="38" name="TextBox 37"/>
          <p:cNvSpPr txBox="1"/>
          <p:nvPr/>
        </p:nvSpPr>
        <p:spPr>
          <a:xfrm>
            <a:off x="2377440" y="4937760"/>
            <a:ext cx="3200400" cy="274320"/>
          </a:xfrm>
          <a:prstGeom prst="rect">
            <a:avLst/>
          </a:prstGeom>
          <a:noFill/>
        </p:spPr>
        <p:txBody>
          <a:bodyPr wrap="square">
            <a:spAutoFit/>
          </a:bodyPr>
          <a:lstStyle/>
          <a:p>
            <a:pPr algn="l">
              <a:defRPr sz="1000" b="1" i="0">
                <a:solidFill>
                  <a:srgbClr val="333333"/>
                </a:solidFill>
              </a:defRPr>
            </a:pPr>
            <a:r>
              <a:t>BddUtilise</a:t>
            </a:r>
          </a:p>
        </p:txBody>
      </p:sp>
      <p:sp>
        <p:nvSpPr>
          <p:cNvPr id="39" name="TextBox 38"/>
          <p:cNvSpPr txBox="1"/>
          <p:nvPr/>
        </p:nvSpPr>
        <p:spPr>
          <a:xfrm>
            <a:off x="5760720" y="4937760"/>
            <a:ext cx="5760720" cy="274320"/>
          </a:xfrm>
          <a:prstGeom prst="rect">
            <a:avLst/>
          </a:prstGeom>
          <a:noFill/>
        </p:spPr>
        <p:txBody>
          <a:bodyPr wrap="square">
            <a:spAutoFit/>
          </a:bodyPr>
          <a:lstStyle/>
          <a:p>
            <a:pPr algn="l">
              <a:defRPr sz="1000" b="0" i="0">
                <a:solidFill>
                  <a:srgbClr val="666666"/>
                </a:solidFill>
              </a:defRPr>
            </a:pPr>
            <a:r>
              <a:t>Inventaire fiable des bases</a:t>
            </a:r>
          </a:p>
        </p:txBody>
      </p:sp>
      <p:sp>
        <p:nvSpPr>
          <p:cNvPr id="40" name="Rectangle 39"/>
          <p:cNvSpPr/>
          <p:nvPr/>
        </p:nvSpPr>
        <p:spPr>
          <a:xfrm>
            <a:off x="731520" y="5221224"/>
            <a:ext cx="10698480" cy="310896"/>
          </a:xfrm>
          <a:prstGeom prst="rect">
            <a:avLst/>
          </a:prstGeom>
          <a:solidFill>
            <a:srgbClr val="F0F0F0"/>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14400" y="5266944"/>
            <a:ext cx="1188720" cy="274320"/>
          </a:xfrm>
          <a:prstGeom prst="rect">
            <a:avLst/>
          </a:prstGeom>
          <a:noFill/>
        </p:spPr>
        <p:txBody>
          <a:bodyPr wrap="square">
            <a:spAutoFit/>
          </a:bodyPr>
          <a:lstStyle/>
          <a:p>
            <a:pPr algn="l">
              <a:defRPr sz="1000" b="1" i="0">
                <a:solidFill>
                  <a:srgbClr val="003366"/>
                </a:solidFill>
              </a:defRPr>
            </a:pPr>
            <a:r>
              <a:t>V019</a:t>
            </a:r>
          </a:p>
        </p:txBody>
      </p:sp>
      <p:sp>
        <p:nvSpPr>
          <p:cNvPr id="42" name="TextBox 41"/>
          <p:cNvSpPr txBox="1"/>
          <p:nvPr/>
        </p:nvSpPr>
        <p:spPr>
          <a:xfrm>
            <a:off x="2377440" y="5266944"/>
            <a:ext cx="3200400" cy="274320"/>
          </a:xfrm>
          <a:prstGeom prst="rect">
            <a:avLst/>
          </a:prstGeom>
          <a:noFill/>
        </p:spPr>
        <p:txBody>
          <a:bodyPr wrap="square">
            <a:spAutoFit/>
          </a:bodyPr>
          <a:lstStyle/>
          <a:p>
            <a:pPr algn="l">
              <a:defRPr sz="1000" b="1" i="0">
                <a:solidFill>
                  <a:srgbClr val="333333"/>
                </a:solidFill>
              </a:defRPr>
            </a:pPr>
            <a:r>
              <a:t>(transverse)</a:t>
            </a:r>
          </a:p>
        </p:txBody>
      </p:sp>
      <p:sp>
        <p:nvSpPr>
          <p:cNvPr id="43" name="TextBox 42"/>
          <p:cNvSpPr txBox="1"/>
          <p:nvPr/>
        </p:nvSpPr>
        <p:spPr>
          <a:xfrm>
            <a:off x="5760720" y="5266944"/>
            <a:ext cx="5760720" cy="274320"/>
          </a:xfrm>
          <a:prstGeom prst="rect">
            <a:avLst/>
          </a:prstGeom>
          <a:noFill/>
        </p:spPr>
        <p:txBody>
          <a:bodyPr wrap="square">
            <a:spAutoFit/>
          </a:bodyPr>
          <a:lstStyle/>
          <a:p>
            <a:pPr algn="l">
              <a:defRPr sz="1000" b="0" i="0">
                <a:solidFill>
                  <a:srgbClr val="666666"/>
                </a:solidFill>
              </a:defRPr>
            </a:pPr>
            <a:r>
              <a:t>Dedoublonnage + cles primaires manquantes</a:t>
            </a:r>
          </a:p>
        </p:txBody>
      </p:sp>
      <p:sp>
        <p:nvSpPr>
          <p:cNvPr id="44" name="TextBox 43"/>
          <p:cNvSpPr txBox="1"/>
          <p:nvPr/>
        </p:nvSpPr>
        <p:spPr>
          <a:xfrm>
            <a:off x="731520" y="5623560"/>
            <a:ext cx="10698480" cy="365760"/>
          </a:xfrm>
          <a:prstGeom prst="rect">
            <a:avLst/>
          </a:prstGeom>
          <a:noFill/>
        </p:spPr>
        <p:txBody>
          <a:bodyPr wrap="square">
            <a:spAutoFit/>
          </a:bodyPr>
          <a:lstStyle/>
          <a:p>
            <a:pPr algn="ctr">
              <a:defRPr sz="1300" b="1" i="0">
                <a:solidFill>
                  <a:srgbClr val="2E8B3D"/>
                </a:solidFill>
              </a:defRPr>
            </a:pPr>
            <a:r>
              <a:t>Gouvernance des migrations (donnees de production)</a:t>
            </a:r>
          </a:p>
        </p:txBody>
      </p:sp>
      <p:sp>
        <p:nvSpPr>
          <p:cNvPr id="45" name="Rounded Rectangle 44"/>
          <p:cNvSpPr/>
          <p:nvPr/>
        </p:nvSpPr>
        <p:spPr>
          <a:xfrm>
            <a:off x="914400" y="5989320"/>
            <a:ext cx="3383280" cy="4572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51560" y="6035040"/>
            <a:ext cx="1645920" cy="320040"/>
          </a:xfrm>
          <a:prstGeom prst="rect">
            <a:avLst/>
          </a:prstGeom>
          <a:noFill/>
        </p:spPr>
        <p:txBody>
          <a:bodyPr wrap="square">
            <a:spAutoFit/>
          </a:bodyPr>
          <a:lstStyle/>
          <a:p>
            <a:pPr algn="l">
              <a:defRPr sz="1000" b="1" i="0">
                <a:solidFill>
                  <a:srgbClr val="2E8B3D"/>
                </a:solidFill>
              </a:defRPr>
            </a:pPr>
            <a:r>
              <a:t>Scripts versionnes</a:t>
            </a:r>
          </a:p>
        </p:txBody>
      </p:sp>
      <p:sp>
        <p:nvSpPr>
          <p:cNvPr id="47" name="TextBox 46"/>
          <p:cNvSpPr txBox="1"/>
          <p:nvPr/>
        </p:nvSpPr>
        <p:spPr>
          <a:xfrm>
            <a:off x="2606040" y="6035040"/>
            <a:ext cx="1600200" cy="320040"/>
          </a:xfrm>
          <a:prstGeom prst="rect">
            <a:avLst/>
          </a:prstGeom>
          <a:noFill/>
        </p:spPr>
        <p:txBody>
          <a:bodyPr wrap="square">
            <a:spAutoFit/>
          </a:bodyPr>
          <a:lstStyle/>
          <a:p>
            <a:pPr algn="l">
              <a:defRPr sz="1000" b="0" i="1">
                <a:solidFill>
                  <a:srgbClr val="333333"/>
                </a:solidFill>
              </a:defRPr>
            </a:pPr>
            <a:r>
              <a:t>V001 a V026</a:t>
            </a:r>
          </a:p>
        </p:txBody>
      </p:sp>
      <p:sp>
        <p:nvSpPr>
          <p:cNvPr id="48" name="Rounded Rectangle 47"/>
          <p:cNvSpPr/>
          <p:nvPr/>
        </p:nvSpPr>
        <p:spPr>
          <a:xfrm>
            <a:off x="4572000" y="5989320"/>
            <a:ext cx="3383280" cy="4572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709160" y="6035040"/>
            <a:ext cx="1645920" cy="320040"/>
          </a:xfrm>
          <a:prstGeom prst="rect">
            <a:avLst/>
          </a:prstGeom>
          <a:noFill/>
        </p:spPr>
        <p:txBody>
          <a:bodyPr wrap="square">
            <a:spAutoFit/>
          </a:bodyPr>
          <a:lstStyle/>
          <a:p>
            <a:pPr algn="l">
              <a:defRPr sz="1000" b="1" i="0">
                <a:solidFill>
                  <a:srgbClr val="2E8B3D"/>
                </a:solidFill>
              </a:defRPr>
            </a:pPr>
            <a:r>
              <a:t>Retour arriere</a:t>
            </a:r>
          </a:p>
        </p:txBody>
      </p:sp>
      <p:sp>
        <p:nvSpPr>
          <p:cNvPr id="50" name="TextBox 49"/>
          <p:cNvSpPr txBox="1"/>
          <p:nvPr/>
        </p:nvSpPr>
        <p:spPr>
          <a:xfrm>
            <a:off x="6263640" y="6035040"/>
            <a:ext cx="1600200" cy="320040"/>
          </a:xfrm>
          <a:prstGeom prst="rect">
            <a:avLst/>
          </a:prstGeom>
          <a:noFill/>
        </p:spPr>
        <p:txBody>
          <a:bodyPr wrap="square">
            <a:spAutoFit/>
          </a:bodyPr>
          <a:lstStyle/>
          <a:p>
            <a:pPr algn="l">
              <a:defRPr sz="1000" b="0" i="1">
                <a:solidFill>
                  <a:srgbClr val="333333"/>
                </a:solidFill>
              </a:defRPr>
            </a:pPr>
            <a:r>
              <a:t>Un rollback par migration</a:t>
            </a:r>
          </a:p>
        </p:txBody>
      </p:sp>
      <p:sp>
        <p:nvSpPr>
          <p:cNvPr id="51" name="Rounded Rectangle 50"/>
          <p:cNvSpPr/>
          <p:nvPr/>
        </p:nvSpPr>
        <p:spPr>
          <a:xfrm>
            <a:off x="8229600" y="5989320"/>
            <a:ext cx="3383280" cy="4572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366760" y="6035040"/>
            <a:ext cx="1645920" cy="320040"/>
          </a:xfrm>
          <a:prstGeom prst="rect">
            <a:avLst/>
          </a:prstGeom>
          <a:noFill/>
        </p:spPr>
        <p:txBody>
          <a:bodyPr wrap="square">
            <a:spAutoFit/>
          </a:bodyPr>
          <a:lstStyle/>
          <a:p>
            <a:pPr algn="l">
              <a:defRPr sz="1000" b="1" i="0">
                <a:solidFill>
                  <a:srgbClr val="2E8B3D"/>
                </a:solidFill>
              </a:defRPr>
            </a:pPr>
            <a:r>
              <a:t>Controle prealable</a:t>
            </a:r>
          </a:p>
        </p:txBody>
      </p:sp>
      <p:sp>
        <p:nvSpPr>
          <p:cNvPr id="53" name="TextBox 52"/>
          <p:cNvSpPr txBox="1"/>
          <p:nvPr/>
        </p:nvSpPr>
        <p:spPr>
          <a:xfrm>
            <a:off x="9921240" y="6035040"/>
            <a:ext cx="1600200" cy="320040"/>
          </a:xfrm>
          <a:prstGeom prst="rect">
            <a:avLst/>
          </a:prstGeom>
          <a:noFill/>
        </p:spPr>
        <p:txBody>
          <a:bodyPr wrap="square">
            <a:spAutoFit/>
          </a:bodyPr>
          <a:lstStyle/>
          <a:p>
            <a:pPr algn="l">
              <a:defRPr sz="1000" b="0" i="1">
                <a:solidFill>
                  <a:srgbClr val="333333"/>
                </a:solidFill>
              </a:defRPr>
            </a:pPr>
            <a:r>
              <a:t>Lecture seule, verdict GO / NO GO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Enrichissement fonctionnel</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22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Fonctionnalites livrees, regroupees par theme metier</a:t>
            </a:r>
          </a:p>
        </p:txBody>
      </p:sp>
      <p:sp>
        <p:nvSpPr>
          <p:cNvPr id="10" name="Rounded Rectangle 9"/>
          <p:cNvSpPr/>
          <p:nvPr/>
        </p:nvSpPr>
        <p:spPr>
          <a:xfrm>
            <a:off x="731520" y="18288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68680" y="19476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a:t>
            </a:r>
          </a:p>
        </p:txBody>
      </p:sp>
      <p:sp>
        <p:nvSpPr>
          <p:cNvPr id="12" name="TextBox 11"/>
          <p:cNvSpPr txBox="1"/>
          <p:nvPr/>
        </p:nvSpPr>
        <p:spPr>
          <a:xfrm>
            <a:off x="1691640" y="1874520"/>
            <a:ext cx="4297680" cy="274320"/>
          </a:xfrm>
          <a:prstGeom prst="rect">
            <a:avLst/>
          </a:prstGeom>
          <a:noFill/>
        </p:spPr>
        <p:txBody>
          <a:bodyPr wrap="square">
            <a:spAutoFit/>
          </a:bodyPr>
          <a:lstStyle/>
          <a:p>
            <a:pPr algn="l">
              <a:defRPr sz="1200" b="1" i="0">
                <a:solidFill>
                  <a:srgbClr val="003366"/>
                </a:solidFill>
              </a:defRPr>
            </a:pPr>
            <a:r>
              <a:t>Consultation et recherche</a:t>
            </a:r>
          </a:p>
        </p:txBody>
      </p:sp>
      <p:sp>
        <p:nvSpPr>
          <p:cNvPr id="13" name="TextBox 12"/>
          <p:cNvSpPr txBox="1"/>
          <p:nvPr/>
        </p:nvSpPr>
        <p:spPr>
          <a:xfrm>
            <a:off x="1691640" y="2121408"/>
            <a:ext cx="4297680" cy="230832"/>
          </a:xfrm>
          <a:prstGeom prst="rect">
            <a:avLst/>
          </a:prstGeom>
          <a:noFill/>
        </p:spPr>
        <p:txBody>
          <a:bodyPr wrap="square">
            <a:spAutoFit/>
          </a:bodyPr>
          <a:lstStyle/>
          <a:p>
            <a:pPr algn="l">
              <a:defRPr sz="900" b="0" i="0">
                <a:solidFill>
                  <a:srgbClr val="666666"/>
                </a:solidFill>
              </a:defRPr>
            </a:pPr>
            <a:r>
              <a:rPr dirty="0"/>
              <a:t>Recherche, </a:t>
            </a:r>
            <a:r>
              <a:rPr dirty="0" err="1"/>
              <a:t>filtres</a:t>
            </a:r>
            <a:r>
              <a:rPr dirty="0"/>
              <a:t> d'</a:t>
            </a:r>
            <a:r>
              <a:rPr lang="fr-MA" dirty="0"/>
              <a:t>équipe</a:t>
            </a:r>
            <a:r>
              <a:rPr dirty="0"/>
              <a:t>, page Tout </a:t>
            </a:r>
            <a:r>
              <a:rPr dirty="0" err="1"/>
              <a:t>voir</a:t>
            </a:r>
            <a:r>
              <a:rPr dirty="0"/>
              <a:t>, </a:t>
            </a:r>
            <a:r>
              <a:rPr dirty="0" err="1"/>
              <a:t>indicateurs</a:t>
            </a:r>
            <a:r>
              <a:rPr dirty="0"/>
              <a:t> de </a:t>
            </a:r>
            <a:r>
              <a:rPr dirty="0" err="1"/>
              <a:t>chargement</a:t>
            </a:r>
            <a:endParaRPr dirty="0"/>
          </a:p>
        </p:txBody>
      </p:sp>
      <p:sp>
        <p:nvSpPr>
          <p:cNvPr id="14" name="Rounded Rectangle 13"/>
          <p:cNvSpPr/>
          <p:nvPr/>
        </p:nvSpPr>
        <p:spPr>
          <a:xfrm>
            <a:off x="6400800" y="18288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537960" y="19476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L1-L2</a:t>
            </a:r>
          </a:p>
        </p:txBody>
      </p:sp>
      <p:sp>
        <p:nvSpPr>
          <p:cNvPr id="16" name="TextBox 15"/>
          <p:cNvSpPr txBox="1"/>
          <p:nvPr/>
        </p:nvSpPr>
        <p:spPr>
          <a:xfrm>
            <a:off x="7360920" y="1874520"/>
            <a:ext cx="4297680" cy="274320"/>
          </a:xfrm>
          <a:prstGeom prst="rect">
            <a:avLst/>
          </a:prstGeom>
          <a:noFill/>
        </p:spPr>
        <p:txBody>
          <a:bodyPr wrap="square">
            <a:spAutoFit/>
          </a:bodyPr>
          <a:lstStyle/>
          <a:p>
            <a:pPr algn="l">
              <a:defRPr sz="1200" b="1" i="0">
                <a:solidFill>
                  <a:srgbClr val="003366"/>
                </a:solidFill>
              </a:defRPr>
            </a:pPr>
            <a:r>
              <a:t>Cycle de vie des applications</a:t>
            </a:r>
          </a:p>
        </p:txBody>
      </p:sp>
      <p:sp>
        <p:nvSpPr>
          <p:cNvPr id="17" name="TextBox 16"/>
          <p:cNvSpPr txBox="1"/>
          <p:nvPr/>
        </p:nvSpPr>
        <p:spPr>
          <a:xfrm>
            <a:off x="7360920" y="2121408"/>
            <a:ext cx="4297680" cy="230832"/>
          </a:xfrm>
          <a:prstGeom prst="rect">
            <a:avLst/>
          </a:prstGeom>
          <a:noFill/>
        </p:spPr>
        <p:txBody>
          <a:bodyPr wrap="square">
            <a:spAutoFit/>
          </a:bodyPr>
          <a:lstStyle/>
          <a:p>
            <a:pPr algn="l">
              <a:defRPr sz="900" b="0" i="0">
                <a:solidFill>
                  <a:srgbClr val="666666"/>
                </a:solidFill>
              </a:defRPr>
            </a:pPr>
            <a:r>
              <a:rPr dirty="0"/>
              <a:t>Multi-</a:t>
            </a:r>
            <a:r>
              <a:rPr lang="fr-MA" dirty="0"/>
              <a:t>équipe</a:t>
            </a:r>
            <a:r>
              <a:rPr dirty="0"/>
              <a:t>s, </a:t>
            </a:r>
            <a:r>
              <a:rPr dirty="0" err="1"/>
              <a:t>fonction</a:t>
            </a:r>
            <a:r>
              <a:rPr dirty="0"/>
              <a:t> referents, </a:t>
            </a:r>
            <a:r>
              <a:rPr dirty="0" err="1"/>
              <a:t>ordre</a:t>
            </a:r>
            <a:r>
              <a:rPr dirty="0"/>
              <a:t> </a:t>
            </a:r>
            <a:r>
              <a:rPr dirty="0" err="1"/>
              <a:t>d'affichage</a:t>
            </a:r>
            <a:r>
              <a:rPr dirty="0"/>
              <a:t>, </a:t>
            </a:r>
            <a:r>
              <a:rPr dirty="0" err="1"/>
              <a:t>archivage</a:t>
            </a:r>
            <a:endParaRPr dirty="0"/>
          </a:p>
        </p:txBody>
      </p:sp>
      <p:sp>
        <p:nvSpPr>
          <p:cNvPr id="18" name="Rounded Rectangle 17"/>
          <p:cNvSpPr/>
          <p:nvPr/>
        </p:nvSpPr>
        <p:spPr>
          <a:xfrm>
            <a:off x="731520" y="25146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68680" y="26334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L1-L2</a:t>
            </a:r>
          </a:p>
        </p:txBody>
      </p:sp>
      <p:sp>
        <p:nvSpPr>
          <p:cNvPr id="20" name="TextBox 19"/>
          <p:cNvSpPr txBox="1"/>
          <p:nvPr/>
        </p:nvSpPr>
        <p:spPr>
          <a:xfrm>
            <a:off x="1691640" y="2560320"/>
            <a:ext cx="4297680" cy="274320"/>
          </a:xfrm>
          <a:prstGeom prst="rect">
            <a:avLst/>
          </a:prstGeom>
          <a:noFill/>
        </p:spPr>
        <p:txBody>
          <a:bodyPr wrap="square">
            <a:spAutoFit/>
          </a:bodyPr>
          <a:lstStyle/>
          <a:p>
            <a:pPr algn="l">
              <a:defRPr sz="1200" b="1" i="0">
                <a:solidFill>
                  <a:srgbClr val="003366"/>
                </a:solidFill>
              </a:defRPr>
            </a:pPr>
            <a:r>
              <a:t>Tracabilite des livraisons</a:t>
            </a:r>
          </a:p>
        </p:txBody>
      </p:sp>
      <p:sp>
        <p:nvSpPr>
          <p:cNvPr id="21" name="TextBox 20"/>
          <p:cNvSpPr txBox="1"/>
          <p:nvPr/>
        </p:nvSpPr>
        <p:spPr>
          <a:xfrm>
            <a:off x="1691640" y="2807208"/>
            <a:ext cx="4297680" cy="274320"/>
          </a:xfrm>
          <a:prstGeom prst="rect">
            <a:avLst/>
          </a:prstGeom>
          <a:noFill/>
        </p:spPr>
        <p:txBody>
          <a:bodyPr wrap="square">
            <a:spAutoFit/>
          </a:bodyPr>
          <a:lstStyle/>
          <a:p>
            <a:pPr algn="l">
              <a:defRPr sz="900" b="0" i="0">
                <a:solidFill>
                  <a:srgbClr val="666666"/>
                </a:solidFill>
              </a:defRPr>
            </a:pPr>
            <a:r>
              <a:t>Historique, document et numero de mise en production</a:t>
            </a:r>
          </a:p>
        </p:txBody>
      </p:sp>
      <p:sp>
        <p:nvSpPr>
          <p:cNvPr id="22" name="Rounded Rectangle 21"/>
          <p:cNvSpPr/>
          <p:nvPr/>
        </p:nvSpPr>
        <p:spPr>
          <a:xfrm>
            <a:off x="6400800" y="25146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537960" y="26334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L1-L2-L3</a:t>
            </a:r>
          </a:p>
        </p:txBody>
      </p:sp>
      <p:sp>
        <p:nvSpPr>
          <p:cNvPr id="24" name="TextBox 23"/>
          <p:cNvSpPr txBox="1"/>
          <p:nvPr/>
        </p:nvSpPr>
        <p:spPr>
          <a:xfrm>
            <a:off x="7360920" y="2560320"/>
            <a:ext cx="4297680" cy="274320"/>
          </a:xfrm>
          <a:prstGeom prst="rect">
            <a:avLst/>
          </a:prstGeom>
          <a:noFill/>
        </p:spPr>
        <p:txBody>
          <a:bodyPr wrap="square">
            <a:spAutoFit/>
          </a:bodyPr>
          <a:lstStyle/>
          <a:p>
            <a:pPr algn="l">
              <a:defRPr sz="1200" b="1" i="0">
                <a:solidFill>
                  <a:srgbClr val="003366"/>
                </a:solidFill>
              </a:defRPr>
            </a:pPr>
            <a:r>
              <a:t>Ressources sensibles</a:t>
            </a:r>
          </a:p>
        </p:txBody>
      </p:sp>
      <p:sp>
        <p:nvSpPr>
          <p:cNvPr id="25" name="TextBox 24"/>
          <p:cNvSpPr txBox="1"/>
          <p:nvPr/>
        </p:nvSpPr>
        <p:spPr>
          <a:xfrm>
            <a:off x="7360920" y="2807208"/>
            <a:ext cx="4297680" cy="274320"/>
          </a:xfrm>
          <a:prstGeom prst="rect">
            <a:avLst/>
          </a:prstGeom>
          <a:noFill/>
        </p:spPr>
        <p:txBody>
          <a:bodyPr wrap="square">
            <a:spAutoFit/>
          </a:bodyPr>
          <a:lstStyle/>
          <a:p>
            <a:pPr algn="l">
              <a:defRPr sz="900" b="0" i="0">
                <a:solidFill>
                  <a:srgbClr val="666666"/>
                </a:solidFill>
              </a:defRPr>
            </a:pPr>
            <a:r>
              <a:t>Comptes de service, certificats, empreintes, alertes</a:t>
            </a:r>
          </a:p>
        </p:txBody>
      </p:sp>
      <p:sp>
        <p:nvSpPr>
          <p:cNvPr id="26" name="Rounded Rectangle 25"/>
          <p:cNvSpPr/>
          <p:nvPr/>
        </p:nvSpPr>
        <p:spPr>
          <a:xfrm>
            <a:off x="731520" y="32004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68680" y="33192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L3</a:t>
            </a:r>
          </a:p>
        </p:txBody>
      </p:sp>
      <p:sp>
        <p:nvSpPr>
          <p:cNvPr id="28" name="TextBox 27"/>
          <p:cNvSpPr txBox="1"/>
          <p:nvPr/>
        </p:nvSpPr>
        <p:spPr>
          <a:xfrm>
            <a:off x="1691640" y="3246120"/>
            <a:ext cx="4297680" cy="274320"/>
          </a:xfrm>
          <a:prstGeom prst="rect">
            <a:avLst/>
          </a:prstGeom>
          <a:noFill/>
        </p:spPr>
        <p:txBody>
          <a:bodyPr wrap="square">
            <a:spAutoFit/>
          </a:bodyPr>
          <a:lstStyle/>
          <a:p>
            <a:pPr algn="l">
              <a:defRPr sz="1200" b="1" i="0">
                <a:solidFill>
                  <a:srgbClr val="003366"/>
                </a:solidFill>
              </a:defRPr>
            </a:pPr>
            <a:r>
              <a:t>Administration referentiels</a:t>
            </a:r>
          </a:p>
        </p:txBody>
      </p:sp>
      <p:sp>
        <p:nvSpPr>
          <p:cNvPr id="29" name="TextBox 28"/>
          <p:cNvSpPr txBox="1"/>
          <p:nvPr/>
        </p:nvSpPr>
        <p:spPr>
          <a:xfrm>
            <a:off x="1691640" y="3493008"/>
            <a:ext cx="4297680" cy="274320"/>
          </a:xfrm>
          <a:prstGeom prst="rect">
            <a:avLst/>
          </a:prstGeom>
          <a:noFill/>
        </p:spPr>
        <p:txBody>
          <a:bodyPr wrap="square">
            <a:spAutoFit/>
          </a:bodyPr>
          <a:lstStyle/>
          <a:p>
            <a:pPr algn="l">
              <a:defRPr sz="900" b="0" i="0">
                <a:solidFill>
                  <a:srgbClr val="666666"/>
                </a:solidFill>
              </a:defRPr>
            </a:pPr>
            <a:r>
              <a:t>8 ecrans de gestion pour les tables de reference</a:t>
            </a:r>
          </a:p>
        </p:txBody>
      </p:sp>
      <p:sp>
        <p:nvSpPr>
          <p:cNvPr id="30" name="Rounded Rectangle 29"/>
          <p:cNvSpPr/>
          <p:nvPr/>
        </p:nvSpPr>
        <p:spPr>
          <a:xfrm>
            <a:off x="6400800" y="32004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537960" y="33192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L3</a:t>
            </a:r>
          </a:p>
        </p:txBody>
      </p:sp>
      <p:sp>
        <p:nvSpPr>
          <p:cNvPr id="32" name="TextBox 31"/>
          <p:cNvSpPr txBox="1"/>
          <p:nvPr/>
        </p:nvSpPr>
        <p:spPr>
          <a:xfrm>
            <a:off x="7360920" y="3246120"/>
            <a:ext cx="4297680" cy="274320"/>
          </a:xfrm>
          <a:prstGeom prst="rect">
            <a:avLst/>
          </a:prstGeom>
          <a:noFill/>
        </p:spPr>
        <p:txBody>
          <a:bodyPr wrap="square">
            <a:spAutoFit/>
          </a:bodyPr>
          <a:lstStyle/>
          <a:p>
            <a:pPr algn="l">
              <a:defRPr sz="1200" b="1" i="0">
                <a:solidFill>
                  <a:srgbClr val="003366"/>
                </a:solidFill>
              </a:defRPr>
            </a:pPr>
            <a:r>
              <a:t>Auditabilite</a:t>
            </a:r>
          </a:p>
        </p:txBody>
      </p:sp>
      <p:sp>
        <p:nvSpPr>
          <p:cNvPr id="33" name="TextBox 32"/>
          <p:cNvSpPr txBox="1"/>
          <p:nvPr/>
        </p:nvSpPr>
        <p:spPr>
          <a:xfrm>
            <a:off x="7360920" y="3493008"/>
            <a:ext cx="4297680" cy="274320"/>
          </a:xfrm>
          <a:prstGeom prst="rect">
            <a:avLst/>
          </a:prstGeom>
          <a:noFill/>
        </p:spPr>
        <p:txBody>
          <a:bodyPr wrap="square">
            <a:spAutoFit/>
          </a:bodyPr>
          <a:lstStyle/>
          <a:p>
            <a:pPr algn="l">
              <a:defRPr sz="900" b="0" i="0">
                <a:solidFill>
                  <a:srgbClr val="666666"/>
                </a:solidFill>
              </a:defRPr>
            </a:pPr>
            <a:r>
              <a:t>Historique des actions utilisateur, correlation automatique</a:t>
            </a:r>
          </a:p>
        </p:txBody>
      </p:sp>
      <p:sp>
        <p:nvSpPr>
          <p:cNvPr id="34" name="Rounded Rectangle 33"/>
          <p:cNvSpPr/>
          <p:nvPr/>
        </p:nvSpPr>
        <p:spPr>
          <a:xfrm>
            <a:off x="3520440" y="38862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657600" y="40050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L3</a:t>
            </a:r>
          </a:p>
        </p:txBody>
      </p:sp>
      <p:sp>
        <p:nvSpPr>
          <p:cNvPr id="36" name="TextBox 35"/>
          <p:cNvSpPr txBox="1"/>
          <p:nvPr/>
        </p:nvSpPr>
        <p:spPr>
          <a:xfrm>
            <a:off x="4480560" y="3931920"/>
            <a:ext cx="4297680" cy="274320"/>
          </a:xfrm>
          <a:prstGeom prst="rect">
            <a:avLst/>
          </a:prstGeom>
          <a:noFill/>
        </p:spPr>
        <p:txBody>
          <a:bodyPr wrap="square">
            <a:spAutoFit/>
          </a:bodyPr>
          <a:lstStyle/>
          <a:p>
            <a:pPr algn="l">
              <a:defRPr sz="1200" b="1" i="0">
                <a:solidFill>
                  <a:srgbClr val="003366"/>
                </a:solidFill>
              </a:defRPr>
            </a:pPr>
            <a:r>
              <a:t>Taxonomies</a:t>
            </a:r>
          </a:p>
        </p:txBody>
      </p:sp>
      <p:sp>
        <p:nvSpPr>
          <p:cNvPr id="37" name="TextBox 36"/>
          <p:cNvSpPr txBox="1"/>
          <p:nvPr/>
        </p:nvSpPr>
        <p:spPr>
          <a:xfrm>
            <a:off x="4480560" y="4178808"/>
            <a:ext cx="4297680" cy="274320"/>
          </a:xfrm>
          <a:prstGeom prst="rect">
            <a:avLst/>
          </a:prstGeom>
          <a:noFill/>
        </p:spPr>
        <p:txBody>
          <a:bodyPr wrap="square">
            <a:spAutoFit/>
          </a:bodyPr>
          <a:lstStyle/>
          <a:p>
            <a:pPr algn="l">
              <a:defRPr sz="900" b="0" i="0">
                <a:solidFill>
                  <a:srgbClr val="666666"/>
                </a:solidFill>
              </a:defRPr>
            </a:pPr>
            <a:r>
              <a:t>Marquage et filtrage des modules</a:t>
            </a:r>
          </a:p>
        </p:txBody>
      </p:sp>
      <p:sp>
        <p:nvSpPr>
          <p:cNvPr id="38" name="Rounded Rectangle 37"/>
          <p:cNvSpPr/>
          <p:nvPr/>
        </p:nvSpPr>
        <p:spPr>
          <a:xfrm>
            <a:off x="731520" y="5623560"/>
            <a:ext cx="10698480" cy="6858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14400" y="5669280"/>
            <a:ext cx="10332720" cy="320040"/>
          </a:xfrm>
          <a:prstGeom prst="rect">
            <a:avLst/>
          </a:prstGeom>
          <a:noFill/>
        </p:spPr>
        <p:txBody>
          <a:bodyPr wrap="square">
            <a:spAutoFit/>
          </a:bodyPr>
          <a:lstStyle/>
          <a:p>
            <a:pPr algn="l">
              <a:defRPr sz="1200" b="1" i="0">
                <a:solidFill>
                  <a:srgbClr val="2E8B3D"/>
                </a:solidFill>
              </a:defRPr>
            </a:pPr>
            <a:r>
              <a:t>Point technique : protection cote serveur des applications archivees</a:t>
            </a:r>
          </a:p>
        </p:txBody>
      </p:sp>
      <p:sp>
        <p:nvSpPr>
          <p:cNvPr id="40" name="TextBox 39"/>
          <p:cNvSpPr txBox="1"/>
          <p:nvPr/>
        </p:nvSpPr>
        <p:spPr>
          <a:xfrm>
            <a:off x="914400" y="5989320"/>
            <a:ext cx="10332720" cy="320040"/>
          </a:xfrm>
          <a:prstGeom prst="rect">
            <a:avLst/>
          </a:prstGeom>
          <a:noFill/>
        </p:spPr>
        <p:txBody>
          <a:bodyPr wrap="square">
            <a:spAutoFit/>
          </a:bodyPr>
          <a:lstStyle/>
          <a:p>
            <a:pPr algn="l">
              <a:defRPr sz="1000" b="0" i="1">
                <a:solidFill>
                  <a:srgbClr val="333333"/>
                </a:solidFill>
              </a:defRPr>
            </a:pPr>
            <a:r>
              <a:t>Un controle purement client aurait pu etre contourne par un appel direct a l'API.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06</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Mission Elium Sauvegarde</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Intervention dictee par l'urgence</a:t>
            </a:r>
          </a:p>
        </p:txBody>
      </p:sp>
      <p:sp>
        <p:nvSpPr>
          <p:cNvPr id="7" name="Freeform 10">
            <a:extLst>
              <a:ext uri="{FF2B5EF4-FFF2-40B4-BE49-F238E27FC236}">
                <a16:creationId xmlns:a16="http://schemas.microsoft.com/office/drawing/2014/main" id="{A5EA7B89-7DB8-405D-AFF4-966983BFEB71}"/>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sp>
      <p:pic>
        <p:nvPicPr>
          <p:cNvPr id="8" name="Image 7">
            <a:extLst>
              <a:ext uri="{FF2B5EF4-FFF2-40B4-BE49-F238E27FC236}">
                <a16:creationId xmlns:a16="http://schemas.microsoft.com/office/drawing/2014/main" id="{C7244BA8-1535-4DAD-98B7-0D64E5F72150}"/>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ELIUM</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Elium Sauvegarde - Contexte et fiabilisation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25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300" b="0" i="1">
                <a:solidFill>
                  <a:srgbClr val="666666"/>
                </a:solidFill>
              </a:defRPr>
            </a:pPr>
            <a:r>
              <a:t>Application console .NET 6 qui archive les articles Elium vers SharePoint Online</a:t>
            </a:r>
          </a:p>
        </p:txBody>
      </p:sp>
      <p:sp>
        <p:nvSpPr>
          <p:cNvPr id="10" name="Rounded Rectangle 9"/>
          <p:cNvSpPr/>
          <p:nvPr/>
        </p:nvSpPr>
        <p:spPr>
          <a:xfrm>
            <a:off x="731520" y="1828800"/>
            <a:ext cx="2194560" cy="9144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333333"/>
                </a:solidFill>
              </a:defRPr>
            </a:pPr>
            <a:r>
              <a:t>API GraphQL</a:t>
            </a:r>
          </a:p>
          <a:p>
            <a:pPr algn="ctr">
              <a:defRPr sz="1100" b="1">
                <a:solidFill>
                  <a:srgbClr val="333333"/>
                </a:solidFill>
              </a:defRPr>
            </a:pPr>
            <a:r>
              <a:t>Elium</a:t>
            </a:r>
          </a:p>
        </p:txBody>
      </p:sp>
      <p:sp>
        <p:nvSpPr>
          <p:cNvPr id="11" name="Right Arrow 10"/>
          <p:cNvSpPr/>
          <p:nvPr/>
        </p:nvSpPr>
        <p:spPr>
          <a:xfrm>
            <a:off x="3017520" y="2148840"/>
            <a:ext cx="365760" cy="27432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80360" y="2468880"/>
            <a:ext cx="640080" cy="228600"/>
          </a:xfrm>
          <a:prstGeom prst="rect">
            <a:avLst/>
          </a:prstGeom>
          <a:noFill/>
        </p:spPr>
        <p:txBody>
          <a:bodyPr wrap="square">
            <a:spAutoFit/>
          </a:bodyPr>
          <a:lstStyle/>
          <a:p>
            <a:pPr algn="ctr">
              <a:defRPr sz="900" b="0" i="1">
                <a:solidFill>
                  <a:srgbClr val="666666"/>
                </a:solidFill>
              </a:defRPr>
            </a:pPr>
            <a:r>
              <a:t>lots 100</a:t>
            </a:r>
          </a:p>
        </p:txBody>
      </p:sp>
      <p:sp>
        <p:nvSpPr>
          <p:cNvPr id="13" name="Rounded Rectangle 12"/>
          <p:cNvSpPr/>
          <p:nvPr/>
        </p:nvSpPr>
        <p:spPr>
          <a:xfrm>
            <a:off x="3520440" y="1828800"/>
            <a:ext cx="2194560" cy="91440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Elium Sauvegarde</a:t>
            </a:r>
          </a:p>
          <a:p>
            <a:pPr algn="ctr">
              <a:defRPr sz="1100" b="1">
                <a:solidFill>
                  <a:srgbClr val="FFFFFF"/>
                </a:solidFill>
              </a:defRPr>
            </a:pPr>
            <a:r>
              <a:t>(console .NET 6)</a:t>
            </a:r>
          </a:p>
        </p:txBody>
      </p:sp>
      <p:sp>
        <p:nvSpPr>
          <p:cNvPr id="14" name="Right Arrow 13"/>
          <p:cNvSpPr/>
          <p:nvPr/>
        </p:nvSpPr>
        <p:spPr>
          <a:xfrm>
            <a:off x="5806440" y="2148840"/>
            <a:ext cx="365760" cy="27432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309360" y="1828800"/>
            <a:ext cx="2194560" cy="9144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333333"/>
                </a:solidFill>
              </a:defRPr>
            </a:pPr>
            <a:r>
              <a:t>Microsoft</a:t>
            </a:r>
          </a:p>
          <a:p>
            <a:pPr algn="ctr">
              <a:defRPr sz="1100" b="1">
                <a:solidFill>
                  <a:srgbClr val="333333"/>
                </a:solidFill>
              </a:defRPr>
            </a:pPr>
            <a:r>
              <a:t>Graph</a:t>
            </a:r>
          </a:p>
        </p:txBody>
      </p:sp>
      <p:sp>
        <p:nvSpPr>
          <p:cNvPr id="16" name="Right Arrow 15"/>
          <p:cNvSpPr/>
          <p:nvPr/>
        </p:nvSpPr>
        <p:spPr>
          <a:xfrm>
            <a:off x="8595360" y="2148840"/>
            <a:ext cx="365760" cy="27432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098280" y="1828800"/>
            <a:ext cx="2331720" cy="9144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333333"/>
                </a:solidFill>
              </a:defRPr>
            </a:pPr>
            <a:r>
              <a:t>Pages SharePoint</a:t>
            </a:r>
          </a:p>
          <a:p>
            <a:pPr algn="ctr">
              <a:defRPr sz="1100" b="1">
                <a:solidFill>
                  <a:srgbClr val="333333"/>
                </a:solidFill>
              </a:defRPr>
            </a:pPr>
            <a:r>
              <a:t>Online</a:t>
            </a:r>
          </a:p>
        </p:txBody>
      </p:sp>
      <p:sp>
        <p:nvSpPr>
          <p:cNvPr id="18" name="Rounded Rectangle 17"/>
          <p:cNvSpPr/>
          <p:nvPr/>
        </p:nvSpPr>
        <p:spPr>
          <a:xfrm>
            <a:off x="731520" y="3017520"/>
            <a:ext cx="10698480" cy="685800"/>
          </a:xfrm>
          <a:prstGeom prst="roundRect">
            <a:avLst/>
          </a:prstGeom>
          <a:solidFill>
            <a:srgbClr val="F0F0F0"/>
          </a:solidFill>
          <a:ln w="19050">
            <a:solidFill>
              <a:srgbClr val="E200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3063240"/>
            <a:ext cx="10332720" cy="320040"/>
          </a:xfrm>
          <a:prstGeom prst="rect">
            <a:avLst/>
          </a:prstGeom>
          <a:noFill/>
        </p:spPr>
        <p:txBody>
          <a:bodyPr wrap="square">
            <a:spAutoFit/>
          </a:bodyPr>
          <a:lstStyle/>
          <a:p>
            <a:pPr algn="l">
              <a:defRPr sz="1300" b="1" i="0">
                <a:solidFill>
                  <a:srgbClr val="E2001A"/>
                </a:solidFill>
              </a:defRPr>
            </a:pPr>
            <a:r>
              <a:t>Probleme diagnostique : logique tout-ou-rien</a:t>
            </a:r>
          </a:p>
        </p:txBody>
      </p:sp>
      <p:sp>
        <p:nvSpPr>
          <p:cNvPr id="20" name="TextBox 19"/>
          <p:cNvSpPr txBox="1"/>
          <p:nvPr/>
        </p:nvSpPr>
        <p:spPr>
          <a:xfrm>
            <a:off x="914400" y="3383280"/>
            <a:ext cx="10332720" cy="320040"/>
          </a:xfrm>
          <a:prstGeom prst="rect">
            <a:avLst/>
          </a:prstGeom>
          <a:noFill/>
        </p:spPr>
        <p:txBody>
          <a:bodyPr wrap="square">
            <a:spAutoFit/>
          </a:bodyPr>
          <a:lstStyle/>
          <a:p>
            <a:pPr algn="l">
              <a:defRPr sz="1100" b="0" i="0">
                <a:solidFill>
                  <a:srgbClr val="333333"/>
                </a:solidFill>
              </a:defRPr>
            </a:pPr>
            <a:r>
              <a:t>L'execution s'interrompait sur un article particulier, sans que les suivants soient traites.</a:t>
            </a:r>
          </a:p>
        </p:txBody>
      </p:sp>
      <p:sp>
        <p:nvSpPr>
          <p:cNvPr id="21" name="TextBox 20"/>
          <p:cNvSpPr txBox="1"/>
          <p:nvPr/>
        </p:nvSpPr>
        <p:spPr>
          <a:xfrm>
            <a:off x="731520" y="3886200"/>
            <a:ext cx="10698480" cy="365760"/>
          </a:xfrm>
          <a:prstGeom prst="rect">
            <a:avLst/>
          </a:prstGeom>
          <a:noFill/>
        </p:spPr>
        <p:txBody>
          <a:bodyPr wrap="square">
            <a:spAutoFit/>
          </a:bodyPr>
          <a:lstStyle/>
          <a:p>
            <a:pPr algn="ctr">
              <a:defRPr sz="1400" b="1" i="0">
                <a:solidFill>
                  <a:srgbClr val="003366"/>
                </a:solidFill>
              </a:defRPr>
            </a:pPr>
            <a:r>
              <a:t>Trois options etudiees</a:t>
            </a:r>
          </a:p>
        </p:txBody>
      </p:sp>
      <p:sp>
        <p:nvSpPr>
          <p:cNvPr id="22" name="Rounded Rectangle 21"/>
          <p:cNvSpPr/>
          <p:nvPr/>
        </p:nvSpPr>
        <p:spPr>
          <a:xfrm>
            <a:off x="731520" y="4343400"/>
            <a:ext cx="3520440" cy="1691640"/>
          </a:xfrm>
          <a:prstGeom prst="roundRect">
            <a:avLst/>
          </a:prstGeom>
          <a:solidFill>
            <a:srgbClr val="FFFFFF"/>
          </a:solidFill>
          <a:ln w="12700">
            <a:solidFill>
              <a:srgbClr val="E200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4434840"/>
            <a:ext cx="3200400" cy="320040"/>
          </a:xfrm>
          <a:prstGeom prst="rect">
            <a:avLst/>
          </a:prstGeom>
          <a:noFill/>
        </p:spPr>
        <p:txBody>
          <a:bodyPr wrap="square">
            <a:spAutoFit/>
          </a:bodyPr>
          <a:lstStyle/>
          <a:p>
            <a:pPr algn="l">
              <a:defRPr sz="1300" b="1" i="0">
                <a:solidFill>
                  <a:srgbClr val="E2001A"/>
                </a:solidFill>
              </a:defRPr>
            </a:pPr>
            <a:r>
              <a:t>Relancer l'execution</a:t>
            </a:r>
          </a:p>
        </p:txBody>
      </p:sp>
      <p:sp>
        <p:nvSpPr>
          <p:cNvPr id="24" name="TextBox 23"/>
          <p:cNvSpPr txBox="1"/>
          <p:nvPr/>
        </p:nvSpPr>
        <p:spPr>
          <a:xfrm>
            <a:off x="914400" y="4800600"/>
            <a:ext cx="3200400" cy="868680"/>
          </a:xfrm>
          <a:prstGeom prst="rect">
            <a:avLst/>
          </a:prstGeom>
          <a:noFill/>
        </p:spPr>
        <p:txBody>
          <a:bodyPr wrap="square">
            <a:spAutoFit/>
          </a:bodyPr>
          <a:lstStyle/>
          <a:p>
            <a:pPr algn="l">
              <a:defRPr sz="1000" b="0" i="0">
                <a:solidFill>
                  <a:srgbClr val="666666"/>
                </a:solidFill>
              </a:defRPr>
            </a:pPr>
            <a:r>
              <a:t>Echoue au meme endroit tant que l'article fautif est present</a:t>
            </a:r>
          </a:p>
        </p:txBody>
      </p:sp>
      <p:sp>
        <p:nvSpPr>
          <p:cNvPr id="25" name="Rounded Rectangle 24"/>
          <p:cNvSpPr/>
          <p:nvPr/>
        </p:nvSpPr>
        <p:spPr>
          <a:xfrm>
            <a:off x="1828800" y="5669280"/>
            <a:ext cx="1280160" cy="320040"/>
          </a:xfrm>
          <a:prstGeom prst="round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Ecartee</a:t>
            </a:r>
          </a:p>
        </p:txBody>
      </p:sp>
      <p:sp>
        <p:nvSpPr>
          <p:cNvPr id="26" name="Rounded Rectangle 25"/>
          <p:cNvSpPr/>
          <p:nvPr/>
        </p:nvSpPr>
        <p:spPr>
          <a:xfrm>
            <a:off x="4480559" y="4343400"/>
            <a:ext cx="3520440" cy="1691640"/>
          </a:xfrm>
          <a:prstGeom prst="roundRect">
            <a:avLst/>
          </a:prstGeom>
          <a:solidFill>
            <a:srgbClr val="FFFFFF"/>
          </a:solidFill>
          <a:ln w="12700">
            <a:solidFill>
              <a:srgbClr val="E200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63439" y="4434840"/>
            <a:ext cx="3200400" cy="320040"/>
          </a:xfrm>
          <a:prstGeom prst="rect">
            <a:avLst/>
          </a:prstGeom>
          <a:noFill/>
        </p:spPr>
        <p:txBody>
          <a:bodyPr wrap="square">
            <a:spAutoFit/>
          </a:bodyPr>
          <a:lstStyle/>
          <a:p>
            <a:pPr algn="l">
              <a:defRPr sz="1300" b="1" i="0">
                <a:solidFill>
                  <a:srgbClr val="E2001A"/>
                </a:solidFill>
              </a:defRPr>
            </a:pPr>
            <a:r>
              <a:t>Exclure les articles</a:t>
            </a:r>
          </a:p>
        </p:txBody>
      </p:sp>
      <p:sp>
        <p:nvSpPr>
          <p:cNvPr id="28" name="TextBox 27"/>
          <p:cNvSpPr txBox="1"/>
          <p:nvPr/>
        </p:nvSpPr>
        <p:spPr>
          <a:xfrm>
            <a:off x="4663439" y="4800600"/>
            <a:ext cx="3200400" cy="868680"/>
          </a:xfrm>
          <a:prstGeom prst="rect">
            <a:avLst/>
          </a:prstGeom>
          <a:noFill/>
        </p:spPr>
        <p:txBody>
          <a:bodyPr wrap="square">
            <a:spAutoFit/>
          </a:bodyPr>
          <a:lstStyle/>
          <a:p>
            <a:pPr algn="l">
              <a:defRPr sz="1000" b="0" i="0">
                <a:solidFill>
                  <a:srgbClr val="666666"/>
                </a:solidFill>
              </a:defRPr>
            </a:pPr>
            <a:r>
              <a:t>Liste d'exclusion maintenue a la main, ne couvre pas les cas futurs</a:t>
            </a:r>
          </a:p>
        </p:txBody>
      </p:sp>
      <p:sp>
        <p:nvSpPr>
          <p:cNvPr id="29" name="Rounded Rectangle 28"/>
          <p:cNvSpPr/>
          <p:nvPr/>
        </p:nvSpPr>
        <p:spPr>
          <a:xfrm>
            <a:off x="5577839" y="5669280"/>
            <a:ext cx="1280160" cy="320040"/>
          </a:xfrm>
          <a:prstGeom prst="round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Ecartee</a:t>
            </a:r>
          </a:p>
        </p:txBody>
      </p:sp>
      <p:sp>
        <p:nvSpPr>
          <p:cNvPr id="30" name="Rounded Rectangle 29"/>
          <p:cNvSpPr/>
          <p:nvPr/>
        </p:nvSpPr>
        <p:spPr>
          <a:xfrm>
            <a:off x="8229598" y="4343400"/>
            <a:ext cx="3520440" cy="1691640"/>
          </a:xfrm>
          <a:prstGeom prst="roundRect">
            <a:avLst/>
          </a:prstGeom>
          <a:solidFill>
            <a:srgbClr val="FFFFFF"/>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12478" y="4434840"/>
            <a:ext cx="3200400" cy="320040"/>
          </a:xfrm>
          <a:prstGeom prst="rect">
            <a:avLst/>
          </a:prstGeom>
          <a:noFill/>
        </p:spPr>
        <p:txBody>
          <a:bodyPr wrap="square">
            <a:spAutoFit/>
          </a:bodyPr>
          <a:lstStyle/>
          <a:p>
            <a:pPr algn="l">
              <a:defRPr sz="1300" b="1" i="0">
                <a:solidFill>
                  <a:srgbClr val="2E8B3D"/>
                </a:solidFill>
              </a:defRPr>
            </a:pPr>
            <a:r>
              <a:t>Isoler chaque article</a:t>
            </a:r>
          </a:p>
        </p:txBody>
      </p:sp>
      <p:sp>
        <p:nvSpPr>
          <p:cNvPr id="32" name="TextBox 31"/>
          <p:cNvSpPr txBox="1"/>
          <p:nvPr/>
        </p:nvSpPr>
        <p:spPr>
          <a:xfrm>
            <a:off x="8412478" y="4800600"/>
            <a:ext cx="3200400" cy="868680"/>
          </a:xfrm>
          <a:prstGeom prst="rect">
            <a:avLst/>
          </a:prstGeom>
          <a:noFill/>
        </p:spPr>
        <p:txBody>
          <a:bodyPr wrap="square">
            <a:spAutoFit/>
          </a:bodyPr>
          <a:lstStyle/>
          <a:p>
            <a:pPr algn="l">
              <a:defRPr sz="1000" b="0" i="0">
                <a:solidFill>
                  <a:srgbClr val="666666"/>
                </a:solidFill>
              </a:defRPr>
            </a:pPr>
            <a:r>
              <a:t>Traiter chaque article independamment, une anomalie unitaire n'affecte plus le tout</a:t>
            </a:r>
          </a:p>
        </p:txBody>
      </p:sp>
      <p:sp>
        <p:nvSpPr>
          <p:cNvPr id="33" name="Rounded Rectangle 32"/>
          <p:cNvSpPr/>
          <p:nvPr/>
        </p:nvSpPr>
        <p:spPr>
          <a:xfrm>
            <a:off x="9326878" y="5669280"/>
            <a:ext cx="1280160" cy="32004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Retenue</a:t>
            </a:r>
          </a:p>
        </p:txBody>
      </p:sp>
      <p:sp>
        <p:nvSpPr>
          <p:cNvPr id="34" name="TextBox 33"/>
          <p:cNvSpPr txBox="1"/>
          <p:nvPr/>
        </p:nvSpPr>
        <p:spPr>
          <a:xfrm>
            <a:off x="731520" y="6172200"/>
            <a:ext cx="10698480" cy="274320"/>
          </a:xfrm>
          <a:prstGeom prst="rect">
            <a:avLst/>
          </a:prstGeom>
          <a:noFill/>
        </p:spPr>
        <p:txBody>
          <a:bodyPr wrap="square">
            <a:spAutoFit/>
          </a:bodyPr>
          <a:lstStyle/>
          <a:p>
            <a:pPr algn="ctr">
              <a:defRPr sz="1100" b="1" i="1">
                <a:solidFill>
                  <a:srgbClr val="2E8B3D"/>
                </a:solidFill>
              </a:defRPr>
            </a:pPr>
            <a:r>
              <a:t>En complement : creation automatique des dossiers SharePoint, observabilite refondue (resume final).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07</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Resultats obtenus</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Livrables et impact des deux missions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RESULTATS</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Resultats obtenus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27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5303520" cy="365760"/>
          </a:xfrm>
          <a:prstGeom prst="rect">
            <a:avLst/>
          </a:prstGeom>
          <a:noFill/>
        </p:spPr>
        <p:txBody>
          <a:bodyPr wrap="square">
            <a:spAutoFit/>
          </a:bodyPr>
          <a:lstStyle/>
          <a:p>
            <a:pPr algn="l">
              <a:defRPr sz="1600" b="1" i="0">
                <a:solidFill>
                  <a:srgbClr val="003366"/>
                </a:solidFill>
              </a:defRPr>
            </a:pPr>
            <a:r>
              <a:t>CS BAG v2</a:t>
            </a:r>
          </a:p>
        </p:txBody>
      </p:sp>
      <p:sp>
        <p:nvSpPr>
          <p:cNvPr id="10" name="Oval 9"/>
          <p:cNvSpPr/>
          <p:nvPr/>
        </p:nvSpPr>
        <p:spPr>
          <a:xfrm>
            <a:off x="822960" y="18928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1783080"/>
            <a:ext cx="4937760" cy="365760"/>
          </a:xfrm>
          <a:prstGeom prst="rect">
            <a:avLst/>
          </a:prstGeom>
          <a:noFill/>
        </p:spPr>
        <p:txBody>
          <a:bodyPr wrap="square">
            <a:spAutoFit/>
          </a:bodyPr>
          <a:lstStyle/>
          <a:p>
            <a:pPr algn="l">
              <a:defRPr sz="1100" b="0" i="0">
                <a:solidFill>
                  <a:srgbClr val="333333"/>
                </a:solidFill>
              </a:defRPr>
            </a:pPr>
            <a:r>
              <a:t>3 lots de specifications livres et mis en production</a:t>
            </a:r>
          </a:p>
        </p:txBody>
      </p:sp>
      <p:sp>
        <p:nvSpPr>
          <p:cNvPr id="12" name="Oval 11"/>
          <p:cNvSpPr/>
          <p:nvPr/>
        </p:nvSpPr>
        <p:spPr>
          <a:xfrm>
            <a:off x="822960" y="23500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2240280"/>
            <a:ext cx="4937760" cy="365760"/>
          </a:xfrm>
          <a:prstGeom prst="rect">
            <a:avLst/>
          </a:prstGeom>
          <a:noFill/>
        </p:spPr>
        <p:txBody>
          <a:bodyPr wrap="square">
            <a:spAutoFit/>
          </a:bodyPr>
          <a:lstStyle/>
          <a:p>
            <a:pPr algn="l">
              <a:defRPr sz="1100" b="0" i="0">
                <a:solidFill>
                  <a:srgbClr val="333333"/>
                </a:solidFill>
              </a:defRPr>
            </a:pPr>
            <a:r>
              <a:t>Socle technique remis dans le perimetre du support editeur</a:t>
            </a:r>
          </a:p>
        </p:txBody>
      </p:sp>
      <p:sp>
        <p:nvSpPr>
          <p:cNvPr id="14" name="Oval 13"/>
          <p:cNvSpPr/>
          <p:nvPr/>
        </p:nvSpPr>
        <p:spPr>
          <a:xfrm>
            <a:off x="822960" y="28072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2697480"/>
            <a:ext cx="4937760" cy="365760"/>
          </a:xfrm>
          <a:prstGeom prst="rect">
            <a:avLst/>
          </a:prstGeom>
          <a:noFill/>
        </p:spPr>
        <p:txBody>
          <a:bodyPr wrap="square">
            <a:spAutoFit/>
          </a:bodyPr>
          <a:lstStyle/>
          <a:p>
            <a:pPr algn="l">
              <a:defRPr sz="1100" b="0" i="0">
                <a:solidFill>
                  <a:srgbClr val="333333"/>
                </a:solidFill>
              </a:defRPr>
            </a:pPr>
            <a:r>
              <a:t>Modele de donnees normalise (7 migrations)</a:t>
            </a:r>
          </a:p>
        </p:txBody>
      </p:sp>
      <p:sp>
        <p:nvSpPr>
          <p:cNvPr id="16" name="Oval 15"/>
          <p:cNvSpPr/>
          <p:nvPr/>
        </p:nvSpPr>
        <p:spPr>
          <a:xfrm>
            <a:off x="822960" y="32644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97280" y="3154680"/>
            <a:ext cx="4937760" cy="365760"/>
          </a:xfrm>
          <a:prstGeom prst="rect">
            <a:avLst/>
          </a:prstGeom>
          <a:noFill/>
        </p:spPr>
        <p:txBody>
          <a:bodyPr wrap="square">
            <a:spAutoFit/>
          </a:bodyPr>
          <a:lstStyle/>
          <a:p>
            <a:pPr algn="l">
              <a:defRPr sz="1100" b="0" i="0">
                <a:solidFill>
                  <a:srgbClr val="333333"/>
                </a:solidFill>
              </a:defRPr>
            </a:pPr>
            <a:r>
              <a:t>Module d'administration des referentiels (8 ecrans)</a:t>
            </a:r>
          </a:p>
        </p:txBody>
      </p:sp>
      <p:sp>
        <p:nvSpPr>
          <p:cNvPr id="18" name="Oval 17"/>
          <p:cNvSpPr/>
          <p:nvPr/>
        </p:nvSpPr>
        <p:spPr>
          <a:xfrm>
            <a:off x="822960" y="37216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97280" y="3611880"/>
            <a:ext cx="4937760" cy="365760"/>
          </a:xfrm>
          <a:prstGeom prst="rect">
            <a:avLst/>
          </a:prstGeom>
          <a:noFill/>
        </p:spPr>
        <p:txBody>
          <a:bodyPr wrap="square">
            <a:spAutoFit/>
          </a:bodyPr>
          <a:lstStyle/>
          <a:p>
            <a:pPr algn="l">
              <a:defRPr sz="1100" b="0" i="0">
                <a:solidFill>
                  <a:srgbClr val="333333"/>
                </a:solidFill>
              </a:defRPr>
            </a:pPr>
            <a:r>
              <a:t>Historique des actions utilisateur</a:t>
            </a:r>
          </a:p>
        </p:txBody>
      </p:sp>
      <p:sp>
        <p:nvSpPr>
          <p:cNvPr id="20" name="Oval 19"/>
          <p:cNvSpPr/>
          <p:nvPr/>
        </p:nvSpPr>
        <p:spPr>
          <a:xfrm>
            <a:off x="822960" y="41788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97280" y="4069080"/>
            <a:ext cx="4937760" cy="365760"/>
          </a:xfrm>
          <a:prstGeom prst="rect">
            <a:avLst/>
          </a:prstGeom>
          <a:noFill/>
        </p:spPr>
        <p:txBody>
          <a:bodyPr wrap="square">
            <a:spAutoFit/>
          </a:bodyPr>
          <a:lstStyle/>
          <a:p>
            <a:pPr algn="l">
              <a:defRPr sz="1100" b="0" i="0">
                <a:solidFill>
                  <a:srgbClr val="333333"/>
                </a:solidFill>
              </a:defRPr>
            </a:pPr>
            <a:r>
              <a:t>Suivi etendu des ressources sensibles</a:t>
            </a:r>
          </a:p>
        </p:txBody>
      </p:sp>
      <p:sp>
        <p:nvSpPr>
          <p:cNvPr id="22" name="Oval 21"/>
          <p:cNvSpPr/>
          <p:nvPr/>
        </p:nvSpPr>
        <p:spPr>
          <a:xfrm>
            <a:off x="822960" y="46360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97280" y="4526280"/>
            <a:ext cx="4937760" cy="365760"/>
          </a:xfrm>
          <a:prstGeom prst="rect">
            <a:avLst/>
          </a:prstGeom>
          <a:noFill/>
        </p:spPr>
        <p:txBody>
          <a:bodyPr wrap="square">
            <a:spAutoFit/>
          </a:bodyPr>
          <a:lstStyle/>
          <a:p>
            <a:pPr algn="l">
              <a:defRPr sz="1100" b="0" i="0">
                <a:solidFill>
                  <a:srgbClr val="333333"/>
                </a:solidFill>
              </a:defRPr>
            </a:pPr>
            <a:r>
              <a:t>API REST alignee sur les principes de Fielding</a:t>
            </a:r>
          </a:p>
        </p:txBody>
      </p:sp>
      <p:sp>
        <p:nvSpPr>
          <p:cNvPr id="24" name="TextBox 23"/>
          <p:cNvSpPr txBox="1"/>
          <p:nvPr/>
        </p:nvSpPr>
        <p:spPr>
          <a:xfrm>
            <a:off x="6400800" y="1280160"/>
            <a:ext cx="5029200" cy="365760"/>
          </a:xfrm>
          <a:prstGeom prst="rect">
            <a:avLst/>
          </a:prstGeom>
          <a:noFill/>
        </p:spPr>
        <p:txBody>
          <a:bodyPr wrap="square">
            <a:spAutoFit/>
          </a:bodyPr>
          <a:lstStyle/>
          <a:p>
            <a:pPr algn="l">
              <a:defRPr sz="1600" b="1" i="0">
                <a:solidFill>
                  <a:srgbClr val="2E8B3D"/>
                </a:solidFill>
              </a:defRPr>
            </a:pPr>
            <a:r>
              <a:t>Elium Sauvegarde</a:t>
            </a:r>
          </a:p>
        </p:txBody>
      </p:sp>
      <p:sp>
        <p:nvSpPr>
          <p:cNvPr id="25" name="Oval 24"/>
          <p:cNvSpPr/>
          <p:nvPr/>
        </p:nvSpPr>
        <p:spPr>
          <a:xfrm>
            <a:off x="6492240" y="1892808"/>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66560" y="1783080"/>
            <a:ext cx="4937760" cy="365760"/>
          </a:xfrm>
          <a:prstGeom prst="rect">
            <a:avLst/>
          </a:prstGeom>
          <a:noFill/>
        </p:spPr>
        <p:txBody>
          <a:bodyPr wrap="square">
            <a:spAutoFit/>
          </a:bodyPr>
          <a:lstStyle/>
          <a:p>
            <a:pPr algn="l">
              <a:defRPr sz="1100" b="0" i="0">
                <a:solidFill>
                  <a:srgbClr val="333333"/>
                </a:solidFill>
              </a:defRPr>
            </a:pPr>
            <a:r>
              <a:t>Archivage automatique retabli et fiabilise</a:t>
            </a:r>
          </a:p>
        </p:txBody>
      </p:sp>
      <p:sp>
        <p:nvSpPr>
          <p:cNvPr id="27" name="Oval 26"/>
          <p:cNvSpPr/>
          <p:nvPr/>
        </p:nvSpPr>
        <p:spPr>
          <a:xfrm>
            <a:off x="6492240" y="2350008"/>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66560" y="2240280"/>
            <a:ext cx="4937760" cy="365760"/>
          </a:xfrm>
          <a:prstGeom prst="rect">
            <a:avLst/>
          </a:prstGeom>
          <a:noFill/>
        </p:spPr>
        <p:txBody>
          <a:bodyPr wrap="square">
            <a:spAutoFit/>
          </a:bodyPr>
          <a:lstStyle/>
          <a:p>
            <a:pPr algn="l">
              <a:defRPr sz="1100" b="0" i="0">
                <a:solidFill>
                  <a:srgbClr val="333333"/>
                </a:solidFill>
              </a:defRPr>
            </a:pPr>
            <a:r>
              <a:t>Traitement isole par article (fin du tout-ou-rien)</a:t>
            </a:r>
          </a:p>
        </p:txBody>
      </p:sp>
      <p:sp>
        <p:nvSpPr>
          <p:cNvPr id="29" name="Oval 28"/>
          <p:cNvSpPr/>
          <p:nvPr/>
        </p:nvSpPr>
        <p:spPr>
          <a:xfrm>
            <a:off x="6492240" y="2807208"/>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766560" y="2697480"/>
            <a:ext cx="4937760" cy="365760"/>
          </a:xfrm>
          <a:prstGeom prst="rect">
            <a:avLst/>
          </a:prstGeom>
          <a:noFill/>
        </p:spPr>
        <p:txBody>
          <a:bodyPr wrap="square">
            <a:spAutoFit/>
          </a:bodyPr>
          <a:lstStyle/>
          <a:p>
            <a:pPr algn="l">
              <a:defRPr sz="1100" b="0" i="0">
                <a:solidFill>
                  <a:srgbClr val="333333"/>
                </a:solidFill>
              </a:defRPr>
            </a:pPr>
            <a:r>
              <a:t>Distinction reponses partielles / indisponibilites</a:t>
            </a:r>
          </a:p>
        </p:txBody>
      </p:sp>
      <p:sp>
        <p:nvSpPr>
          <p:cNvPr id="31" name="Oval 30"/>
          <p:cNvSpPr/>
          <p:nvPr/>
        </p:nvSpPr>
        <p:spPr>
          <a:xfrm>
            <a:off x="6492240" y="3264408"/>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766560" y="3154680"/>
            <a:ext cx="4937760" cy="365760"/>
          </a:xfrm>
          <a:prstGeom prst="rect">
            <a:avLst/>
          </a:prstGeom>
          <a:noFill/>
        </p:spPr>
        <p:txBody>
          <a:bodyPr wrap="square">
            <a:spAutoFit/>
          </a:bodyPr>
          <a:lstStyle/>
          <a:p>
            <a:pPr algn="l">
              <a:defRPr sz="1100" b="0" i="0">
                <a:solidFill>
                  <a:srgbClr val="333333"/>
                </a:solidFill>
              </a:defRPr>
            </a:pPr>
            <a:r>
              <a:t>Creation automatique des dossiers SharePoint</a:t>
            </a:r>
          </a:p>
        </p:txBody>
      </p:sp>
      <p:sp>
        <p:nvSpPr>
          <p:cNvPr id="33" name="Oval 32"/>
          <p:cNvSpPr/>
          <p:nvPr/>
        </p:nvSpPr>
        <p:spPr>
          <a:xfrm>
            <a:off x="6492240" y="3721608"/>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766560" y="3611880"/>
            <a:ext cx="4937760" cy="365760"/>
          </a:xfrm>
          <a:prstGeom prst="rect">
            <a:avLst/>
          </a:prstGeom>
          <a:noFill/>
        </p:spPr>
        <p:txBody>
          <a:bodyPr wrap="square">
            <a:spAutoFit/>
          </a:bodyPr>
          <a:lstStyle/>
          <a:p>
            <a:pPr algn="l">
              <a:defRPr sz="1100" b="0" i="0">
                <a:solidFill>
                  <a:srgbClr val="333333"/>
                </a:solidFill>
              </a:defRPr>
            </a:pPr>
            <a:r>
              <a:t>Observabilite : resume final ~10 indicateurs</a:t>
            </a:r>
          </a:p>
        </p:txBody>
      </p:sp>
      <p:sp>
        <p:nvSpPr>
          <p:cNvPr id="35" name="Oval 34"/>
          <p:cNvSpPr/>
          <p:nvPr/>
        </p:nvSpPr>
        <p:spPr>
          <a:xfrm>
            <a:off x="6492240" y="4178808"/>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66560" y="4069080"/>
            <a:ext cx="4937760" cy="365760"/>
          </a:xfrm>
          <a:prstGeom prst="rect">
            <a:avLst/>
          </a:prstGeom>
          <a:noFill/>
        </p:spPr>
        <p:txBody>
          <a:bodyPr wrap="square">
            <a:spAutoFit/>
          </a:bodyPr>
          <a:lstStyle/>
          <a:p>
            <a:pPr algn="l">
              <a:defRPr sz="1100" b="0" i="0">
                <a:solidFill>
                  <a:srgbClr val="333333"/>
                </a:solidFill>
              </a:defRPr>
            </a:pPr>
            <a:r>
              <a:t>Choix synchronisation complete / incrementale</a:t>
            </a:r>
          </a:p>
        </p:txBody>
      </p:sp>
      <p:sp>
        <p:nvSpPr>
          <p:cNvPr id="37" name="Rounded Rectangle 36"/>
          <p:cNvSpPr/>
          <p:nvPr/>
        </p:nvSpPr>
        <p:spPr>
          <a:xfrm>
            <a:off x="731520" y="5212080"/>
            <a:ext cx="10698480" cy="1097280"/>
          </a:xfrm>
          <a:prstGeom prst="roundRect">
            <a:avLst/>
          </a:prstGeom>
          <a:solidFill>
            <a:srgbClr val="E8F0F8"/>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4400" y="5303520"/>
            <a:ext cx="10332720" cy="365760"/>
          </a:xfrm>
          <a:prstGeom prst="rect">
            <a:avLst/>
          </a:prstGeom>
          <a:noFill/>
        </p:spPr>
        <p:txBody>
          <a:bodyPr wrap="square">
            <a:spAutoFit/>
          </a:bodyPr>
          <a:lstStyle/>
          <a:p>
            <a:pPr algn="ctr">
              <a:defRPr sz="1400" b="1" i="0">
                <a:solidFill>
                  <a:srgbClr val="003366"/>
                </a:solidFill>
              </a:defRPr>
            </a:pPr>
            <a:r>
              <a:t>Impact metier</a:t>
            </a:r>
          </a:p>
        </p:txBody>
      </p:sp>
      <p:sp>
        <p:nvSpPr>
          <p:cNvPr id="39" name="TextBox 38"/>
          <p:cNvSpPr txBox="1"/>
          <p:nvPr/>
        </p:nvSpPr>
        <p:spPr>
          <a:xfrm>
            <a:off x="914400" y="5669280"/>
            <a:ext cx="10332720" cy="548640"/>
          </a:xfrm>
          <a:prstGeom prst="rect">
            <a:avLst/>
          </a:prstGeom>
          <a:noFill/>
        </p:spPr>
        <p:txBody>
          <a:bodyPr wrap="square">
            <a:spAutoFit/>
          </a:bodyPr>
          <a:lstStyle/>
          <a:p>
            <a:pPr algn="ctr">
              <a:defRPr sz="1100" b="0" i="1">
                <a:solidFill>
                  <a:srgbClr val="333333"/>
                </a:solidFill>
              </a:defRPr>
            </a:pPr>
            <a:r>
              <a:t>Filtres et alertes fiables, tracabilite des livraisons, protection des ressources sensibles.</a:t>
            </a:r>
          </a:p>
          <a:p>
            <a:pPr algn="ctr">
              <a:defRPr sz="1100" b="0" i="1">
                <a:solidFill>
                  <a:srgbClr val="333333"/>
                </a:solidFill>
              </a:defRPr>
            </a:pPr>
            <a:r>
              <a:t>Continuite de service assuree pour l'archivage des connaissances Elium.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08</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Recul et competences acquises</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Ce que l'experience m'a reellement apporte</a:t>
            </a:r>
          </a:p>
        </p:txBody>
      </p:sp>
      <p:sp>
        <p:nvSpPr>
          <p:cNvPr id="7" name="Freeform 10">
            <a:extLst>
              <a:ext uri="{FF2B5EF4-FFF2-40B4-BE49-F238E27FC236}">
                <a16:creationId xmlns:a16="http://schemas.microsoft.com/office/drawing/2014/main" id="{C78055A4-B73E-452C-87E0-0C22666AD50E}"/>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sp>
      <p:pic>
        <p:nvPicPr>
          <p:cNvPr id="8" name="Image 7">
            <a:extLst>
              <a:ext uri="{FF2B5EF4-FFF2-40B4-BE49-F238E27FC236}">
                <a16:creationId xmlns:a16="http://schemas.microsoft.com/office/drawing/2014/main" id="{4E64E442-D1A6-4848-9CC9-691220BBB619}"/>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RECUL</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Apports du stage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29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Rounded Rectangle 8"/>
          <p:cNvSpPr/>
          <p:nvPr/>
        </p:nvSpPr>
        <p:spPr>
          <a:xfrm>
            <a:off x="731520" y="1371600"/>
            <a:ext cx="3520440" cy="49377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1371600"/>
            <a:ext cx="3520440" cy="5486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Apports techniques</a:t>
            </a:r>
          </a:p>
        </p:txBody>
      </p:sp>
      <p:sp>
        <p:nvSpPr>
          <p:cNvPr id="11" name="Oval 10"/>
          <p:cNvSpPr/>
          <p:nvPr/>
        </p:nvSpPr>
        <p:spPr>
          <a:xfrm>
            <a:off x="960120" y="2221992"/>
            <a:ext cx="118872" cy="118872"/>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88720" y="2103120"/>
            <a:ext cx="3017520" cy="685800"/>
          </a:xfrm>
          <a:prstGeom prst="rect">
            <a:avLst/>
          </a:prstGeom>
          <a:noFill/>
        </p:spPr>
        <p:txBody>
          <a:bodyPr wrap="square">
            <a:spAutoFit/>
          </a:bodyPr>
          <a:lstStyle/>
          <a:p>
            <a:pPr algn="l">
              <a:defRPr sz="1000" b="0" i="0">
                <a:solidFill>
                  <a:srgbClr val="333333"/>
                </a:solidFill>
              </a:defRPr>
            </a:pPr>
            <a:r>
              <a:t>Travailler sur un systeme en production, pas depuis une page blanche</a:t>
            </a:r>
          </a:p>
        </p:txBody>
      </p:sp>
      <p:sp>
        <p:nvSpPr>
          <p:cNvPr id="13" name="Oval 12"/>
          <p:cNvSpPr/>
          <p:nvPr/>
        </p:nvSpPr>
        <p:spPr>
          <a:xfrm>
            <a:off x="960120" y="2999232"/>
            <a:ext cx="118872" cy="118872"/>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88720" y="2880360"/>
            <a:ext cx="3017520" cy="685800"/>
          </a:xfrm>
          <a:prstGeom prst="rect">
            <a:avLst/>
          </a:prstGeom>
          <a:noFill/>
        </p:spPr>
        <p:txBody>
          <a:bodyPr wrap="square">
            <a:spAutoFit/>
          </a:bodyPr>
          <a:lstStyle/>
          <a:p>
            <a:pPr algn="l">
              <a:defRPr sz="1000" b="0" i="0">
                <a:solidFill>
                  <a:srgbClr val="333333"/>
                </a:solidFill>
              </a:defRPr>
            </a:pPr>
            <a:r>
              <a:t>Analyse de donnees reelles avant de coder</a:t>
            </a:r>
          </a:p>
        </p:txBody>
      </p:sp>
      <p:sp>
        <p:nvSpPr>
          <p:cNvPr id="15" name="Oval 14"/>
          <p:cNvSpPr/>
          <p:nvPr/>
        </p:nvSpPr>
        <p:spPr>
          <a:xfrm>
            <a:off x="960120" y="3776472"/>
            <a:ext cx="118872" cy="118872"/>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3657600"/>
            <a:ext cx="3017520" cy="685800"/>
          </a:xfrm>
          <a:prstGeom prst="rect">
            <a:avLst/>
          </a:prstGeom>
          <a:noFill/>
        </p:spPr>
        <p:txBody>
          <a:bodyPr wrap="square">
            <a:spAutoFit/>
          </a:bodyPr>
          <a:lstStyle/>
          <a:p>
            <a:pPr algn="l">
              <a:defRPr sz="1000" b="0" i="0">
                <a:solidFill>
                  <a:srgbClr val="333333"/>
                </a:solidFill>
              </a:defRPr>
            </a:pPr>
            <a:r>
              <a:t>Migration palier par palier plutot que saut unique</a:t>
            </a:r>
          </a:p>
        </p:txBody>
      </p:sp>
      <p:sp>
        <p:nvSpPr>
          <p:cNvPr id="17" name="Oval 16"/>
          <p:cNvSpPr/>
          <p:nvPr/>
        </p:nvSpPr>
        <p:spPr>
          <a:xfrm>
            <a:off x="960120" y="4553712"/>
            <a:ext cx="118872" cy="118872"/>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88720" y="4434840"/>
            <a:ext cx="3017520" cy="685800"/>
          </a:xfrm>
          <a:prstGeom prst="rect">
            <a:avLst/>
          </a:prstGeom>
          <a:noFill/>
        </p:spPr>
        <p:txBody>
          <a:bodyPr wrap="square">
            <a:spAutoFit/>
          </a:bodyPr>
          <a:lstStyle/>
          <a:p>
            <a:pPr algn="l">
              <a:defRPr sz="1000" b="0" i="0">
                <a:solidFill>
                  <a:srgbClr val="333333"/>
                </a:solidFill>
              </a:defRPr>
            </a:pPr>
            <a:r>
              <a:t>Observabilite : un traitement sans traces = non validable</a:t>
            </a:r>
          </a:p>
        </p:txBody>
      </p:sp>
      <p:sp>
        <p:nvSpPr>
          <p:cNvPr id="19" name="Oval 18"/>
          <p:cNvSpPr/>
          <p:nvPr/>
        </p:nvSpPr>
        <p:spPr>
          <a:xfrm>
            <a:off x="960120" y="5330952"/>
            <a:ext cx="118872" cy="118872"/>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88720" y="5212080"/>
            <a:ext cx="3017520" cy="685800"/>
          </a:xfrm>
          <a:prstGeom prst="rect">
            <a:avLst/>
          </a:prstGeom>
          <a:noFill/>
        </p:spPr>
        <p:txBody>
          <a:bodyPr wrap="square">
            <a:spAutoFit/>
          </a:bodyPr>
          <a:lstStyle/>
          <a:p>
            <a:pPr algn="l">
              <a:defRPr sz="1000" b="0" i="0">
                <a:solidFill>
                  <a:srgbClr val="333333"/>
                </a:solidFill>
              </a:defRPr>
            </a:pPr>
            <a:r>
              <a:t>Securite cote serveur (pas seulement cote client)</a:t>
            </a:r>
          </a:p>
        </p:txBody>
      </p:sp>
      <p:sp>
        <p:nvSpPr>
          <p:cNvPr id="21" name="Rounded Rectangle 20"/>
          <p:cNvSpPr/>
          <p:nvPr/>
        </p:nvSpPr>
        <p:spPr>
          <a:xfrm>
            <a:off x="4480559" y="1371600"/>
            <a:ext cx="3520440" cy="4937760"/>
          </a:xfrm>
          <a:prstGeom prst="roundRect">
            <a:avLst/>
          </a:prstGeom>
          <a:solidFill>
            <a:srgbClr val="FFFFFF"/>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80559" y="1371600"/>
            <a:ext cx="3520440" cy="54864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Apports humains</a:t>
            </a:r>
          </a:p>
        </p:txBody>
      </p:sp>
      <p:sp>
        <p:nvSpPr>
          <p:cNvPr id="23" name="Oval 22"/>
          <p:cNvSpPr/>
          <p:nvPr/>
        </p:nvSpPr>
        <p:spPr>
          <a:xfrm>
            <a:off x="4709159" y="2221992"/>
            <a:ext cx="118872" cy="118872"/>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37759" y="2103120"/>
            <a:ext cx="3017520" cy="685800"/>
          </a:xfrm>
          <a:prstGeom prst="rect">
            <a:avLst/>
          </a:prstGeom>
          <a:noFill/>
        </p:spPr>
        <p:txBody>
          <a:bodyPr wrap="square">
            <a:spAutoFit/>
          </a:bodyPr>
          <a:lstStyle/>
          <a:p>
            <a:pPr algn="l">
              <a:defRPr sz="1000" b="0" i="0">
                <a:solidFill>
                  <a:srgbClr val="333333"/>
                </a:solidFill>
              </a:defRPr>
            </a:pPr>
            <a:r>
              <a:t>Identifier le bon interlocuteur selon la question</a:t>
            </a:r>
          </a:p>
        </p:txBody>
      </p:sp>
      <p:sp>
        <p:nvSpPr>
          <p:cNvPr id="25" name="Oval 24"/>
          <p:cNvSpPr/>
          <p:nvPr/>
        </p:nvSpPr>
        <p:spPr>
          <a:xfrm>
            <a:off x="4709159" y="2999232"/>
            <a:ext cx="118872" cy="118872"/>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937759" y="2880360"/>
            <a:ext cx="3017520" cy="685800"/>
          </a:xfrm>
          <a:prstGeom prst="rect">
            <a:avLst/>
          </a:prstGeom>
          <a:noFill/>
        </p:spPr>
        <p:txBody>
          <a:bodyPr wrap="square">
            <a:spAutoFit/>
          </a:bodyPr>
          <a:lstStyle/>
          <a:p>
            <a:pPr algn="l">
              <a:defRPr sz="1000" b="0" i="0">
                <a:solidFill>
                  <a:srgbClr val="333333"/>
                </a:solidFill>
              </a:defRPr>
            </a:pPr>
            <a:r>
              <a:t>Cahier de retours = ecart entre compris et attendu</a:t>
            </a:r>
          </a:p>
        </p:txBody>
      </p:sp>
      <p:sp>
        <p:nvSpPr>
          <p:cNvPr id="27" name="Oval 26"/>
          <p:cNvSpPr/>
          <p:nvPr/>
        </p:nvSpPr>
        <p:spPr>
          <a:xfrm>
            <a:off x="4709159" y="3776472"/>
            <a:ext cx="118872" cy="118872"/>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937759" y="3657600"/>
            <a:ext cx="3017520" cy="685800"/>
          </a:xfrm>
          <a:prstGeom prst="rect">
            <a:avLst/>
          </a:prstGeom>
          <a:noFill/>
        </p:spPr>
        <p:txBody>
          <a:bodyPr wrap="square">
            <a:spAutoFit/>
          </a:bodyPr>
          <a:lstStyle/>
          <a:p>
            <a:pPr algn="l">
              <a:defRPr sz="1000" b="0" i="0">
                <a:solidFill>
                  <a:srgbClr val="333333"/>
                </a:solidFill>
              </a:defRPr>
            </a:pPr>
            <a:r>
              <a:t>Formuler un probleme technique pour un non-technique</a:t>
            </a:r>
          </a:p>
        </p:txBody>
      </p:sp>
      <p:sp>
        <p:nvSpPr>
          <p:cNvPr id="29" name="Oval 28"/>
          <p:cNvSpPr/>
          <p:nvPr/>
        </p:nvSpPr>
        <p:spPr>
          <a:xfrm>
            <a:off x="4709159" y="4553712"/>
            <a:ext cx="118872" cy="118872"/>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37759" y="4434840"/>
            <a:ext cx="3017520" cy="685800"/>
          </a:xfrm>
          <a:prstGeom prst="rect">
            <a:avLst/>
          </a:prstGeom>
          <a:noFill/>
        </p:spPr>
        <p:txBody>
          <a:bodyPr wrap="square">
            <a:spAutoFit/>
          </a:bodyPr>
          <a:lstStyle/>
          <a:p>
            <a:pPr algn="l">
              <a:defRPr sz="1000" b="0" i="0">
                <a:solidFill>
                  <a:srgbClr val="333333"/>
                </a:solidFill>
              </a:defRPr>
            </a:pPr>
            <a:r>
              <a:t>Remonter un bloquant tot n'est pas un aveu de faiblesse</a:t>
            </a:r>
          </a:p>
        </p:txBody>
      </p:sp>
      <p:sp>
        <p:nvSpPr>
          <p:cNvPr id="31" name="Oval 30"/>
          <p:cNvSpPr/>
          <p:nvPr/>
        </p:nvSpPr>
        <p:spPr>
          <a:xfrm>
            <a:off x="4709159" y="5330952"/>
            <a:ext cx="118872" cy="118872"/>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937759" y="5212080"/>
            <a:ext cx="3017520" cy="685800"/>
          </a:xfrm>
          <a:prstGeom prst="rect">
            <a:avLst/>
          </a:prstGeom>
          <a:noFill/>
        </p:spPr>
        <p:txBody>
          <a:bodyPr wrap="square">
            <a:spAutoFit/>
          </a:bodyPr>
          <a:lstStyle/>
          <a:p>
            <a:pPr algn="l">
              <a:defRPr sz="1000" b="0" i="0">
                <a:solidFill>
                  <a:srgbClr val="333333"/>
                </a:solidFill>
              </a:defRPr>
            </a:pPr>
            <a:r>
              <a:t>Gestion des priorites : basculer selon l'impact</a:t>
            </a:r>
          </a:p>
        </p:txBody>
      </p:sp>
      <p:sp>
        <p:nvSpPr>
          <p:cNvPr id="33" name="Rounded Rectangle 32"/>
          <p:cNvSpPr/>
          <p:nvPr/>
        </p:nvSpPr>
        <p:spPr>
          <a:xfrm>
            <a:off x="8229598" y="1371600"/>
            <a:ext cx="3520440" cy="49377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229598" y="1371600"/>
            <a:ext cx="3520440" cy="5486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Lien avec ENSIM</a:t>
            </a:r>
          </a:p>
        </p:txBody>
      </p:sp>
      <p:sp>
        <p:nvSpPr>
          <p:cNvPr id="35" name="Oval 34"/>
          <p:cNvSpPr/>
          <p:nvPr/>
        </p:nvSpPr>
        <p:spPr>
          <a:xfrm>
            <a:off x="8458198" y="2221992"/>
            <a:ext cx="118872" cy="1188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86798" y="2103120"/>
            <a:ext cx="3017520" cy="685800"/>
          </a:xfrm>
          <a:prstGeom prst="rect">
            <a:avLst/>
          </a:prstGeom>
          <a:noFill/>
        </p:spPr>
        <p:txBody>
          <a:bodyPr wrap="square">
            <a:spAutoFit/>
          </a:bodyPr>
          <a:lstStyle/>
          <a:p>
            <a:pPr algn="l">
              <a:defRPr sz="1000" b="0" i="0">
                <a:solidFill>
                  <a:srgbClr val="333333"/>
                </a:solidFill>
              </a:defRPr>
            </a:pPr>
            <a:r>
              <a:t>BDD relationnelles : formes normales appliquees</a:t>
            </a:r>
          </a:p>
        </p:txBody>
      </p:sp>
      <p:sp>
        <p:nvSpPr>
          <p:cNvPr id="37" name="Oval 36"/>
          <p:cNvSpPr/>
          <p:nvPr/>
        </p:nvSpPr>
        <p:spPr>
          <a:xfrm>
            <a:off x="8458198" y="2999232"/>
            <a:ext cx="118872" cy="1188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686798" y="2880360"/>
            <a:ext cx="3017520" cy="685800"/>
          </a:xfrm>
          <a:prstGeom prst="rect">
            <a:avLst/>
          </a:prstGeom>
          <a:noFill/>
        </p:spPr>
        <p:txBody>
          <a:bodyPr wrap="square">
            <a:spAutoFit/>
          </a:bodyPr>
          <a:lstStyle/>
          <a:p>
            <a:pPr algn="l">
              <a:defRPr sz="1000" b="0" i="0">
                <a:solidFill>
                  <a:srgbClr val="333333"/>
                </a:solidFill>
              </a:defRPr>
            </a:pPr>
            <a:r>
              <a:t>Genie logiciel / architecture n-tiers concretisee</a:t>
            </a:r>
          </a:p>
        </p:txBody>
      </p:sp>
      <p:sp>
        <p:nvSpPr>
          <p:cNvPr id="39" name="Oval 38"/>
          <p:cNvSpPr/>
          <p:nvPr/>
        </p:nvSpPr>
        <p:spPr>
          <a:xfrm>
            <a:off x="8458198" y="3776472"/>
            <a:ext cx="118872" cy="1188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686798" y="3657600"/>
            <a:ext cx="3017520" cy="685800"/>
          </a:xfrm>
          <a:prstGeom prst="rect">
            <a:avLst/>
          </a:prstGeom>
          <a:noFill/>
        </p:spPr>
        <p:txBody>
          <a:bodyPr wrap="square">
            <a:spAutoFit/>
          </a:bodyPr>
          <a:lstStyle/>
          <a:p>
            <a:pPr algn="l">
              <a:defRPr sz="1000" b="0" i="0">
                <a:solidFill>
                  <a:srgbClr val="333333"/>
                </a:solidFill>
              </a:defRPr>
            </a:pPr>
            <a:r>
              <a:t>Programmation objet : rapidite d'appropriation</a:t>
            </a:r>
          </a:p>
        </p:txBody>
      </p:sp>
      <p:sp>
        <p:nvSpPr>
          <p:cNvPr id="41" name="Oval 40"/>
          <p:cNvSpPr/>
          <p:nvPr/>
        </p:nvSpPr>
        <p:spPr>
          <a:xfrm>
            <a:off x="8458198" y="4553712"/>
            <a:ext cx="118872" cy="1188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686798" y="4434840"/>
            <a:ext cx="3017520" cy="685800"/>
          </a:xfrm>
          <a:prstGeom prst="rect">
            <a:avLst/>
          </a:prstGeom>
          <a:noFill/>
        </p:spPr>
        <p:txBody>
          <a:bodyPr wrap="square">
            <a:spAutoFit/>
          </a:bodyPr>
          <a:lstStyle/>
          <a:p>
            <a:pPr algn="l">
              <a:defRPr sz="1000" b="0" i="0">
                <a:solidFill>
                  <a:srgbClr val="333333"/>
                </a:solidFill>
              </a:defRPr>
            </a:pPr>
            <a:r>
              <a:t>Specialite IPS : dette ergonomique, historique lisible</a:t>
            </a:r>
          </a:p>
        </p:txBody>
      </p:sp>
      <p:sp>
        <p:nvSpPr>
          <p:cNvPr id="43" name="Oval 42"/>
          <p:cNvSpPr/>
          <p:nvPr/>
        </p:nvSpPr>
        <p:spPr>
          <a:xfrm>
            <a:off x="8458198" y="5330952"/>
            <a:ext cx="118872" cy="1188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686798" y="5212080"/>
            <a:ext cx="3017520" cy="685800"/>
          </a:xfrm>
          <a:prstGeom prst="rect">
            <a:avLst/>
          </a:prstGeom>
          <a:noFill/>
        </p:spPr>
        <p:txBody>
          <a:bodyPr wrap="square">
            <a:spAutoFit/>
          </a:bodyPr>
          <a:lstStyle/>
          <a:p>
            <a:pPr algn="l">
              <a:defRPr sz="1000" b="0" i="0">
                <a:solidFill>
                  <a:srgbClr val="333333"/>
                </a:solidFill>
              </a:defRPr>
            </a:pPr>
            <a:r>
              <a:t>Ecarts a combler : Cloud, deploiement automatise, tests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09</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Conclusion et perspectives</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Bilan global et suite du projet</a:t>
            </a:r>
          </a:p>
        </p:txBody>
      </p:sp>
      <p:sp>
        <p:nvSpPr>
          <p:cNvPr id="7" name="Freeform 10">
            <a:extLst>
              <a:ext uri="{FF2B5EF4-FFF2-40B4-BE49-F238E27FC236}">
                <a16:creationId xmlns:a16="http://schemas.microsoft.com/office/drawing/2014/main" id="{5E1A64E5-4576-4D0B-A1BD-891E4CB65664}"/>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sp>
      <p:pic>
        <p:nvPicPr>
          <p:cNvPr id="8" name="Image 7">
            <a:extLst>
              <a:ext uri="{FF2B5EF4-FFF2-40B4-BE49-F238E27FC236}">
                <a16:creationId xmlns:a16="http://schemas.microsoft.com/office/drawing/2014/main" id="{E604F985-218E-4F55-9F17-AFA12A8896AC}"/>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CONCLUSION</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Conclusion et perspectives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31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l">
              <a:defRPr sz="1600" b="1" i="0">
                <a:solidFill>
                  <a:srgbClr val="003366"/>
                </a:solidFill>
              </a:defRPr>
            </a:pPr>
            <a:r>
              <a:t>Bilan</a:t>
            </a:r>
          </a:p>
        </p:txBody>
      </p:sp>
      <p:sp>
        <p:nvSpPr>
          <p:cNvPr id="10" name="TextBox 9"/>
          <p:cNvSpPr txBox="1"/>
          <p:nvPr/>
        </p:nvSpPr>
        <p:spPr>
          <a:xfrm>
            <a:off x="731520" y="1691640"/>
            <a:ext cx="10698480" cy="1280160"/>
          </a:xfrm>
          <a:prstGeom prst="rect">
            <a:avLst/>
          </a:prstGeom>
          <a:noFill/>
        </p:spPr>
        <p:txBody>
          <a:bodyPr wrap="square">
            <a:spAutoFit/>
          </a:bodyPr>
          <a:lstStyle/>
          <a:p>
            <a:pPr algn="l">
              <a:defRPr sz="1100" b="0" i="0">
                <a:solidFill>
                  <a:srgbClr val="333333"/>
                </a:solidFill>
              </a:defRPr>
            </a:pPr>
            <a:r>
              <a:t>La demarche a repose sur un principe constant : analyser l'existant avant de le modifier.</a:t>
            </a:r>
          </a:p>
          <a:p>
            <a:pPr algn="l">
              <a:defRPr sz="1100" b="0" i="0">
                <a:solidFill>
                  <a:srgbClr val="333333"/>
                </a:solidFill>
              </a:defRPr>
            </a:pPr>
            <a:r>
              <a:t>Le diagnostic mene en amont, appuye sur des requetes menees sur les donnees de production,</a:t>
            </a:r>
          </a:p>
          <a:p>
            <a:pPr algn="l">
              <a:defRPr sz="1100" b="0" i="0">
                <a:solidFill>
                  <a:srgbClr val="333333"/>
                </a:solidFill>
              </a:defRPr>
            </a:pPr>
            <a:r>
              <a:t>a oriente l'ensemble des choix techniques.</a:t>
            </a:r>
          </a:p>
          <a:p>
            <a:pPr algn="l">
              <a:defRPr sz="1100" b="0" i="0">
                <a:solidFill>
                  <a:srgbClr val="333333"/>
                </a:solidFill>
              </a:defRPr>
            </a:pPr>
            <a:r>
              <a:t>Les 3 lots ont ete livres et mis en production, le socle technique a ete remis dans le support editeur,</a:t>
            </a:r>
          </a:p>
          <a:p>
            <a:pPr algn="l">
              <a:defRPr sz="1100" b="0" i="0">
                <a:solidFill>
                  <a:srgbClr val="333333"/>
                </a:solidFill>
              </a:defRPr>
            </a:pPr>
            <a:r>
              <a:t>et le modele de donnees a ete normalise.</a:t>
            </a:r>
          </a:p>
        </p:txBody>
      </p:sp>
      <p:sp>
        <p:nvSpPr>
          <p:cNvPr id="11" name="TextBox 10"/>
          <p:cNvSpPr txBox="1"/>
          <p:nvPr/>
        </p:nvSpPr>
        <p:spPr>
          <a:xfrm>
            <a:off x="731520" y="3291840"/>
            <a:ext cx="10698480" cy="365760"/>
          </a:xfrm>
          <a:prstGeom prst="rect">
            <a:avLst/>
          </a:prstGeom>
          <a:noFill/>
        </p:spPr>
        <p:txBody>
          <a:bodyPr wrap="square">
            <a:spAutoFit/>
          </a:bodyPr>
          <a:lstStyle/>
          <a:p>
            <a:pPr algn="l">
              <a:defRPr sz="1600" b="1" i="0">
                <a:solidFill>
                  <a:srgbClr val="2E8B3D"/>
                </a:solidFill>
              </a:defRPr>
            </a:pPr>
            <a:r>
              <a:t>Perspectives</a:t>
            </a:r>
          </a:p>
        </p:txBody>
      </p:sp>
      <p:sp>
        <p:nvSpPr>
          <p:cNvPr id="12" name="Rounded Rectangle 11"/>
          <p:cNvSpPr/>
          <p:nvPr/>
        </p:nvSpPr>
        <p:spPr>
          <a:xfrm>
            <a:off x="731520" y="3749039"/>
            <a:ext cx="10698480" cy="64008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822191"/>
            <a:ext cx="10332720" cy="274320"/>
          </a:xfrm>
          <a:prstGeom prst="rect">
            <a:avLst/>
          </a:prstGeom>
          <a:noFill/>
        </p:spPr>
        <p:txBody>
          <a:bodyPr wrap="square">
            <a:spAutoFit/>
          </a:bodyPr>
          <a:lstStyle/>
          <a:p>
            <a:pPr algn="l">
              <a:defRPr sz="1200" b="1" i="0">
                <a:solidFill>
                  <a:srgbClr val="2E8B3D"/>
                </a:solidFill>
              </a:defRPr>
            </a:pPr>
            <a:r>
              <a:t>Tests automatises cote serveur</a:t>
            </a:r>
          </a:p>
        </p:txBody>
      </p:sp>
      <p:sp>
        <p:nvSpPr>
          <p:cNvPr id="14" name="TextBox 13"/>
          <p:cNvSpPr txBox="1"/>
          <p:nvPr/>
        </p:nvSpPr>
        <p:spPr>
          <a:xfrm>
            <a:off x="914400" y="4096511"/>
            <a:ext cx="10332720" cy="274320"/>
          </a:xfrm>
          <a:prstGeom prst="rect">
            <a:avLst/>
          </a:prstGeom>
          <a:noFill/>
        </p:spPr>
        <p:txBody>
          <a:bodyPr wrap="square">
            <a:spAutoFit/>
          </a:bodyPr>
          <a:lstStyle/>
          <a:p>
            <a:pPr algn="l">
              <a:defRPr sz="1000" b="0" i="1">
                <a:solidFill>
                  <a:srgbClr val="333333"/>
                </a:solidFill>
              </a:defRPr>
            </a:pPr>
            <a:r>
              <a:t>Actuellement absents : securiser les evolutions futures apres refonte du modele</a:t>
            </a:r>
          </a:p>
        </p:txBody>
      </p:sp>
      <p:sp>
        <p:nvSpPr>
          <p:cNvPr id="15" name="Rounded Rectangle 14"/>
          <p:cNvSpPr/>
          <p:nvPr/>
        </p:nvSpPr>
        <p:spPr>
          <a:xfrm>
            <a:off x="731520" y="4434839"/>
            <a:ext cx="10698480" cy="64008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4507991"/>
            <a:ext cx="10332720" cy="274320"/>
          </a:xfrm>
          <a:prstGeom prst="rect">
            <a:avLst/>
          </a:prstGeom>
          <a:noFill/>
        </p:spPr>
        <p:txBody>
          <a:bodyPr wrap="square">
            <a:spAutoFit/>
          </a:bodyPr>
          <a:lstStyle/>
          <a:p>
            <a:pPr algn="l">
              <a:defRPr sz="1200" b="1" i="0">
                <a:solidFill>
                  <a:srgbClr val="2E8B3D"/>
                </a:solidFill>
              </a:defRPr>
            </a:pPr>
            <a:r>
              <a:t>Automatisation des deploiements</a:t>
            </a:r>
          </a:p>
        </p:txBody>
      </p:sp>
      <p:sp>
        <p:nvSpPr>
          <p:cNvPr id="17" name="TextBox 16"/>
          <p:cNvSpPr txBox="1"/>
          <p:nvPr/>
        </p:nvSpPr>
        <p:spPr>
          <a:xfrm>
            <a:off x="914400" y="4782311"/>
            <a:ext cx="10332720" cy="274320"/>
          </a:xfrm>
          <a:prstGeom prst="rect">
            <a:avLst/>
          </a:prstGeom>
          <a:noFill/>
        </p:spPr>
        <p:txBody>
          <a:bodyPr wrap="square">
            <a:spAutoFit/>
          </a:bodyPr>
          <a:lstStyle/>
          <a:p>
            <a:pPr algn="l">
              <a:defRPr sz="1000" b="0" i="1">
                <a:solidFill>
                  <a:srgbClr val="333333"/>
                </a:solidFill>
              </a:defRPr>
            </a:pPr>
            <a:r>
              <a:t>Les mises en production restent en grande partie manuelles</a:t>
            </a:r>
          </a:p>
        </p:txBody>
      </p:sp>
      <p:sp>
        <p:nvSpPr>
          <p:cNvPr id="18" name="Rounded Rectangle 17"/>
          <p:cNvSpPr/>
          <p:nvPr/>
        </p:nvSpPr>
        <p:spPr>
          <a:xfrm>
            <a:off x="731520" y="5120639"/>
            <a:ext cx="10698480" cy="64008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193791"/>
            <a:ext cx="10332720" cy="274320"/>
          </a:xfrm>
          <a:prstGeom prst="rect">
            <a:avLst/>
          </a:prstGeom>
          <a:noFill/>
        </p:spPr>
        <p:txBody>
          <a:bodyPr wrap="square">
            <a:spAutoFit/>
          </a:bodyPr>
          <a:lstStyle/>
          <a:p>
            <a:pPr algn="l">
              <a:defRPr sz="1200" b="1" i="0">
                <a:solidFill>
                  <a:srgbClr val="2E8B3D"/>
                </a:solidFill>
              </a:defRPr>
            </a:pPr>
            <a:r>
              <a:t>Suivi regulier des montees de version</a:t>
            </a:r>
          </a:p>
        </p:txBody>
      </p:sp>
      <p:sp>
        <p:nvSpPr>
          <p:cNvPr id="20" name="TextBox 19"/>
          <p:cNvSpPr txBox="1"/>
          <p:nvPr/>
        </p:nvSpPr>
        <p:spPr>
          <a:xfrm>
            <a:off x="914400" y="5468111"/>
            <a:ext cx="10332720" cy="274320"/>
          </a:xfrm>
          <a:prstGeom prst="rect">
            <a:avLst/>
          </a:prstGeom>
          <a:noFill/>
        </p:spPr>
        <p:txBody>
          <a:bodyPr wrap="square">
            <a:spAutoFit/>
          </a:bodyPr>
          <a:lstStyle/>
          <a:p>
            <a:pPr algn="l">
              <a:defRPr sz="1000" b="0" i="1">
                <a:solidFill>
                  <a:srgbClr val="333333"/>
                </a:solidFill>
              </a:defRPr>
            </a:pPr>
            <a:r>
              <a:t>Sans quoi la dette technique traitee cette annee se reconstituera</a:t>
            </a:r>
          </a:p>
        </p:txBody>
      </p:sp>
      <p:sp>
        <p:nvSpPr>
          <p:cNvPr id="21" name="Rounded Rectangle 20"/>
          <p:cNvSpPr/>
          <p:nvPr/>
        </p:nvSpPr>
        <p:spPr>
          <a:xfrm>
            <a:off x="731520" y="5989320"/>
            <a:ext cx="10698480" cy="457200"/>
          </a:xfrm>
          <a:prstGeom prst="roundRect">
            <a:avLst/>
          </a:prstGeom>
          <a:solidFill>
            <a:srgbClr val="E8F0F8"/>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6035040"/>
            <a:ext cx="10332720" cy="411480"/>
          </a:xfrm>
          <a:prstGeom prst="rect">
            <a:avLst/>
          </a:prstGeom>
          <a:noFill/>
        </p:spPr>
        <p:txBody>
          <a:bodyPr wrap="square">
            <a:spAutoFit/>
          </a:bodyPr>
          <a:lstStyle/>
          <a:p>
            <a:pPr algn="ctr">
              <a:defRPr sz="1000" b="0" i="1">
                <a:solidFill>
                  <a:srgbClr val="003366"/>
                </a:solidFill>
              </a:defRPr>
            </a:pPr>
            <a:r>
              <a:t>Sur le plan personnel : autonomie a l'echelle inedite (252 livraisons portees seul), analyse et argumentation d'un probleme absent du cahier des charges.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457200" y="2286000"/>
            <a:ext cx="11247120" cy="1371600"/>
          </a:xfrm>
          <a:prstGeom prst="rect">
            <a:avLst/>
          </a:prstGeom>
          <a:noFill/>
        </p:spPr>
        <p:txBody>
          <a:bodyPr wrap="square">
            <a:spAutoFit/>
          </a:bodyPr>
          <a:lstStyle/>
          <a:p>
            <a:pPr algn="ctr">
              <a:defRPr sz="6000" b="1" i="0">
                <a:solidFill>
                  <a:srgbClr val="FFFFFF"/>
                </a:solidFill>
              </a:defRPr>
            </a:pPr>
            <a:r>
              <a:t>Merci pour votre attention</a:t>
            </a:r>
          </a:p>
        </p:txBody>
      </p:sp>
      <p:sp>
        <p:nvSpPr>
          <p:cNvPr id="3" name="Rectangle 2"/>
          <p:cNvSpPr/>
          <p:nvPr/>
        </p:nvSpPr>
        <p:spPr>
          <a:xfrm>
            <a:off x="4937760" y="3657600"/>
            <a:ext cx="22860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931920"/>
            <a:ext cx="11247120" cy="731520"/>
          </a:xfrm>
          <a:prstGeom prst="rect">
            <a:avLst/>
          </a:prstGeom>
          <a:noFill/>
        </p:spPr>
        <p:txBody>
          <a:bodyPr wrap="square">
            <a:spAutoFit/>
          </a:bodyPr>
          <a:lstStyle/>
          <a:p>
            <a:pPr algn="ctr">
              <a:defRPr sz="2800" b="0" i="1">
                <a:solidFill>
                  <a:srgbClr val="FFFFFF"/>
                </a:solidFill>
              </a:defRPr>
            </a:pPr>
            <a:r>
              <a:t>Place aux questions</a:t>
            </a:r>
          </a:p>
        </p:txBody>
      </p:sp>
      <p:sp>
        <p:nvSpPr>
          <p:cNvPr id="5" name="TextBox 4"/>
          <p:cNvSpPr txBox="1"/>
          <p:nvPr/>
        </p:nvSpPr>
        <p:spPr>
          <a:xfrm>
            <a:off x="457200" y="5943600"/>
            <a:ext cx="11247120" cy="365760"/>
          </a:xfrm>
          <a:prstGeom prst="rect">
            <a:avLst/>
          </a:prstGeom>
          <a:noFill/>
        </p:spPr>
        <p:txBody>
          <a:bodyPr wrap="square">
            <a:spAutoFit/>
          </a:bodyPr>
          <a:lstStyle/>
          <a:p>
            <a:pPr algn="ctr">
              <a:defRPr sz="1200" b="0" i="0">
                <a:solidFill>
                  <a:srgbClr val="FFFFFF"/>
                </a:solidFill>
              </a:defRPr>
            </a:pPr>
            <a:r>
              <a:t>Ahmed BOURAZZA  |  PFE ENSIM x VINCI Energies Systemes d'Information  |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105</TotalTime>
  <Words>2532</Words>
  <Application>Microsoft Office PowerPoint</Application>
  <PresentationFormat>Grand écran</PresentationFormat>
  <Paragraphs>507</Paragraphs>
  <Slides>31</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31</vt:i4>
      </vt:variant>
    </vt:vector>
  </HeadingPairs>
  <TitlesOfParts>
    <vt:vector size="34"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
  <cp:keywords/>
  <dc:description>generated using python-pptx</dc:description>
  <cp:lastModifiedBy>Ahmed Bourazza</cp:lastModifiedBy>
  <cp:revision>8</cp:revision>
  <dcterms:created xsi:type="dcterms:W3CDTF">2013-01-27T09:14:16Z</dcterms:created>
  <dcterms:modified xsi:type="dcterms:W3CDTF">2026-09-12T15:49:41Z</dcterms:modified>
  <cp:category/>
</cp:coreProperties>
</file>