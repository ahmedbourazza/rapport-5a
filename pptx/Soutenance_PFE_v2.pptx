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229600" y="0"/>
            <a:ext cx="4572000" cy="6858000"/>
          </a:xfrm>
          <a:prstGeom prst="parallelogram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CCEE"/>
                </a:solidFill>
              </a:defRPr>
            </a:pPr>
            <a:r>
              <a:t>PROJET DE FIN D'ETUDES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Modernisation d'une application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de gestion de patrimoine applicatif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au sein de VINCI Energies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3657600" cy="457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Ahmed BOURAZZA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CCEE"/>
                </a:solidFill>
              </a:defRPr>
            </a:pPr>
            <a:r>
              <a:t>ENSIM  |  2025-2026  |  Specialite Informatique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BBDD"/>
                </a:solidFill>
              </a:defRPr>
            </a:pPr>
            <a:r>
              <a:t>VINCI Energies Systemes d'Information (VESI)</a:t>
            </a:r>
          </a:p>
          <a:p>
            <a:pPr algn="l">
              <a:defRPr sz="1300" b="0">
                <a:solidFill>
                  <a:srgbClr val="99BBDD"/>
                </a:solidFill>
              </a:defRPr>
            </a:pPr>
            <a:r>
              <a:t>Stage du 02 mars au 31 aout 2026</a:t>
            </a:r>
          </a:p>
          <a:p>
            <a:pPr algn="l">
              <a:defRPr sz="1300" b="0">
                <a:solidFill>
                  <a:srgbClr val="99BBDD"/>
                </a:solidFill>
              </a:defRPr>
            </a:pPr>
            <a:r>
              <a:t>Soutenance du 17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AACC"/>
                </a:solidFill>
              </a:defRPr>
            </a:pPr>
            <a:r>
              <a:t>Tuteur universite : M. M'HAMMEDI Taoufik</a:t>
            </a:r>
          </a:p>
          <a:p>
            <a:pPr algn="l">
              <a:defRPr sz="1100" b="0">
                <a:solidFill>
                  <a:srgbClr val="88AACC"/>
                </a:solidFill>
              </a:defRPr>
            </a:pPr>
            <a:r>
              <a:t>Tuteurs entreprise : M. STER Alexis  |  M. VILLERMIN Maxime</a:t>
            </a:r>
          </a:p>
          <a:p>
            <a:pPr algn="l">
              <a:defRPr sz="1100" b="0">
                <a:solidFill>
                  <a:srgbClr val="88AACC"/>
                </a:solidFill>
              </a:defRPr>
            </a:pPr>
            <a:r>
              <a:t>Membre du jury : M. YAAKOUBI Nourdin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371600"/>
            <a:ext cx="2011680" cy="1097280"/>
          </a:xfrm>
          <a:prstGeom prst="roundRect">
            <a:avLst/>
          </a:prstGeom>
          <a:solidFill>
            <a:srgbClr val="00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AACC"/>
                </a:solidFill>
              </a:defRPr>
            </a:pPr>
            <a:r>
              <a:t>Logo ENSIM</a:t>
            </a:r>
          </a:p>
          <a:p>
            <a:pPr algn="ctr">
              <a:defRPr sz="1100" b="0">
                <a:solidFill>
                  <a:srgbClr val="88AACC"/>
                </a:solidFill>
              </a:defRPr>
            </a:pPr>
            <a:r>
              <a:t>[a inserer]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743200"/>
            <a:ext cx="2011680" cy="1097280"/>
          </a:xfrm>
          <a:prstGeom prst="roundRect">
            <a:avLst/>
          </a:prstGeom>
          <a:solidFill>
            <a:srgbClr val="00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AACC"/>
                </a:solidFill>
              </a:defRPr>
            </a:pPr>
            <a:r>
              <a:t>Logo VINCI</a:t>
            </a:r>
          </a:p>
          <a:p>
            <a:pPr algn="ctr">
              <a:defRPr sz="1100" b="0">
                <a:solidFill>
                  <a:srgbClr val="88AACC"/>
                </a:solidFill>
              </a:defRPr>
            </a:pPr>
            <a:r>
              <a:t>[a inserer]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463040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81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</a:defRPr>
            </a:pPr>
            <a:r>
              <a:t>Organisme d'accueil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556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VINCI, VINCI Energies, VESI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600200"/>
            <a:ext cx="41148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756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</a:defRPr>
            </a:pPr>
            <a:r>
              <a:t>Contexte du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500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Missions et organisation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194560"/>
            <a:ext cx="4114800" cy="27432"/>
          </a:xfrm>
          <a:prstGeom prst="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651760"/>
            <a:ext cx="502920" cy="502920"/>
          </a:xfrm>
          <a:prstGeom prst="ellipse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670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</a:defRPr>
            </a:pPr>
            <a:r>
              <a:t>CS BAG v1 : etat des lieux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9443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Diagnostic et analyse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788920"/>
            <a:ext cx="4114800" cy="27432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24612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264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</a:defRPr>
            </a:pPr>
            <a:r>
              <a:t>CS BAG v2 : conception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5387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Architecture, normalisation, lots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383280"/>
            <a:ext cx="41148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84048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858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</a:defRPr>
            </a:pPr>
            <a:r>
              <a:t>Demonstrations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1330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Avant / apres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977640"/>
            <a:ext cx="411480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453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</a:defRPr>
            </a:pPr>
            <a:r>
              <a:t>Gestion de projet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727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Agile et CI/CD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4572000"/>
            <a:ext cx="4114800" cy="2743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5029200"/>
            <a:ext cx="502920" cy="50292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0474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</a:defRPr>
            </a:pPr>
            <a:r>
              <a:t>Elium Sauvegarde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3218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Diagnostic et correction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5166360"/>
            <a:ext cx="4114800" cy="2743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5623560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641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</a:defRPr>
            </a:pPr>
            <a:r>
              <a:t>Bilan et perspectives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9161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Technique et personnel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5760720"/>
            <a:ext cx="41148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ORGANISME D'ACCUEIL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Le groupe VINCI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Leader mondial des concessions,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de l'energie et de la construction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293 800 collaborateurs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Plus de 120 pays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CA 2025 : 74,6 Mds euros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Resultat net : 4,9 Mds euros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463040"/>
            <a:ext cx="2743200" cy="6400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GROUPE VINCI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743200"/>
            <a:ext cx="1371600" cy="10972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VINCI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Autoroutes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2103120"/>
            <a:ext cx="36576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0" y="2743200"/>
            <a:ext cx="1371600" cy="109728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VINCI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Energies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2712" y="2103120"/>
            <a:ext cx="36576" cy="64008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0" y="2743200"/>
            <a:ext cx="1371600" cy="10972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VINCI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Construction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37192" y="2103120"/>
            <a:ext cx="36576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24160" y="2743200"/>
            <a:ext cx="1371600" cy="109728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Cobra 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91672" y="2103120"/>
            <a:ext cx="36576" cy="64008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03520" y="42976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3000" b="1">
                <a:solidFill>
                  <a:srgbClr val="003366"/>
                </a:solidFill>
              </a:defRPr>
            </a:pPr>
            <a:r>
              <a:t>74,6 Mds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Chiffre d'affaires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2976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3000" b="1">
                <a:solidFill>
                  <a:srgbClr val="E2001A"/>
                </a:solidFill>
              </a:defRPr>
            </a:pPr>
            <a:r>
              <a:t>293 800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Collaborateurs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0" y="42976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3000" b="1">
                <a:solidFill>
                  <a:srgbClr val="0078D4"/>
                </a:solidFill>
              </a:defRPr>
            </a:pPr>
            <a:r>
              <a:t>120+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Pays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ORGANISME D'ACCUEIL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VINCI Energies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3000" b="1">
                <a:solidFill>
                  <a:srgbClr val="E2001A"/>
                </a:solidFill>
              </a:defRPr>
            </a:pPr>
            <a:r>
              <a:t>21,6 Mds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Chiffre d'affaires (euros)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5544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3000" b="1">
                <a:solidFill>
                  <a:srgbClr val="003366"/>
                </a:solidFill>
              </a:defRPr>
            </a:pPr>
            <a:r>
              <a:t>109 000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Collaborateurs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3000" b="1">
                <a:solidFill>
                  <a:srgbClr val="0078D4"/>
                </a:solidFill>
              </a:defRPr>
            </a:pPr>
            <a:r>
              <a:t>60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Pays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554480"/>
            <a:ext cx="22860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3000" b="1">
                <a:solidFill>
                  <a:srgbClr val="2E7D32"/>
                </a:solidFill>
              </a:defRPr>
            </a:pPr>
            <a:r>
              <a:t>2 200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Entreprises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Pole energie et numerique du groupe VINCI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Modele decentralise : autonomie et agilite des Business Units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4 marques : Axians (ICT), Actemium (industrie), Omexom (energie), VINCI Facilities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Transformation numerique des territoires, des entreprises et des infrastructures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303520"/>
            <a:ext cx="256032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Axians (ICT)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5303520"/>
            <a:ext cx="2560320" cy="64008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Actemium (Industrie)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5303520"/>
            <a:ext cx="256032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Omexom (Energie)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5303520"/>
            <a:ext cx="2560320" cy="64008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VINCI Facilities (Services)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ORGANISME D'ACCUEIL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VESI et la direction Custom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63040"/>
            <a:ext cx="4114800" cy="6400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VESI (DSI de VINCI Energies)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103120"/>
            <a:ext cx="36576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2560320"/>
            <a:ext cx="5943600" cy="64008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Direction Custom Applications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36576" cy="457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3657600"/>
            <a:ext cx="10058400" cy="2743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3657600"/>
            <a:ext cx="27432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1691640" cy="59436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DevSecOps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59" y="3657600"/>
            <a:ext cx="27432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14599" y="4023360"/>
            <a:ext cx="1691640" cy="59436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Num. Responsable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78" y="3657600"/>
            <a:ext cx="27432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18" y="4023360"/>
            <a:ext cx="1691640" cy="59436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DPF / HRIS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597" y="3657600"/>
            <a:ext cx="27432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37" y="4023360"/>
            <a:ext cx="1691640" cy="59436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Web &amp; Mobile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16" y="3657600"/>
            <a:ext cx="27432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56" y="4023360"/>
            <a:ext cx="1691640" cy="59436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Payroll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35635" y="3657600"/>
            <a:ext cx="27432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12675" y="4023360"/>
            <a:ext cx="1691640" cy="59436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001A"/>
                </a:solidFill>
              </a:defRPr>
            </a:pPr>
            <a:r>
              <a:t>Group Collaborative Solutions (GCS) = equipe d'accueil du stage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Approche security by design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CI/CD Azure DevOps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Stack : Angular, ASP.NET Core, SQL Server, Azure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ORGANISME D'ACCUEIL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L'equipe Group Collaborative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91440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Maxime Villermin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Chef de projet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914400" cy="731520"/>
          </a:xfrm>
          <a:prstGeom prst="roundRect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Alexis 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Team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914400" cy="7315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Nathan Richez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49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Referent technique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91440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Developpeurs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x3 (dont stagiaire)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Applications maintenues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011680"/>
            <a:ext cx="2286000" cy="54864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CS BAG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Inventaire applicatif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2743200"/>
            <a:ext cx="228600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MyVIEW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Portail collaboratif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474720"/>
            <a:ext cx="228600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Outil interne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4206240"/>
            <a:ext cx="2286000" cy="5486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Elium Sauvegarde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Archivage connaissances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029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Stack technique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5394960"/>
            <a:ext cx="1051560" cy="45720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Angular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5394960"/>
            <a:ext cx="1051560" cy="457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ASP.NET 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5394960"/>
            <a:ext cx="105156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EF 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5394960"/>
            <a:ext cx="1051560" cy="45720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SQL Server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0" y="5394960"/>
            <a:ext cx="1051560" cy="457200"/>
          </a:xfrm>
          <a:prstGeom prst="roundRect">
            <a:avLst/>
          </a:prstGeom>
          <a:solidFill>
            <a:srgbClr val="008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Azure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CONTEXTE DU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Contexte et missions du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486400" cy="5029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MISSION PRINCIPALE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5486400" cy="292608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333333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Refonte complete de CS BAG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Collaborative Solutions Bag</a:t>
            </a:r>
          </a:p>
          <a:p>
            <a:pPr algn="l">
              <a:defRPr sz="1400" b="0">
                <a:solidFill>
                  <a:srgbClr val="333333"/>
                </a:solidFill>
              </a:defRPr>
            </a:pPr>
          </a:p>
          <a:p>
            <a:pPr algn="l">
              <a:defRPr sz="1400" b="0">
                <a:solidFill>
                  <a:srgbClr val="333333"/>
                </a:solidFill>
              </a:defRPr>
            </a:pPr>
            <a:r>
              <a:t>Outil d'inventaire du patrimoine applicatif</a:t>
            </a:r>
          </a:p>
          <a:p>
            <a:pPr algn="l">
              <a:defRPr sz="1400" b="0">
                <a:solidFill>
                  <a:srgbClr val="333333"/>
                </a:solidFill>
              </a:defRPr>
            </a:pPr>
            <a:r>
              <a:t>Developpeur unique sur le projet</a:t>
            </a:r>
          </a:p>
          <a:p>
            <a:pPr algn="l">
              <a:defRPr sz="1400" b="0">
                <a:solidFill>
                  <a:srgbClr val="333333"/>
                </a:solidFill>
              </a:defRPr>
            </a:pPr>
            <a:r>
              <a:t>Migration Angular 14 &gt; 20, .NET 6 &gt; 10</a:t>
            </a:r>
          </a:p>
          <a:p>
            <a:pPr algn="l">
              <a:defRPr sz="1400" b="0">
                <a:solidFill>
                  <a:srgbClr val="333333"/>
                </a:solidFill>
              </a:defRPr>
            </a:pPr>
            <a:r>
              <a:t>Normalisation des donnees</a:t>
            </a:r>
          </a:p>
          <a:p>
            <a:pPr algn="l">
              <a:defRPr sz="1400" b="0">
                <a:solidFill>
                  <a:srgbClr val="333333"/>
                </a:solidFill>
              </a:defRPr>
            </a:pPr>
            <a:r>
              <a:t>3 lots fonctionnels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463040"/>
            <a:ext cx="484632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MISSION COMPLEMENTAIRE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011680"/>
            <a:ext cx="4846320" cy="292608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333333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85800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</a:defRPr>
            </a:pPr>
            <a:r>
              <a:t>Elium Sauvegarde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5176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Base de connaissances (30 000 pages)</a:t>
            </a:r>
          </a:p>
          <a:p>
            <a:pPr algn="l">
              <a:defRPr sz="1400" b="0">
                <a:solidFill>
                  <a:srgbClr val="333333"/>
                </a:solidFill>
              </a:defRPr>
            </a:pPr>
          </a:p>
          <a:p>
            <a:pPr algn="l">
              <a:defRPr sz="1400" b="0">
                <a:solidFill>
                  <a:srgbClr val="333333"/>
                </a:solidFill>
              </a:defRPr>
            </a:pPr>
            <a:r>
              <a:t>Archivage automatique vers SharePoint</a:t>
            </a:r>
          </a:p>
          <a:p>
            <a:pPr algn="l">
              <a:defRPr sz="1400" b="0">
                <a:solidFill>
                  <a:srgbClr val="333333"/>
                </a:solidFill>
              </a:defRPr>
            </a:pPr>
            <a:r>
              <a:t>Arrete depuis plusieurs mois</a:t>
            </a:r>
          </a:p>
          <a:p>
            <a:pPr algn="l">
              <a:defRPr sz="1400" b="0">
                <a:solidFill>
                  <a:srgbClr val="333333"/>
                </a:solidFill>
              </a:defRPr>
            </a:pPr>
            <a:r>
              <a:t>Diagnostic API GraphQL</a:t>
            </a:r>
          </a:p>
          <a:p>
            <a:pPr algn="l">
              <a:defRPr sz="1400" b="0">
                <a:solidFill>
                  <a:srgbClr val="333333"/>
                </a:solidFill>
              </a:defRPr>
            </a:pPr>
            <a:r>
              <a:t>Correction et fiabilisation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Mars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623560"/>
            <a:ext cx="10698480" cy="1371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3366"/>
                </a:solidFill>
              </a:defRPr>
            </a:pPr>
            <a:r>
              <a:t>Aout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V1 : ETAT DES LIEUX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CS BAG v1 : qu'est-ce que c'est 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Outil d'inventaire du patrimoine applicatif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Recense applications, modules, ressources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(serveurs, bases de donnees, certificats)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Utilise au quotidien par l'equipe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Role critique : cartographie du 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Modele de donnees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920240"/>
            <a:ext cx="228600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Application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366760" y="2697480"/>
            <a:ext cx="4572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0" y="2651760"/>
            <a:ext cx="36576" cy="457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79" y="3108960"/>
            <a:ext cx="2286000" cy="7315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Module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366760" y="3886200"/>
            <a:ext cx="4572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3840480"/>
            <a:ext cx="36576" cy="457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4297680"/>
            <a:ext cx="228600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3366"/>
                </a:solidFill>
              </a:defRPr>
            </a:pPr>
            <a:r>
              <a:t>Utilisateurs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1737360" cy="45720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Developpeurs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4937760"/>
            <a:ext cx="1737360" cy="45720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Chefs de projet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937760"/>
            <a:ext cx="1737360" cy="45720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Referents techniques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V1 : ETAT DES LIEUX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Diagnostic de l'existant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 / 30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1463040"/>
            <a:ext cx="731520" cy="731520"/>
          </a:xfrm>
          <a:prstGeom prst="ellipse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001A"/>
                </a:solidFill>
              </a:defRPr>
            </a:pPr>
            <a:r>
              <a:t>Socle obsolete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Angular 14, .NET 6</a:t>
            </a:r>
          </a:p>
          <a:p>
            <a:pPr algn="ctr">
              <a:defRPr sz="1200" b="0">
                <a:solidFill>
                  <a:srgbClr val="666666"/>
                </a:solidFill>
              </a:defRPr>
            </a:pPr>
            <a:r>
              <a:t>Hors support editeur</a:t>
            </a:r>
          </a:p>
        </p:txBody>
      </p:sp>
      <p:sp>
        <p:nvSpPr>
          <p:cNvPr id="11" name="Oval 10"/>
          <p:cNvSpPr/>
          <p:nvPr/>
        </p:nvSpPr>
        <p:spPr>
          <a:xfrm>
            <a:off x="3337560" y="1463040"/>
            <a:ext cx="731520" cy="731520"/>
          </a:xfrm>
          <a:prstGeom prst="ellipse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77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8C00"/>
                </a:solidFill>
              </a:defRPr>
            </a:pPr>
            <a:r>
              <a:t>Donnees non normalisees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Saisie libre</a:t>
            </a:r>
          </a:p>
          <a:p>
            <a:pPr algn="ctr">
              <a:defRPr sz="1200" b="0">
                <a:solidFill>
                  <a:srgbClr val="666666"/>
                </a:solidFill>
              </a:defRPr>
            </a:pPr>
            <a:r>
              <a:t>Incoherences multiples</a:t>
            </a:r>
          </a:p>
        </p:txBody>
      </p:sp>
      <p:sp>
        <p:nvSpPr>
          <p:cNvPr id="14" name="Oval 13"/>
          <p:cNvSpPr/>
          <p:nvPr/>
        </p:nvSpPr>
        <p:spPr>
          <a:xfrm>
            <a:off x="5623560" y="1463040"/>
            <a:ext cx="731520" cy="7315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377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</a:defRPr>
            </a:pPr>
            <a:r>
              <a:t>Pas de filtres/recherche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Navigation laborieuse</a:t>
            </a:r>
          </a:p>
          <a:p>
            <a:pPr algn="ctr">
              <a:defRPr sz="1200" b="0">
                <a:solidFill>
                  <a:srgbClr val="666666"/>
                </a:solidFill>
              </a:defRPr>
            </a:pPr>
            <a:r>
              <a:t>Pas d'alertes</a:t>
            </a:r>
          </a:p>
        </p:txBody>
      </p:sp>
      <p:sp>
        <p:nvSpPr>
          <p:cNvPr id="17" name="Oval 16"/>
          <p:cNvSpPr/>
          <p:nvPr/>
        </p:nvSpPr>
        <p:spPr>
          <a:xfrm>
            <a:off x="7909560" y="1463040"/>
            <a:ext cx="731520" cy="73152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377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A1B9A"/>
                </a:solidFill>
              </a:defRPr>
            </a:pPr>
            <a:r>
              <a:t>Pas de tracabilite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Aucun historique</a:t>
            </a:r>
          </a:p>
          <a:p>
            <a:pPr algn="ctr">
              <a:defRPr sz="1200" b="0">
                <a:solidFill>
                  <a:srgbClr val="666666"/>
                </a:solidFill>
              </a:defRPr>
            </a:pPr>
            <a:r>
              <a:t>des modifications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10195560" y="1463040"/>
            <a:ext cx="731520" cy="73152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377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Pas de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Aucun test automatise</a:t>
            </a:r>
          </a:p>
          <a:p>
            <a:pPr algn="ctr">
              <a:defRPr sz="1200" b="0">
                <a:solidFill>
                  <a:srgbClr val="666666"/>
                </a:solidFill>
              </a:defRPr>
            </a:pPr>
            <a:r>
              <a:t>Risque de regression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572000"/>
            <a:ext cx="10332720" cy="54864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2001A"/>
                </a:solidFill>
              </a:defRPr>
            </a:pPr>
            <a:r>
              <a:t>Constat : l'application necessite une refonte complete, pas un simple correctif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V1 : ETAT DES LIEUX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Analyse des donnees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Demarche d'audit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Requetes SQL directes sur la base de production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Analyse systematique des champs libres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Identification des doublons et incoherences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Principe : analyser avant de modifier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1A"/>
                </a:solidFill>
              </a:defRPr>
            </a:pPr>
            <a:r>
              <a:t>Exemple : champ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029200" cy="32004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333333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.NET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331720"/>
            <a:ext cx="1645920" cy="22860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.net 6.0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743200"/>
            <a:ext cx="1280160" cy="22860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dotnet6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154680"/>
            <a:ext cx="914400" cy="22860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.NET Framework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566160"/>
            <a:ext cx="1463040" cy="22860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931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Net6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3977640"/>
            <a:ext cx="548640" cy="22860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343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.net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4389120"/>
            <a:ext cx="1097280" cy="22860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0" y="4572000"/>
            <a:ext cx="4663440" cy="54864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2001A"/>
                </a:solidFill>
              </a:defRPr>
            </a:pPr>
            <a:r>
              <a:t>47 variantes pour un meme framework 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46320"/>
            <a:ext cx="5029200" cy="5486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3366"/>
                </a:solidFill>
              </a:defRPr>
            </a:pPr>
            <a:r>
              <a:t>Normaliser avant de filtrer et exploiter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V2 : CONCEPTION ET DEVELOPPEMENT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Objectifs de la refonte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2103120" cy="10972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Socle technique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Angular 20 + .NET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Socle technique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645920"/>
            <a:ext cx="2103120" cy="109728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Normalisation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Tables de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Normalisation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45920"/>
            <a:ext cx="2103120" cy="10972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Fonctionnalites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Recherche, filtres, alertes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Fonctionnalites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645920"/>
            <a:ext cx="2103120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Administration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Module referentiels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Administration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645920"/>
            <a:ext cx="2103120" cy="109728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Ergonomie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UX repensee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Ergonomie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Approche incrementale en 3 lots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40480"/>
            <a:ext cx="2926080" cy="13716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Lot 1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Socle +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Lot 1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931920" y="4389120"/>
            <a:ext cx="36576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89120" y="3840480"/>
            <a:ext cx="2926080" cy="13716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Lot 2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Referentiels + historique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Lot 2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406640" y="4389120"/>
            <a:ext cx="36576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63840" y="3840480"/>
            <a:ext cx="2926080" cy="1371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Lot 3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Ressources + finalisation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Lot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V2 : CONCEPTION ET DEVELOPPEMENT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Architecture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463040"/>
            <a:ext cx="6858000" cy="91440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Frontend  :  Angular 20 + Angular Material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377440"/>
            <a:ext cx="36576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743200"/>
            <a:ext cx="6858000" cy="9144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Backend  :  ASP.NET Core + Entity Framework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3657600"/>
            <a:ext cx="36576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4023360"/>
            <a:ext cx="6858000" cy="9144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Base de donnees  :  SQL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463040"/>
            <a:ext cx="2560320" cy="1463040"/>
          </a:xfrm>
          <a:prstGeom prst="roundRect">
            <a:avLst/>
          </a:prstGeom>
          <a:solidFill>
            <a:srgbClr val="008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Azure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DEV | UAT | PROD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Azure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291840"/>
            <a:ext cx="2560320" cy="91440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Azure DevOps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CI/CD Pipelines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12480" y="2011680"/>
            <a:ext cx="54864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412480" y="3474720"/>
            <a:ext cx="54864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3 environnements isoles avec promotion manuelle entre chaque etape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V2 : CONCEPTION ET DEVELOPPEMENT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Normalisation du modele de donnees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AVANT : champs texte libre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Framework: ".NET 6" / ".net 6.0" / "dotnet6"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Langage: "C#" / "csharp" / "C Sharp"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Type: "VM" / "Virtual Machine" / "vm azure"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Saisie libre = incoherences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502920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APRES : tables de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Framework: selection depuis referentiel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Langage: liste normalisee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Type: valeurs controlees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Auto-completion + administration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69280" y="2560320"/>
            <a:ext cx="548640" cy="36576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7 themes normalises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1508760" cy="457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Frameworks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4572000"/>
            <a:ext cx="1508760" cy="457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Langages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40" y="4572000"/>
            <a:ext cx="1508760" cy="457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Types ressource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4572000"/>
            <a:ext cx="1508760" cy="457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Hebergeurs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4572000"/>
            <a:ext cx="1508760" cy="457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4572000"/>
            <a:ext cx="1508760" cy="457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SGBD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4572000"/>
            <a:ext cx="1508760" cy="457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Navigateurs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Migrations EF Core avec scripts de retour arriere systematiques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V2 : CONCEPTION ET DEVELOPPEMENT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Lot 1 : socle et fonctionnalites de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14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457200"/>
            <a:ext cx="182880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LOT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Migration Angular 14 vers 20, .NET 6 vers 10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Page d'accueil avec barre de recherche et filtre par equipe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Page Tout voir avec filtres multicriteres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Fiche detaillee enrichie des applications et modules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Formulaires de creation et modification refondus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Avancement 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49240"/>
            <a:ext cx="10515600" cy="274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349240"/>
            <a:ext cx="3505200" cy="2743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5200" y="53218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33%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V2 : CONCEPTION ET DEVELOPPEMENT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Lot 2 : referentiels et tracabilite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15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457200"/>
            <a:ext cx="1828800" cy="7315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LOT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Module d'administration des referentiels normalises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Historique complet des actions utilisateur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Gestion avancee des certificats avec alertes d'expiration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Auto-completion dans les formulaires depuis les referentiels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Avancement 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49240"/>
            <a:ext cx="10515600" cy="274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349240"/>
            <a:ext cx="7010400" cy="2743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0400" y="53218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66%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CS BAG V2 : CONCEPTION ET DEVELOPPEMENT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Lot 3 : ressources et finalisation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16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457200"/>
            <a:ext cx="182880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LOT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Gestion etendue des ressources (serveurs, bases, Azure)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Suivi des environnements et des chaines de deploiement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Fiabilisation des donnees et corrections de coherence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Validation finale en recette puis mise en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Avancement 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49240"/>
            <a:ext cx="10515600" cy="274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349240"/>
            <a:ext cx="1051560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0" y="53218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DEMONSTRATIONS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Page d'accueil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17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5720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AVANT (v1)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5303520" cy="27432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[Capture d'ecran v1</a:t>
            </a:r>
          </a:p>
          <a:p>
            <a:pPr algn="ctr">
              <a:defRPr sz="1600" b="0">
                <a:solidFill>
                  <a:srgbClr val="666666"/>
                </a:solidFill>
              </a:defRPr>
            </a:pPr>
            <a:r>
              <a:t>a inserer]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Liste brute sans recherche</a:t>
            </a:r>
          </a:p>
          <a:p>
            <a:pPr algn="l">
              <a:defRPr sz="1200" b="0">
                <a:solidFill>
                  <a:srgbClr val="666666"/>
                </a:solidFill>
              </a:defRPr>
            </a:pPr>
            <a:r>
              <a:t>Pas de filtre</a:t>
            </a:r>
          </a:p>
          <a:p>
            <a:pPr algn="l">
              <a:defRPr sz="1200" b="0">
                <a:solidFill>
                  <a:srgbClr val="666666"/>
                </a:solidFill>
              </a:defRPr>
            </a:pPr>
            <a:r>
              <a:t>Navigation peu intuitive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2160" y="3108960"/>
            <a:ext cx="457200" cy="36576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530352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APRES (v2)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303520" cy="2743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E7D32"/>
                </a:solidFill>
              </a:defRPr>
            </a:pPr>
            <a:r>
              <a:t>[Capture d'ecran v2</a:t>
            </a:r>
          </a:p>
          <a:p>
            <a:pPr algn="ctr">
              <a:defRPr sz="1600" b="0">
                <a:solidFill>
                  <a:srgbClr val="2E7D32"/>
                </a:solidFill>
              </a:defRPr>
            </a:pPr>
            <a:r>
              <a:t>a inserer]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</a:defRPr>
            </a:pPr>
            <a:r>
              <a:t>Barre de recherche instantanee</a:t>
            </a:r>
          </a:p>
          <a:p>
            <a:pPr algn="l">
              <a:defRPr sz="1200" b="0">
                <a:solidFill>
                  <a:srgbClr val="2E7D32"/>
                </a:solidFill>
              </a:defRPr>
            </a:pPr>
            <a:r>
              <a:t>Filtre par equipe</a:t>
            </a:r>
          </a:p>
          <a:p>
            <a:pPr algn="l">
              <a:defRPr sz="1200" b="0">
                <a:solidFill>
                  <a:srgbClr val="2E7D32"/>
                </a:solidFill>
              </a:defRPr>
            </a:pPr>
            <a:r>
              <a:t>Acces rapide a l'information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DEMONSTRATIONS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Page Tout voir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18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5720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AVANT (v1)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5303520" cy="27432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[Capture d'ecran v1</a:t>
            </a:r>
          </a:p>
          <a:p>
            <a:pPr algn="ctr">
              <a:defRPr sz="1600" b="0">
                <a:solidFill>
                  <a:srgbClr val="666666"/>
                </a:solidFill>
              </a:defRPr>
            </a:pPr>
            <a:r>
              <a:t>a inserer]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Vue sans filtres ni tri</a:t>
            </a:r>
          </a:p>
          <a:p>
            <a:pPr algn="l">
              <a:defRPr sz="1200" b="0">
                <a:solidFill>
                  <a:srgbClr val="666666"/>
                </a:solidFill>
              </a:defRPr>
            </a:pPr>
            <a:r>
              <a:t>Pas de details depliables</a:t>
            </a:r>
          </a:p>
          <a:p>
            <a:pPr algn="l">
              <a:defRPr sz="1200" b="0">
                <a:solidFill>
                  <a:srgbClr val="666666"/>
                </a:solidFill>
              </a:defRPr>
            </a:pPr>
            <a:r>
              <a:t>Affichage lineaire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2160" y="3108960"/>
            <a:ext cx="457200" cy="36576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530352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APRES (v2)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303520" cy="2743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E7D32"/>
                </a:solidFill>
              </a:defRPr>
            </a:pPr>
            <a:r>
              <a:t>[Capture d'ecran v2</a:t>
            </a:r>
          </a:p>
          <a:p>
            <a:pPr algn="ctr">
              <a:defRPr sz="1600" b="0">
                <a:solidFill>
                  <a:srgbClr val="2E7D32"/>
                </a:solidFill>
              </a:defRPr>
            </a:pPr>
            <a:r>
              <a:t>a inserer]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</a:defRPr>
            </a:pPr>
            <a:r>
              <a:t>Filtres par equipe, referent, framework</a:t>
            </a:r>
          </a:p>
          <a:p>
            <a:pPr algn="l">
              <a:defRPr sz="1200" b="0">
                <a:solidFill>
                  <a:srgbClr val="2E7D32"/>
                </a:solidFill>
              </a:defRPr>
            </a:pPr>
            <a:r>
              <a:t>Details depliables</a:t>
            </a:r>
          </a:p>
          <a:p>
            <a:pPr algn="l">
              <a:defRPr sz="1200" b="0">
                <a:solidFill>
                  <a:srgbClr val="2E7D32"/>
                </a:solidFill>
              </a:defRPr>
            </a:pPr>
            <a:r>
              <a:t>Tri et recherche combinables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DEMONSTRATIONS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Detail et modification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19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5720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AVANT (v1)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5303520" cy="27432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[Capture d'ecran v1</a:t>
            </a:r>
          </a:p>
          <a:p>
            <a:pPr algn="ctr">
              <a:defRPr sz="1600" b="0">
                <a:solidFill>
                  <a:srgbClr val="666666"/>
                </a:solidFill>
              </a:defRPr>
            </a:pPr>
            <a:r>
              <a:t>a inserer]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Affichage basique des modules</a:t>
            </a:r>
          </a:p>
          <a:p>
            <a:pPr algn="l">
              <a:defRPr sz="1200" b="0">
                <a:solidFill>
                  <a:srgbClr val="666666"/>
                </a:solidFill>
              </a:defRPr>
            </a:pPr>
            <a:r>
              <a:t>Formulaire simple</a:t>
            </a:r>
          </a:p>
          <a:p>
            <a:pPr algn="l">
              <a:defRPr sz="1200" b="0">
                <a:solidFill>
                  <a:srgbClr val="666666"/>
                </a:solidFill>
              </a:defRPr>
            </a:pPr>
            <a:r>
              <a:t>Saisie libre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2160" y="3108960"/>
            <a:ext cx="457200" cy="36576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530352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APRES (v2)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303520" cy="2743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E7D32"/>
                </a:solidFill>
              </a:defRPr>
            </a:pPr>
            <a:r>
              <a:t>[Capture d'ecran v2</a:t>
            </a:r>
          </a:p>
          <a:p>
            <a:pPr algn="ctr">
              <a:defRPr sz="1600" b="0">
                <a:solidFill>
                  <a:srgbClr val="2E7D32"/>
                </a:solidFill>
              </a:defRPr>
            </a:pPr>
            <a:r>
              <a:t>a inserer]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</a:defRPr>
            </a:pPr>
            <a:r>
              <a:t>Modules enrichis avec referents</a:t>
            </a:r>
          </a:p>
          <a:p>
            <a:pPr algn="l">
              <a:defRPr sz="1200" b="0">
                <a:solidFill>
                  <a:srgbClr val="2E7D32"/>
                </a:solidFill>
              </a:defRPr>
            </a:pPr>
            <a:r>
              <a:t>Auto-completion</a:t>
            </a:r>
          </a:p>
          <a:p>
            <a:pPr algn="l">
              <a:defRPr sz="1200" b="0">
                <a:solidFill>
                  <a:srgbClr val="2E7D32"/>
                </a:solidFill>
              </a:defRPr>
            </a:pPr>
            <a:r>
              <a:t>Ressources normalisees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DEMONSTRATIONS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Certificats et historique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20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5720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AVANT (v1)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5303520" cy="27432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[Capture d'ecran v1</a:t>
            </a:r>
          </a:p>
          <a:p>
            <a:pPr algn="ctr">
              <a:defRPr sz="1600" b="0">
                <a:solidFill>
                  <a:srgbClr val="666666"/>
                </a:solidFill>
              </a:defRPr>
            </a:pPr>
            <a:r>
              <a:t>a inserer]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Liste basique des certificats</a:t>
            </a:r>
          </a:p>
          <a:p>
            <a:pPr algn="l">
              <a:defRPr sz="1200" b="0">
                <a:solidFill>
                  <a:srgbClr val="666666"/>
                </a:solidFill>
              </a:defRPr>
            </a:pPr>
            <a:r>
              <a:t>Aucun historique</a:t>
            </a:r>
          </a:p>
          <a:p>
            <a:pPr algn="l">
              <a:defRPr sz="1200" b="0">
                <a:solidFill>
                  <a:srgbClr val="666666"/>
                </a:solidFill>
              </a:defRPr>
            </a:pPr>
            <a:r>
              <a:t>Pas d'alertes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2160" y="3108960"/>
            <a:ext cx="457200" cy="36576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530352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APRES (v2)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303520" cy="2743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E7D32"/>
                </a:solidFill>
              </a:defRPr>
            </a:pPr>
            <a:r>
              <a:t>[Capture d'ecran v2</a:t>
            </a:r>
          </a:p>
          <a:p>
            <a:pPr algn="ctr">
              <a:defRPr sz="1600" b="0">
                <a:solidFill>
                  <a:srgbClr val="2E7D32"/>
                </a:solidFill>
              </a:defRPr>
            </a:pPr>
            <a:r>
              <a:t>a inserer]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</a:defRPr>
            </a:pPr>
            <a:r>
              <a:t>Empreinte, alertes d'expiration</a:t>
            </a:r>
          </a:p>
          <a:p>
            <a:pPr algn="l">
              <a:defRPr sz="1200" b="0">
                <a:solidFill>
                  <a:srgbClr val="2E7D32"/>
                </a:solidFill>
              </a:defRPr>
            </a:pPr>
            <a:r>
              <a:t>Tracabilite complete</a:t>
            </a:r>
          </a:p>
          <a:p>
            <a:pPr algn="l">
              <a:defRPr sz="1200" b="0">
                <a:solidFill>
                  <a:srgbClr val="2E7D32"/>
                </a:solidFill>
              </a:defRPr>
            </a:pPr>
            <a:r>
              <a:t>Administration referentiels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GESTION DE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Organisation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21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01168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Specification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1783080"/>
            <a:ext cx="22860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554480"/>
            <a:ext cx="2011680" cy="7315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Developpement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46320" y="1783080"/>
            <a:ext cx="22860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554480"/>
            <a:ext cx="201168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DEV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32320" y="1783080"/>
            <a:ext cx="22860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0" y="1554480"/>
            <a:ext cx="2011680" cy="73152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Recette UAT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18320" y="1783080"/>
            <a:ext cx="22860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0" y="1554480"/>
            <a:ext cx="2011680" cy="73152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Mise en prod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2286000" cy="5486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Wrike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Suivi agile : lots, taches, sous-taches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2286000" cy="5486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Points hebdo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794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Avec Nathan Richez (referent technique)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2286000" cy="5486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Livraisons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Incrementales : DEV &gt; UAT &gt; PROD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57800"/>
            <a:ext cx="2286000" cy="5486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349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Reguliere avec le chef de projet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GESTION DE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Pipeline CI/CD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22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200400" cy="22860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Developpement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Tests locaux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Debug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23360" y="2377440"/>
            <a:ext cx="4572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59" y="1463040"/>
            <a:ext cx="3200400" cy="228600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663439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UAT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1031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Recette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Validation metier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Tests utilisateur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72399" y="2377440"/>
            <a:ext cx="457200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598" y="1463040"/>
            <a:ext cx="3200400" cy="2286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412478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8" y="21031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Production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Environnement reel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Utilisateurs finaux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10698480" cy="640080"/>
          </a:xfrm>
          <a:prstGeom prst="roundRect">
            <a:avLst/>
          </a:prstGeom>
          <a:solidFill>
            <a:srgbClr val="008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Azure DevOps Pipelines  —  Build + Deploy automatises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Scripts de migration EF Core avec rollback systematique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Processus de validation avant chaque mise en production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Deploiements encore partiellement manuels (axe d'amelioration)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MISSION COMPLEMENTAIRE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Elium Sauvegarde : contexte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23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2743200" cy="13716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Elium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Base de connaissances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30 000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Elium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2148840"/>
            <a:ext cx="73152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1645920"/>
            <a:ext cx="2743200" cy="13716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Connecteur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API GraphQL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Traitement auto.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Connecteur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0960" y="2148840"/>
            <a:ext cx="73152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0" y="1645920"/>
            <a:ext cx="2743200" cy="1371600"/>
          </a:xfrm>
          <a:prstGeom prst="roundRect">
            <a:avLst/>
          </a:prstGeom>
          <a:solidFill>
            <a:srgbClr val="008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SharePoint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Archivage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Sauvegarde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SharePoint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474720"/>
            <a:ext cx="3657600" cy="54864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2001A"/>
                </a:solidFill>
              </a:defRPr>
            </a:pPr>
            <a:r>
              <a:t>Archivage silencieusement arrete 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Impact : perte potentielle de donnees critiques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Cause inconnue : aucune erreur visible dans les logs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Mission : diagnostiquer et retablir le fonctionnement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MISSION COMPLEMENTAIRE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Elium Sauvegarde : diagnostic et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24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560320" cy="16459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1. 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Logs + API GraphQL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via Postman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08960" y="2194560"/>
            <a:ext cx="22860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554480"/>
            <a:ext cx="2560320" cy="164592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42900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2. Identification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1945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Changement de schema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non documente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2194560"/>
            <a:ext cx="22860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560320" cy="1645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30936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3. Correction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Adaptation du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connecteur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69680" y="2194560"/>
            <a:ext cx="22860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98280" y="1554480"/>
            <a:ext cx="2560320" cy="1645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18972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4. Fiabilisation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945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Gestion erreurs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+ monitoring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657600"/>
            <a:ext cx="10332720" cy="5486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Resultat : archivage retabli et fonctionnel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80560"/>
            <a:ext cx="5303520" cy="1554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[Diagramme de sequence</a:t>
            </a:r>
          </a:p>
          <a:p>
            <a:pPr algn="ctr">
              <a:defRPr sz="1400" b="0">
                <a:solidFill>
                  <a:srgbClr val="666666"/>
                </a:solidFill>
              </a:defRPr>
            </a:pPr>
            <a:r>
              <a:t>a inserer]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480560"/>
            <a:ext cx="5303520" cy="1554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[Collection Postman</a:t>
            </a:r>
          </a:p>
          <a:p>
            <a:pPr algn="ctr">
              <a:defRPr sz="1400" b="0">
                <a:solidFill>
                  <a:srgbClr val="666666"/>
                </a:solidFill>
              </a:defRPr>
            </a:pPr>
            <a:r>
              <a:t>a inserer]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BILAN ET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Bilan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25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63040"/>
            <a:ext cx="2148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3 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livres en</a:t>
            </a:r>
          </a:p>
          <a:p>
            <a:pPr algn="ctr">
              <a:defRPr sz="1400" b="0">
                <a:solidFill>
                  <a:srgbClr val="666666"/>
                </a:solidFill>
              </a:defRPr>
            </a:pPr>
            <a:r>
              <a:t>production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214884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06040" y="1463040"/>
            <a:ext cx="2148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2697480" y="1645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001A"/>
                </a:solidFill>
              </a:defRPr>
            </a:pPr>
            <a:r>
              <a:t>Angular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286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.NET 10</a:t>
            </a:r>
          </a:p>
          <a:p>
            <a:pPr algn="ctr">
              <a:defRPr sz="1400" b="0">
                <a:solidFill>
                  <a:srgbClr val="666666"/>
                </a:solidFill>
              </a:defRPr>
            </a:pPr>
            <a:r>
              <a:t>remis a niveau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1463040"/>
            <a:ext cx="2148840" cy="54864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0" y="1463040"/>
            <a:ext cx="2148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029200" y="1645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8D4"/>
                </a:solidFill>
              </a:defRPr>
            </a:pPr>
            <a:r>
              <a:t>7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286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de reference</a:t>
            </a:r>
          </a:p>
          <a:p>
            <a:pPr algn="ctr">
              <a:defRPr sz="1400" b="0">
                <a:solidFill>
                  <a:srgbClr val="666666"/>
                </a:solidFill>
              </a:defRPr>
            </a:pPr>
            <a:r>
              <a:t>normalisees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463040"/>
            <a:ext cx="21488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69480" y="1463040"/>
            <a:ext cx="2148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FFFFFF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360920" y="1645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E7D32"/>
                </a:solidFill>
              </a:defRPr>
            </a:pPr>
            <a:r>
              <a:t>5+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286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recherche, filtres</a:t>
            </a:r>
          </a:p>
          <a:p>
            <a:pPr algn="ctr">
              <a:defRPr sz="1400" b="0">
                <a:solidFill>
                  <a:srgbClr val="666666"/>
                </a:solidFill>
              </a:defRPr>
            </a:pPr>
            <a:r>
              <a:t>historique, alertes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1463040"/>
            <a:ext cx="214884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0" y="1463040"/>
            <a:ext cx="2148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FFFFFF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9692640" y="16459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A1B9A"/>
                </a:solidFill>
              </a:defRPr>
            </a:pPr>
            <a:r>
              <a:t>Elium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286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retabli et</a:t>
            </a:r>
          </a:p>
          <a:p>
            <a:pPr algn="ctr">
              <a:defRPr sz="1400" b="0">
                <a:solidFill>
                  <a:srgbClr val="666666"/>
                </a:solidFill>
              </a:defRPr>
            </a:pPr>
            <a:r>
              <a:t>fiabilise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463040"/>
            <a:ext cx="2148840" cy="5486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3931920"/>
            <a:ext cx="10698480" cy="164592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333333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Resume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Application completement refondue, de l'interface au modele de donnees.</a:t>
            </a:r>
          </a:p>
          <a:p>
            <a:pPr algn="l">
              <a:defRPr sz="1500" b="0">
                <a:solidFill>
                  <a:srgbClr val="333333"/>
                </a:solidFill>
              </a:defRPr>
            </a:pPr>
            <a:r>
              <a:t>Socle technique dans le perimetre du support editeur.</a:t>
            </a:r>
          </a:p>
          <a:p>
            <a:pPr algn="l">
              <a:defRPr sz="1500" b="0">
                <a:solidFill>
                  <a:srgbClr val="333333"/>
                </a:solidFill>
              </a:defRPr>
            </a:pPr>
            <a:r>
              <a:t>Elium Sauvegarde retabli en parallele.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BILAN ET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Perspectives et axes d'amelioration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26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645920" cy="82296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PRIORITE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481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Tests automatises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Couverture cote serveur actuellement absente</a:t>
            </a:r>
          </a:p>
          <a:p>
            <a:pPr algn="l">
              <a:defRPr sz="1300" b="0">
                <a:solidFill>
                  <a:srgbClr val="666666"/>
                </a:solidFill>
              </a:defRPr>
            </a:pPr>
            <a:r>
              <a:t>Securiser les evolutions futures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1645920" cy="82296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PRIORITE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578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Automatisation deploiements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Mises en production encore partiellement manuelles</a:t>
            </a:r>
          </a:p>
          <a:p>
            <a:pPr algn="l">
              <a:defRPr sz="1300" b="0">
                <a:solidFill>
                  <a:srgbClr val="666666"/>
                </a:solidFill>
              </a:defRPr>
            </a:pPr>
            <a:r>
              <a:t>CI/CD complet entre les 3 environnements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1645920" cy="8229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PRIORITE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675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Suivi des 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Eviter la reconstitution de la dette technique</a:t>
            </a:r>
          </a:p>
          <a:p>
            <a:pPr algn="l">
              <a:defRPr sz="1300" b="0">
                <a:solidFill>
                  <a:srgbClr val="666666"/>
                </a:solidFill>
              </a:defRPr>
            </a:pPr>
            <a:r>
              <a:t>Mises a jour regulieres des frameworks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1645920" cy="8229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PERSPECTIVE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773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Extension referentiels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Partager les referentiels avec d'autres equipes</a:t>
            </a:r>
          </a:p>
          <a:p>
            <a:pPr algn="l">
              <a:defRPr sz="1300" b="0">
                <a:solidFill>
                  <a:srgbClr val="666666"/>
                </a:solidFill>
              </a:defRPr>
            </a:pPr>
            <a:r>
              <a:t>Mutualisation des donnees normalisees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BILAN ET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Bilan personnel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27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FFFFFF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2560320" cy="5486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Autonomie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Developpeur unique sur l'ensemble du projet</a:t>
            </a:r>
          </a:p>
          <a:p>
            <a:pPr algn="ctr">
              <a:defRPr sz="1300" b="0">
                <a:solidFill>
                  <a:srgbClr val="333333"/>
                </a:solidFill>
              </a:defRPr>
            </a:pPr>
            <a:r>
              <a:t>Prise de decision et responsabilite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46304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FFFFFF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3337560" y="1463040"/>
            <a:ext cx="256032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Identification de problemes hors cahier des charges</a:t>
            </a:r>
          </a:p>
          <a:p>
            <a:pPr algn="ctr">
              <a:defRPr sz="1300" b="0">
                <a:solidFill>
                  <a:srgbClr val="333333"/>
                </a:solidFill>
              </a:defRPr>
            </a:pPr>
            <a:r>
              <a:t>Capacite a documenter et argumenter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FFFFFF"/>
                </a:solidFill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2560320" cy="54864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Priorites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Incidents de production vs developpement planifie</a:t>
            </a:r>
          </a:p>
          <a:p>
            <a:pPr algn="ctr">
              <a:defRPr sz="1300" b="0">
                <a:solidFill>
                  <a:srgbClr val="333333"/>
                </a:solidFill>
              </a:defRPr>
            </a:pPr>
            <a:r>
              <a:t>Gestion de l'urgence avec rigueur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463040"/>
            <a:ext cx="2560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" b="0">
                <a:solidFill>
                  <a:srgbClr val="FFFFFF"/>
                </a:solidFill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9098280" y="1463040"/>
            <a:ext cx="256032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Rigueur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</a:defRPr>
            </a:pPr>
            <a:r>
              <a:t>Interventions sur un systeme en production</a:t>
            </a:r>
          </a:p>
          <a:p>
            <a:pPr algn="ctr">
              <a:defRPr sz="1300" b="0">
                <a:solidFill>
                  <a:srgbClr val="333333"/>
                </a:solidFill>
              </a:defRPr>
            </a:pPr>
            <a:r>
              <a:t>Scripts de rollback systematiques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</a:defRPr>
            </a:pPr>
            <a:r>
              <a:t>Cette experience a mobilise une autonomie que je n'avais pas eu l'occasion d'exercer a cette echelle,</a:t>
            </a:r>
          </a:p>
          <a:p>
            <a:pPr algn="ctr">
              <a:defRPr sz="1500" b="0">
                <a:solidFill>
                  <a:srgbClr val="666666"/>
                </a:solidFill>
              </a:defRPr>
            </a:pPr>
            <a:r>
              <a:t>puisque j'ai porte seul la quasi-totalite des developpements.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BILAN ET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Competences mobilisees et acquises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28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463040"/>
            <a:ext cx="2148840" cy="5486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Developpement full-stack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9456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Angular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69748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ASP.NET 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20040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TypeScript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70332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C#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1463040"/>
            <a:ext cx="21488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Base de donnees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219456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SQL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269748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EF 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320040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Migrations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370332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Normalisation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1463040"/>
            <a:ext cx="2148840" cy="548640"/>
          </a:xfrm>
          <a:prstGeom prst="roundRect">
            <a:avLst/>
          </a:prstGeom>
          <a:solidFill>
            <a:srgbClr val="008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Cloud &amp; DevOps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19456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8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Azure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69748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8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Azure DevOps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320040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8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CI/CD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370332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8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3 environnements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1463040"/>
            <a:ext cx="214884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Methodologie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219456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Agile / Wrike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269748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Gestion de projet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320040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Communication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370332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Documentation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463040"/>
            <a:ext cx="2148840" cy="548640"/>
          </a:xfrm>
          <a:prstGeom prst="round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Securite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219456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Security by design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269748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Certificats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320040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Gestion acces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3703320"/>
            <a:ext cx="1965960" cy="36576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3366"/>
                </a:solidFill>
              </a:defRPr>
            </a:pPr>
            <a:r>
              <a:t>OWASP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2001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828800" cy="36576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29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286000" cy="6400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Livraison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Refonte complete de CS BAG livree en production (3 lots)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228600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Modernisation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Application remise a niveau, maintenable et evolutive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22860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749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Contribution durable au patrimoine applicatif de l'equipe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2286000" cy="64008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Stage formateur en conditions reelles d'entreprise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698480" cy="5486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3366"/>
                </a:solidFill>
              </a:defRPr>
            </a:pPr>
            <a:r>
              <a:t>Un projet ambitieux mene de bout en bout, de l'analyse a la mise en production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229600" y="0"/>
            <a:ext cx="4572000" cy="6858000"/>
          </a:xfrm>
          <a:prstGeom prst="parallelogram">
            <a:avLst/>
          </a:prstGeom>
          <a:solidFill>
            <a:srgbClr val="00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Merci pour votre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3657600" cy="45720"/>
          </a:xfrm>
          <a:prstGeom prst="rect">
            <a:avLst/>
          </a:prstGeom>
          <a:solidFill>
            <a:srgbClr val="E20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0">
                <a:solidFill>
                  <a:srgbClr val="AACCEE"/>
                </a:solidFill>
              </a:defRPr>
            </a:pPr>
            <a:r>
              <a:t>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BBDD"/>
                </a:solidFill>
              </a:defRPr>
            </a:pPr>
            <a:r>
              <a:t>Ahmed BOURAZZA</a:t>
            </a:r>
          </a:p>
          <a:p>
            <a:pPr algn="l">
              <a:defRPr sz="1400" b="0">
                <a:solidFill>
                  <a:srgbClr val="99BBDD"/>
                </a:solidFill>
              </a:defRPr>
            </a:pPr>
            <a:r>
              <a:t>PFE ENSIM 2025-2026</a:t>
            </a:r>
          </a:p>
          <a:p>
            <a:pPr algn="l">
              <a:defRPr sz="1400" b="0">
                <a:solidFill>
                  <a:srgbClr val="99BBDD"/>
                </a:solidFill>
              </a:defRPr>
            </a:pPr>
            <a:r>
              <a:t>VINCI Energies Systemes d'Information</a:t>
            </a:r>
          </a:p>
          <a:p>
            <a:pPr algn="l">
              <a:defRPr sz="1400" b="0">
                <a:solidFill>
                  <a:srgbClr val="99BBDD"/>
                </a:solidFill>
              </a:defRPr>
            </a:pPr>
            <a:r>
              <a:t>17 septembre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