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90" r:id="rId16"/>
    <p:sldId id="292" r:id="rId17"/>
    <p:sldId id="294" r:id="rId18"/>
    <p:sldId id="271" r:id="rId19"/>
    <p:sldId id="272" r:id="rId20"/>
    <p:sldId id="273" r:id="rId21"/>
    <p:sldId id="295" r:id="rId22"/>
    <p:sldId id="274" r:id="rId23"/>
    <p:sldId id="289" r:id="rId24"/>
    <p:sldId id="275" r:id="rId25"/>
    <p:sldId id="276" r:id="rId26"/>
    <p:sldId id="288" r:id="rId27"/>
    <p:sldId id="277" r:id="rId28"/>
    <p:sldId id="293" r:id="rId29"/>
    <p:sldId id="279" r:id="rId30"/>
    <p:sldId id="280" r:id="rId31"/>
    <p:sldId id="283" r:id="rId32"/>
    <p:sldId id="284" r:id="rId33"/>
    <p:sldId id="285" r:id="rId34"/>
    <p:sldId id="286" r:id="rId35"/>
    <p:sldId id="287"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2" d="100"/>
          <a:sy n="102" d="100"/>
        </p:scale>
        <p:origin x="93" y="1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4320" y="274320"/>
            <a:ext cx="11643055" cy="6309360"/>
          </a:xfrm>
          <a:prstGeom prst="rect">
            <a:avLst/>
          </a:prstGeom>
          <a:no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74320"/>
            <a:ext cx="11643055" cy="54864"/>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548640"/>
            <a:ext cx="5212080" cy="320040"/>
          </a:xfrm>
          <a:prstGeom prst="rect">
            <a:avLst/>
          </a:prstGeom>
          <a:noFill/>
        </p:spPr>
        <p:txBody>
          <a:bodyPr wrap="square">
            <a:spAutoFit/>
          </a:bodyPr>
          <a:lstStyle/>
          <a:p>
            <a:pPr algn="ctr">
              <a:defRPr sz="1300" b="0" i="0">
                <a:solidFill>
                  <a:srgbClr val="666666"/>
                </a:solidFill>
              </a:defRPr>
            </a:pPr>
            <a:r>
              <a:t>École Nationale Supérieure d'Ingénieurs du Mans (ENSIM)</a:t>
            </a:r>
          </a:p>
        </p:txBody>
      </p:sp>
      <p:sp>
        <p:nvSpPr>
          <p:cNvPr id="7" name="TextBox 6"/>
          <p:cNvSpPr txBox="1"/>
          <p:nvPr/>
        </p:nvSpPr>
        <p:spPr>
          <a:xfrm>
            <a:off x="3474720" y="868680"/>
            <a:ext cx="5212080" cy="320040"/>
          </a:xfrm>
          <a:prstGeom prst="rect">
            <a:avLst/>
          </a:prstGeom>
          <a:noFill/>
        </p:spPr>
        <p:txBody>
          <a:bodyPr wrap="square">
            <a:spAutoFit/>
          </a:bodyPr>
          <a:lstStyle/>
          <a:p>
            <a:pPr algn="ctr">
              <a:defRPr sz="1200" b="0" i="0">
                <a:solidFill>
                  <a:srgbClr val="666666"/>
                </a:solidFill>
              </a:defRPr>
            </a:pPr>
            <a:r>
              <a:t>Le Mans Université</a:t>
            </a:r>
          </a:p>
        </p:txBody>
      </p:sp>
      <p:sp>
        <p:nvSpPr>
          <p:cNvPr id="8" name="TextBox 7"/>
          <p:cNvSpPr txBox="1"/>
          <p:nvPr/>
        </p:nvSpPr>
        <p:spPr>
          <a:xfrm>
            <a:off x="3474720" y="1188720"/>
            <a:ext cx="5212080" cy="320040"/>
          </a:xfrm>
          <a:prstGeom prst="rect">
            <a:avLst/>
          </a:prstGeom>
          <a:noFill/>
        </p:spPr>
        <p:txBody>
          <a:bodyPr wrap="square">
            <a:spAutoFit/>
          </a:bodyPr>
          <a:lstStyle/>
          <a:p>
            <a:pPr algn="ctr">
              <a:defRPr sz="1500" b="1" i="0">
                <a:solidFill>
                  <a:srgbClr val="003366"/>
                </a:solidFill>
              </a:defRPr>
            </a:pPr>
            <a:r>
              <a:t>Projet de Fin d'Études</a:t>
            </a:r>
          </a:p>
        </p:txBody>
      </p:sp>
      <p:sp>
        <p:nvSpPr>
          <p:cNvPr id="9" name="Rectangle 8"/>
          <p:cNvSpPr/>
          <p:nvPr/>
        </p:nvSpPr>
        <p:spPr>
          <a:xfrm>
            <a:off x="914400" y="1691640"/>
            <a:ext cx="10332720" cy="137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2272161"/>
            <a:ext cx="9418320" cy="1463040"/>
          </a:xfrm>
          <a:prstGeom prst="rect">
            <a:avLst/>
          </a:prstGeom>
          <a:noFill/>
        </p:spPr>
        <p:txBody>
          <a:bodyPr wrap="square">
            <a:spAutoFit/>
          </a:bodyPr>
          <a:lstStyle/>
          <a:p>
            <a:pPr algn="ctr">
              <a:defRPr sz="2800" b="1" i="0">
                <a:solidFill>
                  <a:srgbClr val="003366"/>
                </a:solidFill>
              </a:defRPr>
            </a:pPr>
            <a:r>
              <a:rPr dirty="0" err="1"/>
              <a:t>Modernisation</a:t>
            </a:r>
            <a:r>
              <a:rPr dirty="0"/>
              <a:t> </a:t>
            </a:r>
            <a:r>
              <a:rPr dirty="0" err="1"/>
              <a:t>d'une</a:t>
            </a:r>
            <a:r>
              <a:rPr dirty="0"/>
              <a:t> application de gestion</a:t>
            </a:r>
          </a:p>
          <a:p>
            <a:pPr algn="ctr">
              <a:defRPr sz="2800" b="1" i="0">
                <a:solidFill>
                  <a:srgbClr val="003366"/>
                </a:solidFill>
              </a:defRPr>
            </a:pPr>
            <a:r>
              <a:rPr dirty="0"/>
              <a:t>de </a:t>
            </a:r>
            <a:r>
              <a:rPr dirty="0" err="1"/>
              <a:t>patrimoine</a:t>
            </a:r>
            <a:r>
              <a:rPr dirty="0"/>
              <a:t> </a:t>
            </a:r>
            <a:r>
              <a:rPr dirty="0" err="1"/>
              <a:t>applicatif</a:t>
            </a:r>
            <a:endParaRPr dirty="0"/>
          </a:p>
          <a:p>
            <a:pPr algn="ctr">
              <a:defRPr sz="2800" b="1" i="0">
                <a:solidFill>
                  <a:srgbClr val="003366"/>
                </a:solidFill>
              </a:defRPr>
            </a:pPr>
            <a:r>
              <a:rPr dirty="0"/>
              <a:t>au sein de VINCI Energies</a:t>
            </a:r>
          </a:p>
        </p:txBody>
      </p:sp>
      <p:sp>
        <p:nvSpPr>
          <p:cNvPr id="12" name="TextBox 11"/>
          <p:cNvSpPr txBox="1"/>
          <p:nvPr/>
        </p:nvSpPr>
        <p:spPr>
          <a:xfrm>
            <a:off x="1371600" y="3703320"/>
            <a:ext cx="9418320" cy="320040"/>
          </a:xfrm>
          <a:prstGeom prst="rect">
            <a:avLst/>
          </a:prstGeom>
          <a:noFill/>
        </p:spPr>
        <p:txBody>
          <a:bodyPr wrap="square">
            <a:spAutoFit/>
          </a:bodyPr>
          <a:lstStyle/>
          <a:p>
            <a:pPr algn="ctr">
              <a:defRPr sz="1400" b="1" i="1">
                <a:solidFill>
                  <a:srgbClr val="E2001A"/>
                </a:solidFill>
              </a:defRPr>
            </a:pPr>
            <a:r>
              <a:t>Réalisé au sein de : VINCI Energies Systèmes d'Information (VESI)</a:t>
            </a:r>
          </a:p>
        </p:txBody>
      </p:sp>
      <p:sp>
        <p:nvSpPr>
          <p:cNvPr id="14" name="Rectangle 13"/>
          <p:cNvSpPr/>
          <p:nvPr/>
        </p:nvSpPr>
        <p:spPr>
          <a:xfrm>
            <a:off x="914400" y="5074920"/>
            <a:ext cx="1033272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5166360"/>
            <a:ext cx="9144" cy="8229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166360"/>
            <a:ext cx="4754880" cy="274320"/>
          </a:xfrm>
          <a:prstGeom prst="rect">
            <a:avLst/>
          </a:prstGeom>
          <a:noFill/>
        </p:spPr>
        <p:txBody>
          <a:bodyPr wrap="square">
            <a:spAutoFit/>
          </a:bodyPr>
          <a:lstStyle/>
          <a:p>
            <a:pPr algn="l">
              <a:defRPr sz="1200" b="1" i="0">
                <a:solidFill>
                  <a:srgbClr val="003366"/>
                </a:solidFill>
              </a:defRPr>
            </a:pPr>
            <a:r>
              <a:rPr dirty="0" err="1"/>
              <a:t>Encadr</a:t>
            </a:r>
            <a:r>
              <a:rPr lang="fr-CH" dirty="0"/>
              <a:t>é</a:t>
            </a:r>
            <a:r>
              <a:rPr dirty="0"/>
              <a:t> par :</a:t>
            </a:r>
          </a:p>
        </p:txBody>
      </p:sp>
      <p:sp>
        <p:nvSpPr>
          <p:cNvPr id="17" name="TextBox 16"/>
          <p:cNvSpPr txBox="1"/>
          <p:nvPr/>
        </p:nvSpPr>
        <p:spPr>
          <a:xfrm>
            <a:off x="1097280" y="5440680"/>
            <a:ext cx="4754880" cy="769441"/>
          </a:xfrm>
          <a:prstGeom prst="rect">
            <a:avLst/>
          </a:prstGeom>
          <a:noFill/>
        </p:spPr>
        <p:txBody>
          <a:bodyPr wrap="square">
            <a:spAutoFit/>
          </a:bodyPr>
          <a:lstStyle/>
          <a:p>
            <a:pPr algn="l">
              <a:defRPr sz="1100" b="0" i="0">
                <a:solidFill>
                  <a:srgbClr val="333333"/>
                </a:solidFill>
              </a:defRPr>
            </a:pPr>
            <a:r>
              <a:rPr dirty="0" err="1"/>
              <a:t>Tuteur</a:t>
            </a:r>
            <a:r>
              <a:rPr dirty="0"/>
              <a:t> </a:t>
            </a:r>
            <a:r>
              <a:rPr dirty="0" err="1"/>
              <a:t>universit</a:t>
            </a:r>
            <a:r>
              <a:rPr lang="fr-CH" dirty="0"/>
              <a:t>é</a:t>
            </a:r>
            <a:r>
              <a:rPr dirty="0"/>
              <a:t> : M. M'HAMMEDI </a:t>
            </a:r>
            <a:r>
              <a:rPr dirty="0" err="1"/>
              <a:t>Taoufik</a:t>
            </a:r>
            <a:endParaRPr dirty="0"/>
          </a:p>
          <a:p>
            <a:pPr algn="l">
              <a:defRPr sz="1100" b="0" i="0">
                <a:solidFill>
                  <a:srgbClr val="333333"/>
                </a:solidFill>
              </a:defRPr>
            </a:pPr>
            <a:r>
              <a:rPr dirty="0" err="1"/>
              <a:t>Tuteurs</a:t>
            </a:r>
            <a:r>
              <a:rPr dirty="0"/>
              <a:t> </a:t>
            </a:r>
            <a:r>
              <a:rPr dirty="0" err="1"/>
              <a:t>entreprise</a:t>
            </a:r>
            <a:r>
              <a:rPr dirty="0"/>
              <a:t> : M. STER Alexis, M. VILLERMIN Maxime</a:t>
            </a:r>
            <a:endParaRPr lang="fr-CH" dirty="0"/>
          </a:p>
          <a:p>
            <a:pPr algn="l">
              <a:defRPr sz="1100" b="0" i="0">
                <a:solidFill>
                  <a:srgbClr val="333333"/>
                </a:solidFill>
              </a:defRPr>
            </a:pPr>
            <a:r>
              <a:rPr lang="fr-CH" dirty="0"/>
              <a:t>Jury : M. YAAKOUBI </a:t>
            </a:r>
            <a:r>
              <a:rPr lang="fr-CH" dirty="0" err="1"/>
              <a:t>Nourdin</a:t>
            </a:r>
            <a:endParaRPr lang="fr-CH" dirty="0"/>
          </a:p>
          <a:p>
            <a:pPr algn="l">
              <a:defRPr sz="1100" b="0" i="0">
                <a:solidFill>
                  <a:srgbClr val="333333"/>
                </a:solidFill>
              </a:defRPr>
            </a:pPr>
            <a:endParaRPr dirty="0"/>
          </a:p>
        </p:txBody>
      </p:sp>
      <p:sp>
        <p:nvSpPr>
          <p:cNvPr id="18" name="TextBox 17"/>
          <p:cNvSpPr txBox="1"/>
          <p:nvPr/>
        </p:nvSpPr>
        <p:spPr>
          <a:xfrm>
            <a:off x="6400800" y="5166360"/>
            <a:ext cx="4754880" cy="274320"/>
          </a:xfrm>
          <a:prstGeom prst="rect">
            <a:avLst/>
          </a:prstGeom>
          <a:noFill/>
        </p:spPr>
        <p:txBody>
          <a:bodyPr wrap="square">
            <a:spAutoFit/>
          </a:bodyPr>
          <a:lstStyle/>
          <a:p>
            <a:pPr algn="r">
              <a:defRPr sz="1200" b="1" i="0">
                <a:solidFill>
                  <a:srgbClr val="003366"/>
                </a:solidFill>
              </a:defRPr>
            </a:pPr>
            <a:r>
              <a:rPr dirty="0" err="1"/>
              <a:t>Reali</a:t>
            </a:r>
            <a:r>
              <a:rPr lang="fr-CH" dirty="0"/>
              <a:t>é</a:t>
            </a:r>
            <a:r>
              <a:rPr dirty="0"/>
              <a:t>e par :</a:t>
            </a:r>
          </a:p>
        </p:txBody>
      </p:sp>
      <p:sp>
        <p:nvSpPr>
          <p:cNvPr id="19" name="TextBox 18"/>
          <p:cNvSpPr txBox="1"/>
          <p:nvPr/>
        </p:nvSpPr>
        <p:spPr>
          <a:xfrm>
            <a:off x="6400800" y="5440680"/>
            <a:ext cx="4754880" cy="430887"/>
          </a:xfrm>
          <a:prstGeom prst="rect">
            <a:avLst/>
          </a:prstGeom>
          <a:noFill/>
        </p:spPr>
        <p:txBody>
          <a:bodyPr wrap="square">
            <a:spAutoFit/>
          </a:bodyPr>
          <a:lstStyle/>
          <a:p>
            <a:pPr algn="r">
              <a:defRPr sz="1100" b="0" i="0">
                <a:solidFill>
                  <a:srgbClr val="333333"/>
                </a:solidFill>
              </a:defRPr>
            </a:pPr>
            <a:r>
              <a:rPr dirty="0"/>
              <a:t>Ahmed BOURAZZA</a:t>
            </a:r>
          </a:p>
          <a:p>
            <a:pPr algn="r">
              <a:defRPr sz="1100" b="0" i="0">
                <a:solidFill>
                  <a:srgbClr val="333333"/>
                </a:solidFill>
              </a:defRPr>
            </a:pPr>
            <a:r>
              <a:rPr dirty="0"/>
              <a:t>Informatique</a:t>
            </a:r>
            <a:r>
              <a:rPr lang="fr-CH" dirty="0"/>
              <a:t> option IPS</a:t>
            </a:r>
            <a:r>
              <a:rPr dirty="0"/>
              <a:t>, 5</a:t>
            </a:r>
            <a:r>
              <a:rPr lang="fr-CH" dirty="0"/>
              <a:t>A</a:t>
            </a:r>
            <a:endParaRPr dirty="0"/>
          </a:p>
        </p:txBody>
      </p:sp>
      <p:sp>
        <p:nvSpPr>
          <p:cNvPr id="20" name="Rectangle 19"/>
          <p:cNvSpPr/>
          <p:nvPr/>
        </p:nvSpPr>
        <p:spPr>
          <a:xfrm>
            <a:off x="274320" y="6263640"/>
            <a:ext cx="11643055" cy="3200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6263640"/>
            <a:ext cx="11643055" cy="3657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355080"/>
            <a:ext cx="3200400" cy="246221"/>
          </a:xfrm>
          <a:prstGeom prst="rect">
            <a:avLst/>
          </a:prstGeom>
          <a:noFill/>
        </p:spPr>
        <p:txBody>
          <a:bodyPr wrap="square">
            <a:spAutoFit/>
          </a:bodyPr>
          <a:lstStyle/>
          <a:p>
            <a:pPr algn="l">
              <a:defRPr sz="1000" b="0" i="0">
                <a:solidFill>
                  <a:srgbClr val="FFFFFF"/>
                </a:solidFill>
              </a:defRPr>
            </a:pPr>
            <a:r>
              <a:rPr lang="fr-CH" dirty="0"/>
              <a:t>Pé</a:t>
            </a:r>
            <a:r>
              <a:rPr dirty="0" err="1"/>
              <a:t>riode</a:t>
            </a:r>
            <a:r>
              <a:rPr dirty="0"/>
              <a:t> : 02/03</a:t>
            </a:r>
            <a:r>
              <a:rPr lang="fr-CH" dirty="0"/>
              <a:t>/2026</a:t>
            </a:r>
            <a:r>
              <a:rPr dirty="0"/>
              <a:t> - 31/08/2026</a:t>
            </a:r>
          </a:p>
        </p:txBody>
      </p:sp>
      <p:sp>
        <p:nvSpPr>
          <p:cNvPr id="23" name="TextBox 22"/>
          <p:cNvSpPr txBox="1"/>
          <p:nvPr/>
        </p:nvSpPr>
        <p:spPr>
          <a:xfrm>
            <a:off x="4114800" y="6355080"/>
            <a:ext cx="4114800" cy="246221"/>
          </a:xfrm>
          <a:prstGeom prst="rect">
            <a:avLst/>
          </a:prstGeom>
          <a:noFill/>
        </p:spPr>
        <p:txBody>
          <a:bodyPr wrap="square">
            <a:spAutoFit/>
          </a:bodyPr>
          <a:lstStyle/>
          <a:p>
            <a:pPr algn="ctr">
              <a:defRPr sz="1000" b="0" i="0">
                <a:solidFill>
                  <a:srgbClr val="FFFFFF"/>
                </a:solidFill>
              </a:defRPr>
            </a:pPr>
            <a:r>
              <a:rPr dirty="0" err="1"/>
              <a:t>Soutenance</a:t>
            </a:r>
            <a:r>
              <a:rPr dirty="0"/>
              <a:t> : 17/09/2026  </a:t>
            </a:r>
          </a:p>
        </p:txBody>
      </p:sp>
      <p:sp>
        <p:nvSpPr>
          <p:cNvPr id="24" name="TextBox 23"/>
          <p:cNvSpPr txBox="1"/>
          <p:nvPr/>
        </p:nvSpPr>
        <p:spPr>
          <a:xfrm>
            <a:off x="8686800" y="6355080"/>
            <a:ext cx="3017520" cy="246221"/>
          </a:xfrm>
          <a:prstGeom prst="rect">
            <a:avLst/>
          </a:prstGeom>
          <a:noFill/>
        </p:spPr>
        <p:txBody>
          <a:bodyPr wrap="square">
            <a:spAutoFit/>
          </a:bodyPr>
          <a:lstStyle/>
          <a:p>
            <a:pPr algn="r">
              <a:defRPr sz="1000" b="0" i="0">
                <a:solidFill>
                  <a:srgbClr val="FFFFFF"/>
                </a:solidFill>
              </a:defRPr>
            </a:pPr>
            <a:r>
              <a:rPr dirty="0"/>
              <a:t>Ann</a:t>
            </a:r>
            <a:r>
              <a:rPr lang="fr-CH" dirty="0" err="1"/>
              <a:t>ée</a:t>
            </a:r>
            <a:r>
              <a:rPr dirty="0"/>
              <a:t> </a:t>
            </a:r>
            <a:r>
              <a:rPr dirty="0" err="1"/>
              <a:t>acad</a:t>
            </a:r>
            <a:r>
              <a:rPr lang="fr-CH" dirty="0"/>
              <a:t>é</a:t>
            </a:r>
            <a:r>
              <a:rPr dirty="0" err="1"/>
              <a:t>mique</a:t>
            </a:r>
            <a:r>
              <a:rPr dirty="0"/>
              <a:t> 2025-2026</a:t>
            </a:r>
          </a:p>
        </p:txBody>
      </p:sp>
      <p:sp>
        <p:nvSpPr>
          <p:cNvPr id="25" name="Freeform 10">
            <a:extLst>
              <a:ext uri="{FF2B5EF4-FFF2-40B4-BE49-F238E27FC236}">
                <a16:creationId xmlns:a16="http://schemas.microsoft.com/office/drawing/2014/main" id="{E80D2D62-158E-41FD-953C-355E06388260}"/>
              </a:ext>
            </a:extLst>
          </p:cNvPr>
          <p:cNvSpPr/>
          <p:nvPr/>
        </p:nvSpPr>
        <p:spPr>
          <a:xfrm>
            <a:off x="1084484" y="623306"/>
            <a:ext cx="2390236" cy="791940"/>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27" name="Image 26">
            <a:extLst>
              <a:ext uri="{FF2B5EF4-FFF2-40B4-BE49-F238E27FC236}">
                <a16:creationId xmlns:a16="http://schemas.microsoft.com/office/drawing/2014/main" id="{C409ECE9-844E-4421-8469-7B645CD4E9C5}"/>
              </a:ext>
            </a:extLst>
          </p:cNvPr>
          <p:cNvPicPr>
            <a:picLocks noChangeAspect="1"/>
          </p:cNvPicPr>
          <p:nvPr/>
        </p:nvPicPr>
        <p:blipFill rotWithShape="1">
          <a:blip r:embed="rId3"/>
          <a:srcRect t="36165" b="33014"/>
          <a:stretch/>
        </p:blipFill>
        <p:spPr>
          <a:xfrm>
            <a:off x="8677699" y="593891"/>
            <a:ext cx="2569421" cy="79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Sommaire</a:t>
            </a:r>
          </a:p>
        </p:txBody>
      </p:sp>
      <p:sp>
        <p:nvSpPr>
          <p:cNvPr id="4" name="Rectangle 3"/>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 / 37</a:t>
            </a:r>
          </a:p>
        </p:txBody>
      </p:sp>
      <p:sp>
        <p:nvSpPr>
          <p:cNvPr id="7" name="TextBox 6"/>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8" name="Rectangle 7"/>
          <p:cNvSpPr/>
          <p:nvPr/>
        </p:nvSpPr>
        <p:spPr>
          <a:xfrm>
            <a:off x="1828800" y="146304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9" name="TextBox 8"/>
          <p:cNvSpPr txBox="1"/>
          <p:nvPr/>
        </p:nvSpPr>
        <p:spPr>
          <a:xfrm>
            <a:off x="2514600" y="1508760"/>
            <a:ext cx="8686800" cy="365760"/>
          </a:xfrm>
          <a:prstGeom prst="rect">
            <a:avLst/>
          </a:prstGeom>
          <a:noFill/>
        </p:spPr>
        <p:txBody>
          <a:bodyPr wrap="square">
            <a:spAutoFit/>
          </a:bodyPr>
          <a:lstStyle/>
          <a:p>
            <a:pPr algn="l">
              <a:defRPr sz="1600" b="0" i="0">
                <a:solidFill>
                  <a:srgbClr val="333333"/>
                </a:solidFill>
              </a:defRPr>
            </a:pPr>
            <a:r>
              <a:t>Introduction</a:t>
            </a:r>
          </a:p>
        </p:txBody>
      </p:sp>
      <p:sp>
        <p:nvSpPr>
          <p:cNvPr id="10" name="Rectangle 9"/>
          <p:cNvSpPr/>
          <p:nvPr/>
        </p:nvSpPr>
        <p:spPr>
          <a:xfrm>
            <a:off x="2514600" y="188366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0" y="193852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2" name="TextBox 11"/>
          <p:cNvSpPr txBox="1"/>
          <p:nvPr/>
        </p:nvSpPr>
        <p:spPr>
          <a:xfrm>
            <a:off x="2514600" y="1984248"/>
            <a:ext cx="8686800" cy="365760"/>
          </a:xfrm>
          <a:prstGeom prst="rect">
            <a:avLst/>
          </a:prstGeom>
          <a:noFill/>
        </p:spPr>
        <p:txBody>
          <a:bodyPr wrap="square">
            <a:spAutoFit/>
          </a:bodyPr>
          <a:lstStyle/>
          <a:p>
            <a:pPr algn="l">
              <a:defRPr sz="1600" b="0" i="0">
                <a:solidFill>
                  <a:srgbClr val="333333"/>
                </a:solidFill>
              </a:defRPr>
            </a:pPr>
            <a:r>
              <a:t>Organisme d'accueil</a:t>
            </a:r>
          </a:p>
        </p:txBody>
      </p:sp>
      <p:sp>
        <p:nvSpPr>
          <p:cNvPr id="13" name="Rectangle 12"/>
          <p:cNvSpPr/>
          <p:nvPr/>
        </p:nvSpPr>
        <p:spPr>
          <a:xfrm>
            <a:off x="2514600" y="235915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241401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5" name="TextBox 14"/>
          <p:cNvSpPr txBox="1"/>
          <p:nvPr/>
        </p:nvSpPr>
        <p:spPr>
          <a:xfrm>
            <a:off x="2514600" y="2459736"/>
            <a:ext cx="8686800" cy="338554"/>
          </a:xfrm>
          <a:prstGeom prst="rect">
            <a:avLst/>
          </a:prstGeom>
          <a:noFill/>
        </p:spPr>
        <p:txBody>
          <a:bodyPr wrap="square">
            <a:spAutoFit/>
          </a:bodyPr>
          <a:lstStyle/>
          <a:p>
            <a:pPr algn="l">
              <a:defRPr sz="1600" b="0" i="0">
                <a:solidFill>
                  <a:srgbClr val="333333"/>
                </a:solidFill>
              </a:defRPr>
            </a:pPr>
            <a:r>
              <a:rPr dirty="0"/>
              <a:t>L'</a:t>
            </a:r>
            <a:r>
              <a:rPr lang="fr-CH" dirty="0"/>
              <a:t>é</a:t>
            </a:r>
            <a:r>
              <a:rPr dirty="0" err="1"/>
              <a:t>quipe</a:t>
            </a:r>
            <a:r>
              <a:rPr dirty="0"/>
              <a:t> et son </a:t>
            </a:r>
            <a:r>
              <a:rPr dirty="0" err="1"/>
              <a:t>fonctionnement</a:t>
            </a:r>
            <a:endParaRPr dirty="0"/>
          </a:p>
        </p:txBody>
      </p:sp>
      <p:sp>
        <p:nvSpPr>
          <p:cNvPr id="16" name="Rectangle 15"/>
          <p:cNvSpPr/>
          <p:nvPr/>
        </p:nvSpPr>
        <p:spPr>
          <a:xfrm>
            <a:off x="2514600" y="283464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0" y="288950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8" name="TextBox 17"/>
          <p:cNvSpPr txBox="1"/>
          <p:nvPr/>
        </p:nvSpPr>
        <p:spPr>
          <a:xfrm>
            <a:off x="2514600" y="2935224"/>
            <a:ext cx="8686800" cy="365760"/>
          </a:xfrm>
          <a:prstGeom prst="rect">
            <a:avLst/>
          </a:prstGeom>
          <a:noFill/>
        </p:spPr>
        <p:txBody>
          <a:bodyPr wrap="square">
            <a:spAutoFit/>
          </a:bodyPr>
          <a:lstStyle/>
          <a:p>
            <a:pPr algn="l">
              <a:defRPr sz="1600" b="0" i="0">
                <a:solidFill>
                  <a:srgbClr val="333333"/>
                </a:solidFill>
              </a:defRPr>
            </a:pPr>
            <a:r>
              <a:t>Missions du stage</a:t>
            </a:r>
          </a:p>
        </p:txBody>
      </p:sp>
      <p:sp>
        <p:nvSpPr>
          <p:cNvPr id="19" name="Rectangle 18"/>
          <p:cNvSpPr/>
          <p:nvPr/>
        </p:nvSpPr>
        <p:spPr>
          <a:xfrm>
            <a:off x="2514600" y="3310128"/>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28800" y="3364992"/>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1" name="TextBox 20"/>
          <p:cNvSpPr txBox="1"/>
          <p:nvPr/>
        </p:nvSpPr>
        <p:spPr>
          <a:xfrm>
            <a:off x="2514600" y="3410712"/>
            <a:ext cx="8686800" cy="365760"/>
          </a:xfrm>
          <a:prstGeom prst="rect">
            <a:avLst/>
          </a:prstGeom>
          <a:noFill/>
        </p:spPr>
        <p:txBody>
          <a:bodyPr wrap="square">
            <a:spAutoFit/>
          </a:bodyPr>
          <a:lstStyle/>
          <a:p>
            <a:pPr algn="l">
              <a:defRPr sz="1600" b="0" i="0">
                <a:solidFill>
                  <a:srgbClr val="333333"/>
                </a:solidFill>
              </a:defRPr>
            </a:pPr>
            <a:r>
              <a:t>CS BAG v2</a:t>
            </a:r>
          </a:p>
        </p:txBody>
      </p:sp>
      <p:sp>
        <p:nvSpPr>
          <p:cNvPr id="22" name="Rectangle 21"/>
          <p:cNvSpPr/>
          <p:nvPr/>
        </p:nvSpPr>
        <p:spPr>
          <a:xfrm>
            <a:off x="2514600" y="3785616"/>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828800" y="3840480"/>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06</a:t>
            </a:r>
          </a:p>
        </p:txBody>
      </p:sp>
      <p:sp>
        <p:nvSpPr>
          <p:cNvPr id="24" name="TextBox 23"/>
          <p:cNvSpPr txBox="1"/>
          <p:nvPr/>
        </p:nvSpPr>
        <p:spPr>
          <a:xfrm>
            <a:off x="2514600" y="3886200"/>
            <a:ext cx="8686800" cy="365760"/>
          </a:xfrm>
          <a:prstGeom prst="rect">
            <a:avLst/>
          </a:prstGeom>
          <a:noFill/>
        </p:spPr>
        <p:txBody>
          <a:bodyPr wrap="square">
            <a:spAutoFit/>
          </a:bodyPr>
          <a:lstStyle/>
          <a:p>
            <a:pPr algn="l">
              <a:defRPr sz="1600" b="0" i="0">
                <a:solidFill>
                  <a:srgbClr val="333333"/>
                </a:solidFill>
              </a:defRPr>
            </a:pPr>
            <a:r>
              <a:t>Mission Elium Sauvegarde</a:t>
            </a:r>
          </a:p>
        </p:txBody>
      </p:sp>
      <p:sp>
        <p:nvSpPr>
          <p:cNvPr id="25" name="Rectangle 24"/>
          <p:cNvSpPr/>
          <p:nvPr/>
        </p:nvSpPr>
        <p:spPr>
          <a:xfrm>
            <a:off x="2514600" y="4261104"/>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0" y="4315968"/>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07</a:t>
            </a:r>
          </a:p>
        </p:txBody>
      </p:sp>
      <p:sp>
        <p:nvSpPr>
          <p:cNvPr id="27" name="TextBox 26"/>
          <p:cNvSpPr txBox="1"/>
          <p:nvPr/>
        </p:nvSpPr>
        <p:spPr>
          <a:xfrm>
            <a:off x="2514600" y="4361688"/>
            <a:ext cx="8686800" cy="338554"/>
          </a:xfrm>
          <a:prstGeom prst="rect">
            <a:avLst/>
          </a:prstGeom>
          <a:noFill/>
        </p:spPr>
        <p:txBody>
          <a:bodyPr wrap="square">
            <a:spAutoFit/>
          </a:bodyPr>
          <a:lstStyle/>
          <a:p>
            <a:pPr algn="l">
              <a:defRPr sz="1600" b="0" i="0">
                <a:solidFill>
                  <a:srgbClr val="333333"/>
                </a:solidFill>
              </a:defRPr>
            </a:pPr>
            <a:r>
              <a:rPr dirty="0"/>
              <a:t>R</a:t>
            </a:r>
            <a:r>
              <a:rPr lang="fr-CH" dirty="0"/>
              <a:t>é</a:t>
            </a:r>
            <a:r>
              <a:rPr dirty="0" err="1"/>
              <a:t>sultats</a:t>
            </a:r>
            <a:r>
              <a:rPr dirty="0"/>
              <a:t> </a:t>
            </a:r>
            <a:r>
              <a:rPr dirty="0" err="1"/>
              <a:t>obtenus</a:t>
            </a:r>
            <a:endParaRPr dirty="0"/>
          </a:p>
        </p:txBody>
      </p:sp>
      <p:sp>
        <p:nvSpPr>
          <p:cNvPr id="28" name="Rectangle 27"/>
          <p:cNvSpPr/>
          <p:nvPr/>
        </p:nvSpPr>
        <p:spPr>
          <a:xfrm>
            <a:off x="2514600" y="4736592"/>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28800" y="4791456"/>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08</a:t>
            </a:r>
          </a:p>
        </p:txBody>
      </p:sp>
      <p:sp>
        <p:nvSpPr>
          <p:cNvPr id="30" name="TextBox 29"/>
          <p:cNvSpPr txBox="1"/>
          <p:nvPr/>
        </p:nvSpPr>
        <p:spPr>
          <a:xfrm>
            <a:off x="2514600" y="4837176"/>
            <a:ext cx="8686800" cy="365760"/>
          </a:xfrm>
          <a:prstGeom prst="rect">
            <a:avLst/>
          </a:prstGeom>
          <a:noFill/>
        </p:spPr>
        <p:txBody>
          <a:bodyPr wrap="square">
            <a:spAutoFit/>
          </a:bodyPr>
          <a:lstStyle/>
          <a:p>
            <a:pPr algn="l">
              <a:defRPr sz="1600" b="0" i="0">
                <a:solidFill>
                  <a:srgbClr val="333333"/>
                </a:solidFill>
              </a:defRPr>
            </a:pPr>
            <a:r>
              <a:t>Recul et compétences acquises</a:t>
            </a:r>
          </a:p>
        </p:txBody>
      </p:sp>
      <p:sp>
        <p:nvSpPr>
          <p:cNvPr id="31" name="Rectangle 30"/>
          <p:cNvSpPr/>
          <p:nvPr/>
        </p:nvSpPr>
        <p:spPr>
          <a:xfrm>
            <a:off x="2514600" y="5212080"/>
            <a:ext cx="8686800" cy="4572"/>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0" y="5266944"/>
            <a:ext cx="457200" cy="384048"/>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09</a:t>
            </a:r>
          </a:p>
        </p:txBody>
      </p:sp>
      <p:sp>
        <p:nvSpPr>
          <p:cNvPr id="33" name="TextBox 32"/>
          <p:cNvSpPr txBox="1"/>
          <p:nvPr/>
        </p:nvSpPr>
        <p:spPr>
          <a:xfrm>
            <a:off x="2514600" y="5312664"/>
            <a:ext cx="8686800" cy="365760"/>
          </a:xfrm>
          <a:prstGeom prst="rect">
            <a:avLst/>
          </a:prstGeom>
          <a:noFill/>
        </p:spPr>
        <p:txBody>
          <a:bodyPr wrap="square">
            <a:spAutoFit/>
          </a:bodyPr>
          <a:lstStyle/>
          <a:p>
            <a:pPr algn="l">
              <a:defRPr sz="1600" b="0" i="0">
                <a:solidFill>
                  <a:srgbClr val="333333"/>
                </a:solidFill>
              </a:defRPr>
            </a:pPr>
            <a:r>
              <a:rPr dirty="0"/>
              <a:t>Conclusion et perspectives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01</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400300"/>
            <a:ext cx="6858000" cy="1371600"/>
          </a:xfrm>
          <a:prstGeom prst="rect">
            <a:avLst/>
          </a:prstGeom>
          <a:noFill/>
        </p:spPr>
        <p:txBody>
          <a:bodyPr wrap="square">
            <a:spAutoFit/>
          </a:bodyPr>
          <a:lstStyle/>
          <a:p>
            <a:pPr algn="l">
              <a:defRPr sz="4400" b="1" i="0">
                <a:solidFill>
                  <a:srgbClr val="003366"/>
                </a:solidFill>
              </a:defRPr>
            </a:pPr>
            <a:r>
              <a:t>Introduction</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err="1"/>
              <a:t>Contexte</a:t>
            </a:r>
            <a:r>
              <a:rPr dirty="0"/>
              <a:t> et cadre g</a:t>
            </a:r>
            <a:r>
              <a:rPr lang="fr-CH" dirty="0"/>
              <a:t>é</a:t>
            </a:r>
            <a:r>
              <a:rPr dirty="0"/>
              <a:t>n</a:t>
            </a:r>
            <a:r>
              <a:rPr lang="fr-CH" dirty="0"/>
              <a:t>é</a:t>
            </a:r>
            <a:r>
              <a:rPr dirty="0" err="1"/>
              <a:t>ral</a:t>
            </a:r>
            <a:r>
              <a:rPr dirty="0"/>
              <a:t> du stage</a:t>
            </a:r>
          </a:p>
        </p:txBody>
      </p:sp>
      <p:sp>
        <p:nvSpPr>
          <p:cNvPr id="7" name="Freeform 10">
            <a:extLst>
              <a:ext uri="{FF2B5EF4-FFF2-40B4-BE49-F238E27FC236}">
                <a16:creationId xmlns:a16="http://schemas.microsoft.com/office/drawing/2014/main" id="{8DA345CD-702E-48A9-9158-1B85D002C80F}"/>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8D768F5-F84B-4424-90F5-BBF3DE1D3163}"/>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INTRODUCTION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Contexte et enjeu</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4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10698480" cy="457200"/>
          </a:xfrm>
          <a:prstGeom prst="rect">
            <a:avLst/>
          </a:prstGeom>
          <a:noFill/>
        </p:spPr>
        <p:txBody>
          <a:bodyPr wrap="square">
            <a:spAutoFit/>
          </a:bodyPr>
          <a:lstStyle/>
          <a:p>
            <a:pPr algn="l">
              <a:defRPr sz="1800" b="1" i="0">
                <a:solidFill>
                  <a:srgbClr val="003366"/>
                </a:solidFill>
              </a:defRPr>
            </a:pPr>
            <a:r>
              <a:t>Un enjeu concret pour les SI d'entreprise</a:t>
            </a:r>
          </a:p>
        </p:txBody>
      </p:sp>
      <p:sp>
        <p:nvSpPr>
          <p:cNvPr id="10" name="TextBox 9"/>
          <p:cNvSpPr txBox="1"/>
          <p:nvPr/>
        </p:nvSpPr>
        <p:spPr>
          <a:xfrm>
            <a:off x="731520" y="1828800"/>
            <a:ext cx="10698480" cy="692497"/>
          </a:xfrm>
          <a:prstGeom prst="rect">
            <a:avLst/>
          </a:prstGeom>
          <a:noFill/>
        </p:spPr>
        <p:txBody>
          <a:bodyPr wrap="square">
            <a:spAutoFit/>
          </a:bodyPr>
          <a:lstStyle/>
          <a:p>
            <a:pPr algn="just">
              <a:defRPr sz="1300" b="0" i="0">
                <a:solidFill>
                  <a:srgbClr val="333333"/>
                </a:solidFill>
              </a:defRPr>
            </a:pPr>
            <a:r>
              <a:rPr dirty="0"/>
              <a:t>Les </a:t>
            </a:r>
            <a:r>
              <a:rPr dirty="0" err="1"/>
              <a:t>systèmes</a:t>
            </a:r>
            <a:r>
              <a:rPr dirty="0"/>
              <a:t> </a:t>
            </a:r>
            <a:r>
              <a:rPr dirty="0" err="1"/>
              <a:t>d'information</a:t>
            </a:r>
            <a:r>
              <a:rPr dirty="0"/>
              <a:t> </a:t>
            </a:r>
            <a:r>
              <a:rPr dirty="0" err="1"/>
              <a:t>reposent</a:t>
            </a:r>
            <a:r>
              <a:rPr dirty="0"/>
              <a:t> sur un parc </a:t>
            </a:r>
            <a:r>
              <a:rPr dirty="0" err="1"/>
              <a:t>applicatif</a:t>
            </a:r>
            <a:r>
              <a:rPr dirty="0"/>
              <a:t> </a:t>
            </a:r>
            <a:r>
              <a:rPr dirty="0" err="1"/>
              <a:t>dont</a:t>
            </a:r>
            <a:r>
              <a:rPr dirty="0"/>
              <a:t> la </a:t>
            </a:r>
            <a:r>
              <a:rPr dirty="0" err="1"/>
              <a:t>complexite</a:t>
            </a:r>
            <a:r>
              <a:rPr lang="fr-CH" dirty="0"/>
              <a:t> </a:t>
            </a:r>
            <a:r>
              <a:rPr dirty="0" err="1"/>
              <a:t>croit</a:t>
            </a:r>
            <a:r>
              <a:rPr dirty="0"/>
              <a:t> avec le temps : </a:t>
            </a:r>
            <a:r>
              <a:rPr dirty="0" err="1"/>
              <a:t>certificats</a:t>
            </a:r>
            <a:r>
              <a:rPr dirty="0"/>
              <a:t>, </a:t>
            </a:r>
            <a:r>
              <a:rPr dirty="0" err="1"/>
              <a:t>comptes</a:t>
            </a:r>
            <a:r>
              <a:rPr dirty="0"/>
              <a:t> de service, </a:t>
            </a:r>
            <a:r>
              <a:rPr dirty="0" err="1"/>
              <a:t>ressources</a:t>
            </a:r>
            <a:r>
              <a:rPr dirty="0"/>
              <a:t> cloud, bases</a:t>
            </a:r>
          </a:p>
          <a:p>
            <a:pPr algn="just">
              <a:defRPr sz="1300" b="0" i="0">
                <a:solidFill>
                  <a:srgbClr val="333333"/>
                </a:solidFill>
              </a:defRPr>
            </a:pPr>
            <a:r>
              <a:rPr dirty="0"/>
              <a:t>de </a:t>
            </a:r>
            <a:r>
              <a:rPr dirty="0" err="1"/>
              <a:t>donnees</a:t>
            </a:r>
            <a:r>
              <a:rPr dirty="0"/>
              <a:t>... Un </a:t>
            </a:r>
            <a:r>
              <a:rPr dirty="0" err="1"/>
              <a:t>certificat</a:t>
            </a:r>
            <a:r>
              <a:rPr dirty="0"/>
              <a:t> qui expire sans </a:t>
            </a:r>
            <a:r>
              <a:rPr dirty="0" err="1"/>
              <a:t>alerte</a:t>
            </a:r>
            <a:r>
              <a:rPr dirty="0"/>
              <a:t> = un service de production</a:t>
            </a:r>
            <a:r>
              <a:rPr lang="fr-CH" dirty="0"/>
              <a:t> </a:t>
            </a:r>
            <a:r>
              <a:rPr dirty="0"/>
              <a:t>qui </a:t>
            </a:r>
            <a:r>
              <a:rPr dirty="0" err="1"/>
              <a:t>s'interrompt</a:t>
            </a:r>
            <a:r>
              <a:rPr dirty="0"/>
              <a:t>. </a:t>
            </a:r>
            <a:r>
              <a:rPr dirty="0" err="1"/>
              <a:t>L'inventaire</a:t>
            </a:r>
            <a:r>
              <a:rPr dirty="0"/>
              <a:t> du </a:t>
            </a:r>
            <a:r>
              <a:rPr dirty="0" err="1"/>
              <a:t>patrimoine</a:t>
            </a:r>
            <a:r>
              <a:rPr dirty="0"/>
              <a:t> </a:t>
            </a:r>
            <a:r>
              <a:rPr dirty="0" err="1"/>
              <a:t>applicatif</a:t>
            </a:r>
            <a:r>
              <a:rPr dirty="0"/>
              <a:t> </a:t>
            </a:r>
            <a:r>
              <a:rPr dirty="0" err="1"/>
              <a:t>est</a:t>
            </a:r>
            <a:r>
              <a:rPr dirty="0"/>
              <a:t> </a:t>
            </a:r>
            <a:r>
              <a:rPr dirty="0" err="1"/>
              <a:t>une</a:t>
            </a:r>
            <a:r>
              <a:rPr dirty="0"/>
              <a:t> condition de</a:t>
            </a:r>
          </a:p>
          <a:p>
            <a:pPr algn="just">
              <a:defRPr sz="1300" b="0" i="0">
                <a:solidFill>
                  <a:srgbClr val="333333"/>
                </a:solidFill>
              </a:defRPr>
            </a:pPr>
            <a:r>
              <a:rPr dirty="0" err="1"/>
              <a:t>continuite</a:t>
            </a:r>
            <a:r>
              <a:rPr dirty="0"/>
              <a:t> de service.</a:t>
            </a:r>
          </a:p>
        </p:txBody>
      </p:sp>
      <p:sp>
        <p:nvSpPr>
          <p:cNvPr id="11" name="TextBox 10"/>
          <p:cNvSpPr txBox="1"/>
          <p:nvPr/>
        </p:nvSpPr>
        <p:spPr>
          <a:xfrm>
            <a:off x="731520" y="2743200"/>
            <a:ext cx="10698480" cy="338554"/>
          </a:xfrm>
          <a:prstGeom prst="rect">
            <a:avLst/>
          </a:prstGeom>
          <a:noFill/>
        </p:spPr>
        <p:txBody>
          <a:bodyPr wrap="square">
            <a:spAutoFit/>
          </a:bodyPr>
          <a:lstStyle/>
          <a:p>
            <a:pPr algn="l">
              <a:defRPr sz="1600" b="1" i="0">
                <a:solidFill>
                  <a:srgbClr val="003366"/>
                </a:solidFill>
              </a:defRPr>
            </a:pPr>
            <a:r>
              <a:rPr dirty="0"/>
              <a:t>Deux missions au sein de </a:t>
            </a:r>
            <a:r>
              <a:rPr lang="fr-MA" dirty="0"/>
              <a:t>équipe</a:t>
            </a:r>
            <a:r>
              <a:rPr dirty="0"/>
              <a:t> Group Collaborative Solutions (VESI)</a:t>
            </a:r>
          </a:p>
        </p:txBody>
      </p:sp>
      <p:sp>
        <p:nvSpPr>
          <p:cNvPr id="12" name="Rounded Rectangle 11"/>
          <p:cNvSpPr/>
          <p:nvPr/>
        </p:nvSpPr>
        <p:spPr>
          <a:xfrm>
            <a:off x="731520" y="3291840"/>
            <a:ext cx="5394960" cy="2286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291840"/>
            <a:ext cx="539496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principale</a:t>
            </a:r>
          </a:p>
        </p:txBody>
      </p:sp>
      <p:sp>
        <p:nvSpPr>
          <p:cNvPr id="14" name="TextBox 13"/>
          <p:cNvSpPr txBox="1"/>
          <p:nvPr/>
        </p:nvSpPr>
        <p:spPr>
          <a:xfrm>
            <a:off x="914400" y="3931920"/>
            <a:ext cx="5029200" cy="411480"/>
          </a:xfrm>
          <a:prstGeom prst="rect">
            <a:avLst/>
          </a:prstGeom>
          <a:noFill/>
        </p:spPr>
        <p:txBody>
          <a:bodyPr wrap="square">
            <a:spAutoFit/>
          </a:bodyPr>
          <a:lstStyle/>
          <a:p>
            <a:pPr algn="l">
              <a:defRPr sz="1500" b="1" i="0">
                <a:solidFill>
                  <a:srgbClr val="003366"/>
                </a:solidFill>
              </a:defRPr>
            </a:pPr>
            <a:r>
              <a:t>Refonte de CS BAG (version 2)</a:t>
            </a:r>
          </a:p>
        </p:txBody>
      </p:sp>
      <p:sp>
        <p:nvSpPr>
          <p:cNvPr id="15" name="TextBox 14"/>
          <p:cNvSpPr txBox="1"/>
          <p:nvPr/>
        </p:nvSpPr>
        <p:spPr>
          <a:xfrm>
            <a:off x="914400" y="4389120"/>
            <a:ext cx="4981576" cy="430887"/>
          </a:xfrm>
          <a:prstGeom prst="rect">
            <a:avLst/>
          </a:prstGeom>
          <a:noFill/>
        </p:spPr>
        <p:txBody>
          <a:bodyPr wrap="square">
            <a:spAutoFit/>
          </a:bodyPr>
          <a:lstStyle/>
          <a:p>
            <a:pPr algn="just">
              <a:defRPr sz="1100" b="0" i="0">
                <a:solidFill>
                  <a:srgbClr val="333333"/>
                </a:solidFill>
              </a:defRPr>
            </a:pPr>
            <a:r>
              <a:rPr dirty="0" err="1"/>
              <a:t>Outil</a:t>
            </a:r>
            <a:r>
              <a:rPr dirty="0"/>
              <a:t> interne </a:t>
            </a:r>
            <a:r>
              <a:rPr dirty="0" err="1"/>
              <a:t>d'inventaire</a:t>
            </a:r>
            <a:r>
              <a:rPr dirty="0"/>
              <a:t> du </a:t>
            </a:r>
            <a:r>
              <a:rPr dirty="0" err="1"/>
              <a:t>patrimoine</a:t>
            </a:r>
            <a:r>
              <a:rPr lang="fr-CH" dirty="0"/>
              <a:t> </a:t>
            </a:r>
            <a:r>
              <a:rPr dirty="0" err="1"/>
              <a:t>applicatif</a:t>
            </a:r>
            <a:r>
              <a:rPr dirty="0"/>
              <a:t> du service Collaborative Solutions,</a:t>
            </a:r>
          </a:p>
          <a:p>
            <a:pPr algn="just">
              <a:defRPr sz="1100" b="0" i="0">
                <a:solidFill>
                  <a:srgbClr val="333333"/>
                </a:solidFill>
              </a:defRPr>
            </a:pPr>
            <a:r>
              <a:rPr dirty="0" err="1"/>
              <a:t>decoupee</a:t>
            </a:r>
            <a:r>
              <a:rPr dirty="0"/>
              <a:t> </a:t>
            </a:r>
            <a:r>
              <a:rPr dirty="0" err="1"/>
              <a:t>en</a:t>
            </a:r>
            <a:r>
              <a:rPr dirty="0"/>
              <a:t> 3 lots de specifications.</a:t>
            </a:r>
          </a:p>
        </p:txBody>
      </p:sp>
      <p:sp>
        <p:nvSpPr>
          <p:cNvPr id="16" name="Rounded Rectangle 15"/>
          <p:cNvSpPr/>
          <p:nvPr/>
        </p:nvSpPr>
        <p:spPr>
          <a:xfrm>
            <a:off x="6309360" y="3291840"/>
            <a:ext cx="5394960" cy="2286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291840"/>
            <a:ext cx="539496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complémentaire</a:t>
            </a:r>
          </a:p>
        </p:txBody>
      </p:sp>
      <p:sp>
        <p:nvSpPr>
          <p:cNvPr id="18" name="TextBox 17"/>
          <p:cNvSpPr txBox="1"/>
          <p:nvPr/>
        </p:nvSpPr>
        <p:spPr>
          <a:xfrm>
            <a:off x="6492240" y="3931920"/>
            <a:ext cx="5029200" cy="411480"/>
          </a:xfrm>
          <a:prstGeom prst="rect">
            <a:avLst/>
          </a:prstGeom>
          <a:noFill/>
        </p:spPr>
        <p:txBody>
          <a:bodyPr wrap="square">
            <a:spAutoFit/>
          </a:bodyPr>
          <a:lstStyle/>
          <a:p>
            <a:pPr algn="l">
              <a:defRPr sz="1500" b="1" i="0">
                <a:solidFill>
                  <a:srgbClr val="2E8B3D"/>
                </a:solidFill>
              </a:defRPr>
            </a:pPr>
            <a:r>
              <a:t>Fiabilisation d'Elium Sauvegarde</a:t>
            </a:r>
          </a:p>
        </p:txBody>
      </p:sp>
      <p:sp>
        <p:nvSpPr>
          <p:cNvPr id="19" name="TextBox 18"/>
          <p:cNvSpPr txBox="1"/>
          <p:nvPr/>
        </p:nvSpPr>
        <p:spPr>
          <a:xfrm>
            <a:off x="6492240" y="4389120"/>
            <a:ext cx="5029200" cy="1188720"/>
          </a:xfrm>
          <a:prstGeom prst="rect">
            <a:avLst/>
          </a:prstGeom>
          <a:noFill/>
        </p:spPr>
        <p:txBody>
          <a:bodyPr wrap="square">
            <a:spAutoFit/>
          </a:bodyPr>
          <a:lstStyle/>
          <a:p>
            <a:pPr algn="l">
              <a:defRPr sz="1100" b="0" i="0">
                <a:solidFill>
                  <a:srgbClr val="333333"/>
                </a:solidFill>
              </a:defRPr>
            </a:pPr>
            <a:r>
              <a:t>Application console .NET qui archive</a:t>
            </a:r>
          </a:p>
          <a:p>
            <a:pPr algn="l">
              <a:defRPr sz="1100" b="0" i="0">
                <a:solidFill>
                  <a:srgbClr val="333333"/>
                </a:solidFill>
              </a:defRPr>
            </a:pPr>
            <a:r>
              <a:t>les articles Elium vers SharePoint Online.</a:t>
            </a:r>
          </a:p>
          <a:p>
            <a:pPr algn="l">
              <a:defRPr sz="1100" b="0" i="0">
                <a:solidFill>
                  <a:srgbClr val="333333"/>
                </a:solidFill>
              </a:defRPr>
            </a:pPr>
            <a:r>
              <a:t>Intervention pour fiabiliser un traitement</a:t>
            </a:r>
          </a:p>
          <a:p>
            <a:pPr algn="l">
              <a:defRPr sz="1100" b="0" i="0">
                <a:solidFill>
                  <a:srgbClr val="333333"/>
                </a:solidFill>
              </a:defRPr>
            </a:pPr>
            <a:r>
              <a:t>qui échouait en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02</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Organisme d'accueil</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Du </a:t>
            </a:r>
            <a:r>
              <a:rPr dirty="0" err="1"/>
              <a:t>groupe</a:t>
            </a:r>
            <a:r>
              <a:rPr dirty="0"/>
              <a:t> VINCI a </a:t>
            </a:r>
            <a:r>
              <a:rPr lang="fr-MA" dirty="0"/>
              <a:t>équipe</a:t>
            </a:r>
            <a:r>
              <a:rPr dirty="0"/>
              <a:t> qui </a:t>
            </a:r>
            <a:r>
              <a:rPr dirty="0" err="1"/>
              <a:t>m'a</a:t>
            </a:r>
            <a:r>
              <a:rPr dirty="0"/>
              <a:t> </a:t>
            </a:r>
            <a:r>
              <a:rPr dirty="0" err="1"/>
              <a:t>accueilli</a:t>
            </a:r>
            <a:endParaRPr dirty="0"/>
          </a:p>
        </p:txBody>
      </p:sp>
      <p:sp>
        <p:nvSpPr>
          <p:cNvPr id="7" name="Freeform 10">
            <a:extLst>
              <a:ext uri="{FF2B5EF4-FFF2-40B4-BE49-F238E27FC236}">
                <a16:creationId xmlns:a16="http://schemas.microsoft.com/office/drawing/2014/main" id="{1FF4FD85-55F7-4641-85CA-EBA1E6D9022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66A3BBB7-0EAF-4B85-B086-7A43C3E49FE7}"/>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Le groupe VINCI</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6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Acteur mondial des concessions, de l'énergie et de la construction</a:t>
            </a:r>
          </a:p>
        </p:txBody>
      </p:sp>
      <p:sp>
        <p:nvSpPr>
          <p:cNvPr id="10" name="Rounded Rectangle 9"/>
          <p:cNvSpPr/>
          <p:nvPr/>
        </p:nvSpPr>
        <p:spPr>
          <a:xfrm>
            <a:off x="4937760" y="1783080"/>
            <a:ext cx="2286000" cy="64008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700" b="1">
                <a:solidFill>
                  <a:srgbClr val="FFFFFF"/>
                </a:solidFill>
              </a:defRPr>
            </a:pPr>
            <a:r>
              <a:t>GROUPE VINCI</a:t>
            </a:r>
          </a:p>
        </p:txBody>
      </p:sp>
      <p:sp>
        <p:nvSpPr>
          <p:cNvPr id="11" name="Rectangle 10"/>
          <p:cNvSpPr/>
          <p:nvPr/>
        </p:nvSpPr>
        <p:spPr>
          <a:xfrm>
            <a:off x="6035040" y="2423160"/>
            <a:ext cx="27432" cy="3200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46293" y="2720912"/>
            <a:ext cx="7390067" cy="82295"/>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837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VINCI</a:t>
            </a:r>
          </a:p>
          <a:p>
            <a:pPr algn="ctr">
              <a:defRPr sz="1400" b="1">
                <a:solidFill>
                  <a:srgbClr val="FFFFFF"/>
                </a:solidFill>
              </a:defRPr>
            </a:pPr>
            <a:r>
              <a:t>Concessions</a:t>
            </a:r>
          </a:p>
        </p:txBody>
      </p:sp>
      <p:sp>
        <p:nvSpPr>
          <p:cNvPr id="15" name="Rectangle 14"/>
          <p:cNvSpPr/>
          <p:nvPr/>
        </p:nvSpPr>
        <p:spPr>
          <a:xfrm>
            <a:off x="11430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Autoroutes</a:t>
            </a:r>
          </a:p>
        </p:txBody>
      </p:sp>
      <p:sp>
        <p:nvSpPr>
          <p:cNvPr id="16" name="Rectangle 15"/>
          <p:cNvSpPr/>
          <p:nvPr/>
        </p:nvSpPr>
        <p:spPr>
          <a:xfrm>
            <a:off x="1143000" y="442207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Airports</a:t>
            </a:r>
          </a:p>
        </p:txBody>
      </p:sp>
      <p:sp>
        <p:nvSpPr>
          <p:cNvPr id="17" name="Rectangle 16"/>
          <p:cNvSpPr/>
          <p:nvPr/>
        </p:nvSpPr>
        <p:spPr>
          <a:xfrm>
            <a:off x="60413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lang="fr-MA" dirty="0"/>
              <a:t>Services à l'énergie </a:t>
            </a:r>
          </a:p>
        </p:txBody>
      </p:sp>
      <p:sp>
        <p:nvSpPr>
          <p:cNvPr id="19" name="Rectangle 18"/>
          <p:cNvSpPr/>
          <p:nvPr/>
        </p:nvSpPr>
        <p:spPr>
          <a:xfrm>
            <a:off x="4800600" y="3919156"/>
            <a:ext cx="2743200" cy="384048"/>
          </a:xfrm>
          <a:prstGeom prst="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8B3D"/>
                </a:solidFill>
              </a:defRPr>
            </a:pPr>
            <a:r>
              <a:t>VINCI Energies</a:t>
            </a:r>
          </a:p>
        </p:txBody>
      </p:sp>
      <p:sp>
        <p:nvSpPr>
          <p:cNvPr id="21" name="Rectangle 20"/>
          <p:cNvSpPr/>
          <p:nvPr/>
        </p:nvSpPr>
        <p:spPr>
          <a:xfrm>
            <a:off x="4800600" y="450570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Cobra IS</a:t>
            </a:r>
          </a:p>
        </p:txBody>
      </p:sp>
      <p:sp>
        <p:nvSpPr>
          <p:cNvPr id="22" name="Rectangle 21"/>
          <p:cNvSpPr/>
          <p:nvPr/>
        </p:nvSpPr>
        <p:spPr>
          <a:xfrm>
            <a:off x="96989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dirty="0"/>
              <a:t>VINCI</a:t>
            </a:r>
          </a:p>
          <a:p>
            <a:pPr algn="ctr">
              <a:defRPr sz="1400" b="1">
                <a:solidFill>
                  <a:srgbClr val="FFFFFF"/>
                </a:solidFill>
              </a:defRPr>
            </a:pPr>
            <a:r>
              <a:rPr lang="fr-MA" dirty="0"/>
              <a:t>Construction</a:t>
            </a:r>
            <a:endParaRPr dirty="0"/>
          </a:p>
        </p:txBody>
      </p:sp>
      <p:sp>
        <p:nvSpPr>
          <p:cNvPr id="24" name="Rectangle 23"/>
          <p:cNvSpPr/>
          <p:nvPr/>
        </p:nvSpPr>
        <p:spPr>
          <a:xfrm>
            <a:off x="84582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VINCI Construction</a:t>
            </a:r>
          </a:p>
        </p:txBody>
      </p:sp>
      <p:sp>
        <p:nvSpPr>
          <p:cNvPr id="26" name="Rounded Rectangle 25"/>
          <p:cNvSpPr/>
          <p:nvPr/>
        </p:nvSpPr>
        <p:spPr>
          <a:xfrm>
            <a:off x="4114800" y="5989320"/>
            <a:ext cx="36576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FFFFFF"/>
                </a:solidFill>
              </a:defRPr>
            </a:pPr>
            <a:endParaRPr/>
          </a:p>
        </p:txBody>
      </p:sp>
      <p:sp>
        <p:nvSpPr>
          <p:cNvPr id="27" name="TextBox 26"/>
          <p:cNvSpPr txBox="1"/>
          <p:nvPr/>
        </p:nvSpPr>
        <p:spPr>
          <a:xfrm>
            <a:off x="4572000" y="5989320"/>
            <a:ext cx="6400800" cy="320040"/>
          </a:xfrm>
          <a:prstGeom prst="rect">
            <a:avLst/>
          </a:prstGeom>
          <a:noFill/>
        </p:spPr>
        <p:txBody>
          <a:bodyPr wrap="square">
            <a:spAutoFit/>
          </a:bodyPr>
          <a:lstStyle/>
          <a:p>
            <a:pPr algn="l">
              <a:defRPr sz="1300" b="1" i="1">
                <a:solidFill>
                  <a:srgbClr val="2E8B3D"/>
                </a:solidFill>
              </a:defRPr>
            </a:pPr>
            <a:r>
              <a:rPr dirty="0"/>
              <a:t>Pole </a:t>
            </a:r>
            <a:r>
              <a:rPr dirty="0" err="1"/>
              <a:t>d'accueil</a:t>
            </a:r>
            <a:r>
              <a:rPr dirty="0"/>
              <a:t> : VINCI Energies</a:t>
            </a:r>
          </a:p>
        </p:txBody>
      </p:sp>
      <p:sp>
        <p:nvSpPr>
          <p:cNvPr id="28" name="Rectangle 27">
            <a:extLst>
              <a:ext uri="{FF2B5EF4-FFF2-40B4-BE49-F238E27FC236}">
                <a16:creationId xmlns:a16="http://schemas.microsoft.com/office/drawing/2014/main" id="{D6862CE1-1D49-4CFA-9A12-E26EDDACAEF6}"/>
              </a:ext>
            </a:extLst>
          </p:cNvPr>
          <p:cNvSpPr/>
          <p:nvPr/>
        </p:nvSpPr>
        <p:spPr>
          <a:xfrm>
            <a:off x="1143000" y="497652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Autres concessions</a:t>
            </a:r>
            <a:endParaRPr dirty="0"/>
          </a:p>
        </p:txBody>
      </p:sp>
      <p:pic>
        <p:nvPicPr>
          <p:cNvPr id="29" name="Image 28">
            <a:extLst>
              <a:ext uri="{FF2B5EF4-FFF2-40B4-BE49-F238E27FC236}">
                <a16:creationId xmlns:a16="http://schemas.microsoft.com/office/drawing/2014/main" id="{F3A7E4E0-770A-44E0-97D8-72EF16CBEA62}"/>
              </a:ext>
            </a:extLst>
          </p:cNvPr>
          <p:cNvPicPr>
            <a:picLocks noChangeAspect="1"/>
          </p:cNvPicPr>
          <p:nvPr/>
        </p:nvPicPr>
        <p:blipFill rotWithShape="1">
          <a:blip r:embed="rId2"/>
          <a:srcRect t="36165" b="33014"/>
          <a:stretch/>
        </p:blipFill>
        <p:spPr>
          <a:xfrm>
            <a:off x="10237076" y="327996"/>
            <a:ext cx="1348918" cy="41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VINCI - Chiffres cl</a:t>
            </a:r>
            <a:r>
              <a:rPr lang="fr-CH" dirty="0"/>
              <a:t>é</a:t>
            </a:r>
            <a:r>
              <a:rPr dirty="0"/>
              <a:t>s 2025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7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a:t>Groupe VINCI - Rapport </a:t>
            </a:r>
            <a:r>
              <a:rPr dirty="0" err="1"/>
              <a:t>annuel</a:t>
            </a:r>
            <a:r>
              <a:rPr dirty="0"/>
              <a:t> 2025</a:t>
            </a:r>
          </a:p>
        </p:txBody>
      </p:sp>
      <p:sp>
        <p:nvSpPr>
          <p:cNvPr id="10" name="Rounded Rectangle 9"/>
          <p:cNvSpPr/>
          <p:nvPr/>
        </p:nvSpPr>
        <p:spPr>
          <a:xfrm>
            <a:off x="73152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74,6 Mds</a:t>
            </a:r>
          </a:p>
          <a:p>
            <a:pPr algn="ctr">
              <a:defRPr sz="1200">
                <a:solidFill>
                  <a:srgbClr val="666666"/>
                </a:solidFill>
              </a:defRPr>
            </a:pPr>
            <a:r>
              <a:t>Chiffre d'affaires (€)</a:t>
            </a:r>
          </a:p>
        </p:txBody>
      </p:sp>
      <p:sp>
        <p:nvSpPr>
          <p:cNvPr id="11" name="Rectangle 10"/>
          <p:cNvSpPr/>
          <p:nvPr/>
        </p:nvSpPr>
        <p:spPr>
          <a:xfrm>
            <a:off x="73152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293 800</a:t>
            </a:r>
          </a:p>
          <a:p>
            <a:pPr algn="ctr">
              <a:defRPr sz="1200">
                <a:solidFill>
                  <a:srgbClr val="666666"/>
                </a:solidFill>
              </a:defRPr>
            </a:pPr>
            <a:r>
              <a:t>Collaborateurs</a:t>
            </a:r>
          </a:p>
        </p:txBody>
      </p:sp>
      <p:sp>
        <p:nvSpPr>
          <p:cNvPr id="13" name="Rectangle 12"/>
          <p:cNvSpPr/>
          <p:nvPr/>
        </p:nvSpPr>
        <p:spPr>
          <a:xfrm>
            <a:off x="356616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120+</a:t>
            </a:r>
          </a:p>
          <a:p>
            <a:pPr algn="ctr">
              <a:defRPr sz="1200">
                <a:solidFill>
                  <a:srgbClr val="666666"/>
                </a:solidFill>
              </a:defRPr>
            </a:pPr>
            <a:r>
              <a:t>Pays d'implantation</a:t>
            </a:r>
          </a:p>
        </p:txBody>
      </p:sp>
      <p:sp>
        <p:nvSpPr>
          <p:cNvPr id="15" name="Rectangle 14"/>
          <p:cNvSpPr/>
          <p:nvPr/>
        </p:nvSpPr>
        <p:spPr>
          <a:xfrm>
            <a:off x="640080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544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4,9 Mds</a:t>
            </a:r>
          </a:p>
          <a:p>
            <a:pPr algn="ctr">
              <a:defRPr sz="1200">
                <a:solidFill>
                  <a:srgbClr val="666666"/>
                </a:solidFill>
              </a:defRPr>
            </a:pPr>
            <a:r>
              <a:t>Résultat net (€)</a:t>
            </a:r>
          </a:p>
        </p:txBody>
      </p:sp>
      <p:sp>
        <p:nvSpPr>
          <p:cNvPr id="17" name="Rectangle 16"/>
          <p:cNvSpPr/>
          <p:nvPr/>
        </p:nvSpPr>
        <p:spPr>
          <a:xfrm>
            <a:off x="923544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57600"/>
            <a:ext cx="10698480" cy="365760"/>
          </a:xfrm>
          <a:prstGeom prst="rect">
            <a:avLst/>
          </a:prstGeom>
          <a:noFill/>
        </p:spPr>
        <p:txBody>
          <a:bodyPr wrap="square">
            <a:spAutoFit/>
          </a:bodyPr>
          <a:lstStyle/>
          <a:p>
            <a:pPr algn="ctr">
              <a:defRPr sz="1600" b="1" i="0">
                <a:solidFill>
                  <a:srgbClr val="2E8B3D"/>
                </a:solidFill>
              </a:defRPr>
            </a:pPr>
            <a:r>
              <a:t>Zoom sur VINCI Energies (pôle d'accueil)</a:t>
            </a:r>
          </a:p>
        </p:txBody>
      </p:sp>
      <p:sp>
        <p:nvSpPr>
          <p:cNvPr id="19" name="Rounded Rectangle 18"/>
          <p:cNvSpPr/>
          <p:nvPr/>
        </p:nvSpPr>
        <p:spPr>
          <a:xfrm>
            <a:off x="73152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21,6 Mds</a:t>
            </a:r>
          </a:p>
          <a:p>
            <a:pPr algn="ctr">
              <a:defRPr sz="1100">
                <a:solidFill>
                  <a:srgbClr val="333333"/>
                </a:solidFill>
              </a:defRPr>
            </a:pPr>
            <a:r>
              <a:t>CA (€)</a:t>
            </a:r>
          </a:p>
        </p:txBody>
      </p:sp>
      <p:sp>
        <p:nvSpPr>
          <p:cNvPr id="20" name="Rounded Rectangle 19"/>
          <p:cNvSpPr/>
          <p:nvPr/>
        </p:nvSpPr>
        <p:spPr>
          <a:xfrm>
            <a:off x="356616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109 000</a:t>
            </a:r>
          </a:p>
          <a:p>
            <a:pPr algn="ctr">
              <a:defRPr sz="1100">
                <a:solidFill>
                  <a:srgbClr val="333333"/>
                </a:solidFill>
              </a:defRPr>
            </a:pPr>
            <a:r>
              <a:t>Collaborateurs</a:t>
            </a:r>
          </a:p>
        </p:txBody>
      </p:sp>
      <p:sp>
        <p:nvSpPr>
          <p:cNvPr id="21" name="Rounded Rectangle 20"/>
          <p:cNvSpPr/>
          <p:nvPr/>
        </p:nvSpPr>
        <p:spPr>
          <a:xfrm>
            <a:off x="640080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60</a:t>
            </a:r>
          </a:p>
          <a:p>
            <a:pPr algn="ctr">
              <a:defRPr sz="1100">
                <a:solidFill>
                  <a:srgbClr val="333333"/>
                </a:solidFill>
              </a:defRPr>
            </a:pPr>
            <a:r>
              <a:t>Pays</a:t>
            </a:r>
          </a:p>
        </p:txBody>
      </p:sp>
      <p:sp>
        <p:nvSpPr>
          <p:cNvPr id="22" name="Rounded Rectangle 21"/>
          <p:cNvSpPr/>
          <p:nvPr/>
        </p:nvSpPr>
        <p:spPr>
          <a:xfrm>
            <a:off x="923544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 2 200</a:t>
            </a:r>
          </a:p>
          <a:p>
            <a:pPr algn="ctr">
              <a:defRPr sz="1100">
                <a:solidFill>
                  <a:srgbClr val="333333"/>
                </a:solidFill>
              </a:defRPr>
            </a:pPr>
            <a:r>
              <a:t>Entreprises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03</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446550"/>
          </a:xfrm>
          <a:prstGeom prst="rect">
            <a:avLst/>
          </a:prstGeom>
          <a:noFill/>
        </p:spPr>
        <p:txBody>
          <a:bodyPr wrap="square">
            <a:spAutoFit/>
          </a:bodyPr>
          <a:lstStyle/>
          <a:p>
            <a:pPr algn="l">
              <a:defRPr sz="4400" b="1" i="0">
                <a:solidFill>
                  <a:srgbClr val="003366"/>
                </a:solidFill>
              </a:defRPr>
            </a:pPr>
            <a:r>
              <a:rPr dirty="0"/>
              <a:t>L'</a:t>
            </a:r>
            <a:r>
              <a:rPr lang="fr-CH" dirty="0"/>
              <a:t>é</a:t>
            </a:r>
            <a:r>
              <a:rPr dirty="0" err="1"/>
              <a:t>quipe</a:t>
            </a:r>
            <a:r>
              <a:rPr dirty="0"/>
              <a:t> et son </a:t>
            </a:r>
            <a:r>
              <a:rPr dirty="0" err="1"/>
              <a:t>fonctionnement</a:t>
            </a:r>
            <a:endParaRPr dirty="0"/>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VESI, la direction Custom Applications et le squad M365</a:t>
            </a:r>
          </a:p>
        </p:txBody>
      </p:sp>
      <p:sp>
        <p:nvSpPr>
          <p:cNvPr id="7" name="Freeform 10">
            <a:extLst>
              <a:ext uri="{FF2B5EF4-FFF2-40B4-BE49-F238E27FC236}">
                <a16:creationId xmlns:a16="http://schemas.microsoft.com/office/drawing/2014/main" id="{83BEE508-6F37-41CE-8C1B-F182AC3FD7C3}"/>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31381C66-FF9B-4B4D-8A30-953214EE4C35}"/>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L'ÉQUIPE</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VESI - De la DSI au squad M365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9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365760" y="1026942"/>
            <a:ext cx="11247120" cy="274320"/>
          </a:xfrm>
          <a:prstGeom prst="rect">
            <a:avLst/>
          </a:prstGeom>
          <a:noFill/>
        </p:spPr>
        <p:txBody>
          <a:bodyPr wrap="square">
            <a:spAutoFit/>
          </a:bodyPr>
          <a:lstStyle/>
          <a:p>
            <a:pPr algn="ctr">
              <a:defRPr sz="1200" b="0" i="1">
                <a:solidFill>
                  <a:srgbClr val="666666"/>
                </a:solidFill>
              </a:defRPr>
            </a:pPr>
            <a:r>
              <a:t>Positionnement du squad M365 dans l'organisation de VESI</a:t>
            </a:r>
          </a:p>
        </p:txBody>
      </p:sp>
      <p:sp>
        <p:nvSpPr>
          <p:cNvPr id="10" name="Rounded Rectangle 9"/>
          <p:cNvSpPr/>
          <p:nvPr/>
        </p:nvSpPr>
        <p:spPr>
          <a:xfrm>
            <a:off x="4130861" y="1600200"/>
            <a:ext cx="22860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500" b="1">
                <a:solidFill>
                  <a:srgbClr val="FFFFFF"/>
                </a:solidFill>
              </a:defRPr>
            </a:pPr>
            <a:r>
              <a:t>VESI</a:t>
            </a:r>
          </a:p>
        </p:txBody>
      </p:sp>
      <p:sp>
        <p:nvSpPr>
          <p:cNvPr id="11" name="Rectangle 10"/>
          <p:cNvSpPr/>
          <p:nvPr/>
        </p:nvSpPr>
        <p:spPr>
          <a:xfrm>
            <a:off x="5228141" y="20574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7581" y="2651759"/>
            <a:ext cx="10189698"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28141" y="2286000"/>
            <a:ext cx="27432"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111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32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Cyber </a:t>
            </a:r>
            <a:r>
              <a:rPr lang="fr-CH" dirty="0" err="1"/>
              <a:t>security</a:t>
            </a:r>
            <a:endParaRPr dirty="0"/>
          </a:p>
        </p:txBody>
      </p:sp>
      <p:sp>
        <p:nvSpPr>
          <p:cNvPr id="17" name="Rectangle 16"/>
          <p:cNvSpPr/>
          <p:nvPr/>
        </p:nvSpPr>
        <p:spPr>
          <a:xfrm>
            <a:off x="40257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87861" y="288036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Direction</a:t>
            </a:r>
          </a:p>
          <a:p>
            <a:pPr algn="ctr">
              <a:defRPr sz="1100" b="1">
                <a:solidFill>
                  <a:srgbClr val="FFFFFF"/>
                </a:solidFill>
              </a:defRPr>
            </a:pPr>
            <a:r>
              <a:t>Custom Applications</a:t>
            </a:r>
          </a:p>
        </p:txBody>
      </p:sp>
      <p:sp>
        <p:nvSpPr>
          <p:cNvPr id="19" name="Rectangle 18"/>
          <p:cNvSpPr/>
          <p:nvPr/>
        </p:nvSpPr>
        <p:spPr>
          <a:xfrm>
            <a:off x="65403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5024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Data &amp; </a:t>
            </a:r>
            <a:r>
              <a:rPr lang="fr-CH" dirty="0"/>
              <a:t>IA</a:t>
            </a:r>
            <a:endParaRPr dirty="0"/>
          </a:p>
        </p:txBody>
      </p:sp>
      <p:sp>
        <p:nvSpPr>
          <p:cNvPr id="21" name="Rectangle 20"/>
          <p:cNvSpPr/>
          <p:nvPr/>
        </p:nvSpPr>
        <p:spPr>
          <a:xfrm>
            <a:off x="90549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170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Codex</a:t>
            </a:r>
            <a:endParaRPr dirty="0"/>
          </a:p>
        </p:txBody>
      </p:sp>
      <p:sp>
        <p:nvSpPr>
          <p:cNvPr id="23" name="Rectangle 22"/>
          <p:cNvSpPr/>
          <p:nvPr/>
        </p:nvSpPr>
        <p:spPr>
          <a:xfrm>
            <a:off x="4025705" y="34290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7581" y="3657600"/>
            <a:ext cx="905256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5111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732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Web &amp; Mobile</a:t>
            </a:r>
          </a:p>
          <a:p>
            <a:pPr algn="ctr">
              <a:defRPr sz="1100" b="0">
                <a:solidFill>
                  <a:srgbClr val="333333"/>
                </a:solidFill>
              </a:defRPr>
            </a:pPr>
            <a:r>
              <a:t>Applications</a:t>
            </a:r>
          </a:p>
        </p:txBody>
      </p:sp>
      <p:sp>
        <p:nvSpPr>
          <p:cNvPr id="28" name="Rectangle 27"/>
          <p:cNvSpPr/>
          <p:nvPr/>
        </p:nvSpPr>
        <p:spPr>
          <a:xfrm>
            <a:off x="40257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987861" y="388620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Collaborative</a:t>
            </a:r>
          </a:p>
          <a:p>
            <a:pPr algn="ctr">
              <a:defRPr sz="1100" b="1">
                <a:solidFill>
                  <a:srgbClr val="FFFFFF"/>
                </a:solidFill>
              </a:defRPr>
            </a:pPr>
            <a:r>
              <a:t>Solutions</a:t>
            </a:r>
          </a:p>
        </p:txBody>
      </p:sp>
      <p:sp>
        <p:nvSpPr>
          <p:cNvPr id="30" name="Rectangle 29"/>
          <p:cNvSpPr/>
          <p:nvPr/>
        </p:nvSpPr>
        <p:spPr>
          <a:xfrm>
            <a:off x="65403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5024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Payroll</a:t>
            </a:r>
          </a:p>
          <a:p>
            <a:pPr algn="ctr">
              <a:defRPr sz="1100" b="0">
                <a:solidFill>
                  <a:srgbClr val="333333"/>
                </a:solidFill>
              </a:defRPr>
            </a:pPr>
            <a:r>
              <a:t>Solutions</a:t>
            </a:r>
          </a:p>
        </p:txBody>
      </p:sp>
      <p:sp>
        <p:nvSpPr>
          <p:cNvPr id="32" name="Rectangle 31"/>
          <p:cNvSpPr/>
          <p:nvPr/>
        </p:nvSpPr>
        <p:spPr>
          <a:xfrm>
            <a:off x="90549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0170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HRIS</a:t>
            </a:r>
          </a:p>
        </p:txBody>
      </p:sp>
      <p:sp>
        <p:nvSpPr>
          <p:cNvPr id="34" name="Rectangle 33"/>
          <p:cNvSpPr/>
          <p:nvPr/>
        </p:nvSpPr>
        <p:spPr>
          <a:xfrm>
            <a:off x="4025705" y="443484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flipV="1">
            <a:off x="2853046" y="4642339"/>
            <a:ext cx="3939657"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028050" y="468805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853046" y="4916658"/>
            <a:ext cx="2377440" cy="5029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rPr dirty="0"/>
              <a:t>Group</a:t>
            </a:r>
          </a:p>
        </p:txBody>
      </p:sp>
      <p:sp>
        <p:nvSpPr>
          <p:cNvPr id="39" name="Rectangle 38"/>
          <p:cNvSpPr/>
          <p:nvPr/>
        </p:nvSpPr>
        <p:spPr>
          <a:xfrm>
            <a:off x="6567737" y="465499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433296" y="4898491"/>
            <a:ext cx="2377440" cy="50292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BU</a:t>
            </a:r>
          </a:p>
        </p:txBody>
      </p:sp>
      <p:sp>
        <p:nvSpPr>
          <p:cNvPr id="41" name="Rectangle 40"/>
          <p:cNvSpPr/>
          <p:nvPr/>
        </p:nvSpPr>
        <p:spPr>
          <a:xfrm>
            <a:off x="4028050" y="541957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53046" y="5556738"/>
            <a:ext cx="2468880" cy="2743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3879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853046" y="5693898"/>
            <a:ext cx="1097280" cy="3200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2E8B3D"/>
                </a:solidFill>
              </a:defRPr>
            </a:pPr>
            <a:r>
              <a:t>Squad MyVIEW</a:t>
            </a:r>
          </a:p>
        </p:txBody>
      </p:sp>
      <p:sp>
        <p:nvSpPr>
          <p:cNvPr id="45" name="Rectangle 44"/>
          <p:cNvSpPr/>
          <p:nvPr/>
        </p:nvSpPr>
        <p:spPr>
          <a:xfrm>
            <a:off x="47595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224646" y="5693898"/>
            <a:ext cx="109728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Squad M365</a:t>
            </a:r>
          </a:p>
        </p:txBody>
      </p:sp>
      <p:sp>
        <p:nvSpPr>
          <p:cNvPr id="50" name="Rectangle 49">
            <a:extLst>
              <a:ext uri="{FF2B5EF4-FFF2-40B4-BE49-F238E27FC236}">
                <a16:creationId xmlns:a16="http://schemas.microsoft.com/office/drawing/2014/main" id="{167C368A-DB62-45A0-B52C-A645B518C4F8}"/>
              </a:ext>
            </a:extLst>
          </p:cNvPr>
          <p:cNvSpPr/>
          <p:nvPr/>
        </p:nvSpPr>
        <p:spPr>
          <a:xfrm>
            <a:off x="10792257" y="2686933"/>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21">
            <a:extLst>
              <a:ext uri="{FF2B5EF4-FFF2-40B4-BE49-F238E27FC236}">
                <a16:creationId xmlns:a16="http://schemas.microsoft.com/office/drawing/2014/main" id="{A00158E2-79FF-4C41-946B-25D70129DDEA}"/>
              </a:ext>
            </a:extLst>
          </p:cNvPr>
          <p:cNvSpPr/>
          <p:nvPr/>
        </p:nvSpPr>
        <p:spPr>
          <a:xfrm>
            <a:off x="10237411" y="2880360"/>
            <a:ext cx="1204312"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Applications ger</a:t>
            </a:r>
            <a:r>
              <a:rPr lang="fr-CH" dirty="0"/>
              <a:t>é</a:t>
            </a:r>
            <a:r>
              <a:rPr dirty="0"/>
              <a:t>es par l'</a:t>
            </a:r>
            <a:r>
              <a:rPr lang="fr-CH" dirty="0"/>
              <a:t>é</a:t>
            </a:r>
            <a:r>
              <a:rPr dirty="0" err="1"/>
              <a:t>quipe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10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l">
              <a:defRPr sz="1400" b="0" i="1">
                <a:solidFill>
                  <a:srgbClr val="666666"/>
                </a:solidFill>
              </a:defRPr>
            </a:pPr>
            <a:r>
              <a:rPr dirty="0" err="1"/>
              <a:t>Portefeuille</a:t>
            </a:r>
            <a:r>
              <a:rPr dirty="0"/>
              <a:t> de l'</a:t>
            </a:r>
            <a:r>
              <a:rPr lang="fr-CH" dirty="0"/>
              <a:t>é</a:t>
            </a:r>
            <a:r>
              <a:rPr dirty="0" err="1"/>
              <a:t>quipe</a:t>
            </a:r>
            <a:r>
              <a:rPr dirty="0"/>
              <a:t> Group Collaborative Solutions</a:t>
            </a:r>
          </a:p>
        </p:txBody>
      </p:sp>
      <p:sp>
        <p:nvSpPr>
          <p:cNvPr id="10" name="Rounded Rectangle 9"/>
          <p:cNvSpPr/>
          <p:nvPr/>
        </p:nvSpPr>
        <p:spPr>
          <a:xfrm>
            <a:off x="73152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rPr dirty="0"/>
              <a:t>[ Logo ]</a:t>
            </a:r>
          </a:p>
        </p:txBody>
      </p:sp>
      <p:sp>
        <p:nvSpPr>
          <p:cNvPr id="12" name="TextBox 11"/>
          <p:cNvSpPr txBox="1"/>
          <p:nvPr/>
        </p:nvSpPr>
        <p:spPr>
          <a:xfrm>
            <a:off x="2148840" y="2057400"/>
            <a:ext cx="2057400" cy="548640"/>
          </a:xfrm>
          <a:prstGeom prst="rect">
            <a:avLst/>
          </a:prstGeom>
          <a:noFill/>
        </p:spPr>
        <p:txBody>
          <a:bodyPr wrap="square">
            <a:spAutoFit/>
          </a:bodyPr>
          <a:lstStyle/>
          <a:p>
            <a:pPr algn="l">
              <a:defRPr sz="1400" b="1" i="0">
                <a:solidFill>
                  <a:srgbClr val="003366"/>
                </a:solidFill>
              </a:defRPr>
            </a:pPr>
            <a:r>
              <a:t>MyVIEW</a:t>
            </a:r>
          </a:p>
        </p:txBody>
      </p:sp>
      <p:sp>
        <p:nvSpPr>
          <p:cNvPr id="13" name="TextBox 12"/>
          <p:cNvSpPr txBox="1"/>
          <p:nvPr/>
        </p:nvSpPr>
        <p:spPr>
          <a:xfrm>
            <a:off x="2148840" y="2651760"/>
            <a:ext cx="2057400" cy="822960"/>
          </a:xfrm>
          <a:prstGeom prst="rect">
            <a:avLst/>
          </a:prstGeom>
          <a:noFill/>
        </p:spPr>
        <p:txBody>
          <a:bodyPr wrap="square">
            <a:spAutoFit/>
          </a:bodyPr>
          <a:lstStyle/>
          <a:p>
            <a:pPr algn="l">
              <a:defRPr sz="1000" b="0" i="0">
                <a:solidFill>
                  <a:srgbClr val="666666"/>
                </a:solidFill>
              </a:defRPr>
            </a:pPr>
            <a:r>
              <a:t>Intranet du groupe VINCI Energies</a:t>
            </a:r>
          </a:p>
        </p:txBody>
      </p:sp>
      <p:sp>
        <p:nvSpPr>
          <p:cNvPr id="14" name="Rounded Rectangle 13"/>
          <p:cNvSpPr/>
          <p:nvPr/>
        </p:nvSpPr>
        <p:spPr>
          <a:xfrm>
            <a:off x="457200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5488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16" name="TextBox 15"/>
          <p:cNvSpPr txBox="1"/>
          <p:nvPr/>
        </p:nvSpPr>
        <p:spPr>
          <a:xfrm>
            <a:off x="5989320" y="2057400"/>
            <a:ext cx="2057400" cy="548640"/>
          </a:xfrm>
          <a:prstGeom prst="rect">
            <a:avLst/>
          </a:prstGeom>
          <a:noFill/>
        </p:spPr>
        <p:txBody>
          <a:bodyPr wrap="square">
            <a:spAutoFit/>
          </a:bodyPr>
          <a:lstStyle/>
          <a:p>
            <a:pPr algn="l">
              <a:defRPr sz="1400" b="1" i="0">
                <a:solidFill>
                  <a:srgbClr val="003366"/>
                </a:solidFill>
              </a:defRPr>
            </a:pPr>
            <a:r>
              <a:t>Connect</a:t>
            </a:r>
          </a:p>
        </p:txBody>
      </p:sp>
      <p:sp>
        <p:nvSpPr>
          <p:cNvPr id="17" name="TextBox 16"/>
          <p:cNvSpPr txBox="1"/>
          <p:nvPr/>
        </p:nvSpPr>
        <p:spPr>
          <a:xfrm>
            <a:off x="5989320" y="2651760"/>
            <a:ext cx="2057400" cy="822960"/>
          </a:xfrm>
          <a:prstGeom prst="rect">
            <a:avLst/>
          </a:prstGeom>
          <a:noFill/>
        </p:spPr>
        <p:txBody>
          <a:bodyPr wrap="square">
            <a:spAutoFit/>
          </a:bodyPr>
          <a:lstStyle/>
          <a:p>
            <a:pPr algn="l">
              <a:defRPr sz="1000" b="0" i="0">
                <a:solidFill>
                  <a:srgbClr val="666666"/>
                </a:solidFill>
              </a:defRPr>
            </a:pPr>
            <a:r>
              <a:t>Moteur de recherche et annuaire</a:t>
            </a:r>
          </a:p>
        </p:txBody>
      </p:sp>
      <p:sp>
        <p:nvSpPr>
          <p:cNvPr id="18" name="Rounded Rectangle 17"/>
          <p:cNvSpPr/>
          <p:nvPr/>
        </p:nvSpPr>
        <p:spPr>
          <a:xfrm>
            <a:off x="841248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9536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0" name="TextBox 19"/>
          <p:cNvSpPr txBox="1"/>
          <p:nvPr/>
        </p:nvSpPr>
        <p:spPr>
          <a:xfrm>
            <a:off x="9829800" y="2057400"/>
            <a:ext cx="2057400" cy="307777"/>
          </a:xfrm>
          <a:prstGeom prst="rect">
            <a:avLst/>
          </a:prstGeom>
          <a:noFill/>
        </p:spPr>
        <p:txBody>
          <a:bodyPr wrap="square">
            <a:spAutoFit/>
          </a:bodyPr>
          <a:lstStyle/>
          <a:p>
            <a:pPr algn="l">
              <a:defRPr sz="1400" b="1" i="0">
                <a:solidFill>
                  <a:srgbClr val="003366"/>
                </a:solidFill>
              </a:defRPr>
            </a:pPr>
            <a:r>
              <a:rPr lang="fr-MA" dirty="0" err="1"/>
              <a:t>Alert</a:t>
            </a:r>
            <a:r>
              <a:rPr lang="fr-MA" dirty="0"/>
              <a:t> SSI</a:t>
            </a:r>
            <a:endParaRPr dirty="0"/>
          </a:p>
        </p:txBody>
      </p:sp>
      <p:sp>
        <p:nvSpPr>
          <p:cNvPr id="21" name="TextBox 20"/>
          <p:cNvSpPr txBox="1"/>
          <p:nvPr/>
        </p:nvSpPr>
        <p:spPr>
          <a:xfrm>
            <a:off x="9829800" y="2651760"/>
            <a:ext cx="2057400" cy="246221"/>
          </a:xfrm>
          <a:prstGeom prst="rect">
            <a:avLst/>
          </a:prstGeom>
          <a:noFill/>
        </p:spPr>
        <p:txBody>
          <a:bodyPr wrap="square">
            <a:spAutoFit/>
          </a:bodyPr>
          <a:lstStyle/>
          <a:p>
            <a:pPr algn="l">
              <a:defRPr sz="1000" b="0" i="0">
                <a:solidFill>
                  <a:srgbClr val="666666"/>
                </a:solidFill>
              </a:defRPr>
            </a:pPr>
            <a:r>
              <a:rPr lang="fr-MA" dirty="0"/>
              <a:t>Report Spam mail</a:t>
            </a:r>
            <a:endParaRPr dirty="0"/>
          </a:p>
        </p:txBody>
      </p:sp>
      <p:sp>
        <p:nvSpPr>
          <p:cNvPr id="22" name="Rounded Rectangle 21"/>
          <p:cNvSpPr/>
          <p:nvPr/>
        </p:nvSpPr>
        <p:spPr>
          <a:xfrm>
            <a:off x="73152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4" name="TextBox 23"/>
          <p:cNvSpPr txBox="1"/>
          <p:nvPr/>
        </p:nvSpPr>
        <p:spPr>
          <a:xfrm>
            <a:off x="2148840" y="4069080"/>
            <a:ext cx="2057400" cy="548640"/>
          </a:xfrm>
          <a:prstGeom prst="rect">
            <a:avLst/>
          </a:prstGeom>
          <a:noFill/>
        </p:spPr>
        <p:txBody>
          <a:bodyPr wrap="square">
            <a:spAutoFit/>
          </a:bodyPr>
          <a:lstStyle/>
          <a:p>
            <a:pPr algn="l">
              <a:defRPr sz="1400" b="1" i="0">
                <a:solidFill>
                  <a:srgbClr val="003366"/>
                </a:solidFill>
              </a:defRPr>
            </a:pPr>
            <a:r>
              <a:t>CS BAG</a:t>
            </a:r>
          </a:p>
        </p:txBody>
      </p:sp>
      <p:sp>
        <p:nvSpPr>
          <p:cNvPr id="25" name="TextBox 24"/>
          <p:cNvSpPr txBox="1"/>
          <p:nvPr/>
        </p:nvSpPr>
        <p:spPr>
          <a:xfrm>
            <a:off x="2148840" y="4663440"/>
            <a:ext cx="2057400" cy="822960"/>
          </a:xfrm>
          <a:prstGeom prst="rect">
            <a:avLst/>
          </a:prstGeom>
          <a:noFill/>
        </p:spPr>
        <p:txBody>
          <a:bodyPr wrap="square">
            <a:spAutoFit/>
          </a:bodyPr>
          <a:lstStyle/>
          <a:p>
            <a:pPr algn="l">
              <a:defRPr sz="1000" b="0" i="0">
                <a:solidFill>
                  <a:srgbClr val="666666"/>
                </a:solidFill>
              </a:defRPr>
            </a:pPr>
            <a:r>
              <a:t>Inventaire du patrimoine applicatif interne</a:t>
            </a:r>
          </a:p>
        </p:txBody>
      </p:sp>
      <p:sp>
        <p:nvSpPr>
          <p:cNvPr id="26" name="Rounded Rectangle 25"/>
          <p:cNvSpPr/>
          <p:nvPr/>
        </p:nvSpPr>
        <p:spPr>
          <a:xfrm>
            <a:off x="457200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5488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8" name="TextBox 27"/>
          <p:cNvSpPr txBox="1"/>
          <p:nvPr/>
        </p:nvSpPr>
        <p:spPr>
          <a:xfrm>
            <a:off x="5989320" y="4069080"/>
            <a:ext cx="2057400" cy="548640"/>
          </a:xfrm>
          <a:prstGeom prst="rect">
            <a:avLst/>
          </a:prstGeom>
          <a:noFill/>
        </p:spPr>
        <p:txBody>
          <a:bodyPr wrap="square">
            <a:spAutoFit/>
          </a:bodyPr>
          <a:lstStyle/>
          <a:p>
            <a:pPr algn="l">
              <a:defRPr sz="1400" b="1" i="0">
                <a:solidFill>
                  <a:srgbClr val="003366"/>
                </a:solidFill>
              </a:defRPr>
            </a:pPr>
            <a:r>
              <a:t>Elium</a:t>
            </a:r>
          </a:p>
          <a:p>
            <a:pPr algn="l">
              <a:defRPr sz="1400" b="1" i="0">
                <a:solidFill>
                  <a:srgbClr val="003366"/>
                </a:solidFill>
              </a:defRPr>
            </a:pPr>
            <a:r>
              <a:t>Sauvegarde</a:t>
            </a:r>
          </a:p>
        </p:txBody>
      </p:sp>
      <p:sp>
        <p:nvSpPr>
          <p:cNvPr id="29" name="TextBox 28"/>
          <p:cNvSpPr txBox="1"/>
          <p:nvPr/>
        </p:nvSpPr>
        <p:spPr>
          <a:xfrm>
            <a:off x="5989320" y="4663440"/>
            <a:ext cx="2057400" cy="822960"/>
          </a:xfrm>
          <a:prstGeom prst="rect">
            <a:avLst/>
          </a:prstGeom>
          <a:noFill/>
        </p:spPr>
        <p:txBody>
          <a:bodyPr wrap="square">
            <a:spAutoFit/>
          </a:bodyPr>
          <a:lstStyle/>
          <a:p>
            <a:pPr algn="l">
              <a:defRPr sz="1000" b="0" i="0">
                <a:solidFill>
                  <a:srgbClr val="666666"/>
                </a:solidFill>
              </a:defRPr>
            </a:pPr>
            <a:r>
              <a:t>Archivage des articles Elium vers SharePoint</a:t>
            </a:r>
          </a:p>
        </p:txBody>
      </p:sp>
      <p:sp>
        <p:nvSpPr>
          <p:cNvPr id="30" name="Rounded Rectangle 29"/>
          <p:cNvSpPr/>
          <p:nvPr/>
        </p:nvSpPr>
        <p:spPr>
          <a:xfrm>
            <a:off x="841248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9536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32" name="TextBox 31"/>
          <p:cNvSpPr txBox="1"/>
          <p:nvPr/>
        </p:nvSpPr>
        <p:spPr>
          <a:xfrm>
            <a:off x="9829800" y="4069080"/>
            <a:ext cx="2057400" cy="307777"/>
          </a:xfrm>
          <a:prstGeom prst="rect">
            <a:avLst/>
          </a:prstGeom>
          <a:noFill/>
        </p:spPr>
        <p:txBody>
          <a:bodyPr wrap="square">
            <a:spAutoFit/>
          </a:bodyPr>
          <a:lstStyle/>
          <a:p>
            <a:pPr algn="l">
              <a:defRPr sz="1400" b="1" i="0">
                <a:solidFill>
                  <a:srgbClr val="003366"/>
                </a:solidFill>
              </a:defRPr>
            </a:pPr>
            <a:r>
              <a:rPr lang="fr-CH" dirty="0"/>
              <a:t>Gouvernance Office 365</a:t>
            </a:r>
            <a:endParaRPr dirty="0"/>
          </a:p>
        </p:txBody>
      </p:sp>
      <p:sp>
        <p:nvSpPr>
          <p:cNvPr id="33" name="TextBox 32"/>
          <p:cNvSpPr txBox="1"/>
          <p:nvPr/>
        </p:nvSpPr>
        <p:spPr>
          <a:xfrm>
            <a:off x="9829800" y="4663440"/>
            <a:ext cx="2057400" cy="553998"/>
          </a:xfrm>
          <a:prstGeom prst="rect">
            <a:avLst/>
          </a:prstGeom>
          <a:noFill/>
        </p:spPr>
        <p:txBody>
          <a:bodyPr wrap="square">
            <a:spAutoFit/>
          </a:bodyPr>
          <a:lstStyle/>
          <a:p>
            <a:pPr algn="l">
              <a:defRPr sz="1000" b="0" i="0">
                <a:solidFill>
                  <a:srgbClr val="666666"/>
                </a:solidFill>
              </a:defRPr>
            </a:pPr>
            <a:r>
              <a:rPr lang="fr-FR" dirty="0"/>
              <a:t>Garant de la gouvernance</a:t>
            </a:r>
          </a:p>
          <a:p>
            <a:pPr algn="l">
              <a:defRPr sz="1000" b="0" i="0">
                <a:solidFill>
                  <a:srgbClr val="666666"/>
                </a:solidFill>
              </a:defRPr>
            </a:pPr>
            <a:r>
              <a:rPr lang="fr-FR" dirty="0"/>
              <a:t>des droits / Console</a:t>
            </a:r>
          </a:p>
          <a:p>
            <a:pPr algn="l">
              <a:defRPr sz="1000" b="0" i="0">
                <a:solidFill>
                  <a:srgbClr val="666666"/>
                </a:solidFill>
              </a:defRPr>
            </a:pPr>
            <a:r>
              <a:rPr lang="fr-FR" dirty="0"/>
              <a:t>d’administration</a:t>
            </a:r>
            <a:endParaRPr dirty="0"/>
          </a:p>
        </p:txBody>
      </p:sp>
      <p:pic>
        <p:nvPicPr>
          <p:cNvPr id="35" name="Image 34">
            <a:extLst>
              <a:ext uri="{FF2B5EF4-FFF2-40B4-BE49-F238E27FC236}">
                <a16:creationId xmlns:a16="http://schemas.microsoft.com/office/drawing/2014/main" id="{CD0B1270-1CC7-479D-A55C-0437BFDAE769}"/>
              </a:ext>
            </a:extLst>
          </p:cNvPr>
          <p:cNvPicPr>
            <a:picLocks noChangeAspect="1"/>
          </p:cNvPicPr>
          <p:nvPr/>
        </p:nvPicPr>
        <p:blipFill>
          <a:blip r:embed="rId2"/>
          <a:stretch>
            <a:fillRect/>
          </a:stretch>
        </p:blipFill>
        <p:spPr>
          <a:xfrm>
            <a:off x="995367" y="2453352"/>
            <a:ext cx="926236" cy="503492"/>
          </a:xfrm>
          <a:prstGeom prst="rect">
            <a:avLst/>
          </a:prstGeom>
        </p:spPr>
      </p:pic>
      <p:pic>
        <p:nvPicPr>
          <p:cNvPr id="37" name="Image 36">
            <a:extLst>
              <a:ext uri="{FF2B5EF4-FFF2-40B4-BE49-F238E27FC236}">
                <a16:creationId xmlns:a16="http://schemas.microsoft.com/office/drawing/2014/main" id="{698AF155-067A-4951-8E08-5EE3A5AF133F}"/>
              </a:ext>
            </a:extLst>
          </p:cNvPr>
          <p:cNvPicPr>
            <a:picLocks noChangeAspect="1"/>
          </p:cNvPicPr>
          <p:nvPr/>
        </p:nvPicPr>
        <p:blipFill>
          <a:blip r:embed="rId3"/>
          <a:stretch>
            <a:fillRect/>
          </a:stretch>
        </p:blipFill>
        <p:spPr>
          <a:xfrm>
            <a:off x="4990143" y="2401912"/>
            <a:ext cx="626754" cy="606371"/>
          </a:xfrm>
          <a:prstGeom prst="rect">
            <a:avLst/>
          </a:prstGeom>
        </p:spPr>
      </p:pic>
      <p:pic>
        <p:nvPicPr>
          <p:cNvPr id="41" name="Image 40">
            <a:extLst>
              <a:ext uri="{FF2B5EF4-FFF2-40B4-BE49-F238E27FC236}">
                <a16:creationId xmlns:a16="http://schemas.microsoft.com/office/drawing/2014/main" id="{B925C211-2871-4409-A7D8-65140A70EC78}"/>
              </a:ext>
            </a:extLst>
          </p:cNvPr>
          <p:cNvPicPr>
            <a:picLocks noChangeAspect="1"/>
          </p:cNvPicPr>
          <p:nvPr/>
        </p:nvPicPr>
        <p:blipFill>
          <a:blip r:embed="rId4"/>
          <a:stretch>
            <a:fillRect/>
          </a:stretch>
        </p:blipFill>
        <p:spPr>
          <a:xfrm>
            <a:off x="8906826" y="2429218"/>
            <a:ext cx="557214" cy="579065"/>
          </a:xfrm>
          <a:prstGeom prst="rect">
            <a:avLst/>
          </a:prstGeom>
        </p:spPr>
      </p:pic>
      <p:pic>
        <p:nvPicPr>
          <p:cNvPr id="43" name="Image 42">
            <a:extLst>
              <a:ext uri="{FF2B5EF4-FFF2-40B4-BE49-F238E27FC236}">
                <a16:creationId xmlns:a16="http://schemas.microsoft.com/office/drawing/2014/main" id="{CEBBE783-DED3-4F47-BAFB-616FF48C67C9}"/>
              </a:ext>
            </a:extLst>
          </p:cNvPr>
          <p:cNvPicPr>
            <a:picLocks noChangeAspect="1"/>
          </p:cNvPicPr>
          <p:nvPr/>
        </p:nvPicPr>
        <p:blipFill>
          <a:blip r:embed="rId5"/>
          <a:stretch>
            <a:fillRect/>
          </a:stretch>
        </p:blipFill>
        <p:spPr>
          <a:xfrm>
            <a:off x="4860604" y="4571999"/>
            <a:ext cx="885831" cy="381003"/>
          </a:xfrm>
          <a:prstGeom prst="rect">
            <a:avLst/>
          </a:prstGeom>
        </p:spPr>
      </p:pic>
      <p:pic>
        <p:nvPicPr>
          <p:cNvPr id="45" name="Image 44">
            <a:extLst>
              <a:ext uri="{FF2B5EF4-FFF2-40B4-BE49-F238E27FC236}">
                <a16:creationId xmlns:a16="http://schemas.microsoft.com/office/drawing/2014/main" id="{CED47314-03C1-4DA0-9DB2-A8DB25F600A5}"/>
              </a:ext>
            </a:extLst>
          </p:cNvPr>
          <p:cNvPicPr>
            <a:picLocks noChangeAspect="1"/>
          </p:cNvPicPr>
          <p:nvPr/>
        </p:nvPicPr>
        <p:blipFill>
          <a:blip r:embed="rId6"/>
          <a:stretch>
            <a:fillRect/>
          </a:stretch>
        </p:blipFill>
        <p:spPr>
          <a:xfrm>
            <a:off x="1007196" y="4537708"/>
            <a:ext cx="914407" cy="342903"/>
          </a:xfrm>
          <a:prstGeom prst="rect">
            <a:avLst/>
          </a:prstGeom>
        </p:spPr>
      </p:pic>
      <p:pic>
        <p:nvPicPr>
          <p:cNvPr id="47" name="Image 46">
            <a:extLst>
              <a:ext uri="{FF2B5EF4-FFF2-40B4-BE49-F238E27FC236}">
                <a16:creationId xmlns:a16="http://schemas.microsoft.com/office/drawing/2014/main" id="{ECAE1D79-CB25-40CC-9916-B7B7FF34E18F}"/>
              </a:ext>
            </a:extLst>
          </p:cNvPr>
          <p:cNvPicPr>
            <a:picLocks noChangeAspect="1"/>
          </p:cNvPicPr>
          <p:nvPr/>
        </p:nvPicPr>
        <p:blipFill>
          <a:blip r:embed="rId7"/>
          <a:stretch>
            <a:fillRect/>
          </a:stretch>
        </p:blipFill>
        <p:spPr>
          <a:xfrm>
            <a:off x="8692515" y="4510917"/>
            <a:ext cx="902970" cy="444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MA" dirty="0"/>
              <a:t>équipe</a:t>
            </a:r>
            <a:r>
              <a:rPr dirty="0"/>
              <a:t> </a:t>
            </a:r>
            <a:r>
              <a:rPr dirty="0" err="1"/>
              <a:t>projet</a:t>
            </a:r>
            <a:r>
              <a:rPr dirty="0"/>
              <a:t> CS BAG v2</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11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4 rôles autour de la refonte, chacun avec une responsabilité propre</a:t>
            </a:r>
          </a:p>
        </p:txBody>
      </p:sp>
      <p:sp>
        <p:nvSpPr>
          <p:cNvPr id="10" name="Rounded Rectangle 9"/>
          <p:cNvSpPr/>
          <p:nvPr/>
        </p:nvSpPr>
        <p:spPr>
          <a:xfrm>
            <a:off x="73152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03120"/>
            <a:ext cx="4937760" cy="457200"/>
          </a:xfrm>
          <a:prstGeom prst="rect">
            <a:avLst/>
          </a:prstGeom>
          <a:noFill/>
        </p:spPr>
        <p:txBody>
          <a:bodyPr wrap="square">
            <a:spAutoFit/>
          </a:bodyPr>
          <a:lstStyle/>
          <a:p>
            <a:pPr algn="l">
              <a:defRPr sz="1800" b="1" i="0">
                <a:solidFill>
                  <a:srgbClr val="003366"/>
                </a:solidFill>
              </a:defRPr>
            </a:pPr>
            <a:r>
              <a:t>Chef de projet</a:t>
            </a:r>
          </a:p>
        </p:txBody>
      </p:sp>
      <p:sp>
        <p:nvSpPr>
          <p:cNvPr id="13" name="TextBox 12"/>
          <p:cNvSpPr txBox="1"/>
          <p:nvPr/>
        </p:nvSpPr>
        <p:spPr>
          <a:xfrm>
            <a:off x="1005840" y="2606040"/>
            <a:ext cx="4937760" cy="365760"/>
          </a:xfrm>
          <a:prstGeom prst="rect">
            <a:avLst/>
          </a:prstGeom>
          <a:noFill/>
        </p:spPr>
        <p:txBody>
          <a:bodyPr wrap="square">
            <a:spAutoFit/>
          </a:bodyPr>
          <a:lstStyle/>
          <a:p>
            <a:pPr algn="l">
              <a:defRPr sz="1200" b="1" i="0">
                <a:solidFill>
                  <a:srgbClr val="333333"/>
                </a:solidFill>
              </a:defRPr>
            </a:pPr>
            <a:r>
              <a:t>Pilotage, planning, arbitrages</a:t>
            </a:r>
          </a:p>
        </p:txBody>
      </p:sp>
      <p:sp>
        <p:nvSpPr>
          <p:cNvPr id="14" name="TextBox 13"/>
          <p:cNvSpPr txBox="1"/>
          <p:nvPr/>
        </p:nvSpPr>
        <p:spPr>
          <a:xfrm>
            <a:off x="1005840" y="2971800"/>
            <a:ext cx="4937760" cy="685800"/>
          </a:xfrm>
          <a:prstGeom prst="rect">
            <a:avLst/>
          </a:prstGeom>
          <a:noFill/>
        </p:spPr>
        <p:txBody>
          <a:bodyPr wrap="square">
            <a:spAutoFit/>
          </a:bodyPr>
          <a:lstStyle/>
          <a:p>
            <a:pPr algn="l">
              <a:defRPr sz="1100" b="0" i="1">
                <a:solidFill>
                  <a:srgbClr val="666666"/>
                </a:solidFill>
              </a:defRPr>
            </a:pPr>
            <a:r>
              <a:t>Interface avec le métier, priorisation des lots</a:t>
            </a:r>
          </a:p>
        </p:txBody>
      </p:sp>
      <p:sp>
        <p:nvSpPr>
          <p:cNvPr id="15" name="Rounded Rectangle 14"/>
          <p:cNvSpPr/>
          <p:nvPr/>
        </p:nvSpPr>
        <p:spPr>
          <a:xfrm>
            <a:off x="640080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2103120"/>
            <a:ext cx="4937760" cy="457200"/>
          </a:xfrm>
          <a:prstGeom prst="rect">
            <a:avLst/>
          </a:prstGeom>
          <a:noFill/>
        </p:spPr>
        <p:txBody>
          <a:bodyPr wrap="square">
            <a:spAutoFit/>
          </a:bodyPr>
          <a:lstStyle/>
          <a:p>
            <a:pPr algn="l">
              <a:defRPr sz="1800" b="1" i="0">
                <a:solidFill>
                  <a:srgbClr val="003366"/>
                </a:solidFill>
              </a:defRPr>
            </a:pPr>
            <a:r>
              <a:t>Référent technique</a:t>
            </a:r>
          </a:p>
        </p:txBody>
      </p:sp>
      <p:sp>
        <p:nvSpPr>
          <p:cNvPr id="18" name="TextBox 17"/>
          <p:cNvSpPr txBox="1"/>
          <p:nvPr/>
        </p:nvSpPr>
        <p:spPr>
          <a:xfrm>
            <a:off x="6675120" y="2606040"/>
            <a:ext cx="4937760" cy="365760"/>
          </a:xfrm>
          <a:prstGeom prst="rect">
            <a:avLst/>
          </a:prstGeom>
          <a:noFill/>
        </p:spPr>
        <p:txBody>
          <a:bodyPr wrap="square">
            <a:spAutoFit/>
          </a:bodyPr>
          <a:lstStyle/>
          <a:p>
            <a:pPr algn="l">
              <a:defRPr sz="1200" b="1" i="0">
                <a:solidFill>
                  <a:srgbClr val="333333"/>
                </a:solidFill>
              </a:defRPr>
            </a:pPr>
            <a:r>
              <a:t>Architecture et revue de code</a:t>
            </a:r>
          </a:p>
        </p:txBody>
      </p:sp>
      <p:sp>
        <p:nvSpPr>
          <p:cNvPr id="19" name="TextBox 18"/>
          <p:cNvSpPr txBox="1"/>
          <p:nvPr/>
        </p:nvSpPr>
        <p:spPr>
          <a:xfrm>
            <a:off x="6675120" y="2971800"/>
            <a:ext cx="4937760" cy="685800"/>
          </a:xfrm>
          <a:prstGeom prst="rect">
            <a:avLst/>
          </a:prstGeom>
          <a:noFill/>
        </p:spPr>
        <p:txBody>
          <a:bodyPr wrap="square">
            <a:spAutoFit/>
          </a:bodyPr>
          <a:lstStyle/>
          <a:p>
            <a:pPr algn="l">
              <a:defRPr sz="1100" b="0" i="1">
                <a:solidFill>
                  <a:srgbClr val="666666"/>
                </a:solidFill>
              </a:defRPr>
            </a:pPr>
            <a:r>
              <a:t>Validation des choix techniques lors du point du vendredi</a:t>
            </a:r>
          </a:p>
        </p:txBody>
      </p:sp>
      <p:sp>
        <p:nvSpPr>
          <p:cNvPr id="20" name="Rounded Rectangle 19"/>
          <p:cNvSpPr/>
          <p:nvPr/>
        </p:nvSpPr>
        <p:spPr>
          <a:xfrm>
            <a:off x="731520" y="411480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11480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297680"/>
            <a:ext cx="4937760" cy="457200"/>
          </a:xfrm>
          <a:prstGeom prst="rect">
            <a:avLst/>
          </a:prstGeom>
          <a:noFill/>
        </p:spPr>
        <p:txBody>
          <a:bodyPr wrap="square">
            <a:spAutoFit/>
          </a:bodyPr>
          <a:lstStyle/>
          <a:p>
            <a:pPr algn="l">
              <a:defRPr sz="1800" b="1" i="0">
                <a:solidFill>
                  <a:srgbClr val="003366"/>
                </a:solidFill>
              </a:defRPr>
            </a:pPr>
            <a:r>
              <a:t>Analyste fonctionnelle</a:t>
            </a:r>
          </a:p>
        </p:txBody>
      </p:sp>
      <p:sp>
        <p:nvSpPr>
          <p:cNvPr id="23" name="TextBox 22"/>
          <p:cNvSpPr txBox="1"/>
          <p:nvPr/>
        </p:nvSpPr>
        <p:spPr>
          <a:xfrm>
            <a:off x="1005840" y="4800600"/>
            <a:ext cx="4937760" cy="365760"/>
          </a:xfrm>
          <a:prstGeom prst="rect">
            <a:avLst/>
          </a:prstGeom>
          <a:noFill/>
        </p:spPr>
        <p:txBody>
          <a:bodyPr wrap="square">
            <a:spAutoFit/>
          </a:bodyPr>
          <a:lstStyle/>
          <a:p>
            <a:pPr algn="l">
              <a:defRPr sz="1200" b="1" i="0">
                <a:solidFill>
                  <a:srgbClr val="333333"/>
                </a:solidFill>
              </a:defRPr>
            </a:pPr>
            <a:r>
              <a:t>Rédaction des spécifications et recette</a:t>
            </a:r>
          </a:p>
        </p:txBody>
      </p:sp>
      <p:sp>
        <p:nvSpPr>
          <p:cNvPr id="24" name="TextBox 23"/>
          <p:cNvSpPr txBox="1"/>
          <p:nvPr/>
        </p:nvSpPr>
        <p:spPr>
          <a:xfrm>
            <a:off x="1005840" y="5166360"/>
            <a:ext cx="4937760" cy="685800"/>
          </a:xfrm>
          <a:prstGeom prst="rect">
            <a:avLst/>
          </a:prstGeom>
          <a:noFill/>
        </p:spPr>
        <p:txBody>
          <a:bodyPr wrap="square">
            <a:spAutoFit/>
          </a:bodyPr>
          <a:lstStyle/>
          <a:p>
            <a:pPr algn="l">
              <a:defRPr sz="1100" b="0" i="1">
                <a:solidFill>
                  <a:srgbClr val="666666"/>
                </a:solidFill>
              </a:defRPr>
            </a:pPr>
            <a:r>
              <a:t>Rédige les 3 lots, tient le cahier d'anomalies après chaque livraison</a:t>
            </a:r>
          </a:p>
        </p:txBody>
      </p:sp>
      <p:sp>
        <p:nvSpPr>
          <p:cNvPr id="25" name="Rounded Rectangle 24"/>
          <p:cNvSpPr/>
          <p:nvPr/>
        </p:nvSpPr>
        <p:spPr>
          <a:xfrm>
            <a:off x="6400800" y="4114800"/>
            <a:ext cx="5394960" cy="1828800"/>
          </a:xfrm>
          <a:prstGeom prst="roundRect">
            <a:avLst/>
          </a:prstGeom>
          <a:solidFill>
            <a:srgbClr val="FFFFFF"/>
          </a:solidFill>
          <a:ln w="2222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114800"/>
            <a:ext cx="5394960" cy="7315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4297680"/>
            <a:ext cx="4937760" cy="457200"/>
          </a:xfrm>
          <a:prstGeom prst="rect">
            <a:avLst/>
          </a:prstGeom>
          <a:noFill/>
        </p:spPr>
        <p:txBody>
          <a:bodyPr wrap="square">
            <a:spAutoFit/>
          </a:bodyPr>
          <a:lstStyle/>
          <a:p>
            <a:pPr algn="l">
              <a:defRPr sz="1800" b="1" i="0">
                <a:solidFill>
                  <a:srgbClr val="2E8B3D"/>
                </a:solidFill>
              </a:defRPr>
            </a:pPr>
            <a:r>
              <a:rPr dirty="0" err="1"/>
              <a:t>Analyste</a:t>
            </a:r>
            <a:r>
              <a:rPr dirty="0"/>
              <a:t> </a:t>
            </a:r>
            <a:r>
              <a:rPr dirty="0" err="1"/>
              <a:t>developpeur</a:t>
            </a:r>
            <a:endParaRPr dirty="0"/>
          </a:p>
        </p:txBody>
      </p:sp>
      <p:sp>
        <p:nvSpPr>
          <p:cNvPr id="28" name="TextBox 27"/>
          <p:cNvSpPr txBox="1"/>
          <p:nvPr/>
        </p:nvSpPr>
        <p:spPr>
          <a:xfrm>
            <a:off x="6675120" y="4800600"/>
            <a:ext cx="4937760" cy="365760"/>
          </a:xfrm>
          <a:prstGeom prst="rect">
            <a:avLst/>
          </a:prstGeom>
          <a:noFill/>
        </p:spPr>
        <p:txBody>
          <a:bodyPr wrap="square">
            <a:spAutoFit/>
          </a:bodyPr>
          <a:lstStyle/>
          <a:p>
            <a:pPr algn="l">
              <a:defRPr sz="1200" b="1" i="0">
                <a:solidFill>
                  <a:srgbClr val="333333"/>
                </a:solidFill>
              </a:defRPr>
            </a:pPr>
            <a:r>
              <a:t>Conception, développement, tests, déploiement</a:t>
            </a:r>
          </a:p>
        </p:txBody>
      </p:sp>
      <p:sp>
        <p:nvSpPr>
          <p:cNvPr id="29" name="TextBox 28"/>
          <p:cNvSpPr txBox="1"/>
          <p:nvPr/>
        </p:nvSpPr>
        <p:spPr>
          <a:xfrm>
            <a:off x="6675120" y="5166360"/>
            <a:ext cx="4937760" cy="685800"/>
          </a:xfrm>
          <a:prstGeom prst="rect">
            <a:avLst/>
          </a:prstGeom>
          <a:noFill/>
        </p:spPr>
        <p:txBody>
          <a:bodyPr wrap="square">
            <a:spAutoFit/>
          </a:bodyPr>
          <a:lstStyle/>
          <a:p>
            <a:pPr algn="l">
              <a:defRPr sz="1100" b="0" i="1">
                <a:solidFill>
                  <a:srgbClr val="666666"/>
                </a:solidFill>
              </a:defRPr>
            </a:pPr>
            <a:r>
              <a:t>Rôle occupé pendant mon PFE - 252 des 255 livraisons de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Méthode agile et environnement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12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Rituels de la semaine</a:t>
            </a:r>
          </a:p>
        </p:txBody>
      </p:sp>
      <p:sp>
        <p:nvSpPr>
          <p:cNvPr id="10" name="Rounded Rectangle 9"/>
          <p:cNvSpPr/>
          <p:nvPr/>
        </p:nvSpPr>
        <p:spPr>
          <a:xfrm>
            <a:off x="731520" y="178308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Quotidien</a:t>
            </a:r>
          </a:p>
        </p:txBody>
      </p:sp>
      <p:sp>
        <p:nvSpPr>
          <p:cNvPr id="11" name="TextBox 10"/>
          <p:cNvSpPr txBox="1"/>
          <p:nvPr/>
        </p:nvSpPr>
        <p:spPr>
          <a:xfrm>
            <a:off x="2194560" y="1783080"/>
            <a:ext cx="4114800" cy="320040"/>
          </a:xfrm>
          <a:prstGeom prst="rect">
            <a:avLst/>
          </a:prstGeom>
          <a:noFill/>
        </p:spPr>
        <p:txBody>
          <a:bodyPr wrap="square">
            <a:spAutoFit/>
          </a:bodyPr>
          <a:lstStyle/>
          <a:p>
            <a:pPr algn="l">
              <a:defRPr sz="1300" b="1" i="0">
                <a:solidFill>
                  <a:srgbClr val="003366"/>
                </a:solidFill>
              </a:defRPr>
            </a:pPr>
            <a:r>
              <a:t>Daily squad</a:t>
            </a:r>
          </a:p>
        </p:txBody>
      </p:sp>
      <p:sp>
        <p:nvSpPr>
          <p:cNvPr id="12" name="TextBox 11"/>
          <p:cNvSpPr txBox="1"/>
          <p:nvPr/>
        </p:nvSpPr>
        <p:spPr>
          <a:xfrm>
            <a:off x="2194560" y="2103120"/>
            <a:ext cx="4114800" cy="320040"/>
          </a:xfrm>
          <a:prstGeom prst="rect">
            <a:avLst/>
          </a:prstGeom>
          <a:noFill/>
        </p:spPr>
        <p:txBody>
          <a:bodyPr wrap="square">
            <a:spAutoFit/>
          </a:bodyPr>
          <a:lstStyle/>
          <a:p>
            <a:pPr algn="l">
              <a:defRPr sz="1000" b="0" i="0">
                <a:solidFill>
                  <a:srgbClr val="666666"/>
                </a:solidFill>
              </a:defRPr>
            </a:pPr>
            <a:r>
              <a:t>Point veille / jour / bloquants</a:t>
            </a:r>
          </a:p>
        </p:txBody>
      </p:sp>
      <p:sp>
        <p:nvSpPr>
          <p:cNvPr id="13" name="Rounded Rectangle 12"/>
          <p:cNvSpPr/>
          <p:nvPr/>
        </p:nvSpPr>
        <p:spPr>
          <a:xfrm>
            <a:off x="731520" y="256032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Lundi</a:t>
            </a:r>
          </a:p>
        </p:txBody>
      </p:sp>
      <p:sp>
        <p:nvSpPr>
          <p:cNvPr id="14" name="TextBox 13"/>
          <p:cNvSpPr txBox="1"/>
          <p:nvPr/>
        </p:nvSpPr>
        <p:spPr>
          <a:xfrm>
            <a:off x="2194560" y="2560320"/>
            <a:ext cx="4114800" cy="292388"/>
          </a:xfrm>
          <a:prstGeom prst="rect">
            <a:avLst/>
          </a:prstGeom>
          <a:noFill/>
        </p:spPr>
        <p:txBody>
          <a:bodyPr wrap="square">
            <a:spAutoFit/>
          </a:bodyPr>
          <a:lstStyle/>
          <a:p>
            <a:pPr algn="l">
              <a:defRPr sz="1300" b="1" i="0">
                <a:solidFill>
                  <a:srgbClr val="003366"/>
                </a:solidFill>
              </a:defRPr>
            </a:pPr>
            <a:r>
              <a:rPr dirty="0"/>
              <a:t>Point d'</a:t>
            </a:r>
            <a:r>
              <a:rPr lang="fr-MA" dirty="0"/>
              <a:t>équipe</a:t>
            </a:r>
            <a:endParaRPr dirty="0"/>
          </a:p>
        </p:txBody>
      </p:sp>
      <p:sp>
        <p:nvSpPr>
          <p:cNvPr id="15" name="TextBox 14"/>
          <p:cNvSpPr txBox="1"/>
          <p:nvPr/>
        </p:nvSpPr>
        <p:spPr>
          <a:xfrm>
            <a:off x="2194560" y="2880360"/>
            <a:ext cx="4114800" cy="320040"/>
          </a:xfrm>
          <a:prstGeom prst="rect">
            <a:avLst/>
          </a:prstGeom>
          <a:noFill/>
        </p:spPr>
        <p:txBody>
          <a:bodyPr wrap="square">
            <a:spAutoFit/>
          </a:bodyPr>
          <a:lstStyle/>
          <a:p>
            <a:pPr algn="l">
              <a:defRPr sz="1000" b="0" i="0">
                <a:solidFill>
                  <a:srgbClr val="666666"/>
                </a:solidFill>
              </a:defRPr>
            </a:pPr>
            <a:r>
              <a:t>Coordination Group Collaborative Solutions</a:t>
            </a:r>
          </a:p>
        </p:txBody>
      </p:sp>
      <p:sp>
        <p:nvSpPr>
          <p:cNvPr id="16" name="Rounded Rectangle 15"/>
          <p:cNvSpPr/>
          <p:nvPr/>
        </p:nvSpPr>
        <p:spPr>
          <a:xfrm>
            <a:off x="731520" y="333756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Mardi</a:t>
            </a:r>
          </a:p>
        </p:txBody>
      </p:sp>
      <p:sp>
        <p:nvSpPr>
          <p:cNvPr id="17" name="TextBox 16"/>
          <p:cNvSpPr txBox="1"/>
          <p:nvPr/>
        </p:nvSpPr>
        <p:spPr>
          <a:xfrm>
            <a:off x="2194560" y="3337560"/>
            <a:ext cx="4114800" cy="320040"/>
          </a:xfrm>
          <a:prstGeom prst="rect">
            <a:avLst/>
          </a:prstGeom>
          <a:noFill/>
        </p:spPr>
        <p:txBody>
          <a:bodyPr wrap="square">
            <a:spAutoFit/>
          </a:bodyPr>
          <a:lstStyle/>
          <a:p>
            <a:pPr algn="l">
              <a:defRPr sz="1300" b="1" i="0">
                <a:solidFill>
                  <a:srgbClr val="003366"/>
                </a:solidFill>
              </a:defRPr>
            </a:pPr>
            <a:r>
              <a:t>Point de squad</a:t>
            </a:r>
          </a:p>
        </p:txBody>
      </p:sp>
      <p:sp>
        <p:nvSpPr>
          <p:cNvPr id="18" name="TextBox 17"/>
          <p:cNvSpPr txBox="1"/>
          <p:nvPr/>
        </p:nvSpPr>
        <p:spPr>
          <a:xfrm>
            <a:off x="2194560" y="3657600"/>
            <a:ext cx="4114800" cy="320040"/>
          </a:xfrm>
          <a:prstGeom prst="rect">
            <a:avLst/>
          </a:prstGeom>
          <a:noFill/>
        </p:spPr>
        <p:txBody>
          <a:bodyPr wrap="square">
            <a:spAutoFit/>
          </a:bodyPr>
          <a:lstStyle/>
          <a:p>
            <a:pPr algn="l">
              <a:defRPr sz="1000" b="0" i="0">
                <a:solidFill>
                  <a:srgbClr val="666666"/>
                </a:solidFill>
              </a:defRPr>
            </a:pPr>
            <a:r>
              <a:t>Avancement du squad M365</a:t>
            </a:r>
          </a:p>
        </p:txBody>
      </p:sp>
      <p:sp>
        <p:nvSpPr>
          <p:cNvPr id="19" name="Rounded Rectangle 18"/>
          <p:cNvSpPr/>
          <p:nvPr/>
        </p:nvSpPr>
        <p:spPr>
          <a:xfrm>
            <a:off x="731520" y="411480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Vendredi</a:t>
            </a:r>
          </a:p>
        </p:txBody>
      </p:sp>
      <p:sp>
        <p:nvSpPr>
          <p:cNvPr id="20" name="TextBox 19"/>
          <p:cNvSpPr txBox="1"/>
          <p:nvPr/>
        </p:nvSpPr>
        <p:spPr>
          <a:xfrm>
            <a:off x="2194560" y="4114800"/>
            <a:ext cx="4114800" cy="320040"/>
          </a:xfrm>
          <a:prstGeom prst="rect">
            <a:avLst/>
          </a:prstGeom>
          <a:noFill/>
        </p:spPr>
        <p:txBody>
          <a:bodyPr wrap="square">
            <a:spAutoFit/>
          </a:bodyPr>
          <a:lstStyle/>
          <a:p>
            <a:pPr algn="l">
              <a:defRPr sz="1300" b="1" i="0">
                <a:solidFill>
                  <a:srgbClr val="003366"/>
                </a:solidFill>
              </a:defRPr>
            </a:pPr>
            <a:r>
              <a:t>Point technique</a:t>
            </a:r>
          </a:p>
        </p:txBody>
      </p:sp>
      <p:sp>
        <p:nvSpPr>
          <p:cNvPr id="21" name="TextBox 20"/>
          <p:cNvSpPr txBox="1"/>
          <p:nvPr/>
        </p:nvSpPr>
        <p:spPr>
          <a:xfrm>
            <a:off x="2194560" y="4434840"/>
            <a:ext cx="4114800" cy="320040"/>
          </a:xfrm>
          <a:prstGeom prst="rect">
            <a:avLst/>
          </a:prstGeom>
          <a:noFill/>
        </p:spPr>
        <p:txBody>
          <a:bodyPr wrap="square">
            <a:spAutoFit/>
          </a:bodyPr>
          <a:lstStyle/>
          <a:p>
            <a:pPr algn="l">
              <a:defRPr sz="1000" b="0" i="0">
                <a:solidFill>
                  <a:srgbClr val="666666"/>
                </a:solidFill>
              </a:defRPr>
            </a:pPr>
            <a:r>
              <a:t>Validation avec le référent technique (Nathan)</a:t>
            </a:r>
          </a:p>
        </p:txBody>
      </p:sp>
      <p:sp>
        <p:nvSpPr>
          <p:cNvPr id="22" name="TextBox 21"/>
          <p:cNvSpPr txBox="1"/>
          <p:nvPr/>
        </p:nvSpPr>
        <p:spPr>
          <a:xfrm>
            <a:off x="6400800" y="1280160"/>
            <a:ext cx="5029200" cy="365760"/>
          </a:xfrm>
          <a:prstGeom prst="rect">
            <a:avLst/>
          </a:prstGeom>
          <a:noFill/>
        </p:spPr>
        <p:txBody>
          <a:bodyPr wrap="square">
            <a:spAutoFit/>
          </a:bodyPr>
          <a:lstStyle/>
          <a:p>
            <a:pPr algn="l">
              <a:defRPr sz="1600" b="1" i="0">
                <a:solidFill>
                  <a:srgbClr val="003366"/>
                </a:solidFill>
              </a:defRPr>
            </a:pPr>
            <a:r>
              <a:rPr dirty="0" err="1"/>
              <a:t>Environnement</a:t>
            </a:r>
            <a:r>
              <a:rPr dirty="0"/>
              <a:t> technique</a:t>
            </a:r>
          </a:p>
        </p:txBody>
      </p:sp>
      <p:sp>
        <p:nvSpPr>
          <p:cNvPr id="23" name="TextBox 22"/>
          <p:cNvSpPr txBox="1"/>
          <p:nvPr/>
        </p:nvSpPr>
        <p:spPr>
          <a:xfrm>
            <a:off x="6400800" y="1783080"/>
            <a:ext cx="1645920" cy="274320"/>
          </a:xfrm>
          <a:prstGeom prst="rect">
            <a:avLst/>
          </a:prstGeom>
          <a:noFill/>
        </p:spPr>
        <p:txBody>
          <a:bodyPr wrap="square">
            <a:spAutoFit/>
          </a:bodyPr>
          <a:lstStyle/>
          <a:p>
            <a:pPr algn="l">
              <a:defRPr sz="1100" b="1" i="0">
                <a:solidFill>
                  <a:srgbClr val="003366"/>
                </a:solidFill>
              </a:defRPr>
            </a:pPr>
            <a:r>
              <a:t>Back-end</a:t>
            </a:r>
          </a:p>
        </p:txBody>
      </p:sp>
      <p:sp>
        <p:nvSpPr>
          <p:cNvPr id="24" name="TextBox 23"/>
          <p:cNvSpPr txBox="1"/>
          <p:nvPr/>
        </p:nvSpPr>
        <p:spPr>
          <a:xfrm>
            <a:off x="8229600" y="1783080"/>
            <a:ext cx="1767840" cy="261610"/>
          </a:xfrm>
          <a:prstGeom prst="rect">
            <a:avLst/>
          </a:prstGeom>
          <a:noFill/>
        </p:spPr>
        <p:txBody>
          <a:bodyPr wrap="square">
            <a:spAutoFit/>
          </a:bodyPr>
          <a:lstStyle/>
          <a:p>
            <a:pPr algn="l">
              <a:defRPr sz="1100" b="0" i="0">
                <a:solidFill>
                  <a:srgbClr val="333333"/>
                </a:solidFill>
              </a:defRPr>
            </a:pPr>
            <a:r>
              <a:rPr dirty="0"/>
              <a:t>C#, ASP.NET Core</a:t>
            </a:r>
          </a:p>
        </p:txBody>
      </p:sp>
      <p:sp>
        <p:nvSpPr>
          <p:cNvPr id="25" name="TextBox 24"/>
          <p:cNvSpPr txBox="1"/>
          <p:nvPr/>
        </p:nvSpPr>
        <p:spPr>
          <a:xfrm>
            <a:off x="6400800" y="2286000"/>
            <a:ext cx="1645920" cy="274320"/>
          </a:xfrm>
          <a:prstGeom prst="rect">
            <a:avLst/>
          </a:prstGeom>
          <a:noFill/>
        </p:spPr>
        <p:txBody>
          <a:bodyPr wrap="square">
            <a:spAutoFit/>
          </a:bodyPr>
          <a:lstStyle/>
          <a:p>
            <a:pPr algn="l">
              <a:defRPr sz="1100" b="1" i="0">
                <a:solidFill>
                  <a:srgbClr val="003366"/>
                </a:solidFill>
              </a:defRPr>
            </a:pPr>
            <a:r>
              <a:t>Front-end</a:t>
            </a:r>
          </a:p>
        </p:txBody>
      </p:sp>
      <p:sp>
        <p:nvSpPr>
          <p:cNvPr id="26" name="TextBox 25"/>
          <p:cNvSpPr txBox="1"/>
          <p:nvPr/>
        </p:nvSpPr>
        <p:spPr>
          <a:xfrm>
            <a:off x="8229600" y="2286000"/>
            <a:ext cx="1905000" cy="261610"/>
          </a:xfrm>
          <a:prstGeom prst="rect">
            <a:avLst/>
          </a:prstGeom>
          <a:noFill/>
        </p:spPr>
        <p:txBody>
          <a:bodyPr wrap="square">
            <a:spAutoFit/>
          </a:bodyPr>
          <a:lstStyle/>
          <a:p>
            <a:pPr algn="l">
              <a:defRPr sz="1100" b="0" i="0">
                <a:solidFill>
                  <a:srgbClr val="333333"/>
                </a:solidFill>
              </a:defRPr>
            </a:pPr>
            <a:r>
              <a:rPr dirty="0"/>
              <a:t>Angular 20, Angular Material</a:t>
            </a:r>
          </a:p>
        </p:txBody>
      </p:sp>
      <p:sp>
        <p:nvSpPr>
          <p:cNvPr id="27" name="TextBox 26"/>
          <p:cNvSpPr txBox="1"/>
          <p:nvPr/>
        </p:nvSpPr>
        <p:spPr>
          <a:xfrm>
            <a:off x="6400800" y="2788920"/>
            <a:ext cx="1645920" cy="274320"/>
          </a:xfrm>
          <a:prstGeom prst="rect">
            <a:avLst/>
          </a:prstGeom>
          <a:noFill/>
        </p:spPr>
        <p:txBody>
          <a:bodyPr wrap="square">
            <a:spAutoFit/>
          </a:bodyPr>
          <a:lstStyle/>
          <a:p>
            <a:pPr algn="l">
              <a:defRPr sz="1100" b="1" i="0">
                <a:solidFill>
                  <a:srgbClr val="003366"/>
                </a:solidFill>
              </a:defRPr>
            </a:pPr>
            <a:r>
              <a:t>Base de données</a:t>
            </a:r>
          </a:p>
        </p:txBody>
      </p:sp>
      <p:sp>
        <p:nvSpPr>
          <p:cNvPr id="28" name="TextBox 27"/>
          <p:cNvSpPr txBox="1"/>
          <p:nvPr/>
        </p:nvSpPr>
        <p:spPr>
          <a:xfrm>
            <a:off x="8229600" y="2788920"/>
            <a:ext cx="2143125" cy="261610"/>
          </a:xfrm>
          <a:prstGeom prst="rect">
            <a:avLst/>
          </a:prstGeom>
          <a:noFill/>
        </p:spPr>
        <p:txBody>
          <a:bodyPr wrap="square">
            <a:spAutoFit/>
          </a:bodyPr>
          <a:lstStyle/>
          <a:p>
            <a:pPr algn="l">
              <a:defRPr sz="1100" b="0" i="0">
                <a:solidFill>
                  <a:srgbClr val="333333"/>
                </a:solidFill>
              </a:defRPr>
            </a:pPr>
            <a:r>
              <a:t>Microsoft SQL Server, EF Core 10</a:t>
            </a:r>
          </a:p>
        </p:txBody>
      </p:sp>
      <p:sp>
        <p:nvSpPr>
          <p:cNvPr id="29" name="TextBox 28"/>
          <p:cNvSpPr txBox="1"/>
          <p:nvPr/>
        </p:nvSpPr>
        <p:spPr>
          <a:xfrm>
            <a:off x="6400800" y="3291840"/>
            <a:ext cx="1645920" cy="274320"/>
          </a:xfrm>
          <a:prstGeom prst="rect">
            <a:avLst/>
          </a:prstGeom>
          <a:noFill/>
        </p:spPr>
        <p:txBody>
          <a:bodyPr wrap="square">
            <a:spAutoFit/>
          </a:bodyPr>
          <a:lstStyle/>
          <a:p>
            <a:pPr algn="l">
              <a:defRPr sz="1100" b="1" i="0">
                <a:solidFill>
                  <a:srgbClr val="003366"/>
                </a:solidFill>
              </a:defRPr>
            </a:pPr>
            <a:r>
              <a:t>Cloud</a:t>
            </a:r>
          </a:p>
        </p:txBody>
      </p:sp>
      <p:sp>
        <p:nvSpPr>
          <p:cNvPr id="30" name="TextBox 29"/>
          <p:cNvSpPr txBox="1"/>
          <p:nvPr/>
        </p:nvSpPr>
        <p:spPr>
          <a:xfrm>
            <a:off x="8229600" y="3291840"/>
            <a:ext cx="2795588" cy="261610"/>
          </a:xfrm>
          <a:prstGeom prst="rect">
            <a:avLst/>
          </a:prstGeom>
          <a:noFill/>
        </p:spPr>
        <p:txBody>
          <a:bodyPr wrap="square">
            <a:spAutoFit/>
          </a:bodyPr>
          <a:lstStyle/>
          <a:p>
            <a:pPr algn="l">
              <a:defRPr sz="1100" b="0" i="0">
                <a:solidFill>
                  <a:srgbClr val="333333"/>
                </a:solidFill>
              </a:defRPr>
            </a:pPr>
            <a:r>
              <a:rPr dirty="0"/>
              <a:t>Microsoft Azure, Azure Key Vault, </a:t>
            </a:r>
            <a:r>
              <a:rPr dirty="0" err="1"/>
              <a:t>Entra</a:t>
            </a:r>
            <a:r>
              <a:rPr dirty="0"/>
              <a:t> ID</a:t>
            </a:r>
          </a:p>
        </p:txBody>
      </p:sp>
      <p:sp>
        <p:nvSpPr>
          <p:cNvPr id="31" name="TextBox 30"/>
          <p:cNvSpPr txBox="1"/>
          <p:nvPr/>
        </p:nvSpPr>
        <p:spPr>
          <a:xfrm>
            <a:off x="6400800" y="3794760"/>
            <a:ext cx="1645920" cy="274320"/>
          </a:xfrm>
          <a:prstGeom prst="rect">
            <a:avLst/>
          </a:prstGeom>
          <a:noFill/>
        </p:spPr>
        <p:txBody>
          <a:bodyPr wrap="square">
            <a:spAutoFit/>
          </a:bodyPr>
          <a:lstStyle/>
          <a:p>
            <a:pPr algn="l">
              <a:defRPr sz="1100" b="1" i="0">
                <a:solidFill>
                  <a:srgbClr val="003366"/>
                </a:solidFill>
              </a:defRPr>
            </a:pPr>
            <a:r>
              <a:t>Gestion de code</a:t>
            </a:r>
          </a:p>
        </p:txBody>
      </p:sp>
      <p:sp>
        <p:nvSpPr>
          <p:cNvPr id="32" name="TextBox 31"/>
          <p:cNvSpPr txBox="1"/>
          <p:nvPr/>
        </p:nvSpPr>
        <p:spPr>
          <a:xfrm>
            <a:off x="8229600" y="3794760"/>
            <a:ext cx="2200275" cy="261610"/>
          </a:xfrm>
          <a:prstGeom prst="rect">
            <a:avLst/>
          </a:prstGeom>
          <a:noFill/>
        </p:spPr>
        <p:txBody>
          <a:bodyPr wrap="square">
            <a:spAutoFit/>
          </a:bodyPr>
          <a:lstStyle/>
          <a:p>
            <a:pPr algn="l">
              <a:defRPr sz="1100" b="0" i="0">
                <a:solidFill>
                  <a:srgbClr val="333333"/>
                </a:solidFill>
              </a:defRPr>
            </a:pPr>
            <a:r>
              <a:rPr dirty="0"/>
              <a:t>GitLab (instance auto-</a:t>
            </a:r>
            <a:r>
              <a:rPr dirty="0" err="1"/>
              <a:t>hebergee</a:t>
            </a:r>
            <a:r>
              <a:rPr dirty="0"/>
              <a:t>)</a:t>
            </a:r>
          </a:p>
        </p:txBody>
      </p:sp>
      <p:sp>
        <p:nvSpPr>
          <p:cNvPr id="33" name="TextBox 32"/>
          <p:cNvSpPr txBox="1"/>
          <p:nvPr/>
        </p:nvSpPr>
        <p:spPr>
          <a:xfrm>
            <a:off x="6400800" y="4297680"/>
            <a:ext cx="1645920" cy="274320"/>
          </a:xfrm>
          <a:prstGeom prst="rect">
            <a:avLst/>
          </a:prstGeom>
          <a:noFill/>
        </p:spPr>
        <p:txBody>
          <a:bodyPr wrap="square">
            <a:spAutoFit/>
          </a:bodyPr>
          <a:lstStyle/>
          <a:p>
            <a:pPr algn="l">
              <a:defRPr sz="1100" b="1" i="0">
                <a:solidFill>
                  <a:srgbClr val="003366"/>
                </a:solidFill>
              </a:defRPr>
            </a:pPr>
            <a:r>
              <a:t>Suivi de projet</a:t>
            </a:r>
          </a:p>
        </p:txBody>
      </p:sp>
      <p:sp>
        <p:nvSpPr>
          <p:cNvPr id="34" name="TextBox 33"/>
          <p:cNvSpPr txBox="1"/>
          <p:nvPr/>
        </p:nvSpPr>
        <p:spPr>
          <a:xfrm>
            <a:off x="8229600" y="4297680"/>
            <a:ext cx="2290763" cy="261610"/>
          </a:xfrm>
          <a:prstGeom prst="rect">
            <a:avLst/>
          </a:prstGeom>
          <a:noFill/>
        </p:spPr>
        <p:txBody>
          <a:bodyPr wrap="square">
            <a:spAutoFit/>
          </a:bodyPr>
          <a:lstStyle/>
          <a:p>
            <a:pPr algn="l">
              <a:defRPr sz="1100" b="0" i="0">
                <a:solidFill>
                  <a:srgbClr val="333333"/>
                </a:solidFill>
              </a:defRPr>
            </a:pPr>
            <a:r>
              <a:t>Wrike (backlog, tâches, sous-tâches)</a:t>
            </a:r>
          </a:p>
        </p:txBody>
      </p:sp>
      <p:sp>
        <p:nvSpPr>
          <p:cNvPr id="35" name="TextBox 34"/>
          <p:cNvSpPr txBox="1"/>
          <p:nvPr/>
        </p:nvSpPr>
        <p:spPr>
          <a:xfrm>
            <a:off x="6400800" y="4800600"/>
            <a:ext cx="1645920" cy="274320"/>
          </a:xfrm>
          <a:prstGeom prst="rect">
            <a:avLst/>
          </a:prstGeom>
          <a:noFill/>
        </p:spPr>
        <p:txBody>
          <a:bodyPr wrap="square">
            <a:spAutoFit/>
          </a:bodyPr>
          <a:lstStyle/>
          <a:p>
            <a:pPr algn="l">
              <a:defRPr sz="1100" b="1" i="0">
                <a:solidFill>
                  <a:srgbClr val="003366"/>
                </a:solidFill>
              </a:defRPr>
            </a:pPr>
            <a:r>
              <a:t>Assistance IA</a:t>
            </a:r>
          </a:p>
        </p:txBody>
      </p:sp>
      <p:sp>
        <p:nvSpPr>
          <p:cNvPr id="36" name="TextBox 35"/>
          <p:cNvSpPr txBox="1"/>
          <p:nvPr/>
        </p:nvSpPr>
        <p:spPr>
          <a:xfrm>
            <a:off x="8229600" y="4800600"/>
            <a:ext cx="2290763" cy="261610"/>
          </a:xfrm>
          <a:prstGeom prst="rect">
            <a:avLst/>
          </a:prstGeom>
          <a:noFill/>
        </p:spPr>
        <p:txBody>
          <a:bodyPr wrap="square">
            <a:spAutoFit/>
          </a:bodyPr>
          <a:lstStyle/>
          <a:p>
            <a:pPr algn="l">
              <a:defRPr sz="1100" b="0" i="0">
                <a:solidFill>
                  <a:srgbClr val="333333"/>
                </a:solidFill>
              </a:defRPr>
            </a:pPr>
            <a:r>
              <a:rPr dirty="0"/>
              <a:t>GitHub Copilot</a:t>
            </a:r>
            <a:r>
              <a:rPr lang="fr-CH" dirty="0"/>
              <a:t>, Claude</a:t>
            </a:r>
            <a:endParaRPr dirty="0"/>
          </a:p>
        </p:txBody>
      </p:sp>
      <p:sp>
        <p:nvSpPr>
          <p:cNvPr id="37" name="Rounded Rectangle 36"/>
          <p:cNvSpPr/>
          <p:nvPr/>
        </p:nvSpPr>
        <p:spPr>
          <a:xfrm>
            <a:off x="731520" y="5852160"/>
            <a:ext cx="10698480" cy="50292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97880"/>
            <a:ext cx="10332720" cy="457200"/>
          </a:xfrm>
          <a:prstGeom prst="rect">
            <a:avLst/>
          </a:prstGeom>
          <a:noFill/>
        </p:spPr>
        <p:txBody>
          <a:bodyPr wrap="square">
            <a:spAutoFit/>
          </a:bodyPr>
          <a:lstStyle/>
          <a:p>
            <a:pPr algn="ctr">
              <a:defRPr sz="1100" b="0" i="1">
                <a:solidFill>
                  <a:srgbClr val="003366"/>
                </a:solidFill>
              </a:defRPr>
            </a:pPr>
            <a:r>
              <a:t>Suivi Wrike : chaque lot de CS BAG = un projet dédié découpé en tâches tracées sur un tableau agile (Kanban).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05</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769441"/>
          </a:xfrm>
          <a:prstGeom prst="rect">
            <a:avLst/>
          </a:prstGeom>
          <a:noFill/>
        </p:spPr>
        <p:txBody>
          <a:bodyPr wrap="square">
            <a:spAutoFit/>
          </a:bodyPr>
          <a:lstStyle/>
          <a:p>
            <a:pPr algn="l">
              <a:defRPr sz="4400" b="1" i="0">
                <a:solidFill>
                  <a:srgbClr val="003366"/>
                </a:solidFill>
              </a:defRPr>
            </a:pPr>
            <a:r>
              <a:rPr dirty="0"/>
              <a:t>CS B</a:t>
            </a:r>
            <a:r>
              <a:rPr lang="fr-CH" dirty="0"/>
              <a:t>ag</a:t>
            </a:r>
            <a:r>
              <a:rPr dirty="0"/>
              <a:t> v2</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Mission </a:t>
            </a:r>
            <a:r>
              <a:rPr dirty="0" err="1"/>
              <a:t>principale</a:t>
            </a:r>
            <a:r>
              <a:rPr dirty="0"/>
              <a:t> : </a:t>
            </a:r>
            <a:r>
              <a:rPr dirty="0" err="1"/>
              <a:t>refonte</a:t>
            </a:r>
            <a:r>
              <a:rPr dirty="0"/>
              <a:t> de </a:t>
            </a:r>
            <a:r>
              <a:rPr lang="fr-CH" dirty="0"/>
              <a:t>CS Bag</a:t>
            </a:r>
            <a:endParaRPr dirty="0"/>
          </a:p>
        </p:txBody>
      </p:sp>
      <p:sp>
        <p:nvSpPr>
          <p:cNvPr id="7" name="Freeform 10">
            <a:extLst>
              <a:ext uri="{FF2B5EF4-FFF2-40B4-BE49-F238E27FC236}">
                <a16:creationId xmlns:a16="http://schemas.microsoft.com/office/drawing/2014/main" id="{0E8DA6EE-B778-4E9E-8890-A293B2DB680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76B21298-AB70-42AB-9D87-91C8FD10FDD4}"/>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 Présentation de l'application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15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ectangle 8"/>
          <p:cNvSpPr/>
          <p:nvPr/>
        </p:nvSpPr>
        <p:spPr>
          <a:xfrm>
            <a:off x="731520" y="1463040"/>
            <a:ext cx="2743200" cy="22860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CS BAG ]</a:t>
            </a:r>
          </a:p>
        </p:txBody>
      </p:sp>
      <p:sp>
        <p:nvSpPr>
          <p:cNvPr id="10" name="TextBox 9"/>
          <p:cNvSpPr txBox="1"/>
          <p:nvPr/>
        </p:nvSpPr>
        <p:spPr>
          <a:xfrm>
            <a:off x="3840480" y="1463040"/>
            <a:ext cx="7589520" cy="430887"/>
          </a:xfrm>
          <a:prstGeom prst="rect">
            <a:avLst/>
          </a:prstGeom>
          <a:noFill/>
        </p:spPr>
        <p:txBody>
          <a:bodyPr wrap="square">
            <a:spAutoFit/>
          </a:bodyPr>
          <a:lstStyle/>
          <a:p>
            <a:pPr algn="l">
              <a:defRPr sz="2200" b="1" i="0">
                <a:solidFill>
                  <a:srgbClr val="003366"/>
                </a:solidFill>
              </a:defRPr>
            </a:pPr>
            <a:r>
              <a:rPr dirty="0"/>
              <a:t>CS BAG </a:t>
            </a:r>
          </a:p>
        </p:txBody>
      </p:sp>
      <p:sp>
        <p:nvSpPr>
          <p:cNvPr id="11" name="TextBox 10"/>
          <p:cNvSpPr txBox="1"/>
          <p:nvPr/>
        </p:nvSpPr>
        <p:spPr>
          <a:xfrm>
            <a:off x="3840480" y="2011680"/>
            <a:ext cx="7589520" cy="365760"/>
          </a:xfrm>
          <a:prstGeom prst="rect">
            <a:avLst/>
          </a:prstGeom>
          <a:noFill/>
        </p:spPr>
        <p:txBody>
          <a:bodyPr wrap="square">
            <a:spAutoFit/>
          </a:bodyPr>
          <a:lstStyle/>
          <a:p>
            <a:pPr algn="l">
              <a:defRPr sz="1200" b="1" i="1">
                <a:solidFill>
                  <a:srgbClr val="2E8B3D"/>
                </a:solidFill>
              </a:defRPr>
            </a:pPr>
            <a:r>
              <a:rPr dirty="0" err="1"/>
              <a:t>Outil</a:t>
            </a:r>
            <a:r>
              <a:rPr dirty="0"/>
              <a:t> interne de </a:t>
            </a:r>
            <a:r>
              <a:rPr dirty="0" err="1"/>
              <a:t>cartographie</a:t>
            </a:r>
            <a:r>
              <a:rPr dirty="0"/>
              <a:t> applicative du service Collaborative Solutions</a:t>
            </a:r>
          </a:p>
        </p:txBody>
      </p:sp>
      <p:sp>
        <p:nvSpPr>
          <p:cNvPr id="12" name="TextBox 11"/>
          <p:cNvSpPr txBox="1"/>
          <p:nvPr/>
        </p:nvSpPr>
        <p:spPr>
          <a:xfrm>
            <a:off x="3840480" y="2468880"/>
            <a:ext cx="7589520" cy="1015663"/>
          </a:xfrm>
          <a:prstGeom prst="rect">
            <a:avLst/>
          </a:prstGeom>
          <a:noFill/>
        </p:spPr>
        <p:txBody>
          <a:bodyPr wrap="square">
            <a:spAutoFit/>
          </a:bodyPr>
          <a:lstStyle/>
          <a:p>
            <a:pPr algn="just">
              <a:defRPr sz="1200" b="0" i="0">
                <a:solidFill>
                  <a:srgbClr val="333333"/>
                </a:solidFill>
              </a:defRPr>
            </a:pPr>
            <a:r>
              <a:rPr lang="fr-FR" b="1" dirty="0"/>
              <a:t>CS BAG</a:t>
            </a:r>
            <a:r>
              <a:rPr lang="fr-FR" dirty="0"/>
              <a:t> est un outil interne destiné aux profils techniques du service Collaborative Solutions. Il recense et documente les applications du service ainsi que leurs composants techniques : </a:t>
            </a:r>
            <a:r>
              <a:rPr lang="fr-FR" dirty="0" err="1"/>
              <a:t>frameworks</a:t>
            </a:r>
            <a:r>
              <a:rPr lang="fr-FR" dirty="0"/>
              <a:t>, comptes de service, certificats, ressources Azure, serveurs d'exploitation et bases de données. Consulté lors des mises en production, des audits de sécurité et des renouvellements de certificats, il constitue la source de vérité technique de l'équipe. Son accès est réservé aux comptes d'administration (ADM).</a:t>
            </a:r>
            <a:endParaRPr dirty="0"/>
          </a:p>
        </p:txBody>
      </p:sp>
      <p:sp>
        <p:nvSpPr>
          <p:cNvPr id="13" name="TextBox 12"/>
          <p:cNvSpPr txBox="1"/>
          <p:nvPr/>
        </p:nvSpPr>
        <p:spPr>
          <a:xfrm>
            <a:off x="-990124" y="5207290"/>
            <a:ext cx="6276023" cy="323165"/>
          </a:xfrm>
          <a:prstGeom prst="rect">
            <a:avLst/>
          </a:prstGeom>
          <a:noFill/>
        </p:spPr>
        <p:txBody>
          <a:bodyPr wrap="square">
            <a:spAutoFit/>
          </a:bodyPr>
          <a:lstStyle/>
          <a:p>
            <a:pPr algn="ctr">
              <a:defRPr sz="1500" b="1" i="0">
                <a:solidFill>
                  <a:srgbClr val="003366"/>
                </a:solidFill>
              </a:defRPr>
            </a:pPr>
            <a:r>
              <a:rPr dirty="0"/>
              <a:t>Mod</a:t>
            </a:r>
            <a:r>
              <a:rPr lang="fr-CH" dirty="0"/>
              <a:t>é</a:t>
            </a:r>
            <a:r>
              <a:rPr dirty="0"/>
              <a:t>le m</a:t>
            </a:r>
            <a:r>
              <a:rPr lang="fr-CH" dirty="0"/>
              <a:t>é</a:t>
            </a:r>
            <a:r>
              <a:rPr dirty="0"/>
              <a:t>tier</a:t>
            </a:r>
            <a:r>
              <a:rPr lang="fr-CH" dirty="0"/>
              <a:t> : </a:t>
            </a:r>
            <a:endParaRPr dirty="0"/>
          </a:p>
        </p:txBody>
      </p:sp>
      <p:pic>
        <p:nvPicPr>
          <p:cNvPr id="29" name="Image 28">
            <a:extLst>
              <a:ext uri="{FF2B5EF4-FFF2-40B4-BE49-F238E27FC236}">
                <a16:creationId xmlns:a16="http://schemas.microsoft.com/office/drawing/2014/main" id="{DD55970F-0F76-43CB-AFF9-C9E7420CD96A}"/>
              </a:ext>
            </a:extLst>
          </p:cNvPr>
          <p:cNvPicPr>
            <a:picLocks noChangeAspect="1"/>
          </p:cNvPicPr>
          <p:nvPr/>
        </p:nvPicPr>
        <p:blipFill>
          <a:blip r:embed="rId2"/>
          <a:stretch>
            <a:fillRect/>
          </a:stretch>
        </p:blipFill>
        <p:spPr>
          <a:xfrm>
            <a:off x="1485132" y="2358199"/>
            <a:ext cx="1235975" cy="463491"/>
          </a:xfrm>
          <a:prstGeom prst="rect">
            <a:avLst/>
          </a:prstGeom>
        </p:spPr>
      </p:pic>
      <p:pic>
        <p:nvPicPr>
          <p:cNvPr id="31" name="Image 30">
            <a:extLst>
              <a:ext uri="{FF2B5EF4-FFF2-40B4-BE49-F238E27FC236}">
                <a16:creationId xmlns:a16="http://schemas.microsoft.com/office/drawing/2014/main" id="{ECF22AB6-4BE7-43C3-8729-AC2659C9B1EF}"/>
              </a:ext>
            </a:extLst>
          </p:cNvPr>
          <p:cNvPicPr>
            <a:picLocks noChangeAspect="1"/>
          </p:cNvPicPr>
          <p:nvPr/>
        </p:nvPicPr>
        <p:blipFill>
          <a:blip r:embed="rId3"/>
          <a:stretch>
            <a:fillRect/>
          </a:stretch>
        </p:blipFill>
        <p:spPr>
          <a:xfrm>
            <a:off x="4393882" y="3741419"/>
            <a:ext cx="5650230" cy="25474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page d'accueil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16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Vue générale du portefeuille applicatif dans la version 1</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1 - CS BAG v1 : accueil / liste des applications</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Absence de barre de recherche, pas de filtre transverse, pas d'indicateur de chargement</a:t>
            </a:r>
          </a:p>
        </p:txBody>
      </p:sp>
      <p:pic>
        <p:nvPicPr>
          <p:cNvPr id="16" name="Image 15">
            <a:extLst>
              <a:ext uri="{FF2B5EF4-FFF2-40B4-BE49-F238E27FC236}">
                <a16:creationId xmlns:a16="http://schemas.microsoft.com/office/drawing/2014/main" id="{EDB9A228-CB85-402D-9F46-374BC650ABCD}"/>
              </a:ext>
            </a:extLst>
          </p:cNvPr>
          <p:cNvPicPr>
            <a:picLocks noChangeAspect="1"/>
          </p:cNvPicPr>
          <p:nvPr/>
        </p:nvPicPr>
        <p:blipFill>
          <a:blip r:embed="rId2"/>
          <a:stretch>
            <a:fillRect/>
          </a:stretch>
        </p:blipFill>
        <p:spPr>
          <a:xfrm>
            <a:off x="1676183" y="1952127"/>
            <a:ext cx="8536962" cy="407822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gestion des modules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18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Formulaire de saisie et vue des ressources sensibles</a:t>
            </a:r>
          </a:p>
        </p:txBody>
      </p:sp>
      <p:sp>
        <p:nvSpPr>
          <p:cNvPr id="10" name="TextBox 9"/>
          <p:cNvSpPr txBox="1"/>
          <p:nvPr/>
        </p:nvSpPr>
        <p:spPr>
          <a:xfrm>
            <a:off x="1371600" y="1600200"/>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2</a:t>
            </a:r>
            <a:r>
              <a:rPr dirty="0"/>
              <a:t> - CS BAG v1 : modules / </a:t>
            </a:r>
            <a:r>
              <a:rPr dirty="0" err="1"/>
              <a:t>ressources</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4" name="Image 13">
            <a:extLst>
              <a:ext uri="{FF2B5EF4-FFF2-40B4-BE49-F238E27FC236}">
                <a16:creationId xmlns:a16="http://schemas.microsoft.com/office/drawing/2014/main" id="{B20491F8-E077-44FA-B379-AE73E16DDEAA}"/>
              </a:ext>
            </a:extLst>
          </p:cNvPr>
          <p:cNvPicPr>
            <a:picLocks noChangeAspect="1"/>
          </p:cNvPicPr>
          <p:nvPr/>
        </p:nvPicPr>
        <p:blipFill>
          <a:blip r:embed="rId2"/>
          <a:stretch>
            <a:fillRect/>
          </a:stretch>
        </p:blipFill>
        <p:spPr>
          <a:xfrm>
            <a:off x="1987061" y="1962441"/>
            <a:ext cx="8118231" cy="408374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CS BAG v1 : </a:t>
            </a:r>
            <a:r>
              <a:rPr lang="fr-CH" dirty="0"/>
              <a:t>modification d’un module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18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2107809" y="1555813"/>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3</a:t>
            </a:r>
            <a:r>
              <a:rPr dirty="0"/>
              <a:t> - CS BAG v1 : </a:t>
            </a:r>
            <a:r>
              <a:rPr lang="fr-CH" dirty="0"/>
              <a:t>modification d’un module</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5" name="Image 14">
            <a:extLst>
              <a:ext uri="{FF2B5EF4-FFF2-40B4-BE49-F238E27FC236}">
                <a16:creationId xmlns:a16="http://schemas.microsoft.com/office/drawing/2014/main" id="{BC5414B0-A407-45B9-8784-576E25E335B7}"/>
              </a:ext>
            </a:extLst>
          </p:cNvPr>
          <p:cNvPicPr>
            <a:picLocks noChangeAspect="1"/>
          </p:cNvPicPr>
          <p:nvPr/>
        </p:nvPicPr>
        <p:blipFill>
          <a:blip r:embed="rId2"/>
          <a:stretch>
            <a:fillRect/>
          </a:stretch>
        </p:blipFill>
        <p:spPr>
          <a:xfrm>
            <a:off x="731520" y="2347356"/>
            <a:ext cx="5073748" cy="2676393"/>
          </a:xfrm>
          <a:prstGeom prst="rect">
            <a:avLst/>
          </a:prstGeom>
          <a:effectLst>
            <a:outerShdw blurRad="50800" dist="38100" dir="5400000" algn="t" rotWithShape="0">
              <a:prstClr val="black">
                <a:alpha val="40000"/>
              </a:prstClr>
            </a:outerShdw>
          </a:effectLst>
        </p:spPr>
      </p:pic>
      <p:pic>
        <p:nvPicPr>
          <p:cNvPr id="20" name="Image 19">
            <a:extLst>
              <a:ext uri="{FF2B5EF4-FFF2-40B4-BE49-F238E27FC236}">
                <a16:creationId xmlns:a16="http://schemas.microsoft.com/office/drawing/2014/main" id="{37B18F7F-E597-40E9-8F65-C5E2F52F1E13}"/>
              </a:ext>
            </a:extLst>
          </p:cNvPr>
          <p:cNvPicPr>
            <a:picLocks noChangeAspect="1"/>
          </p:cNvPicPr>
          <p:nvPr/>
        </p:nvPicPr>
        <p:blipFill rotWithShape="1">
          <a:blip r:embed="rId3"/>
          <a:srcRect l="6596" t="521" r="7317" b="-521"/>
          <a:stretch/>
        </p:blipFill>
        <p:spPr>
          <a:xfrm>
            <a:off x="6217920" y="2342786"/>
            <a:ext cx="5584874" cy="267639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42868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Cahier des charges </a:t>
            </a:r>
            <a:r>
              <a:rPr lang="fr-CH" dirty="0"/>
              <a:t>:</a:t>
            </a:r>
            <a:r>
              <a:rPr dirty="0"/>
              <a:t> 3 lots </a:t>
            </a:r>
            <a:r>
              <a:rPr dirty="0" err="1"/>
              <a:t>complementaires</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19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Livraison incrémentale : chaque lot s'appuie sur le précédent</a:t>
            </a:r>
          </a:p>
        </p:txBody>
      </p:sp>
      <p:sp>
        <p:nvSpPr>
          <p:cNvPr id="10" name="Rounded Rectangle 9"/>
          <p:cNvSpPr/>
          <p:nvPr/>
        </p:nvSpPr>
        <p:spPr>
          <a:xfrm>
            <a:off x="731520"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1</a:t>
            </a:r>
          </a:p>
          <a:p>
            <a:pPr algn="ctr">
              <a:defRPr sz="1300">
                <a:solidFill>
                  <a:srgbClr val="FFFFFF"/>
                </a:solidFill>
              </a:defRPr>
            </a:pPr>
            <a:r>
              <a:t>Socle de la refonte</a:t>
            </a:r>
          </a:p>
        </p:txBody>
      </p:sp>
      <p:sp>
        <p:nvSpPr>
          <p:cNvPr id="12" name="Oval 11"/>
          <p:cNvSpPr/>
          <p:nvPr/>
        </p:nvSpPr>
        <p:spPr>
          <a:xfrm>
            <a:off x="1005840"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880360"/>
            <a:ext cx="2926080" cy="685800"/>
          </a:xfrm>
          <a:prstGeom prst="rect">
            <a:avLst/>
          </a:prstGeom>
          <a:noFill/>
        </p:spPr>
        <p:txBody>
          <a:bodyPr wrap="square">
            <a:spAutoFit/>
          </a:bodyPr>
          <a:lstStyle/>
          <a:p>
            <a:pPr algn="l">
              <a:defRPr sz="1100" b="0" i="0">
                <a:solidFill>
                  <a:srgbClr val="333333"/>
                </a:solidFill>
              </a:defRPr>
            </a:pPr>
            <a:r>
              <a:t>Recherche et filtres transverses</a:t>
            </a:r>
          </a:p>
        </p:txBody>
      </p:sp>
      <p:sp>
        <p:nvSpPr>
          <p:cNvPr id="14" name="Oval 13"/>
          <p:cNvSpPr/>
          <p:nvPr/>
        </p:nvSpPr>
        <p:spPr>
          <a:xfrm>
            <a:off x="1005840"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3657600"/>
            <a:ext cx="2926080" cy="685800"/>
          </a:xfrm>
          <a:prstGeom prst="rect">
            <a:avLst/>
          </a:prstGeom>
          <a:noFill/>
        </p:spPr>
        <p:txBody>
          <a:bodyPr wrap="square">
            <a:spAutoFit/>
          </a:bodyPr>
          <a:lstStyle/>
          <a:p>
            <a:pPr algn="l">
              <a:defRPr sz="1100" b="0" i="0">
                <a:solidFill>
                  <a:srgbClr val="333333"/>
                </a:solidFill>
              </a:defRPr>
            </a:pPr>
            <a:r>
              <a:t>Indicateurs de chargement</a:t>
            </a:r>
          </a:p>
        </p:txBody>
      </p:sp>
      <p:sp>
        <p:nvSpPr>
          <p:cNvPr id="16" name="Oval 15"/>
          <p:cNvSpPr/>
          <p:nvPr/>
        </p:nvSpPr>
        <p:spPr>
          <a:xfrm>
            <a:off x="1005840"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4434840"/>
            <a:ext cx="2926080" cy="685800"/>
          </a:xfrm>
          <a:prstGeom prst="rect">
            <a:avLst/>
          </a:prstGeom>
          <a:noFill/>
        </p:spPr>
        <p:txBody>
          <a:bodyPr wrap="square">
            <a:spAutoFit/>
          </a:bodyPr>
          <a:lstStyle/>
          <a:p>
            <a:pPr algn="l">
              <a:defRPr sz="1100" b="0" i="0">
                <a:solidFill>
                  <a:srgbClr val="333333"/>
                </a:solidFill>
              </a:defRPr>
            </a:pPr>
            <a:r>
              <a:t>Cycle de vie des applications</a:t>
            </a:r>
          </a:p>
        </p:txBody>
      </p:sp>
      <p:sp>
        <p:nvSpPr>
          <p:cNvPr id="18" name="Oval 17"/>
          <p:cNvSpPr/>
          <p:nvPr/>
        </p:nvSpPr>
        <p:spPr>
          <a:xfrm>
            <a:off x="1005840"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5212080"/>
            <a:ext cx="2926080" cy="261610"/>
          </a:xfrm>
          <a:prstGeom prst="rect">
            <a:avLst/>
          </a:prstGeom>
          <a:noFill/>
        </p:spPr>
        <p:txBody>
          <a:bodyPr wrap="square">
            <a:spAutoFit/>
          </a:bodyPr>
          <a:lstStyle/>
          <a:p>
            <a:pPr algn="l">
              <a:defRPr sz="1100" b="0" i="0">
                <a:solidFill>
                  <a:srgbClr val="333333"/>
                </a:solidFill>
              </a:defRPr>
            </a:pPr>
            <a:r>
              <a:rPr dirty="0"/>
              <a:t>Multi-</a:t>
            </a:r>
            <a:r>
              <a:rPr lang="fr-MA" dirty="0"/>
              <a:t>équipe</a:t>
            </a:r>
            <a:r>
              <a:rPr dirty="0"/>
              <a:t>s et </a:t>
            </a:r>
            <a:r>
              <a:rPr dirty="0" err="1"/>
              <a:t>archivage</a:t>
            </a:r>
            <a:endParaRPr dirty="0"/>
          </a:p>
        </p:txBody>
      </p:sp>
      <p:sp>
        <p:nvSpPr>
          <p:cNvPr id="20" name="Rounded Rectangle 19"/>
          <p:cNvSpPr/>
          <p:nvPr/>
        </p:nvSpPr>
        <p:spPr>
          <a:xfrm>
            <a:off x="4480559"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480559"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2</a:t>
            </a:r>
          </a:p>
          <a:p>
            <a:pPr algn="ctr">
              <a:defRPr sz="1300">
                <a:solidFill>
                  <a:srgbClr val="FFFFFF"/>
                </a:solidFill>
              </a:defRPr>
            </a:pPr>
            <a:r>
              <a:t>Amélioration de l'outil</a:t>
            </a:r>
          </a:p>
        </p:txBody>
      </p:sp>
      <p:sp>
        <p:nvSpPr>
          <p:cNvPr id="22" name="Oval 21"/>
          <p:cNvSpPr/>
          <p:nvPr/>
        </p:nvSpPr>
        <p:spPr>
          <a:xfrm>
            <a:off x="4754879"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83479" y="2880360"/>
            <a:ext cx="2926080" cy="685800"/>
          </a:xfrm>
          <a:prstGeom prst="rect">
            <a:avLst/>
          </a:prstGeom>
          <a:noFill/>
        </p:spPr>
        <p:txBody>
          <a:bodyPr wrap="square">
            <a:spAutoFit/>
          </a:bodyPr>
          <a:lstStyle/>
          <a:p>
            <a:pPr algn="l">
              <a:defRPr sz="1100" b="0" i="0">
                <a:solidFill>
                  <a:srgbClr val="333333"/>
                </a:solidFill>
              </a:defRPr>
            </a:pPr>
            <a:r>
              <a:t>Traçabilité des livraisons</a:t>
            </a:r>
          </a:p>
        </p:txBody>
      </p:sp>
      <p:sp>
        <p:nvSpPr>
          <p:cNvPr id="24" name="Oval 23"/>
          <p:cNvSpPr/>
          <p:nvPr/>
        </p:nvSpPr>
        <p:spPr>
          <a:xfrm>
            <a:off x="4754879"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83479" y="3657600"/>
            <a:ext cx="2926080" cy="685800"/>
          </a:xfrm>
          <a:prstGeom prst="rect">
            <a:avLst/>
          </a:prstGeom>
          <a:noFill/>
        </p:spPr>
        <p:txBody>
          <a:bodyPr wrap="square">
            <a:spAutoFit/>
          </a:bodyPr>
          <a:lstStyle/>
          <a:p>
            <a:pPr algn="l">
              <a:defRPr sz="1100" b="0" i="0">
                <a:solidFill>
                  <a:srgbClr val="333333"/>
                </a:solidFill>
              </a:defRPr>
            </a:pPr>
            <a:r>
              <a:t>Historique et documents</a:t>
            </a:r>
          </a:p>
        </p:txBody>
      </p:sp>
      <p:sp>
        <p:nvSpPr>
          <p:cNvPr id="26" name="Oval 25"/>
          <p:cNvSpPr/>
          <p:nvPr/>
        </p:nvSpPr>
        <p:spPr>
          <a:xfrm>
            <a:off x="4754879"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83479" y="4434840"/>
            <a:ext cx="2926080" cy="685800"/>
          </a:xfrm>
          <a:prstGeom prst="rect">
            <a:avLst/>
          </a:prstGeom>
          <a:noFill/>
        </p:spPr>
        <p:txBody>
          <a:bodyPr wrap="square">
            <a:spAutoFit/>
          </a:bodyPr>
          <a:lstStyle/>
          <a:p>
            <a:pPr algn="l">
              <a:defRPr sz="1100" b="0" i="0">
                <a:solidFill>
                  <a:srgbClr val="333333"/>
                </a:solidFill>
              </a:defRPr>
            </a:pPr>
            <a:r>
              <a:t>Suivi des ressources sensibles</a:t>
            </a:r>
          </a:p>
        </p:txBody>
      </p:sp>
      <p:sp>
        <p:nvSpPr>
          <p:cNvPr id="28" name="Oval 27"/>
          <p:cNvSpPr/>
          <p:nvPr/>
        </p:nvSpPr>
        <p:spPr>
          <a:xfrm>
            <a:off x="4754879"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83479" y="5212080"/>
            <a:ext cx="2926080" cy="685800"/>
          </a:xfrm>
          <a:prstGeom prst="rect">
            <a:avLst/>
          </a:prstGeom>
          <a:noFill/>
        </p:spPr>
        <p:txBody>
          <a:bodyPr wrap="square">
            <a:spAutoFit/>
          </a:bodyPr>
          <a:lstStyle/>
          <a:p>
            <a:pPr algn="l">
              <a:defRPr sz="1100" b="0" i="0">
                <a:solidFill>
                  <a:srgbClr val="333333"/>
                </a:solidFill>
              </a:defRPr>
            </a:pPr>
            <a:r>
              <a:t>Notifications d'expiration</a:t>
            </a:r>
          </a:p>
        </p:txBody>
      </p:sp>
      <p:sp>
        <p:nvSpPr>
          <p:cNvPr id="30" name="Rounded Rectangle 29"/>
          <p:cNvSpPr/>
          <p:nvPr/>
        </p:nvSpPr>
        <p:spPr>
          <a:xfrm>
            <a:off x="8229598" y="1828800"/>
            <a:ext cx="3520440" cy="43891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229598" y="1828800"/>
            <a:ext cx="352044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Lot 3</a:t>
            </a:r>
          </a:p>
          <a:p>
            <a:pPr algn="ctr">
              <a:defRPr sz="1300">
                <a:solidFill>
                  <a:srgbClr val="FFFFFF"/>
                </a:solidFill>
              </a:defRPr>
            </a:pPr>
            <a:r>
              <a:t>Enrichissement fonctionnel</a:t>
            </a:r>
          </a:p>
        </p:txBody>
      </p:sp>
      <p:sp>
        <p:nvSpPr>
          <p:cNvPr id="32" name="Oval 31"/>
          <p:cNvSpPr/>
          <p:nvPr/>
        </p:nvSpPr>
        <p:spPr>
          <a:xfrm>
            <a:off x="8503918" y="299008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732518" y="2880360"/>
            <a:ext cx="2926080" cy="685800"/>
          </a:xfrm>
          <a:prstGeom prst="rect">
            <a:avLst/>
          </a:prstGeom>
          <a:noFill/>
        </p:spPr>
        <p:txBody>
          <a:bodyPr wrap="square">
            <a:spAutoFit/>
          </a:bodyPr>
          <a:lstStyle/>
          <a:p>
            <a:pPr algn="l">
              <a:defRPr sz="1100" b="0" i="0">
                <a:solidFill>
                  <a:srgbClr val="333333"/>
                </a:solidFill>
              </a:defRPr>
            </a:pPr>
            <a:r>
              <a:t>Administration des referentiels</a:t>
            </a:r>
          </a:p>
          <a:p>
            <a:pPr algn="l">
              <a:defRPr sz="1100" b="0" i="0">
                <a:solidFill>
                  <a:srgbClr val="333333"/>
                </a:solidFill>
              </a:defRPr>
            </a:pPr>
            <a:r>
              <a:t>(8 ecrans)</a:t>
            </a:r>
          </a:p>
        </p:txBody>
      </p:sp>
      <p:sp>
        <p:nvSpPr>
          <p:cNvPr id="34" name="Oval 33"/>
          <p:cNvSpPr/>
          <p:nvPr/>
        </p:nvSpPr>
        <p:spPr>
          <a:xfrm>
            <a:off x="8503918" y="376732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32518" y="3657600"/>
            <a:ext cx="2926080" cy="685800"/>
          </a:xfrm>
          <a:prstGeom prst="rect">
            <a:avLst/>
          </a:prstGeom>
          <a:noFill/>
        </p:spPr>
        <p:txBody>
          <a:bodyPr wrap="square">
            <a:spAutoFit/>
          </a:bodyPr>
          <a:lstStyle/>
          <a:p>
            <a:pPr algn="l">
              <a:defRPr sz="1100" b="0" i="0">
                <a:solidFill>
                  <a:srgbClr val="333333"/>
                </a:solidFill>
              </a:defRPr>
            </a:pPr>
            <a:r>
              <a:t>Auditabilité des actions utilisateur</a:t>
            </a:r>
          </a:p>
        </p:txBody>
      </p:sp>
      <p:sp>
        <p:nvSpPr>
          <p:cNvPr id="36" name="Oval 35"/>
          <p:cNvSpPr/>
          <p:nvPr/>
        </p:nvSpPr>
        <p:spPr>
          <a:xfrm>
            <a:off x="8503918" y="454456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18" y="4434840"/>
            <a:ext cx="2926080" cy="685800"/>
          </a:xfrm>
          <a:prstGeom prst="rect">
            <a:avLst/>
          </a:prstGeom>
          <a:noFill/>
        </p:spPr>
        <p:txBody>
          <a:bodyPr wrap="square">
            <a:spAutoFit/>
          </a:bodyPr>
          <a:lstStyle/>
          <a:p>
            <a:pPr algn="l">
              <a:defRPr sz="1100" b="0" i="0">
                <a:solidFill>
                  <a:srgbClr val="333333"/>
                </a:solidFill>
              </a:defRPr>
            </a:pPr>
            <a:r>
              <a:t>Taxonomies (marquage / filtrage)</a:t>
            </a:r>
          </a:p>
        </p:txBody>
      </p:sp>
      <p:sp>
        <p:nvSpPr>
          <p:cNvPr id="38" name="Oval 37"/>
          <p:cNvSpPr/>
          <p:nvPr/>
        </p:nvSpPr>
        <p:spPr>
          <a:xfrm>
            <a:off x="8503918" y="5321808"/>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32518" y="5212080"/>
            <a:ext cx="2926080" cy="685800"/>
          </a:xfrm>
          <a:prstGeom prst="rect">
            <a:avLst/>
          </a:prstGeom>
          <a:noFill/>
        </p:spPr>
        <p:txBody>
          <a:bodyPr wrap="square">
            <a:spAutoFit/>
          </a:bodyPr>
          <a:lstStyle/>
          <a:p>
            <a:pPr algn="l">
              <a:defRPr sz="1100" b="0" i="0">
                <a:solidFill>
                  <a:srgbClr val="333333"/>
                </a:solidFill>
              </a:defRPr>
            </a:pPr>
            <a:r>
              <a:t>Extensions ressources sensibles</a:t>
            </a:r>
          </a:p>
        </p:txBody>
      </p:sp>
      <p:sp>
        <p:nvSpPr>
          <p:cNvPr id="40" name="Right Arrow 39"/>
          <p:cNvSpPr/>
          <p:nvPr/>
        </p:nvSpPr>
        <p:spPr>
          <a:xfrm>
            <a:off x="4251960"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ight Arrow 40"/>
          <p:cNvSpPr/>
          <p:nvPr/>
        </p:nvSpPr>
        <p:spPr>
          <a:xfrm>
            <a:off x="8000999" y="384048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6309360"/>
            <a:ext cx="10698480" cy="274320"/>
          </a:xfrm>
          <a:prstGeom prst="rect">
            <a:avLst/>
          </a:prstGeom>
          <a:noFill/>
        </p:spPr>
        <p:txBody>
          <a:bodyPr wrap="square">
            <a:spAutoFit/>
          </a:bodyPr>
          <a:lstStyle/>
          <a:p>
            <a:pPr algn="ctr">
              <a:defRPr sz="1100" b="0" i="1">
                <a:solidFill>
                  <a:srgbClr val="666666"/>
                </a:solidFill>
              </a:defRPr>
            </a:pPr>
            <a:r>
              <a:t>Chaque lot est formalisé dans un document de spécifications propre.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Diagnostic personnel de l'existant</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20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Analyse menée avant tout développement : 3 formes de dette identifiées</a:t>
            </a:r>
          </a:p>
        </p:txBody>
      </p:sp>
      <p:sp>
        <p:nvSpPr>
          <p:cNvPr id="10" name="Rounded Rectangle 9"/>
          <p:cNvSpPr/>
          <p:nvPr/>
        </p:nvSpPr>
        <p:spPr>
          <a:xfrm>
            <a:off x="73152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2" name="TextBox 11"/>
          <p:cNvSpPr txBox="1"/>
          <p:nvPr/>
        </p:nvSpPr>
        <p:spPr>
          <a:xfrm>
            <a:off x="1508760" y="2011680"/>
            <a:ext cx="2468880" cy="822960"/>
          </a:xfrm>
          <a:prstGeom prst="rect">
            <a:avLst/>
          </a:prstGeom>
          <a:noFill/>
        </p:spPr>
        <p:txBody>
          <a:bodyPr wrap="square">
            <a:spAutoFit/>
          </a:bodyPr>
          <a:lstStyle/>
          <a:p>
            <a:pPr algn="l">
              <a:defRPr sz="1300" b="1" i="0">
                <a:solidFill>
                  <a:srgbClr val="003366"/>
                </a:solidFill>
              </a:defRPr>
            </a:pPr>
            <a:r>
              <a:t>Dette technique de version</a:t>
            </a:r>
          </a:p>
        </p:txBody>
      </p:sp>
      <p:sp>
        <p:nvSpPr>
          <p:cNvPr id="13" name="TextBox 12"/>
          <p:cNvSpPr txBox="1"/>
          <p:nvPr/>
        </p:nvSpPr>
        <p:spPr>
          <a:xfrm>
            <a:off x="1005840" y="2926080"/>
            <a:ext cx="2926080" cy="1280160"/>
          </a:xfrm>
          <a:prstGeom prst="rect">
            <a:avLst/>
          </a:prstGeom>
          <a:noFill/>
        </p:spPr>
        <p:txBody>
          <a:bodyPr wrap="square">
            <a:spAutoFit/>
          </a:bodyPr>
          <a:lstStyle/>
          <a:p>
            <a:pPr algn="l">
              <a:defRPr sz="1000" b="0" i="0">
                <a:solidFill>
                  <a:srgbClr val="666666"/>
                </a:solidFill>
              </a:defRPr>
            </a:pPr>
            <a:r>
              <a:rPr dirty="0"/>
              <a:t>Angular 14.2 et .NET 6.0 hors support </a:t>
            </a:r>
            <a:r>
              <a:rPr dirty="0" err="1"/>
              <a:t>actif</a:t>
            </a:r>
            <a:r>
              <a:rPr dirty="0"/>
              <a:t>.</a:t>
            </a:r>
          </a:p>
          <a:p>
            <a:pPr algn="l">
              <a:defRPr sz="1000" b="0" i="0">
                <a:solidFill>
                  <a:srgbClr val="666666"/>
                </a:solidFill>
              </a:defRPr>
            </a:pPr>
            <a:r>
              <a:rPr dirty="0" err="1"/>
              <a:t>Vulnerabilites</a:t>
            </a:r>
            <a:r>
              <a:rPr dirty="0"/>
              <a:t> </a:t>
            </a:r>
            <a:r>
              <a:rPr dirty="0" err="1"/>
              <a:t>remontees</a:t>
            </a:r>
            <a:r>
              <a:rPr dirty="0"/>
              <a:t> par les </a:t>
            </a:r>
            <a:r>
              <a:rPr dirty="0" err="1"/>
              <a:t>outils</a:t>
            </a:r>
            <a:r>
              <a:rPr dirty="0"/>
              <a:t> </a:t>
            </a:r>
            <a:r>
              <a:rPr dirty="0" err="1"/>
              <a:t>d'analyse</a:t>
            </a:r>
            <a:r>
              <a:rPr dirty="0"/>
              <a:t>, </a:t>
            </a:r>
            <a:r>
              <a:rPr dirty="0" err="1"/>
              <a:t>impossibles</a:t>
            </a:r>
            <a:r>
              <a:rPr dirty="0"/>
              <a:t> a </a:t>
            </a:r>
            <a:r>
              <a:rPr dirty="0" err="1"/>
              <a:t>corriger</a:t>
            </a:r>
            <a:r>
              <a:rPr dirty="0"/>
              <a:t>.</a:t>
            </a:r>
          </a:p>
        </p:txBody>
      </p:sp>
      <p:sp>
        <p:nvSpPr>
          <p:cNvPr id="14" name="Rounded Rectangle 13"/>
          <p:cNvSpPr/>
          <p:nvPr/>
        </p:nvSpPr>
        <p:spPr>
          <a:xfrm>
            <a:off x="448056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6344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6" name="TextBox 15"/>
          <p:cNvSpPr txBox="1"/>
          <p:nvPr/>
        </p:nvSpPr>
        <p:spPr>
          <a:xfrm>
            <a:off x="5257800" y="2011680"/>
            <a:ext cx="2468880" cy="822960"/>
          </a:xfrm>
          <a:prstGeom prst="rect">
            <a:avLst/>
          </a:prstGeom>
          <a:noFill/>
        </p:spPr>
        <p:txBody>
          <a:bodyPr wrap="square">
            <a:spAutoFit/>
          </a:bodyPr>
          <a:lstStyle/>
          <a:p>
            <a:pPr algn="l">
              <a:defRPr sz="1300" b="1" i="0">
                <a:solidFill>
                  <a:srgbClr val="003366"/>
                </a:solidFill>
              </a:defRPr>
            </a:pPr>
            <a:r>
              <a:t>Dette du modèle de données</a:t>
            </a:r>
          </a:p>
        </p:txBody>
      </p:sp>
      <p:sp>
        <p:nvSpPr>
          <p:cNvPr id="17" name="TextBox 16"/>
          <p:cNvSpPr txBox="1"/>
          <p:nvPr/>
        </p:nvSpPr>
        <p:spPr>
          <a:xfrm>
            <a:off x="4732020" y="2862072"/>
            <a:ext cx="2926080" cy="1280160"/>
          </a:xfrm>
          <a:prstGeom prst="rect">
            <a:avLst/>
          </a:prstGeom>
          <a:noFill/>
        </p:spPr>
        <p:txBody>
          <a:bodyPr wrap="square">
            <a:spAutoFit/>
          </a:bodyPr>
          <a:lstStyle/>
          <a:p>
            <a:pPr algn="l">
              <a:defRPr sz="1000" b="0" i="0">
                <a:solidFill>
                  <a:srgbClr val="666666"/>
                </a:solidFill>
              </a:defRPr>
            </a:pPr>
            <a:r>
              <a:rPr dirty="0" err="1"/>
              <a:t>Ressources</a:t>
            </a:r>
            <a:r>
              <a:rPr dirty="0"/>
              <a:t> </a:t>
            </a:r>
            <a:r>
              <a:rPr dirty="0" err="1"/>
              <a:t>en</a:t>
            </a:r>
            <a:r>
              <a:rPr dirty="0"/>
              <a:t> </a:t>
            </a:r>
            <a:r>
              <a:rPr dirty="0" err="1"/>
              <a:t>texte</a:t>
            </a:r>
            <a:r>
              <a:rPr dirty="0"/>
              <a:t> libre : meme framework sous </a:t>
            </a:r>
            <a:r>
              <a:rPr dirty="0" err="1"/>
              <a:t>plusieurs</a:t>
            </a:r>
            <a:r>
              <a:rPr dirty="0"/>
              <a:t> </a:t>
            </a:r>
            <a:r>
              <a:rPr dirty="0" err="1"/>
              <a:t>orthographes</a:t>
            </a:r>
            <a:r>
              <a:rPr dirty="0"/>
              <a:t>.</a:t>
            </a:r>
          </a:p>
          <a:p>
            <a:pPr algn="l">
              <a:defRPr sz="1000" b="0" i="0">
                <a:solidFill>
                  <a:srgbClr val="666666"/>
                </a:solidFill>
              </a:defRPr>
            </a:pPr>
            <a:r>
              <a:rPr dirty="0"/>
              <a:t>Absence de </a:t>
            </a:r>
            <a:r>
              <a:rPr dirty="0" err="1"/>
              <a:t>contraintes</a:t>
            </a:r>
            <a:r>
              <a:rPr dirty="0"/>
              <a:t> </a:t>
            </a:r>
            <a:r>
              <a:rPr dirty="0" err="1"/>
              <a:t>d'unicite</a:t>
            </a:r>
            <a:r>
              <a:rPr dirty="0"/>
              <a:t>, tables sans </a:t>
            </a:r>
            <a:r>
              <a:rPr dirty="0" err="1"/>
              <a:t>cle</a:t>
            </a:r>
            <a:r>
              <a:rPr dirty="0"/>
              <a:t> </a:t>
            </a:r>
            <a:r>
              <a:rPr dirty="0" err="1"/>
              <a:t>primaire</a:t>
            </a:r>
            <a:r>
              <a:rPr dirty="0"/>
              <a:t>.</a:t>
            </a:r>
          </a:p>
        </p:txBody>
      </p:sp>
      <p:sp>
        <p:nvSpPr>
          <p:cNvPr id="18" name="Rounded Rectangle 17"/>
          <p:cNvSpPr/>
          <p:nvPr/>
        </p:nvSpPr>
        <p:spPr>
          <a:xfrm>
            <a:off x="822960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20" name="TextBox 19"/>
          <p:cNvSpPr txBox="1"/>
          <p:nvPr/>
        </p:nvSpPr>
        <p:spPr>
          <a:xfrm>
            <a:off x="9006840" y="2011680"/>
            <a:ext cx="2468880" cy="822960"/>
          </a:xfrm>
          <a:prstGeom prst="rect">
            <a:avLst/>
          </a:prstGeom>
          <a:noFill/>
        </p:spPr>
        <p:txBody>
          <a:bodyPr wrap="square">
            <a:spAutoFit/>
          </a:bodyPr>
          <a:lstStyle/>
          <a:p>
            <a:pPr algn="l">
              <a:defRPr sz="1300" b="1" i="0">
                <a:solidFill>
                  <a:srgbClr val="003366"/>
                </a:solidFill>
              </a:defRPr>
            </a:pPr>
            <a:r>
              <a:t>Dette ergonomique</a:t>
            </a:r>
          </a:p>
        </p:txBody>
      </p:sp>
      <p:sp>
        <p:nvSpPr>
          <p:cNvPr id="21" name="TextBox 20"/>
          <p:cNvSpPr txBox="1"/>
          <p:nvPr/>
        </p:nvSpPr>
        <p:spPr>
          <a:xfrm>
            <a:off x="8503920" y="2926080"/>
            <a:ext cx="2926080" cy="400110"/>
          </a:xfrm>
          <a:prstGeom prst="rect">
            <a:avLst/>
          </a:prstGeom>
          <a:noFill/>
        </p:spPr>
        <p:txBody>
          <a:bodyPr wrap="square">
            <a:spAutoFit/>
          </a:bodyPr>
          <a:lstStyle/>
          <a:p>
            <a:pPr algn="l">
              <a:defRPr sz="1000" b="0" i="0">
                <a:solidFill>
                  <a:srgbClr val="666666"/>
                </a:solidFill>
              </a:defRPr>
            </a:pPr>
            <a:r>
              <a:rPr lang="fr-CH" dirty="0"/>
              <a:t>Pas de </a:t>
            </a:r>
            <a:r>
              <a:rPr lang="fr-CH" dirty="0" err="1"/>
              <a:t>coherences</a:t>
            </a:r>
            <a:r>
              <a:rPr lang="fr-CH" dirty="0"/>
              <a:t>, pas d’organisation. Formulaires désorganisés</a:t>
            </a:r>
            <a:endParaRPr dirty="0"/>
          </a:p>
        </p:txBody>
      </p:sp>
      <p:sp>
        <p:nvSpPr>
          <p:cNvPr id="22" name="TextBox 21"/>
          <p:cNvSpPr txBox="1"/>
          <p:nvPr/>
        </p:nvSpPr>
        <p:spPr>
          <a:xfrm>
            <a:off x="731520" y="4572000"/>
            <a:ext cx="10698480" cy="365760"/>
          </a:xfrm>
          <a:prstGeom prst="rect">
            <a:avLst/>
          </a:prstGeom>
          <a:noFill/>
        </p:spPr>
        <p:txBody>
          <a:bodyPr wrap="square">
            <a:spAutoFit/>
          </a:bodyPr>
          <a:lstStyle/>
          <a:p>
            <a:pPr algn="ctr">
              <a:defRPr sz="1600" b="1" i="0">
                <a:solidFill>
                  <a:srgbClr val="2E8B3D"/>
                </a:solidFill>
              </a:defRPr>
            </a:pPr>
            <a:r>
              <a:t>Élargissement du périmètre initial (validé par le chef de projet)</a:t>
            </a:r>
          </a:p>
        </p:txBody>
      </p:sp>
      <p:sp>
        <p:nvSpPr>
          <p:cNvPr id="23" name="Rounded Rectangle 22"/>
          <p:cNvSpPr/>
          <p:nvPr/>
        </p:nvSpPr>
        <p:spPr>
          <a:xfrm>
            <a:off x="13716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54480" y="5166360"/>
            <a:ext cx="4206240" cy="365760"/>
          </a:xfrm>
          <a:prstGeom prst="rect">
            <a:avLst/>
          </a:prstGeom>
          <a:noFill/>
        </p:spPr>
        <p:txBody>
          <a:bodyPr wrap="square">
            <a:spAutoFit/>
          </a:bodyPr>
          <a:lstStyle/>
          <a:p>
            <a:pPr algn="l">
              <a:defRPr sz="1300" b="1" i="0">
                <a:solidFill>
                  <a:srgbClr val="2E8B3D"/>
                </a:solidFill>
              </a:defRPr>
            </a:pPr>
            <a:r>
              <a:t>+ Normalisation de la base de données</a:t>
            </a:r>
          </a:p>
        </p:txBody>
      </p:sp>
      <p:sp>
        <p:nvSpPr>
          <p:cNvPr id="25" name="TextBox 24"/>
          <p:cNvSpPr txBox="1"/>
          <p:nvPr/>
        </p:nvSpPr>
        <p:spPr>
          <a:xfrm>
            <a:off x="1554480" y="5577840"/>
            <a:ext cx="4206240" cy="457200"/>
          </a:xfrm>
          <a:prstGeom prst="rect">
            <a:avLst/>
          </a:prstGeom>
          <a:noFill/>
        </p:spPr>
        <p:txBody>
          <a:bodyPr wrap="square">
            <a:spAutoFit/>
          </a:bodyPr>
          <a:lstStyle/>
          <a:p>
            <a:pPr algn="l">
              <a:defRPr sz="1100" b="0" i="1">
                <a:solidFill>
                  <a:srgbClr val="333333"/>
                </a:solidFill>
              </a:defRPr>
            </a:pPr>
            <a:r>
              <a:t>au sens des formes normales de Codd</a:t>
            </a:r>
          </a:p>
        </p:txBody>
      </p:sp>
      <p:sp>
        <p:nvSpPr>
          <p:cNvPr id="26" name="Rounded Rectangle 25"/>
          <p:cNvSpPr/>
          <p:nvPr/>
        </p:nvSpPr>
        <p:spPr>
          <a:xfrm>
            <a:off x="64008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166360"/>
            <a:ext cx="4206240" cy="365760"/>
          </a:xfrm>
          <a:prstGeom prst="rect">
            <a:avLst/>
          </a:prstGeom>
          <a:noFill/>
        </p:spPr>
        <p:txBody>
          <a:bodyPr wrap="square">
            <a:spAutoFit/>
          </a:bodyPr>
          <a:lstStyle/>
          <a:p>
            <a:pPr algn="l">
              <a:defRPr sz="1300" b="1" i="0">
                <a:solidFill>
                  <a:srgbClr val="2E8B3D"/>
                </a:solidFill>
              </a:defRPr>
            </a:pPr>
            <a:r>
              <a:t>+ Mise en conformité REST de l'API</a:t>
            </a:r>
          </a:p>
        </p:txBody>
      </p:sp>
      <p:sp>
        <p:nvSpPr>
          <p:cNvPr id="28" name="TextBox 27"/>
          <p:cNvSpPr txBox="1"/>
          <p:nvPr/>
        </p:nvSpPr>
        <p:spPr>
          <a:xfrm>
            <a:off x="6583680" y="5577840"/>
            <a:ext cx="4206240" cy="457200"/>
          </a:xfrm>
          <a:prstGeom prst="rect">
            <a:avLst/>
          </a:prstGeom>
          <a:noFill/>
        </p:spPr>
        <p:txBody>
          <a:bodyPr wrap="square">
            <a:spAutoFit/>
          </a:bodyPr>
          <a:lstStyle/>
          <a:p>
            <a:pPr algn="l">
              <a:defRPr sz="1100" b="0" i="1">
                <a:solidFill>
                  <a:srgbClr val="333333"/>
                </a:solidFill>
              </a:defRPr>
            </a:pPr>
            <a:r>
              <a:t>au sens des principes de Fielding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Démarche appliquée à chaque livraison, du cadrage à la supervision</a:t>
            </a:r>
          </a:p>
        </p:txBody>
      </p:sp>
      <p:sp>
        <p:nvSpPr>
          <p:cNvPr id="10" name="Rounded Rectangle 9"/>
          <p:cNvSpPr/>
          <p:nvPr/>
        </p:nvSpPr>
        <p:spPr>
          <a:xfrm>
            <a:off x="731520" y="1828800"/>
            <a:ext cx="1828800" cy="45720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CADRAGE</a:t>
            </a:r>
          </a:p>
        </p:txBody>
      </p:sp>
      <p:sp>
        <p:nvSpPr>
          <p:cNvPr id="11" name="Rectangle 10"/>
          <p:cNvSpPr/>
          <p:nvPr/>
        </p:nvSpPr>
        <p:spPr>
          <a:xfrm>
            <a:off x="2743200" y="1828800"/>
            <a:ext cx="7315200" cy="457200"/>
          </a:xfrm>
          <a:prstGeom prst="rect">
            <a:avLst/>
          </a:prstGeom>
          <a:solidFill>
            <a:srgbClr val="FFFFFF"/>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0" y="1828800"/>
            <a:ext cx="73152"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20240"/>
            <a:ext cx="7132320" cy="320040"/>
          </a:xfrm>
          <a:prstGeom prst="rect">
            <a:avLst/>
          </a:prstGeom>
          <a:noFill/>
        </p:spPr>
        <p:txBody>
          <a:bodyPr wrap="square">
            <a:spAutoFit/>
          </a:bodyPr>
          <a:lstStyle/>
          <a:p>
            <a:pPr algn="l">
              <a:defRPr sz="1100" b="0" i="0">
                <a:solidFill>
                  <a:srgbClr val="333333"/>
                </a:solidFill>
              </a:defRPr>
            </a:pPr>
            <a:r>
              <a:t>1. Cadrage du besoin (analyste fonctionnelle)</a:t>
            </a:r>
          </a:p>
        </p:txBody>
      </p:sp>
      <p:sp>
        <p:nvSpPr>
          <p:cNvPr id="14" name="Rounded Rectangle 13"/>
          <p:cNvSpPr/>
          <p:nvPr/>
        </p:nvSpPr>
        <p:spPr>
          <a:xfrm>
            <a:off x="731520" y="2286000"/>
            <a:ext cx="18288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DÉVELOPPEMENT</a:t>
            </a:r>
          </a:p>
        </p:txBody>
      </p:sp>
      <p:sp>
        <p:nvSpPr>
          <p:cNvPr id="15" name="Rectangle 14"/>
          <p:cNvSpPr/>
          <p:nvPr/>
        </p:nvSpPr>
        <p:spPr>
          <a:xfrm>
            <a:off x="2743200" y="2286000"/>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286000"/>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0" y="2377440"/>
            <a:ext cx="7132320" cy="320040"/>
          </a:xfrm>
          <a:prstGeom prst="rect">
            <a:avLst/>
          </a:prstGeom>
          <a:noFill/>
        </p:spPr>
        <p:txBody>
          <a:bodyPr wrap="square">
            <a:spAutoFit/>
          </a:bodyPr>
          <a:lstStyle/>
          <a:p>
            <a:pPr algn="l">
              <a:defRPr sz="1100" b="0" i="0">
                <a:solidFill>
                  <a:srgbClr val="333333"/>
                </a:solidFill>
              </a:defRPr>
            </a:pPr>
            <a:r>
              <a:t>2. Conception et développement (local)</a:t>
            </a:r>
          </a:p>
        </p:txBody>
      </p:sp>
      <p:sp>
        <p:nvSpPr>
          <p:cNvPr id="18" name="Rectangle 17"/>
          <p:cNvSpPr/>
          <p:nvPr/>
        </p:nvSpPr>
        <p:spPr>
          <a:xfrm>
            <a:off x="2743200" y="2670048"/>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2670048"/>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761488"/>
            <a:ext cx="7132320" cy="320040"/>
          </a:xfrm>
          <a:prstGeom prst="rect">
            <a:avLst/>
          </a:prstGeom>
          <a:noFill/>
        </p:spPr>
        <p:txBody>
          <a:bodyPr wrap="square">
            <a:spAutoFit/>
          </a:bodyPr>
          <a:lstStyle/>
          <a:p>
            <a:pPr algn="l">
              <a:defRPr sz="1100" b="0" i="0">
                <a:solidFill>
                  <a:srgbClr val="333333"/>
                </a:solidFill>
              </a:defRPr>
            </a:pPr>
            <a:r>
              <a:t>3. Déploiement sur ressources Azure DEV</a:t>
            </a:r>
          </a:p>
        </p:txBody>
      </p:sp>
      <p:sp>
        <p:nvSpPr>
          <p:cNvPr id="21" name="Rectangle 20"/>
          <p:cNvSpPr/>
          <p:nvPr/>
        </p:nvSpPr>
        <p:spPr>
          <a:xfrm>
            <a:off x="2743200" y="3054096"/>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0" y="3054096"/>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0" y="3145536"/>
            <a:ext cx="7132320" cy="320040"/>
          </a:xfrm>
          <a:prstGeom prst="rect">
            <a:avLst/>
          </a:prstGeom>
          <a:noFill/>
        </p:spPr>
        <p:txBody>
          <a:bodyPr wrap="square">
            <a:spAutoFit/>
          </a:bodyPr>
          <a:lstStyle/>
          <a:p>
            <a:pPr algn="l">
              <a:defRPr sz="1100" b="0" i="0">
                <a:solidFill>
                  <a:srgbClr val="333333"/>
                </a:solidFill>
              </a:defRPr>
            </a:pPr>
            <a:r>
              <a:t>4. Tests développeur en DEV</a:t>
            </a:r>
          </a:p>
        </p:txBody>
      </p:sp>
      <p:sp>
        <p:nvSpPr>
          <p:cNvPr id="24" name="Rounded Rectangle 23"/>
          <p:cNvSpPr/>
          <p:nvPr/>
        </p:nvSpPr>
        <p:spPr>
          <a:xfrm>
            <a:off x="731520" y="3511296"/>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RECETTE</a:t>
            </a:r>
          </a:p>
        </p:txBody>
      </p:sp>
      <p:sp>
        <p:nvSpPr>
          <p:cNvPr id="25" name="Rectangle 24"/>
          <p:cNvSpPr/>
          <p:nvPr/>
        </p:nvSpPr>
        <p:spPr>
          <a:xfrm>
            <a:off x="2743200" y="3511296"/>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0" y="3511296"/>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602736"/>
            <a:ext cx="7132320" cy="320040"/>
          </a:xfrm>
          <a:prstGeom prst="rect">
            <a:avLst/>
          </a:prstGeom>
          <a:noFill/>
        </p:spPr>
        <p:txBody>
          <a:bodyPr wrap="square">
            <a:spAutoFit/>
          </a:bodyPr>
          <a:lstStyle/>
          <a:p>
            <a:pPr algn="l">
              <a:defRPr sz="1100" b="0" i="0">
                <a:solidFill>
                  <a:srgbClr val="333333"/>
                </a:solidFill>
              </a:defRPr>
            </a:pPr>
            <a:r>
              <a:t>5. Mise en recette (UAT)</a:t>
            </a:r>
          </a:p>
        </p:txBody>
      </p:sp>
      <p:sp>
        <p:nvSpPr>
          <p:cNvPr id="28" name="Rectangle 27"/>
          <p:cNvSpPr/>
          <p:nvPr/>
        </p:nvSpPr>
        <p:spPr>
          <a:xfrm>
            <a:off x="2743200" y="3895344"/>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0" y="3895344"/>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0" y="3986784"/>
            <a:ext cx="7132320" cy="320040"/>
          </a:xfrm>
          <a:prstGeom prst="rect">
            <a:avLst/>
          </a:prstGeom>
          <a:noFill/>
        </p:spPr>
        <p:txBody>
          <a:bodyPr wrap="square">
            <a:spAutoFit/>
          </a:bodyPr>
          <a:lstStyle/>
          <a:p>
            <a:pPr algn="l">
              <a:defRPr sz="1100" b="0" i="0">
                <a:solidFill>
                  <a:srgbClr val="333333"/>
                </a:solidFill>
              </a:defRPr>
            </a:pPr>
            <a:r>
              <a:t>6. Tests AF - cahier d'anomalies</a:t>
            </a:r>
          </a:p>
        </p:txBody>
      </p:sp>
      <p:sp>
        <p:nvSpPr>
          <p:cNvPr id="31" name="Rectangle 30"/>
          <p:cNvSpPr/>
          <p:nvPr/>
        </p:nvSpPr>
        <p:spPr>
          <a:xfrm>
            <a:off x="2743200" y="4279392"/>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0" y="4279392"/>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0" y="4370832"/>
            <a:ext cx="7132320" cy="320040"/>
          </a:xfrm>
          <a:prstGeom prst="rect">
            <a:avLst/>
          </a:prstGeom>
          <a:noFill/>
        </p:spPr>
        <p:txBody>
          <a:bodyPr wrap="square">
            <a:spAutoFit/>
          </a:bodyPr>
          <a:lstStyle/>
          <a:p>
            <a:pPr algn="l">
              <a:defRPr sz="1100" b="0" i="0">
                <a:solidFill>
                  <a:srgbClr val="333333"/>
                </a:solidFill>
              </a:defRPr>
            </a:pPr>
            <a:r>
              <a:t>7. Correction des retours</a:t>
            </a:r>
          </a:p>
        </p:txBody>
      </p:sp>
      <p:sp>
        <p:nvSpPr>
          <p:cNvPr id="34" name="Rectangle 33"/>
          <p:cNvSpPr/>
          <p:nvPr/>
        </p:nvSpPr>
        <p:spPr>
          <a:xfrm>
            <a:off x="2743200" y="4663440"/>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0" y="4663440"/>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26080" y="4754880"/>
            <a:ext cx="7132320" cy="320040"/>
          </a:xfrm>
          <a:prstGeom prst="rect">
            <a:avLst/>
          </a:prstGeom>
          <a:noFill/>
        </p:spPr>
        <p:txBody>
          <a:bodyPr wrap="square">
            <a:spAutoFit/>
          </a:bodyPr>
          <a:lstStyle/>
          <a:p>
            <a:pPr algn="l">
              <a:defRPr sz="1100" b="0" i="0">
                <a:solidFill>
                  <a:srgbClr val="333333"/>
                </a:solidFill>
              </a:defRPr>
            </a:pPr>
            <a:r>
              <a:t>8. Tests finaux par l'analyste fonctionnelle</a:t>
            </a:r>
          </a:p>
        </p:txBody>
      </p:sp>
      <p:sp>
        <p:nvSpPr>
          <p:cNvPr id="37" name="Rounded Rectangle 36"/>
          <p:cNvSpPr/>
          <p:nvPr/>
        </p:nvSpPr>
        <p:spPr>
          <a:xfrm>
            <a:off x="731520" y="5120640"/>
            <a:ext cx="1828800" cy="45720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PRODUCTION</a:t>
            </a:r>
          </a:p>
        </p:txBody>
      </p:sp>
      <p:sp>
        <p:nvSpPr>
          <p:cNvPr id="38" name="Rectangle 37"/>
          <p:cNvSpPr/>
          <p:nvPr/>
        </p:nvSpPr>
        <p:spPr>
          <a:xfrm>
            <a:off x="2743200" y="5120640"/>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0" y="5120640"/>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5212080"/>
            <a:ext cx="7132320" cy="320040"/>
          </a:xfrm>
          <a:prstGeom prst="rect">
            <a:avLst/>
          </a:prstGeom>
          <a:noFill/>
        </p:spPr>
        <p:txBody>
          <a:bodyPr wrap="square">
            <a:spAutoFit/>
          </a:bodyPr>
          <a:lstStyle/>
          <a:p>
            <a:pPr algn="l">
              <a:defRPr sz="1100" b="0" i="0">
                <a:solidFill>
                  <a:srgbClr val="333333"/>
                </a:solidFill>
              </a:defRPr>
            </a:pPr>
            <a:r>
              <a:t>9. Mise en production</a:t>
            </a:r>
          </a:p>
        </p:txBody>
      </p:sp>
      <p:sp>
        <p:nvSpPr>
          <p:cNvPr id="41" name="Rectangle 40"/>
          <p:cNvSpPr/>
          <p:nvPr/>
        </p:nvSpPr>
        <p:spPr>
          <a:xfrm>
            <a:off x="2743200" y="5504688"/>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0" y="5504688"/>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5596128"/>
            <a:ext cx="7132320" cy="320040"/>
          </a:xfrm>
          <a:prstGeom prst="rect">
            <a:avLst/>
          </a:prstGeom>
          <a:noFill/>
        </p:spPr>
        <p:txBody>
          <a:bodyPr wrap="square">
            <a:spAutoFit/>
          </a:bodyPr>
          <a:lstStyle/>
          <a:p>
            <a:pPr algn="l">
              <a:defRPr sz="1100" b="0" i="0">
                <a:solidFill>
                  <a:srgbClr val="333333"/>
                </a:solidFill>
              </a:defRPr>
            </a:pPr>
            <a:r>
              <a:t>10. Supervision (monitoring)</a:t>
            </a:r>
          </a:p>
        </p:txBody>
      </p:sp>
      <p:sp>
        <p:nvSpPr>
          <p:cNvPr id="44" name="TextBox 43"/>
          <p:cNvSpPr txBox="1"/>
          <p:nvPr/>
        </p:nvSpPr>
        <p:spPr>
          <a:xfrm>
            <a:off x="9793459" y="4261104"/>
            <a:ext cx="1737360" cy="457200"/>
          </a:xfrm>
          <a:prstGeom prst="rect">
            <a:avLst/>
          </a:prstGeom>
          <a:noFill/>
        </p:spPr>
        <p:txBody>
          <a:bodyPr wrap="square">
            <a:spAutoFit/>
          </a:bodyPr>
          <a:lstStyle/>
          <a:p>
            <a:pPr algn="ctr">
              <a:defRPr sz="900" b="1" i="1">
                <a:solidFill>
                  <a:srgbClr val="E2001A"/>
                </a:solidFill>
              </a:defRPr>
            </a:pPr>
            <a:r>
              <a:rPr dirty="0"/>
              <a:t>Boucle </a:t>
            </a:r>
            <a:r>
              <a:rPr dirty="0" err="1"/>
              <a:t>si</a:t>
            </a:r>
            <a:endParaRPr dirty="0"/>
          </a:p>
          <a:p>
            <a:pPr algn="ctr">
              <a:defRPr sz="900" b="1" i="1">
                <a:solidFill>
                  <a:srgbClr val="E2001A"/>
                </a:solidFill>
              </a:defRPr>
            </a:pPr>
            <a:r>
              <a:rPr dirty="0"/>
              <a:t>anomalies</a:t>
            </a:r>
          </a:p>
          <a:p>
            <a:pPr algn="ctr">
              <a:defRPr sz="900" b="1" i="1">
                <a:solidFill>
                  <a:srgbClr val="E2001A"/>
                </a:solidFill>
              </a:defRPr>
            </a:pPr>
            <a:r>
              <a:rPr dirty="0" err="1"/>
              <a:t>restantes</a:t>
            </a:r>
            <a:endParaRPr dirty="0"/>
          </a:p>
        </p:txBody>
      </p:sp>
      <p:cxnSp>
        <p:nvCxnSpPr>
          <p:cNvPr id="46" name="Connecteur : en angle 45">
            <a:extLst>
              <a:ext uri="{FF2B5EF4-FFF2-40B4-BE49-F238E27FC236}">
                <a16:creationId xmlns:a16="http://schemas.microsoft.com/office/drawing/2014/main" id="{642F23F9-0FD2-4672-A703-FEDEC70CE463}"/>
              </a:ext>
            </a:extLst>
          </p:cNvPr>
          <p:cNvCxnSpPr>
            <a:cxnSpLocks/>
            <a:endCxn id="36" idx="3"/>
          </p:cNvCxnSpPr>
          <p:nvPr/>
        </p:nvCxnSpPr>
        <p:spPr>
          <a:xfrm rot="16200000" flipH="1">
            <a:off x="9654686" y="4511186"/>
            <a:ext cx="788670" cy="18758"/>
          </a:xfrm>
          <a:prstGeom prst="bentConnector4">
            <a:avLst>
              <a:gd name="adj1" fmla="val -576"/>
              <a:gd name="adj2" fmla="val 1318680"/>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lang="fr-CH" dirty="0"/>
              <a:t>Environnements Azure : </a:t>
            </a:r>
            <a:endParaRPr dirty="0"/>
          </a:p>
        </p:txBody>
      </p:sp>
      <p:pic>
        <p:nvPicPr>
          <p:cNvPr id="47" name="Image 46">
            <a:extLst>
              <a:ext uri="{FF2B5EF4-FFF2-40B4-BE49-F238E27FC236}">
                <a16:creationId xmlns:a16="http://schemas.microsoft.com/office/drawing/2014/main" id="{BFA28BE1-AF6D-4905-ADFE-ADA659D649FE}"/>
              </a:ext>
            </a:extLst>
          </p:cNvPr>
          <p:cNvPicPr>
            <a:picLocks noChangeAspect="1"/>
          </p:cNvPicPr>
          <p:nvPr/>
        </p:nvPicPr>
        <p:blipFill>
          <a:blip r:embed="rId2"/>
          <a:stretch>
            <a:fillRect/>
          </a:stretch>
        </p:blipFill>
        <p:spPr>
          <a:xfrm>
            <a:off x="1143063" y="2114119"/>
            <a:ext cx="9801297" cy="394337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07894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1 - </a:t>
            </a:r>
            <a:r>
              <a:rPr dirty="0" err="1"/>
              <a:t>Modernisation</a:t>
            </a:r>
            <a:r>
              <a:rPr dirty="0"/>
              <a:t> du socle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22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err="1"/>
              <a:t>montées</a:t>
            </a:r>
            <a:r>
              <a:rPr dirty="0"/>
              <a:t> de version </a:t>
            </a:r>
            <a:r>
              <a:rPr dirty="0" err="1"/>
              <a:t>incrémentales</a:t>
            </a:r>
            <a:endParaRPr dirty="0"/>
          </a:p>
        </p:txBody>
      </p:sp>
      <p:sp>
        <p:nvSpPr>
          <p:cNvPr id="10" name="Rectangle 9"/>
          <p:cNvSpPr/>
          <p:nvPr/>
        </p:nvSpPr>
        <p:spPr>
          <a:xfrm>
            <a:off x="731520" y="1828800"/>
            <a:ext cx="1069848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74519"/>
            <a:ext cx="2103120" cy="365760"/>
          </a:xfrm>
          <a:prstGeom prst="rect">
            <a:avLst/>
          </a:prstGeom>
          <a:noFill/>
        </p:spPr>
        <p:txBody>
          <a:bodyPr wrap="square">
            <a:spAutoFit/>
          </a:bodyPr>
          <a:lstStyle/>
          <a:p>
            <a:pPr algn="l">
              <a:defRPr sz="1200" b="1" i="0">
                <a:solidFill>
                  <a:srgbClr val="FFFFFF"/>
                </a:solidFill>
              </a:defRPr>
            </a:pPr>
            <a:r>
              <a:t>Composant</a:t>
            </a:r>
          </a:p>
        </p:txBody>
      </p:sp>
      <p:sp>
        <p:nvSpPr>
          <p:cNvPr id="12" name="TextBox 11"/>
          <p:cNvSpPr txBox="1"/>
          <p:nvPr/>
        </p:nvSpPr>
        <p:spPr>
          <a:xfrm>
            <a:off x="3474720" y="1874519"/>
            <a:ext cx="2103120" cy="365760"/>
          </a:xfrm>
          <a:prstGeom prst="rect">
            <a:avLst/>
          </a:prstGeom>
          <a:noFill/>
        </p:spPr>
        <p:txBody>
          <a:bodyPr wrap="square">
            <a:spAutoFit/>
          </a:bodyPr>
          <a:lstStyle/>
          <a:p>
            <a:pPr algn="l">
              <a:defRPr sz="1200" b="1" i="0">
                <a:solidFill>
                  <a:srgbClr val="FFFFFF"/>
                </a:solidFill>
              </a:defRPr>
            </a:pPr>
            <a:r>
              <a:t>Avant</a:t>
            </a:r>
          </a:p>
        </p:txBody>
      </p:sp>
      <p:sp>
        <p:nvSpPr>
          <p:cNvPr id="13" name="TextBox 12"/>
          <p:cNvSpPr txBox="1"/>
          <p:nvPr/>
        </p:nvSpPr>
        <p:spPr>
          <a:xfrm>
            <a:off x="6035040" y="1874519"/>
            <a:ext cx="2103120" cy="365760"/>
          </a:xfrm>
          <a:prstGeom prst="rect">
            <a:avLst/>
          </a:prstGeom>
          <a:noFill/>
        </p:spPr>
        <p:txBody>
          <a:bodyPr wrap="square">
            <a:spAutoFit/>
          </a:bodyPr>
          <a:lstStyle/>
          <a:p>
            <a:pPr algn="l">
              <a:defRPr sz="1200" b="1" i="0">
                <a:solidFill>
                  <a:srgbClr val="FFFFFF"/>
                </a:solidFill>
              </a:defRPr>
            </a:pPr>
            <a:r>
              <a:t>Après</a:t>
            </a:r>
          </a:p>
        </p:txBody>
      </p:sp>
      <p:sp>
        <p:nvSpPr>
          <p:cNvPr id="14" name="TextBox 13"/>
          <p:cNvSpPr txBox="1"/>
          <p:nvPr/>
        </p:nvSpPr>
        <p:spPr>
          <a:xfrm>
            <a:off x="8595360" y="1874519"/>
            <a:ext cx="2743200" cy="365760"/>
          </a:xfrm>
          <a:prstGeom prst="rect">
            <a:avLst/>
          </a:prstGeom>
          <a:noFill/>
        </p:spPr>
        <p:txBody>
          <a:bodyPr wrap="square">
            <a:spAutoFit/>
          </a:bodyPr>
          <a:lstStyle/>
          <a:p>
            <a:pPr algn="l">
              <a:defRPr sz="1200" b="1" i="0">
                <a:solidFill>
                  <a:srgbClr val="FFFFFF"/>
                </a:solidFill>
              </a:defRPr>
            </a:pPr>
            <a:r>
              <a:t>Enjeu principal</a:t>
            </a:r>
          </a:p>
        </p:txBody>
      </p:sp>
      <p:sp>
        <p:nvSpPr>
          <p:cNvPr id="15" name="Rectangle 14"/>
          <p:cNvSpPr/>
          <p:nvPr/>
        </p:nvSpPr>
        <p:spPr>
          <a:xfrm>
            <a:off x="731520" y="228600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377440"/>
            <a:ext cx="2560320" cy="365760"/>
          </a:xfrm>
          <a:prstGeom prst="rect">
            <a:avLst/>
          </a:prstGeom>
          <a:noFill/>
        </p:spPr>
        <p:txBody>
          <a:bodyPr wrap="square">
            <a:spAutoFit/>
          </a:bodyPr>
          <a:lstStyle/>
          <a:p>
            <a:pPr algn="l">
              <a:defRPr sz="1100" b="1" i="0">
                <a:solidFill>
                  <a:srgbClr val="003366"/>
                </a:solidFill>
              </a:defRPr>
            </a:pPr>
            <a:r>
              <a:t>Front-end</a:t>
            </a:r>
          </a:p>
        </p:txBody>
      </p:sp>
      <p:sp>
        <p:nvSpPr>
          <p:cNvPr id="17" name="TextBox 16"/>
          <p:cNvSpPr txBox="1"/>
          <p:nvPr/>
        </p:nvSpPr>
        <p:spPr>
          <a:xfrm>
            <a:off x="3474720" y="2377440"/>
            <a:ext cx="2560320" cy="365760"/>
          </a:xfrm>
          <a:prstGeom prst="rect">
            <a:avLst/>
          </a:prstGeom>
          <a:noFill/>
        </p:spPr>
        <p:txBody>
          <a:bodyPr wrap="square">
            <a:spAutoFit/>
          </a:bodyPr>
          <a:lstStyle/>
          <a:p>
            <a:pPr algn="l">
              <a:defRPr sz="1100" b="0" i="0">
                <a:solidFill>
                  <a:srgbClr val="666666"/>
                </a:solidFill>
              </a:defRPr>
            </a:pPr>
            <a:r>
              <a:t>Angular 14.2</a:t>
            </a:r>
          </a:p>
        </p:txBody>
      </p:sp>
      <p:sp>
        <p:nvSpPr>
          <p:cNvPr id="18" name="TextBox 17"/>
          <p:cNvSpPr txBox="1"/>
          <p:nvPr/>
        </p:nvSpPr>
        <p:spPr>
          <a:xfrm>
            <a:off x="6035040" y="2377440"/>
            <a:ext cx="2560320" cy="365760"/>
          </a:xfrm>
          <a:prstGeom prst="rect">
            <a:avLst/>
          </a:prstGeom>
          <a:noFill/>
        </p:spPr>
        <p:txBody>
          <a:bodyPr wrap="square">
            <a:spAutoFit/>
          </a:bodyPr>
          <a:lstStyle/>
          <a:p>
            <a:pPr algn="l">
              <a:defRPr sz="1100" b="1" i="0">
                <a:solidFill>
                  <a:srgbClr val="2E8B3D"/>
                </a:solidFill>
              </a:defRPr>
            </a:pPr>
            <a:r>
              <a:t>Angular 20.0</a:t>
            </a:r>
          </a:p>
        </p:txBody>
      </p:sp>
      <p:sp>
        <p:nvSpPr>
          <p:cNvPr id="19" name="TextBox 18"/>
          <p:cNvSpPr txBox="1"/>
          <p:nvPr/>
        </p:nvSpPr>
        <p:spPr>
          <a:xfrm>
            <a:off x="8595360" y="2377440"/>
            <a:ext cx="2743200" cy="365760"/>
          </a:xfrm>
          <a:prstGeom prst="rect">
            <a:avLst/>
          </a:prstGeom>
          <a:noFill/>
        </p:spPr>
        <p:txBody>
          <a:bodyPr wrap="square">
            <a:spAutoFit/>
          </a:bodyPr>
          <a:lstStyle/>
          <a:p>
            <a:pPr algn="l">
              <a:defRPr sz="1000" b="0" i="0">
                <a:solidFill>
                  <a:srgbClr val="333333"/>
                </a:solidFill>
              </a:defRPr>
            </a:pPr>
            <a:r>
              <a:t>Support actif, correctifs de sécurité</a:t>
            </a:r>
          </a:p>
        </p:txBody>
      </p:sp>
      <p:sp>
        <p:nvSpPr>
          <p:cNvPr id="20" name="Rectangle 19"/>
          <p:cNvSpPr/>
          <p:nvPr/>
        </p:nvSpPr>
        <p:spPr>
          <a:xfrm>
            <a:off x="731520" y="278892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880360"/>
            <a:ext cx="2560320" cy="365760"/>
          </a:xfrm>
          <a:prstGeom prst="rect">
            <a:avLst/>
          </a:prstGeom>
          <a:noFill/>
        </p:spPr>
        <p:txBody>
          <a:bodyPr wrap="square">
            <a:spAutoFit/>
          </a:bodyPr>
          <a:lstStyle/>
          <a:p>
            <a:pPr algn="l">
              <a:defRPr sz="1100" b="1" i="0">
                <a:solidFill>
                  <a:srgbClr val="003366"/>
                </a:solidFill>
              </a:defRPr>
            </a:pPr>
            <a:r>
              <a:t>Back-end</a:t>
            </a:r>
          </a:p>
        </p:txBody>
      </p:sp>
      <p:sp>
        <p:nvSpPr>
          <p:cNvPr id="22" name="TextBox 21"/>
          <p:cNvSpPr txBox="1"/>
          <p:nvPr/>
        </p:nvSpPr>
        <p:spPr>
          <a:xfrm>
            <a:off x="3474720" y="2880360"/>
            <a:ext cx="2560320" cy="365760"/>
          </a:xfrm>
          <a:prstGeom prst="rect">
            <a:avLst/>
          </a:prstGeom>
          <a:noFill/>
        </p:spPr>
        <p:txBody>
          <a:bodyPr wrap="square">
            <a:spAutoFit/>
          </a:bodyPr>
          <a:lstStyle/>
          <a:p>
            <a:pPr algn="l">
              <a:defRPr sz="1100" b="0" i="0">
                <a:solidFill>
                  <a:srgbClr val="666666"/>
                </a:solidFill>
              </a:defRPr>
            </a:pPr>
            <a:r>
              <a:t>.NET 6.0</a:t>
            </a:r>
          </a:p>
        </p:txBody>
      </p:sp>
      <p:sp>
        <p:nvSpPr>
          <p:cNvPr id="23" name="TextBox 22"/>
          <p:cNvSpPr txBox="1"/>
          <p:nvPr/>
        </p:nvSpPr>
        <p:spPr>
          <a:xfrm>
            <a:off x="6035040" y="2880360"/>
            <a:ext cx="2560320" cy="365760"/>
          </a:xfrm>
          <a:prstGeom prst="rect">
            <a:avLst/>
          </a:prstGeom>
          <a:noFill/>
        </p:spPr>
        <p:txBody>
          <a:bodyPr wrap="square">
            <a:spAutoFit/>
          </a:bodyPr>
          <a:lstStyle/>
          <a:p>
            <a:pPr algn="l">
              <a:defRPr sz="1100" b="1" i="0">
                <a:solidFill>
                  <a:srgbClr val="2E8B3D"/>
                </a:solidFill>
              </a:defRPr>
            </a:pPr>
            <a:r>
              <a:t>.NET 10.0</a:t>
            </a:r>
          </a:p>
        </p:txBody>
      </p:sp>
      <p:sp>
        <p:nvSpPr>
          <p:cNvPr id="24" name="TextBox 23"/>
          <p:cNvSpPr txBox="1"/>
          <p:nvPr/>
        </p:nvSpPr>
        <p:spPr>
          <a:xfrm>
            <a:off x="8595360" y="2880360"/>
            <a:ext cx="2743200" cy="365760"/>
          </a:xfrm>
          <a:prstGeom prst="rect">
            <a:avLst/>
          </a:prstGeom>
          <a:noFill/>
        </p:spPr>
        <p:txBody>
          <a:bodyPr wrap="square">
            <a:spAutoFit/>
          </a:bodyPr>
          <a:lstStyle/>
          <a:p>
            <a:pPr algn="l">
              <a:defRPr sz="1000" b="0" i="0">
                <a:solidFill>
                  <a:srgbClr val="333333"/>
                </a:solidFill>
              </a:defRPr>
            </a:pPr>
            <a:r>
              <a:t>Support actif, performances</a:t>
            </a:r>
          </a:p>
        </p:txBody>
      </p:sp>
      <p:sp>
        <p:nvSpPr>
          <p:cNvPr id="25" name="Rectangle 24"/>
          <p:cNvSpPr/>
          <p:nvPr/>
        </p:nvSpPr>
        <p:spPr>
          <a:xfrm>
            <a:off x="731520" y="329184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83280"/>
            <a:ext cx="2560320" cy="365760"/>
          </a:xfrm>
          <a:prstGeom prst="rect">
            <a:avLst/>
          </a:prstGeom>
          <a:noFill/>
        </p:spPr>
        <p:txBody>
          <a:bodyPr wrap="square">
            <a:spAutoFit/>
          </a:bodyPr>
          <a:lstStyle/>
          <a:p>
            <a:pPr algn="l">
              <a:defRPr sz="1100" b="1" i="0">
                <a:solidFill>
                  <a:srgbClr val="003366"/>
                </a:solidFill>
              </a:defRPr>
            </a:pPr>
            <a:r>
              <a:t>Accès données</a:t>
            </a:r>
          </a:p>
        </p:txBody>
      </p:sp>
      <p:sp>
        <p:nvSpPr>
          <p:cNvPr id="27" name="TextBox 26"/>
          <p:cNvSpPr txBox="1"/>
          <p:nvPr/>
        </p:nvSpPr>
        <p:spPr>
          <a:xfrm>
            <a:off x="3474720" y="3383280"/>
            <a:ext cx="2560320" cy="365760"/>
          </a:xfrm>
          <a:prstGeom prst="rect">
            <a:avLst/>
          </a:prstGeom>
          <a:noFill/>
        </p:spPr>
        <p:txBody>
          <a:bodyPr wrap="square">
            <a:spAutoFit/>
          </a:bodyPr>
          <a:lstStyle/>
          <a:p>
            <a:pPr algn="l">
              <a:defRPr sz="1100" b="0" i="0">
                <a:solidFill>
                  <a:srgbClr val="666666"/>
                </a:solidFill>
              </a:defRPr>
            </a:pPr>
            <a:r>
              <a:t>EF Core 6.0.35</a:t>
            </a:r>
          </a:p>
        </p:txBody>
      </p:sp>
      <p:sp>
        <p:nvSpPr>
          <p:cNvPr id="28" name="TextBox 27"/>
          <p:cNvSpPr txBox="1"/>
          <p:nvPr/>
        </p:nvSpPr>
        <p:spPr>
          <a:xfrm>
            <a:off x="6035040" y="3383280"/>
            <a:ext cx="2560320" cy="365760"/>
          </a:xfrm>
          <a:prstGeom prst="rect">
            <a:avLst/>
          </a:prstGeom>
          <a:noFill/>
        </p:spPr>
        <p:txBody>
          <a:bodyPr wrap="square">
            <a:spAutoFit/>
          </a:bodyPr>
          <a:lstStyle/>
          <a:p>
            <a:pPr algn="l">
              <a:defRPr sz="1100" b="1" i="0">
                <a:solidFill>
                  <a:srgbClr val="2E8B3D"/>
                </a:solidFill>
              </a:defRPr>
            </a:pPr>
            <a:r>
              <a:t>EF Core 10.0.5</a:t>
            </a:r>
          </a:p>
        </p:txBody>
      </p:sp>
      <p:sp>
        <p:nvSpPr>
          <p:cNvPr id="29" name="TextBox 28"/>
          <p:cNvSpPr txBox="1"/>
          <p:nvPr/>
        </p:nvSpPr>
        <p:spPr>
          <a:xfrm>
            <a:off x="8595360" y="3383280"/>
            <a:ext cx="2743200" cy="365760"/>
          </a:xfrm>
          <a:prstGeom prst="rect">
            <a:avLst/>
          </a:prstGeom>
          <a:noFill/>
        </p:spPr>
        <p:txBody>
          <a:bodyPr wrap="square">
            <a:spAutoFit/>
          </a:bodyPr>
          <a:lstStyle/>
          <a:p>
            <a:pPr algn="l">
              <a:defRPr sz="1000" b="0" i="0">
                <a:solidFill>
                  <a:srgbClr val="333333"/>
                </a:solidFill>
              </a:defRPr>
            </a:pPr>
            <a:r>
              <a:t>Cohérence avec .NET 10, requêtes fractionnées</a:t>
            </a:r>
          </a:p>
        </p:txBody>
      </p:sp>
      <p:sp>
        <p:nvSpPr>
          <p:cNvPr id="30" name="Rectangle 29"/>
          <p:cNvSpPr/>
          <p:nvPr/>
        </p:nvSpPr>
        <p:spPr>
          <a:xfrm>
            <a:off x="731520" y="379476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886200"/>
            <a:ext cx="2560320" cy="365760"/>
          </a:xfrm>
          <a:prstGeom prst="rect">
            <a:avLst/>
          </a:prstGeom>
          <a:noFill/>
        </p:spPr>
        <p:txBody>
          <a:bodyPr wrap="square">
            <a:spAutoFit/>
          </a:bodyPr>
          <a:lstStyle/>
          <a:p>
            <a:pPr algn="l">
              <a:defRPr sz="1100" b="1" i="0">
                <a:solidFill>
                  <a:srgbClr val="003366"/>
                </a:solidFill>
              </a:defRPr>
            </a:pPr>
            <a:r>
              <a:t>Format projet</a:t>
            </a:r>
          </a:p>
        </p:txBody>
      </p:sp>
      <p:sp>
        <p:nvSpPr>
          <p:cNvPr id="32" name="TextBox 31"/>
          <p:cNvSpPr txBox="1"/>
          <p:nvPr/>
        </p:nvSpPr>
        <p:spPr>
          <a:xfrm>
            <a:off x="3474720" y="3886200"/>
            <a:ext cx="2560320" cy="365760"/>
          </a:xfrm>
          <a:prstGeom prst="rect">
            <a:avLst/>
          </a:prstGeom>
          <a:noFill/>
        </p:spPr>
        <p:txBody>
          <a:bodyPr wrap="square">
            <a:spAutoFit/>
          </a:bodyPr>
          <a:lstStyle/>
          <a:p>
            <a:pPr algn="l">
              <a:defRPr sz="1100" b="0" i="0">
                <a:solidFill>
                  <a:srgbClr val="666666"/>
                </a:solidFill>
              </a:defRPr>
            </a:pPr>
            <a:r>
              <a:t>packages.config</a:t>
            </a:r>
          </a:p>
        </p:txBody>
      </p:sp>
      <p:sp>
        <p:nvSpPr>
          <p:cNvPr id="33" name="TextBox 32"/>
          <p:cNvSpPr txBox="1"/>
          <p:nvPr/>
        </p:nvSpPr>
        <p:spPr>
          <a:xfrm>
            <a:off x="6035040" y="3886200"/>
            <a:ext cx="2560320" cy="365760"/>
          </a:xfrm>
          <a:prstGeom prst="rect">
            <a:avLst/>
          </a:prstGeom>
          <a:noFill/>
        </p:spPr>
        <p:txBody>
          <a:bodyPr wrap="square">
            <a:spAutoFit/>
          </a:bodyPr>
          <a:lstStyle/>
          <a:p>
            <a:pPr algn="l">
              <a:defRPr sz="1100" b="1" i="0">
                <a:solidFill>
                  <a:srgbClr val="2E8B3D"/>
                </a:solidFill>
              </a:defRPr>
            </a:pPr>
            <a:r>
              <a:t>SDK-style</a:t>
            </a:r>
          </a:p>
        </p:txBody>
      </p:sp>
      <p:sp>
        <p:nvSpPr>
          <p:cNvPr id="34" name="TextBox 33"/>
          <p:cNvSpPr txBox="1"/>
          <p:nvPr/>
        </p:nvSpPr>
        <p:spPr>
          <a:xfrm>
            <a:off x="8595360" y="3886200"/>
            <a:ext cx="2743200" cy="365760"/>
          </a:xfrm>
          <a:prstGeom prst="rect">
            <a:avLst/>
          </a:prstGeom>
          <a:noFill/>
        </p:spPr>
        <p:txBody>
          <a:bodyPr wrap="square">
            <a:spAutoFit/>
          </a:bodyPr>
          <a:lstStyle/>
          <a:p>
            <a:pPr algn="l">
              <a:defRPr sz="1000" b="0" i="0">
                <a:solidFill>
                  <a:srgbClr val="333333"/>
                </a:solidFill>
              </a:defRPr>
            </a:pPr>
            <a:r>
              <a:t>Gestion transitive des dépendances</a:t>
            </a:r>
          </a:p>
        </p:txBody>
      </p:sp>
      <p:sp>
        <p:nvSpPr>
          <p:cNvPr id="35" name="TextBox 34"/>
          <p:cNvSpPr txBox="1"/>
          <p:nvPr/>
        </p:nvSpPr>
        <p:spPr>
          <a:xfrm>
            <a:off x="731520" y="4754880"/>
            <a:ext cx="10698480" cy="365760"/>
          </a:xfrm>
          <a:prstGeom prst="rect">
            <a:avLst/>
          </a:prstGeom>
          <a:noFill/>
        </p:spPr>
        <p:txBody>
          <a:bodyPr wrap="square">
            <a:spAutoFit/>
          </a:bodyPr>
          <a:lstStyle/>
          <a:p>
            <a:pPr algn="l">
              <a:defRPr sz="1500" b="1" i="0">
                <a:solidFill>
                  <a:srgbClr val="003366"/>
                </a:solidFill>
              </a:defRPr>
            </a:pPr>
            <a:r>
              <a:t>Points clés de la migration</a:t>
            </a:r>
          </a:p>
        </p:txBody>
      </p:sp>
      <p:sp>
        <p:nvSpPr>
          <p:cNvPr id="36" name="Oval 35"/>
          <p:cNvSpPr/>
          <p:nvPr/>
        </p:nvSpPr>
        <p:spPr>
          <a:xfrm>
            <a:off x="822960" y="530352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212080"/>
            <a:ext cx="3657600" cy="320040"/>
          </a:xfrm>
          <a:prstGeom prst="rect">
            <a:avLst/>
          </a:prstGeom>
          <a:noFill/>
        </p:spPr>
        <p:txBody>
          <a:bodyPr wrap="square">
            <a:spAutoFit/>
          </a:bodyPr>
          <a:lstStyle/>
          <a:p>
            <a:pPr algn="l">
              <a:defRPr sz="1100" b="1" i="0">
                <a:solidFill>
                  <a:srgbClr val="003366"/>
                </a:solidFill>
              </a:defRPr>
            </a:pPr>
            <a:r>
              <a:t>Migration palier par palier</a:t>
            </a:r>
          </a:p>
        </p:txBody>
      </p:sp>
      <p:sp>
        <p:nvSpPr>
          <p:cNvPr id="38" name="TextBox 37"/>
          <p:cNvSpPr txBox="1"/>
          <p:nvPr/>
        </p:nvSpPr>
        <p:spPr>
          <a:xfrm>
            <a:off x="4846320" y="5212080"/>
            <a:ext cx="6858000" cy="320040"/>
          </a:xfrm>
          <a:prstGeom prst="rect">
            <a:avLst/>
          </a:prstGeom>
          <a:noFill/>
        </p:spPr>
        <p:txBody>
          <a:bodyPr wrap="square">
            <a:spAutoFit/>
          </a:bodyPr>
          <a:lstStyle/>
          <a:p>
            <a:pPr algn="l">
              <a:defRPr sz="1100" b="0" i="0">
                <a:solidFill>
                  <a:srgbClr val="666666"/>
                </a:solidFill>
              </a:defRPr>
            </a:pPr>
            <a:r>
              <a:t>14 → 15 → … → 20 pour Angular ; 6 → 8 → 10 pour .NET</a:t>
            </a:r>
          </a:p>
        </p:txBody>
      </p:sp>
      <p:sp>
        <p:nvSpPr>
          <p:cNvPr id="39" name="Oval 38"/>
          <p:cNvSpPr/>
          <p:nvPr/>
        </p:nvSpPr>
        <p:spPr>
          <a:xfrm>
            <a:off x="822960" y="566928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577840"/>
            <a:ext cx="3657600" cy="320040"/>
          </a:xfrm>
          <a:prstGeom prst="rect">
            <a:avLst/>
          </a:prstGeom>
          <a:noFill/>
        </p:spPr>
        <p:txBody>
          <a:bodyPr wrap="square">
            <a:spAutoFit/>
          </a:bodyPr>
          <a:lstStyle/>
          <a:p>
            <a:pPr algn="l">
              <a:defRPr sz="1100" b="1" i="0">
                <a:solidFill>
                  <a:srgbClr val="003366"/>
                </a:solidFill>
              </a:defRPr>
            </a:pPr>
            <a:r>
              <a:t>Versions finales uniquement</a:t>
            </a:r>
          </a:p>
        </p:txBody>
      </p:sp>
      <p:sp>
        <p:nvSpPr>
          <p:cNvPr id="41" name="TextBox 40"/>
          <p:cNvSpPr txBox="1"/>
          <p:nvPr/>
        </p:nvSpPr>
        <p:spPr>
          <a:xfrm>
            <a:off x="4846320" y="5577840"/>
            <a:ext cx="6858000" cy="320040"/>
          </a:xfrm>
          <a:prstGeom prst="rect">
            <a:avLst/>
          </a:prstGeom>
          <a:noFill/>
        </p:spPr>
        <p:txBody>
          <a:bodyPr wrap="square">
            <a:spAutoFit/>
          </a:bodyPr>
          <a:lstStyle/>
          <a:p>
            <a:pPr algn="l">
              <a:defRPr sz="1100" b="0" i="0">
                <a:solidFill>
                  <a:srgbClr val="666666"/>
                </a:solidFill>
              </a:defRPr>
            </a:pPr>
            <a:r>
              <a:t>Aucune préversion : condition posée par le service pour production</a:t>
            </a:r>
          </a:p>
        </p:txBody>
      </p:sp>
      <p:sp>
        <p:nvSpPr>
          <p:cNvPr id="42" name="Oval 41"/>
          <p:cNvSpPr/>
          <p:nvPr/>
        </p:nvSpPr>
        <p:spPr>
          <a:xfrm>
            <a:off x="822960" y="603504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5943600"/>
            <a:ext cx="3657600" cy="320040"/>
          </a:xfrm>
          <a:prstGeom prst="rect">
            <a:avLst/>
          </a:prstGeom>
          <a:noFill/>
        </p:spPr>
        <p:txBody>
          <a:bodyPr wrap="square">
            <a:spAutoFit/>
          </a:bodyPr>
          <a:lstStyle/>
          <a:p>
            <a:pPr algn="l">
              <a:defRPr sz="1100" b="1" i="0">
                <a:solidFill>
                  <a:srgbClr val="003366"/>
                </a:solidFill>
              </a:defRPr>
            </a:pPr>
            <a:r>
              <a:t>Mise en conformité REST</a:t>
            </a:r>
          </a:p>
        </p:txBody>
      </p:sp>
      <p:sp>
        <p:nvSpPr>
          <p:cNvPr id="44" name="TextBox 43"/>
          <p:cNvSpPr txBox="1"/>
          <p:nvPr/>
        </p:nvSpPr>
        <p:spPr>
          <a:xfrm>
            <a:off x="4846320" y="5943600"/>
            <a:ext cx="6858000" cy="320040"/>
          </a:xfrm>
          <a:prstGeom prst="rect">
            <a:avLst/>
          </a:prstGeom>
          <a:noFill/>
        </p:spPr>
        <p:txBody>
          <a:bodyPr wrap="square">
            <a:spAutoFit/>
          </a:bodyPr>
          <a:lstStyle/>
          <a:p>
            <a:pPr algn="l">
              <a:defRPr sz="1100" b="0" i="0">
                <a:solidFill>
                  <a:srgbClr val="666666"/>
                </a:solidFill>
              </a:defRPr>
            </a:pPr>
            <a:r>
              <a:t>Réorganisation par ressource, verbes HTTP corrects, secrets retirés des réponses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2- </a:t>
            </a:r>
            <a:r>
              <a:rPr dirty="0" err="1"/>
              <a:t>Refonte</a:t>
            </a:r>
            <a:r>
              <a:rPr dirty="0"/>
              <a:t> du </a:t>
            </a:r>
            <a:r>
              <a:rPr dirty="0" err="1"/>
              <a:t>modèle</a:t>
            </a:r>
            <a:r>
              <a:rPr dirty="0"/>
              <a:t> de </a:t>
            </a:r>
            <a:r>
              <a:rPr dirty="0" err="1"/>
              <a:t>données</a:t>
            </a:r>
            <a:r>
              <a:rPr dirty="0"/>
              <a:t> - </a:t>
            </a:r>
            <a:r>
              <a:rPr dirty="0" err="1"/>
              <a:t>Diagnosti</a:t>
            </a:r>
            <a:r>
              <a:rPr lang="fr-CH" dirty="0"/>
              <a:t>que</a:t>
            </a:r>
            <a:endParaRPr dirty="0"/>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23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30" name="Image 29">
            <a:extLst>
              <a:ext uri="{FF2B5EF4-FFF2-40B4-BE49-F238E27FC236}">
                <a16:creationId xmlns:a16="http://schemas.microsoft.com/office/drawing/2014/main" id="{00139A5C-402E-484A-9B36-63EEDA06E515}"/>
              </a:ext>
            </a:extLst>
          </p:cNvPr>
          <p:cNvPicPr>
            <a:picLocks noChangeAspect="1"/>
          </p:cNvPicPr>
          <p:nvPr/>
        </p:nvPicPr>
        <p:blipFill>
          <a:blip r:embed="rId2"/>
          <a:stretch>
            <a:fillRect/>
          </a:stretch>
        </p:blipFill>
        <p:spPr>
          <a:xfrm>
            <a:off x="1871663" y="1133856"/>
            <a:ext cx="8345259" cy="5200955"/>
          </a:xfrm>
          <a:prstGeom prst="rect">
            <a:avLst/>
          </a:prstGeom>
        </p:spPr>
      </p:pic>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40109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Anomalies </a:t>
            </a:r>
            <a:r>
              <a:rPr dirty="0" err="1"/>
              <a:t>détectées</a:t>
            </a:r>
            <a:r>
              <a:rPr dirty="0"/>
              <a:t> dans le </a:t>
            </a:r>
            <a:r>
              <a:rPr dirty="0" err="1"/>
              <a:t>modèle</a:t>
            </a:r>
            <a:r>
              <a:rPr dirty="0"/>
              <a:t> initial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24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4 problèmes structurels identifiés sur les données réelles</a:t>
            </a:r>
          </a:p>
        </p:txBody>
      </p:sp>
      <p:sp>
        <p:nvSpPr>
          <p:cNvPr id="10" name="Rounded Rectangle 9"/>
          <p:cNvSpPr/>
          <p:nvPr/>
        </p:nvSpPr>
        <p:spPr>
          <a:xfrm>
            <a:off x="36576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4864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1</a:t>
            </a:r>
          </a:p>
        </p:txBody>
      </p:sp>
      <p:sp>
        <p:nvSpPr>
          <p:cNvPr id="12" name="TextBox 11"/>
          <p:cNvSpPr txBox="1"/>
          <p:nvPr/>
        </p:nvSpPr>
        <p:spPr>
          <a:xfrm>
            <a:off x="1097280" y="1993392"/>
            <a:ext cx="4754880" cy="365760"/>
          </a:xfrm>
          <a:prstGeom prst="rect">
            <a:avLst/>
          </a:prstGeom>
          <a:noFill/>
        </p:spPr>
        <p:txBody>
          <a:bodyPr wrap="square">
            <a:spAutoFit/>
          </a:bodyPr>
          <a:lstStyle/>
          <a:p>
            <a:pPr algn="l">
              <a:defRPr sz="1300" b="1" i="0">
                <a:solidFill>
                  <a:srgbClr val="003366"/>
                </a:solidFill>
              </a:defRPr>
            </a:pPr>
            <a:r>
              <a:t>Ressources en texte libre</a:t>
            </a:r>
          </a:p>
        </p:txBody>
      </p:sp>
      <p:sp>
        <p:nvSpPr>
          <p:cNvPr id="13" name="TextBox 12"/>
          <p:cNvSpPr txBox="1"/>
          <p:nvPr/>
        </p:nvSpPr>
        <p:spPr>
          <a:xfrm>
            <a:off x="640080" y="2468880"/>
            <a:ext cx="5212080" cy="640080"/>
          </a:xfrm>
          <a:prstGeom prst="rect">
            <a:avLst/>
          </a:prstGeom>
          <a:noFill/>
        </p:spPr>
        <p:txBody>
          <a:bodyPr wrap="square">
            <a:spAutoFit/>
          </a:bodyPr>
          <a:lstStyle/>
          <a:p>
            <a:pPr algn="l">
              <a:defRPr sz="1000" b="0" i="0">
                <a:solidFill>
                  <a:srgbClr val="333333"/>
                </a:solidFill>
              </a:defRPr>
            </a:pPr>
            <a:r>
              <a:t>Les ressources techniques sont saisies dans des champs nvarchar libres, sans référentiel.</a:t>
            </a:r>
          </a:p>
        </p:txBody>
      </p:sp>
      <p:sp>
        <p:nvSpPr>
          <p:cNvPr id="14" name="Rectangle 13"/>
          <p:cNvSpPr/>
          <p:nvPr/>
        </p:nvSpPr>
        <p:spPr>
          <a:xfrm>
            <a:off x="64008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.NET Core », « .NET Standard » et « .NET » désignent la même technologie</a:t>
            </a:r>
          </a:p>
          <a:p>
            <a:pPr algn="l">
              <a:defRPr sz="900" i="1">
                <a:solidFill>
                  <a:srgbClr val="333333"/>
                </a:solidFill>
              </a:defRPr>
            </a:pPr>
            <a:r>
              <a:t>→ 3 lignes distinctes en base pour une seule réalité.</a:t>
            </a:r>
          </a:p>
        </p:txBody>
      </p:sp>
      <p:sp>
        <p:nvSpPr>
          <p:cNvPr id="15" name="Rounded Rectangle 14"/>
          <p:cNvSpPr/>
          <p:nvPr/>
        </p:nvSpPr>
        <p:spPr>
          <a:xfrm>
            <a:off x="621792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0080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2</a:t>
            </a:r>
          </a:p>
        </p:txBody>
      </p:sp>
      <p:sp>
        <p:nvSpPr>
          <p:cNvPr id="17" name="TextBox 16"/>
          <p:cNvSpPr txBox="1"/>
          <p:nvPr/>
        </p:nvSpPr>
        <p:spPr>
          <a:xfrm>
            <a:off x="6949440" y="1993392"/>
            <a:ext cx="4754880" cy="365760"/>
          </a:xfrm>
          <a:prstGeom prst="rect">
            <a:avLst/>
          </a:prstGeom>
          <a:noFill/>
        </p:spPr>
        <p:txBody>
          <a:bodyPr wrap="square">
            <a:spAutoFit/>
          </a:bodyPr>
          <a:lstStyle/>
          <a:p>
            <a:pPr algn="l">
              <a:defRPr sz="1300" b="1" i="0">
                <a:solidFill>
                  <a:srgbClr val="003366"/>
                </a:solidFill>
              </a:defRPr>
            </a:pPr>
            <a:r>
              <a:t>Absence de contraintes d'unicité</a:t>
            </a:r>
          </a:p>
        </p:txBody>
      </p:sp>
      <p:sp>
        <p:nvSpPr>
          <p:cNvPr id="18" name="TextBox 17"/>
          <p:cNvSpPr txBox="1"/>
          <p:nvPr/>
        </p:nvSpPr>
        <p:spPr>
          <a:xfrm>
            <a:off x="6492240" y="2468880"/>
            <a:ext cx="5212080" cy="640080"/>
          </a:xfrm>
          <a:prstGeom prst="rect">
            <a:avLst/>
          </a:prstGeom>
          <a:noFill/>
        </p:spPr>
        <p:txBody>
          <a:bodyPr wrap="square">
            <a:spAutoFit/>
          </a:bodyPr>
          <a:lstStyle/>
          <a:p>
            <a:pPr algn="l">
              <a:defRPr sz="1000" b="0" i="0">
                <a:solidFill>
                  <a:srgbClr val="333333"/>
                </a:solidFill>
              </a:defRPr>
            </a:pPr>
            <a:r>
              <a:t>7 tables de référence n'ont aucune contrainte UNIQUE sur leur identifiant métier.</a:t>
            </a:r>
          </a:p>
        </p:txBody>
      </p:sp>
      <p:sp>
        <p:nvSpPr>
          <p:cNvPr id="19" name="Rectangle 18"/>
          <p:cNvSpPr/>
          <p:nvPr/>
        </p:nvSpPr>
        <p:spPr>
          <a:xfrm>
            <a:off x="649224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Azure Functions », « AzureFunctions », « Fonctions Azure »</a:t>
            </a:r>
          </a:p>
          <a:p>
            <a:pPr algn="l">
              <a:defRPr sz="900" i="1">
                <a:solidFill>
                  <a:srgbClr val="333333"/>
                </a:solidFill>
              </a:defRPr>
            </a:pPr>
            <a:r>
              <a:t>→ Le même service Azure existe en 3 exemplaires, casse la casse insensible.</a:t>
            </a:r>
          </a:p>
        </p:txBody>
      </p:sp>
      <p:sp>
        <p:nvSpPr>
          <p:cNvPr id="20" name="Rounded Rectangle 19"/>
          <p:cNvSpPr/>
          <p:nvPr/>
        </p:nvSpPr>
        <p:spPr>
          <a:xfrm>
            <a:off x="36576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4864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3</a:t>
            </a:r>
          </a:p>
        </p:txBody>
      </p:sp>
      <p:sp>
        <p:nvSpPr>
          <p:cNvPr id="22" name="TextBox 21"/>
          <p:cNvSpPr txBox="1"/>
          <p:nvPr/>
        </p:nvSpPr>
        <p:spPr>
          <a:xfrm>
            <a:off x="1097280" y="4279392"/>
            <a:ext cx="4754880" cy="365760"/>
          </a:xfrm>
          <a:prstGeom prst="rect">
            <a:avLst/>
          </a:prstGeom>
          <a:noFill/>
        </p:spPr>
        <p:txBody>
          <a:bodyPr wrap="square">
            <a:spAutoFit/>
          </a:bodyPr>
          <a:lstStyle/>
          <a:p>
            <a:pPr algn="l">
              <a:defRPr sz="1300" b="1" i="0">
                <a:solidFill>
                  <a:srgbClr val="003366"/>
                </a:solidFill>
              </a:defRPr>
            </a:pPr>
            <a:r>
              <a:t>Tables d'association sans clé primaire</a:t>
            </a:r>
          </a:p>
        </p:txBody>
      </p:sp>
      <p:sp>
        <p:nvSpPr>
          <p:cNvPr id="23" name="TextBox 22"/>
          <p:cNvSpPr txBox="1"/>
          <p:nvPr/>
        </p:nvSpPr>
        <p:spPr>
          <a:xfrm>
            <a:off x="640080" y="4754880"/>
            <a:ext cx="5212080" cy="640080"/>
          </a:xfrm>
          <a:prstGeom prst="rect">
            <a:avLst/>
          </a:prstGeom>
          <a:noFill/>
        </p:spPr>
        <p:txBody>
          <a:bodyPr wrap="square">
            <a:spAutoFit/>
          </a:bodyPr>
          <a:lstStyle/>
          <a:p>
            <a:pPr algn="l">
              <a:defRPr sz="1000" b="0" i="0">
                <a:solidFill>
                  <a:srgbClr val="333333"/>
                </a:solidFill>
              </a:defRPr>
            </a:pPr>
            <a:r>
              <a:t>Certaines tables d'association ne portent aucune PK, aucun mécanisme d'unicité.</a:t>
            </a:r>
          </a:p>
        </p:txBody>
      </p:sp>
      <p:sp>
        <p:nvSpPr>
          <p:cNvPr id="24" name="Rectangle 23"/>
          <p:cNvSpPr/>
          <p:nvPr/>
        </p:nvSpPr>
        <p:spPr>
          <a:xfrm>
            <a:off x="64008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AssocAppMod (Application ↔ Module) n'avait pas de PK</a:t>
            </a:r>
          </a:p>
          <a:p>
            <a:pPr algn="l">
              <a:defRPr sz="900" i="1">
                <a:solidFill>
                  <a:srgbClr val="333333"/>
                </a:solidFill>
              </a:defRPr>
            </a:pPr>
            <a:r>
              <a:t>→ Doublons possibles pour le même couple (IdApplication, IdModule).</a:t>
            </a:r>
          </a:p>
        </p:txBody>
      </p:sp>
      <p:sp>
        <p:nvSpPr>
          <p:cNvPr id="25" name="Rounded Rectangle 24"/>
          <p:cNvSpPr/>
          <p:nvPr/>
        </p:nvSpPr>
        <p:spPr>
          <a:xfrm>
            <a:off x="621792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4</a:t>
            </a:r>
          </a:p>
        </p:txBody>
      </p:sp>
      <p:sp>
        <p:nvSpPr>
          <p:cNvPr id="27" name="TextBox 26"/>
          <p:cNvSpPr txBox="1"/>
          <p:nvPr/>
        </p:nvSpPr>
        <p:spPr>
          <a:xfrm>
            <a:off x="6949440" y="4279392"/>
            <a:ext cx="4754880" cy="365760"/>
          </a:xfrm>
          <a:prstGeom prst="rect">
            <a:avLst/>
          </a:prstGeom>
          <a:noFill/>
        </p:spPr>
        <p:txBody>
          <a:bodyPr wrap="square">
            <a:spAutoFit/>
          </a:bodyPr>
          <a:lstStyle/>
          <a:p>
            <a:pPr algn="l">
              <a:defRPr sz="1300" b="1" i="0">
                <a:solidFill>
                  <a:srgbClr val="003366"/>
                </a:solidFill>
              </a:defRPr>
            </a:pPr>
            <a:r>
              <a:t>Multiplication d'enregistrements</a:t>
            </a:r>
          </a:p>
        </p:txBody>
      </p:sp>
      <p:sp>
        <p:nvSpPr>
          <p:cNvPr id="28" name="TextBox 27"/>
          <p:cNvSpPr txBox="1"/>
          <p:nvPr/>
        </p:nvSpPr>
        <p:spPr>
          <a:xfrm>
            <a:off x="6492240" y="4754880"/>
            <a:ext cx="5212080" cy="640080"/>
          </a:xfrm>
          <a:prstGeom prst="rect">
            <a:avLst/>
          </a:prstGeom>
          <a:noFill/>
        </p:spPr>
        <p:txBody>
          <a:bodyPr wrap="square">
            <a:spAutoFit/>
          </a:bodyPr>
          <a:lstStyle/>
          <a:p>
            <a:pPr algn="l">
              <a:defRPr sz="1000" b="0" i="0">
                <a:solidFill>
                  <a:srgbClr val="333333"/>
                </a:solidFill>
              </a:defRPr>
            </a:pPr>
            <a:r>
              <a:t>Une clé Azure est répétée pour chaque module rattaché, avec la date sur une seule ligne.</a:t>
            </a:r>
          </a:p>
        </p:txBody>
      </p:sp>
      <p:sp>
        <p:nvSpPr>
          <p:cNvPr id="29" name="Rectangle 28"/>
          <p:cNvSpPr/>
          <p:nvPr/>
        </p:nvSpPr>
        <p:spPr>
          <a:xfrm>
            <a:off x="649224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la même clé Azure figurait jusqu'à 11 fois en base</a:t>
            </a:r>
          </a:p>
          <a:p>
            <a:pPr algn="l">
              <a:defRPr sz="900" i="1">
                <a:solidFill>
                  <a:srgbClr val="333333"/>
                </a:solidFill>
              </a:defRPr>
            </a:pPr>
            <a:r>
              <a:t>→ Les alertes d'expiration dépendent de la ligne où la date a été saisie.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modèle de données - Solutions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25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640080" y="1346454"/>
            <a:ext cx="10698480" cy="365760"/>
          </a:xfrm>
          <a:prstGeom prst="rect">
            <a:avLst/>
          </a:prstGeom>
          <a:noFill/>
        </p:spPr>
        <p:txBody>
          <a:bodyPr wrap="square">
            <a:spAutoFit/>
          </a:bodyPr>
          <a:lstStyle/>
          <a:p>
            <a:pPr algn="l">
              <a:defRPr sz="1500" b="1" i="0">
                <a:solidFill>
                  <a:srgbClr val="003366"/>
                </a:solidFill>
              </a:defRPr>
            </a:pPr>
            <a:r>
              <a:rPr dirty="0"/>
              <a:t>Principe appliqué</a:t>
            </a:r>
          </a:p>
        </p:txBody>
      </p:sp>
      <p:sp>
        <p:nvSpPr>
          <p:cNvPr id="11" name="TextBox 10"/>
          <p:cNvSpPr txBox="1"/>
          <p:nvPr/>
        </p:nvSpPr>
        <p:spPr>
          <a:xfrm>
            <a:off x="640080" y="1691640"/>
            <a:ext cx="10698480" cy="457200"/>
          </a:xfrm>
          <a:prstGeom prst="rect">
            <a:avLst/>
          </a:prstGeom>
          <a:noFill/>
        </p:spPr>
        <p:txBody>
          <a:bodyPr wrap="square">
            <a:spAutoFit/>
          </a:bodyPr>
          <a:lstStyle/>
          <a:p>
            <a:pPr algn="l">
              <a:defRPr sz="1200" b="0" i="1">
                <a:solidFill>
                  <a:srgbClr val="333333"/>
                </a:solidFill>
              </a:defRPr>
            </a:pPr>
            <a:r>
              <a:rPr dirty="0" err="1"/>
              <a:t>Remplacer</a:t>
            </a:r>
            <a:r>
              <a:rPr dirty="0"/>
              <a:t> </a:t>
            </a:r>
            <a:r>
              <a:rPr dirty="0" err="1"/>
              <a:t>chaque</a:t>
            </a:r>
            <a:r>
              <a:rPr dirty="0"/>
              <a:t> champ de </a:t>
            </a:r>
            <a:r>
              <a:rPr dirty="0" err="1"/>
              <a:t>texte</a:t>
            </a:r>
            <a:r>
              <a:rPr dirty="0"/>
              <a:t> libre par </a:t>
            </a:r>
            <a:r>
              <a:rPr dirty="0" err="1"/>
              <a:t>une</a:t>
            </a:r>
            <a:r>
              <a:rPr dirty="0"/>
              <a:t> </a:t>
            </a:r>
            <a:r>
              <a:rPr dirty="0" err="1"/>
              <a:t>clé</a:t>
            </a:r>
            <a:r>
              <a:rPr dirty="0"/>
              <a:t> </a:t>
            </a:r>
            <a:r>
              <a:rPr dirty="0" err="1"/>
              <a:t>étrangère</a:t>
            </a:r>
            <a:r>
              <a:rPr dirty="0"/>
              <a:t> </a:t>
            </a:r>
            <a:r>
              <a:rPr dirty="0" err="1"/>
              <a:t>pointant</a:t>
            </a:r>
            <a:r>
              <a:rPr dirty="0"/>
              <a:t> </a:t>
            </a:r>
            <a:r>
              <a:rPr dirty="0" err="1"/>
              <a:t>vers</a:t>
            </a:r>
            <a:r>
              <a:rPr dirty="0"/>
              <a:t> </a:t>
            </a:r>
            <a:r>
              <a:rPr dirty="0" err="1"/>
              <a:t>une</a:t>
            </a:r>
            <a:r>
              <a:rPr dirty="0"/>
              <a:t> table de </a:t>
            </a:r>
            <a:r>
              <a:rPr dirty="0" err="1"/>
              <a:t>référence</a:t>
            </a:r>
            <a:r>
              <a:rPr dirty="0"/>
              <a:t> </a:t>
            </a:r>
            <a:r>
              <a:rPr dirty="0" err="1"/>
              <a:t>dédiée</a:t>
            </a:r>
            <a:r>
              <a:rPr dirty="0"/>
              <a:t>, </a:t>
            </a:r>
            <a:r>
              <a:rPr dirty="0" err="1"/>
              <a:t>dotée</a:t>
            </a:r>
            <a:r>
              <a:rPr dirty="0"/>
              <a:t> </a:t>
            </a:r>
            <a:r>
              <a:rPr dirty="0" err="1"/>
              <a:t>d'une</a:t>
            </a:r>
            <a:r>
              <a:rPr dirty="0"/>
              <a:t> </a:t>
            </a:r>
            <a:r>
              <a:rPr dirty="0" err="1"/>
              <a:t>contrainte</a:t>
            </a:r>
            <a:r>
              <a:rPr dirty="0"/>
              <a:t> </a:t>
            </a:r>
            <a:r>
              <a:rPr dirty="0" err="1"/>
              <a:t>d'unicité</a:t>
            </a:r>
            <a:r>
              <a:rPr dirty="0"/>
              <a:t>.</a:t>
            </a:r>
          </a:p>
        </p:txBody>
      </p:sp>
      <p:sp>
        <p:nvSpPr>
          <p:cNvPr id="44" name="TextBox 43"/>
          <p:cNvSpPr txBox="1"/>
          <p:nvPr/>
        </p:nvSpPr>
        <p:spPr>
          <a:xfrm>
            <a:off x="302455" y="5257800"/>
            <a:ext cx="10698480" cy="365760"/>
          </a:xfrm>
          <a:prstGeom prst="rect">
            <a:avLst/>
          </a:prstGeom>
          <a:noFill/>
        </p:spPr>
        <p:txBody>
          <a:bodyPr wrap="square">
            <a:spAutoFit/>
          </a:bodyPr>
          <a:lstStyle/>
          <a:p>
            <a:pPr algn="ctr">
              <a:defRPr sz="1300" b="1" i="0">
                <a:solidFill>
                  <a:srgbClr val="2E8B3D"/>
                </a:solidFill>
              </a:defRPr>
            </a:pPr>
            <a:r>
              <a:rPr dirty="0" err="1"/>
              <a:t>Gouvernance</a:t>
            </a:r>
            <a:r>
              <a:rPr dirty="0"/>
              <a:t> des migrations (</a:t>
            </a:r>
            <a:r>
              <a:rPr dirty="0" err="1"/>
              <a:t>données</a:t>
            </a:r>
            <a:r>
              <a:rPr dirty="0"/>
              <a:t> de production)</a:t>
            </a:r>
          </a:p>
        </p:txBody>
      </p:sp>
      <p:sp>
        <p:nvSpPr>
          <p:cNvPr id="45" name="Rounded Rectangle 44"/>
          <p:cNvSpPr/>
          <p:nvPr/>
        </p:nvSpPr>
        <p:spPr>
          <a:xfrm>
            <a:off x="6986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35855" y="5648061"/>
            <a:ext cx="1645920" cy="320040"/>
          </a:xfrm>
          <a:prstGeom prst="rect">
            <a:avLst/>
          </a:prstGeom>
          <a:noFill/>
        </p:spPr>
        <p:txBody>
          <a:bodyPr wrap="square">
            <a:spAutoFit/>
          </a:bodyPr>
          <a:lstStyle/>
          <a:p>
            <a:pPr algn="l">
              <a:defRPr sz="1000" b="1" i="0">
                <a:solidFill>
                  <a:srgbClr val="2E8B3D"/>
                </a:solidFill>
              </a:defRPr>
            </a:pPr>
            <a:r>
              <a:t>Scripts versionnés</a:t>
            </a:r>
          </a:p>
        </p:txBody>
      </p:sp>
      <p:sp>
        <p:nvSpPr>
          <p:cNvPr id="47" name="TextBox 46"/>
          <p:cNvSpPr txBox="1"/>
          <p:nvPr/>
        </p:nvSpPr>
        <p:spPr>
          <a:xfrm>
            <a:off x="2390335" y="5648061"/>
            <a:ext cx="1600200" cy="320040"/>
          </a:xfrm>
          <a:prstGeom prst="rect">
            <a:avLst/>
          </a:prstGeom>
          <a:noFill/>
        </p:spPr>
        <p:txBody>
          <a:bodyPr wrap="square">
            <a:spAutoFit/>
          </a:bodyPr>
          <a:lstStyle/>
          <a:p>
            <a:pPr algn="l">
              <a:defRPr sz="1000" b="0" i="1">
                <a:solidFill>
                  <a:srgbClr val="333333"/>
                </a:solidFill>
              </a:defRPr>
            </a:pPr>
            <a:r>
              <a:t>V001 à V026</a:t>
            </a:r>
          </a:p>
        </p:txBody>
      </p:sp>
      <p:sp>
        <p:nvSpPr>
          <p:cNvPr id="48" name="Rounded Rectangle 47"/>
          <p:cNvSpPr/>
          <p:nvPr/>
        </p:nvSpPr>
        <p:spPr>
          <a:xfrm>
            <a:off x="43562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3455" y="5648061"/>
            <a:ext cx="1645920" cy="320040"/>
          </a:xfrm>
          <a:prstGeom prst="rect">
            <a:avLst/>
          </a:prstGeom>
          <a:noFill/>
        </p:spPr>
        <p:txBody>
          <a:bodyPr wrap="square">
            <a:spAutoFit/>
          </a:bodyPr>
          <a:lstStyle/>
          <a:p>
            <a:pPr algn="l">
              <a:defRPr sz="1000" b="1" i="0">
                <a:solidFill>
                  <a:srgbClr val="2E8B3D"/>
                </a:solidFill>
              </a:defRPr>
            </a:pPr>
            <a:r>
              <a:t>Retour arrière</a:t>
            </a:r>
          </a:p>
        </p:txBody>
      </p:sp>
      <p:sp>
        <p:nvSpPr>
          <p:cNvPr id="50" name="TextBox 49"/>
          <p:cNvSpPr txBox="1"/>
          <p:nvPr/>
        </p:nvSpPr>
        <p:spPr>
          <a:xfrm>
            <a:off x="6047935" y="5648061"/>
            <a:ext cx="1600200" cy="320040"/>
          </a:xfrm>
          <a:prstGeom prst="rect">
            <a:avLst/>
          </a:prstGeom>
          <a:noFill/>
        </p:spPr>
        <p:txBody>
          <a:bodyPr wrap="square">
            <a:spAutoFit/>
          </a:bodyPr>
          <a:lstStyle/>
          <a:p>
            <a:pPr algn="l">
              <a:defRPr sz="1000" b="0" i="1">
                <a:solidFill>
                  <a:srgbClr val="333333"/>
                </a:solidFill>
              </a:defRPr>
            </a:pPr>
            <a:r>
              <a:t>Un rollback par migration</a:t>
            </a:r>
          </a:p>
        </p:txBody>
      </p:sp>
      <p:sp>
        <p:nvSpPr>
          <p:cNvPr id="51" name="Rounded Rectangle 50"/>
          <p:cNvSpPr/>
          <p:nvPr/>
        </p:nvSpPr>
        <p:spPr>
          <a:xfrm>
            <a:off x="80138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51055" y="5648061"/>
            <a:ext cx="1645920" cy="320040"/>
          </a:xfrm>
          <a:prstGeom prst="rect">
            <a:avLst/>
          </a:prstGeom>
          <a:noFill/>
        </p:spPr>
        <p:txBody>
          <a:bodyPr wrap="square">
            <a:spAutoFit/>
          </a:bodyPr>
          <a:lstStyle/>
          <a:p>
            <a:pPr algn="l">
              <a:defRPr sz="1000" b="1" i="0">
                <a:solidFill>
                  <a:srgbClr val="2E8B3D"/>
                </a:solidFill>
              </a:defRPr>
            </a:pPr>
            <a:r>
              <a:t>Contrôle préalable</a:t>
            </a:r>
          </a:p>
        </p:txBody>
      </p:sp>
      <p:sp>
        <p:nvSpPr>
          <p:cNvPr id="53" name="TextBox 52"/>
          <p:cNvSpPr txBox="1"/>
          <p:nvPr/>
        </p:nvSpPr>
        <p:spPr>
          <a:xfrm>
            <a:off x="9705535" y="5648061"/>
            <a:ext cx="1600200" cy="320040"/>
          </a:xfrm>
          <a:prstGeom prst="rect">
            <a:avLst/>
          </a:prstGeom>
          <a:noFill/>
        </p:spPr>
        <p:txBody>
          <a:bodyPr wrap="square">
            <a:spAutoFit/>
          </a:bodyPr>
          <a:lstStyle/>
          <a:p>
            <a:pPr algn="l">
              <a:defRPr sz="1000" b="0" i="1">
                <a:solidFill>
                  <a:srgbClr val="333333"/>
                </a:solidFill>
              </a:defRPr>
            </a:pPr>
            <a:r>
              <a:t>Lecture seule, verdict GO / NO GO</a:t>
            </a:r>
          </a:p>
        </p:txBody>
      </p:sp>
      <p:pic>
        <p:nvPicPr>
          <p:cNvPr id="55" name="Image 54">
            <a:extLst>
              <a:ext uri="{FF2B5EF4-FFF2-40B4-BE49-F238E27FC236}">
                <a16:creationId xmlns:a16="http://schemas.microsoft.com/office/drawing/2014/main" id="{823BF4A0-BAB4-456B-AA0D-576AFFE2D4A1}"/>
              </a:ext>
            </a:extLst>
          </p:cNvPr>
          <p:cNvPicPr>
            <a:picLocks noChangeAspect="1"/>
          </p:cNvPicPr>
          <p:nvPr/>
        </p:nvPicPr>
        <p:blipFill>
          <a:blip r:embed="rId2"/>
          <a:stretch>
            <a:fillRect/>
          </a:stretch>
        </p:blipFill>
        <p:spPr>
          <a:xfrm>
            <a:off x="2606040" y="2038636"/>
            <a:ext cx="5805525" cy="29905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26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98" name="Image 97">
            <a:extLst>
              <a:ext uri="{FF2B5EF4-FFF2-40B4-BE49-F238E27FC236}">
                <a16:creationId xmlns:a16="http://schemas.microsoft.com/office/drawing/2014/main" id="{E96DC83C-D58F-415C-9410-F2B6A59D209A}"/>
              </a:ext>
            </a:extLst>
          </p:cNvPr>
          <p:cNvPicPr>
            <a:picLocks noChangeAspect="1"/>
          </p:cNvPicPr>
          <p:nvPr/>
        </p:nvPicPr>
        <p:blipFill>
          <a:blip r:embed="rId2"/>
          <a:stretch>
            <a:fillRect/>
          </a:stretch>
        </p:blipFill>
        <p:spPr>
          <a:xfrm>
            <a:off x="1059558" y="182880"/>
            <a:ext cx="10400922" cy="6353932"/>
          </a:xfrm>
          <a:prstGeom prst="rect">
            <a:avLst/>
          </a:prstGeom>
        </p:spPr>
      </p:pic>
      <p:sp>
        <p:nvSpPr>
          <p:cNvPr id="3" name="TextBox 2"/>
          <p:cNvSpPr txBox="1"/>
          <p:nvPr/>
        </p:nvSpPr>
        <p:spPr>
          <a:xfrm>
            <a:off x="704850" y="182880"/>
            <a:ext cx="5513070" cy="261610"/>
          </a:xfrm>
          <a:prstGeom prst="rect">
            <a:avLst/>
          </a:prstGeom>
          <a:noFill/>
        </p:spPr>
        <p:txBody>
          <a:bodyPr wrap="square">
            <a:spAutoFit/>
          </a:bodyPr>
          <a:lstStyle/>
          <a:p>
            <a:pPr algn="l">
              <a:defRPr sz="1100" b="1" i="0">
                <a:solidFill>
                  <a:srgbClr val="004D99"/>
                </a:solidFill>
              </a:defRPr>
            </a:pPr>
            <a:r>
              <a:rPr dirty="0"/>
              <a:t>CS BAG V2</a:t>
            </a:r>
          </a:p>
        </p:txBody>
      </p:sp>
      <p:sp>
        <p:nvSpPr>
          <p:cNvPr id="4" name="TextBox 3"/>
          <p:cNvSpPr txBox="1"/>
          <p:nvPr/>
        </p:nvSpPr>
        <p:spPr>
          <a:xfrm>
            <a:off x="774700" y="457200"/>
            <a:ext cx="10472420" cy="492443"/>
          </a:xfrm>
          <a:prstGeom prst="rect">
            <a:avLst/>
          </a:prstGeom>
          <a:noFill/>
        </p:spPr>
        <p:txBody>
          <a:bodyPr wrap="square">
            <a:spAutoFit/>
          </a:bodyPr>
          <a:lstStyle/>
          <a:p>
            <a:pPr algn="l">
              <a:defRPr sz="2600" b="1" i="0">
                <a:solidFill>
                  <a:srgbClr val="003366"/>
                </a:solidFill>
              </a:defRPr>
            </a:pPr>
            <a:r>
              <a:rPr lang="fr-CH" dirty="0"/>
              <a:t>MLD</a:t>
            </a:r>
            <a:endParaRPr dirty="0"/>
          </a:p>
        </p:txBody>
      </p:sp>
      <p:sp>
        <p:nvSpPr>
          <p:cNvPr id="5" name="Rectangle 4"/>
          <p:cNvSpPr/>
          <p:nvPr/>
        </p:nvSpPr>
        <p:spPr>
          <a:xfrm flipV="1">
            <a:off x="731520" y="996510"/>
            <a:ext cx="887730" cy="100769"/>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85411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3- </a:t>
            </a:r>
            <a:r>
              <a:rPr dirty="0" err="1"/>
              <a:t>Enrichissement</a:t>
            </a:r>
            <a:r>
              <a:rPr dirty="0"/>
              <a:t> </a:t>
            </a:r>
            <a:r>
              <a:rPr dirty="0" err="1"/>
              <a:t>fonctionnel</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27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Fonctionnalités livrées, regroupées par thème métier</a:t>
            </a:r>
          </a:p>
        </p:txBody>
      </p:sp>
      <p:sp>
        <p:nvSpPr>
          <p:cNvPr id="10" name="Rounded Rectangle 9"/>
          <p:cNvSpPr/>
          <p:nvPr/>
        </p:nvSpPr>
        <p:spPr>
          <a:xfrm>
            <a:off x="73152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a:t>
            </a:r>
          </a:p>
        </p:txBody>
      </p:sp>
      <p:sp>
        <p:nvSpPr>
          <p:cNvPr id="12" name="TextBox 11"/>
          <p:cNvSpPr txBox="1"/>
          <p:nvPr/>
        </p:nvSpPr>
        <p:spPr>
          <a:xfrm>
            <a:off x="1691640" y="1874520"/>
            <a:ext cx="4297680" cy="274320"/>
          </a:xfrm>
          <a:prstGeom prst="rect">
            <a:avLst/>
          </a:prstGeom>
          <a:noFill/>
        </p:spPr>
        <p:txBody>
          <a:bodyPr wrap="square">
            <a:spAutoFit/>
          </a:bodyPr>
          <a:lstStyle/>
          <a:p>
            <a:pPr algn="l">
              <a:defRPr sz="1200" b="1" i="0">
                <a:solidFill>
                  <a:srgbClr val="003366"/>
                </a:solidFill>
              </a:defRPr>
            </a:pPr>
            <a:r>
              <a:t>Consultation et recherche</a:t>
            </a:r>
          </a:p>
        </p:txBody>
      </p:sp>
      <p:sp>
        <p:nvSpPr>
          <p:cNvPr id="13" name="TextBox 12"/>
          <p:cNvSpPr txBox="1"/>
          <p:nvPr/>
        </p:nvSpPr>
        <p:spPr>
          <a:xfrm>
            <a:off x="1691640" y="2121408"/>
            <a:ext cx="4297680" cy="230832"/>
          </a:xfrm>
          <a:prstGeom prst="rect">
            <a:avLst/>
          </a:prstGeom>
          <a:noFill/>
        </p:spPr>
        <p:txBody>
          <a:bodyPr wrap="square">
            <a:spAutoFit/>
          </a:bodyPr>
          <a:lstStyle/>
          <a:p>
            <a:pPr algn="l">
              <a:defRPr sz="900" b="0" i="0">
                <a:solidFill>
                  <a:srgbClr val="666666"/>
                </a:solidFill>
              </a:defRPr>
            </a:pPr>
            <a:r>
              <a:rPr dirty="0"/>
              <a:t>Recherche, </a:t>
            </a:r>
            <a:r>
              <a:rPr dirty="0" err="1"/>
              <a:t>filtres</a:t>
            </a:r>
            <a:r>
              <a:rPr dirty="0"/>
              <a:t> d'</a:t>
            </a:r>
            <a:r>
              <a:rPr lang="fr-MA" dirty="0"/>
              <a:t>équipe</a:t>
            </a:r>
            <a:r>
              <a:rPr dirty="0"/>
              <a:t>, page Tout </a:t>
            </a:r>
            <a:r>
              <a:rPr dirty="0" err="1"/>
              <a:t>voir</a:t>
            </a:r>
            <a:r>
              <a:rPr dirty="0"/>
              <a:t>, </a:t>
            </a:r>
            <a:r>
              <a:rPr dirty="0" err="1"/>
              <a:t>indicateurs</a:t>
            </a:r>
            <a:r>
              <a:rPr dirty="0"/>
              <a:t> de </a:t>
            </a:r>
            <a:r>
              <a:rPr dirty="0" err="1"/>
              <a:t>chargement</a:t>
            </a:r>
            <a:endParaRPr dirty="0"/>
          </a:p>
        </p:txBody>
      </p:sp>
      <p:sp>
        <p:nvSpPr>
          <p:cNvPr id="14" name="Rounded Rectangle 13"/>
          <p:cNvSpPr/>
          <p:nvPr/>
        </p:nvSpPr>
        <p:spPr>
          <a:xfrm>
            <a:off x="640080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16" name="TextBox 15"/>
          <p:cNvSpPr txBox="1"/>
          <p:nvPr/>
        </p:nvSpPr>
        <p:spPr>
          <a:xfrm>
            <a:off x="7360920" y="1874520"/>
            <a:ext cx="4297680" cy="274320"/>
          </a:xfrm>
          <a:prstGeom prst="rect">
            <a:avLst/>
          </a:prstGeom>
          <a:noFill/>
        </p:spPr>
        <p:txBody>
          <a:bodyPr wrap="square">
            <a:spAutoFit/>
          </a:bodyPr>
          <a:lstStyle/>
          <a:p>
            <a:pPr algn="l">
              <a:defRPr sz="1200" b="1" i="0">
                <a:solidFill>
                  <a:srgbClr val="003366"/>
                </a:solidFill>
              </a:defRPr>
            </a:pPr>
            <a:r>
              <a:t>Cycle de vie des applications</a:t>
            </a:r>
          </a:p>
        </p:txBody>
      </p:sp>
      <p:sp>
        <p:nvSpPr>
          <p:cNvPr id="17" name="TextBox 16"/>
          <p:cNvSpPr txBox="1"/>
          <p:nvPr/>
        </p:nvSpPr>
        <p:spPr>
          <a:xfrm>
            <a:off x="7360920" y="2121408"/>
            <a:ext cx="4297680" cy="230832"/>
          </a:xfrm>
          <a:prstGeom prst="rect">
            <a:avLst/>
          </a:prstGeom>
          <a:noFill/>
        </p:spPr>
        <p:txBody>
          <a:bodyPr wrap="square">
            <a:spAutoFit/>
          </a:bodyPr>
          <a:lstStyle/>
          <a:p>
            <a:pPr algn="l">
              <a:defRPr sz="900" b="0" i="0">
                <a:solidFill>
                  <a:srgbClr val="666666"/>
                </a:solidFill>
              </a:defRPr>
            </a:pPr>
            <a:r>
              <a:rPr dirty="0"/>
              <a:t>Multi-</a:t>
            </a:r>
            <a:r>
              <a:rPr lang="fr-MA" dirty="0"/>
              <a:t>équipe</a:t>
            </a:r>
            <a:r>
              <a:rPr dirty="0"/>
              <a:t>s, </a:t>
            </a:r>
            <a:r>
              <a:rPr dirty="0" err="1"/>
              <a:t>fonction</a:t>
            </a:r>
            <a:r>
              <a:rPr dirty="0"/>
              <a:t> referents, </a:t>
            </a:r>
            <a:r>
              <a:rPr dirty="0" err="1"/>
              <a:t>ordre</a:t>
            </a:r>
            <a:r>
              <a:rPr dirty="0"/>
              <a:t> </a:t>
            </a:r>
            <a:r>
              <a:rPr dirty="0" err="1"/>
              <a:t>d'affichage</a:t>
            </a:r>
            <a:r>
              <a:rPr dirty="0"/>
              <a:t>, </a:t>
            </a:r>
            <a:r>
              <a:rPr dirty="0" err="1"/>
              <a:t>archivage</a:t>
            </a:r>
            <a:endParaRPr dirty="0"/>
          </a:p>
        </p:txBody>
      </p:sp>
      <p:sp>
        <p:nvSpPr>
          <p:cNvPr id="18" name="Rounded Rectangle 17"/>
          <p:cNvSpPr/>
          <p:nvPr/>
        </p:nvSpPr>
        <p:spPr>
          <a:xfrm>
            <a:off x="73152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20" name="TextBox 19"/>
          <p:cNvSpPr txBox="1"/>
          <p:nvPr/>
        </p:nvSpPr>
        <p:spPr>
          <a:xfrm>
            <a:off x="1691640" y="2560320"/>
            <a:ext cx="4297680" cy="274320"/>
          </a:xfrm>
          <a:prstGeom prst="rect">
            <a:avLst/>
          </a:prstGeom>
          <a:noFill/>
        </p:spPr>
        <p:txBody>
          <a:bodyPr wrap="square">
            <a:spAutoFit/>
          </a:bodyPr>
          <a:lstStyle/>
          <a:p>
            <a:pPr algn="l">
              <a:defRPr sz="1200" b="1" i="0">
                <a:solidFill>
                  <a:srgbClr val="003366"/>
                </a:solidFill>
              </a:defRPr>
            </a:pPr>
            <a:r>
              <a:t>Traçabilité des livraisons</a:t>
            </a:r>
          </a:p>
        </p:txBody>
      </p:sp>
      <p:sp>
        <p:nvSpPr>
          <p:cNvPr id="21" name="TextBox 20"/>
          <p:cNvSpPr txBox="1"/>
          <p:nvPr/>
        </p:nvSpPr>
        <p:spPr>
          <a:xfrm>
            <a:off x="1691640" y="2807208"/>
            <a:ext cx="4297680" cy="274320"/>
          </a:xfrm>
          <a:prstGeom prst="rect">
            <a:avLst/>
          </a:prstGeom>
          <a:noFill/>
        </p:spPr>
        <p:txBody>
          <a:bodyPr wrap="square">
            <a:spAutoFit/>
          </a:bodyPr>
          <a:lstStyle/>
          <a:p>
            <a:pPr algn="l">
              <a:defRPr sz="900" b="0" i="0">
                <a:solidFill>
                  <a:srgbClr val="666666"/>
                </a:solidFill>
              </a:defRPr>
            </a:pPr>
            <a:r>
              <a:t>Historique, document et numéro de mise en production</a:t>
            </a:r>
          </a:p>
        </p:txBody>
      </p:sp>
      <p:sp>
        <p:nvSpPr>
          <p:cNvPr id="22" name="Rounded Rectangle 21"/>
          <p:cNvSpPr/>
          <p:nvPr/>
        </p:nvSpPr>
        <p:spPr>
          <a:xfrm>
            <a:off x="640080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L1-L2-L3</a:t>
            </a:r>
          </a:p>
        </p:txBody>
      </p:sp>
      <p:sp>
        <p:nvSpPr>
          <p:cNvPr id="24" name="TextBox 23"/>
          <p:cNvSpPr txBox="1"/>
          <p:nvPr/>
        </p:nvSpPr>
        <p:spPr>
          <a:xfrm>
            <a:off x="7360920" y="2560320"/>
            <a:ext cx="4297680" cy="274320"/>
          </a:xfrm>
          <a:prstGeom prst="rect">
            <a:avLst/>
          </a:prstGeom>
          <a:noFill/>
        </p:spPr>
        <p:txBody>
          <a:bodyPr wrap="square">
            <a:spAutoFit/>
          </a:bodyPr>
          <a:lstStyle/>
          <a:p>
            <a:pPr algn="l">
              <a:defRPr sz="1200" b="1" i="0">
                <a:solidFill>
                  <a:srgbClr val="003366"/>
                </a:solidFill>
              </a:defRPr>
            </a:pPr>
            <a:r>
              <a:t>Ressources sensibles</a:t>
            </a:r>
          </a:p>
        </p:txBody>
      </p:sp>
      <p:sp>
        <p:nvSpPr>
          <p:cNvPr id="25" name="TextBox 24"/>
          <p:cNvSpPr txBox="1"/>
          <p:nvPr/>
        </p:nvSpPr>
        <p:spPr>
          <a:xfrm>
            <a:off x="7360920" y="2807208"/>
            <a:ext cx="4297680" cy="274320"/>
          </a:xfrm>
          <a:prstGeom prst="rect">
            <a:avLst/>
          </a:prstGeom>
          <a:noFill/>
        </p:spPr>
        <p:txBody>
          <a:bodyPr wrap="square">
            <a:spAutoFit/>
          </a:bodyPr>
          <a:lstStyle/>
          <a:p>
            <a:pPr algn="l">
              <a:defRPr sz="900" b="0" i="0">
                <a:solidFill>
                  <a:srgbClr val="666666"/>
                </a:solidFill>
              </a:defRPr>
            </a:pPr>
            <a:r>
              <a:t>Comptes de service, certificats, empreintes, alertes</a:t>
            </a:r>
          </a:p>
        </p:txBody>
      </p:sp>
      <p:sp>
        <p:nvSpPr>
          <p:cNvPr id="26" name="Rounded Rectangle 25"/>
          <p:cNvSpPr/>
          <p:nvPr/>
        </p:nvSpPr>
        <p:spPr>
          <a:xfrm>
            <a:off x="73152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28" name="TextBox 27"/>
          <p:cNvSpPr txBox="1"/>
          <p:nvPr/>
        </p:nvSpPr>
        <p:spPr>
          <a:xfrm>
            <a:off x="1691640" y="3246120"/>
            <a:ext cx="4297680" cy="274320"/>
          </a:xfrm>
          <a:prstGeom prst="rect">
            <a:avLst/>
          </a:prstGeom>
          <a:noFill/>
        </p:spPr>
        <p:txBody>
          <a:bodyPr wrap="square">
            <a:spAutoFit/>
          </a:bodyPr>
          <a:lstStyle/>
          <a:p>
            <a:pPr algn="l">
              <a:defRPr sz="1200" b="1" i="0">
                <a:solidFill>
                  <a:srgbClr val="003366"/>
                </a:solidFill>
              </a:defRPr>
            </a:pPr>
            <a:r>
              <a:t>Administration référentiels</a:t>
            </a:r>
          </a:p>
        </p:txBody>
      </p:sp>
      <p:sp>
        <p:nvSpPr>
          <p:cNvPr id="29" name="TextBox 28"/>
          <p:cNvSpPr txBox="1"/>
          <p:nvPr/>
        </p:nvSpPr>
        <p:spPr>
          <a:xfrm>
            <a:off x="1691640" y="3493008"/>
            <a:ext cx="4297680" cy="274320"/>
          </a:xfrm>
          <a:prstGeom prst="rect">
            <a:avLst/>
          </a:prstGeom>
          <a:noFill/>
        </p:spPr>
        <p:txBody>
          <a:bodyPr wrap="square">
            <a:spAutoFit/>
          </a:bodyPr>
          <a:lstStyle/>
          <a:p>
            <a:pPr algn="l">
              <a:defRPr sz="900" b="0" i="0">
                <a:solidFill>
                  <a:srgbClr val="666666"/>
                </a:solidFill>
              </a:defRPr>
            </a:pPr>
            <a:r>
              <a:t>8 écrans de gestion pour les tables de référence</a:t>
            </a:r>
          </a:p>
        </p:txBody>
      </p:sp>
      <p:sp>
        <p:nvSpPr>
          <p:cNvPr id="30" name="Rounded Rectangle 29"/>
          <p:cNvSpPr/>
          <p:nvPr/>
        </p:nvSpPr>
        <p:spPr>
          <a:xfrm>
            <a:off x="640080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796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2" name="TextBox 31"/>
          <p:cNvSpPr txBox="1"/>
          <p:nvPr/>
        </p:nvSpPr>
        <p:spPr>
          <a:xfrm>
            <a:off x="7360920" y="3246120"/>
            <a:ext cx="4297680" cy="274320"/>
          </a:xfrm>
          <a:prstGeom prst="rect">
            <a:avLst/>
          </a:prstGeom>
          <a:noFill/>
        </p:spPr>
        <p:txBody>
          <a:bodyPr wrap="square">
            <a:spAutoFit/>
          </a:bodyPr>
          <a:lstStyle/>
          <a:p>
            <a:pPr algn="l">
              <a:defRPr sz="1200" b="1" i="0">
                <a:solidFill>
                  <a:srgbClr val="003366"/>
                </a:solidFill>
              </a:defRPr>
            </a:pPr>
            <a:r>
              <a:t>Auditabilité</a:t>
            </a:r>
          </a:p>
        </p:txBody>
      </p:sp>
      <p:sp>
        <p:nvSpPr>
          <p:cNvPr id="33" name="TextBox 32"/>
          <p:cNvSpPr txBox="1"/>
          <p:nvPr/>
        </p:nvSpPr>
        <p:spPr>
          <a:xfrm>
            <a:off x="7360920" y="3493008"/>
            <a:ext cx="4297680" cy="274320"/>
          </a:xfrm>
          <a:prstGeom prst="rect">
            <a:avLst/>
          </a:prstGeom>
          <a:noFill/>
        </p:spPr>
        <p:txBody>
          <a:bodyPr wrap="square">
            <a:spAutoFit/>
          </a:bodyPr>
          <a:lstStyle/>
          <a:p>
            <a:pPr algn="l">
              <a:defRPr sz="900" b="0" i="0">
                <a:solidFill>
                  <a:srgbClr val="666666"/>
                </a:solidFill>
              </a:defRPr>
            </a:pPr>
            <a:r>
              <a:t>Historique des actions utilisateur, corrélation automatique</a:t>
            </a:r>
          </a:p>
        </p:txBody>
      </p:sp>
      <p:sp>
        <p:nvSpPr>
          <p:cNvPr id="34" name="Rounded Rectangle 33"/>
          <p:cNvSpPr/>
          <p:nvPr/>
        </p:nvSpPr>
        <p:spPr>
          <a:xfrm>
            <a:off x="3520440" y="38862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40050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6" name="TextBox 35"/>
          <p:cNvSpPr txBox="1"/>
          <p:nvPr/>
        </p:nvSpPr>
        <p:spPr>
          <a:xfrm>
            <a:off x="4480560" y="3931920"/>
            <a:ext cx="4297680" cy="274320"/>
          </a:xfrm>
          <a:prstGeom prst="rect">
            <a:avLst/>
          </a:prstGeom>
          <a:noFill/>
        </p:spPr>
        <p:txBody>
          <a:bodyPr wrap="square">
            <a:spAutoFit/>
          </a:bodyPr>
          <a:lstStyle/>
          <a:p>
            <a:pPr algn="l">
              <a:defRPr sz="1200" b="1" i="0">
                <a:solidFill>
                  <a:srgbClr val="003366"/>
                </a:solidFill>
              </a:defRPr>
            </a:pPr>
            <a:r>
              <a:t>Taxonomies</a:t>
            </a:r>
          </a:p>
        </p:txBody>
      </p:sp>
      <p:sp>
        <p:nvSpPr>
          <p:cNvPr id="37" name="TextBox 36"/>
          <p:cNvSpPr txBox="1"/>
          <p:nvPr/>
        </p:nvSpPr>
        <p:spPr>
          <a:xfrm>
            <a:off x="4480560" y="4178808"/>
            <a:ext cx="4297680" cy="274320"/>
          </a:xfrm>
          <a:prstGeom prst="rect">
            <a:avLst/>
          </a:prstGeom>
          <a:noFill/>
        </p:spPr>
        <p:txBody>
          <a:bodyPr wrap="square">
            <a:spAutoFit/>
          </a:bodyPr>
          <a:lstStyle/>
          <a:p>
            <a:pPr algn="l">
              <a:defRPr sz="900" b="0" i="0">
                <a:solidFill>
                  <a:srgbClr val="666666"/>
                </a:solidFill>
              </a:defRPr>
            </a:pPr>
            <a:r>
              <a:t>Marquage et filtrage des modules</a:t>
            </a:r>
          </a:p>
        </p:txBody>
      </p:sp>
      <p:sp>
        <p:nvSpPr>
          <p:cNvPr id="38" name="Rounded Rectangle 37"/>
          <p:cNvSpPr/>
          <p:nvPr/>
        </p:nvSpPr>
        <p:spPr>
          <a:xfrm>
            <a:off x="731520" y="5623560"/>
            <a:ext cx="10698480" cy="6858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5669280"/>
            <a:ext cx="10332720" cy="320040"/>
          </a:xfrm>
          <a:prstGeom prst="rect">
            <a:avLst/>
          </a:prstGeom>
          <a:noFill/>
        </p:spPr>
        <p:txBody>
          <a:bodyPr wrap="square">
            <a:spAutoFit/>
          </a:bodyPr>
          <a:lstStyle/>
          <a:p>
            <a:pPr algn="l">
              <a:defRPr sz="1200" b="1" i="0">
                <a:solidFill>
                  <a:srgbClr val="2E8B3D"/>
                </a:solidFill>
              </a:defRPr>
            </a:pPr>
            <a:r>
              <a:t>Point technique : protection côté serveur des applications archivées</a:t>
            </a:r>
          </a:p>
        </p:txBody>
      </p:sp>
      <p:sp>
        <p:nvSpPr>
          <p:cNvPr id="40" name="TextBox 39"/>
          <p:cNvSpPr txBox="1"/>
          <p:nvPr/>
        </p:nvSpPr>
        <p:spPr>
          <a:xfrm>
            <a:off x="914400" y="5989320"/>
            <a:ext cx="10332720" cy="320040"/>
          </a:xfrm>
          <a:prstGeom prst="rect">
            <a:avLst/>
          </a:prstGeom>
          <a:noFill/>
        </p:spPr>
        <p:txBody>
          <a:bodyPr wrap="square">
            <a:spAutoFit/>
          </a:bodyPr>
          <a:lstStyle/>
          <a:p>
            <a:pPr algn="l">
              <a:defRPr sz="1000" b="0" i="1">
                <a:solidFill>
                  <a:srgbClr val="333333"/>
                </a:solidFill>
              </a:defRPr>
            </a:pPr>
            <a:r>
              <a:t>Un contrôle purement client aurait pu être contourné par un appel direct à l'API.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v2 : écran d'enrichissement fonctionnel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28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Illustration d'une fonctionnalité livrée dans la version 2</a:t>
            </a:r>
          </a:p>
        </p:txBody>
      </p:sp>
      <p:sp>
        <p:nvSpPr>
          <p:cNvPr id="10" name="TextBox 9"/>
          <p:cNvSpPr txBox="1"/>
          <p:nvPr/>
        </p:nvSpPr>
        <p:spPr>
          <a:xfrm>
            <a:off x="1371600" y="1600200"/>
            <a:ext cx="9418320" cy="292388"/>
          </a:xfrm>
          <a:prstGeom prst="rect">
            <a:avLst/>
          </a:prstGeom>
          <a:noFill/>
        </p:spPr>
        <p:txBody>
          <a:bodyPr wrap="square">
            <a:spAutoFit/>
          </a:bodyPr>
          <a:lstStyle/>
          <a:p>
            <a:pPr algn="ctr">
              <a:defRPr sz="1300" b="1" i="0">
                <a:solidFill>
                  <a:srgbClr val="003366"/>
                </a:solidFill>
              </a:defRPr>
            </a:pPr>
            <a:r>
              <a:rPr dirty="0"/>
              <a:t>Capture - CS BAG v2 : </a:t>
            </a:r>
            <a:r>
              <a:rPr lang="fr-CH" dirty="0"/>
              <a:t>démo</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Recherche, filtres, indicateurs de chargement, gestion CRUD des 8 tables de référence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06</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 Elium Sauvegarde</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Intervention dictée par l'urgence</a:t>
            </a:r>
          </a:p>
        </p:txBody>
      </p:sp>
      <p:sp>
        <p:nvSpPr>
          <p:cNvPr id="7" name="Freeform 10">
            <a:extLst>
              <a:ext uri="{FF2B5EF4-FFF2-40B4-BE49-F238E27FC236}">
                <a16:creationId xmlns:a16="http://schemas.microsoft.com/office/drawing/2014/main" id="{A5EA7B89-7DB8-405D-AFF4-966983BFEB71}"/>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C7244BA8-1535-4DAD-98B7-0D64E5F72150}"/>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Contexte et fiabilisation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30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300" b="0" i="1">
                <a:solidFill>
                  <a:srgbClr val="666666"/>
                </a:solidFill>
              </a:defRPr>
            </a:pPr>
            <a:r>
              <a:t>Application console .NET 6 qui archive les articles Elium vers SharePoint Online</a:t>
            </a:r>
          </a:p>
        </p:txBody>
      </p:sp>
      <p:sp>
        <p:nvSpPr>
          <p:cNvPr id="10" name="Rounded Rectangle 9"/>
          <p:cNvSpPr/>
          <p:nvPr/>
        </p:nvSpPr>
        <p:spPr>
          <a:xfrm>
            <a:off x="73152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API GraphQL</a:t>
            </a:r>
          </a:p>
          <a:p>
            <a:pPr algn="ctr">
              <a:defRPr sz="1100" b="1">
                <a:solidFill>
                  <a:srgbClr val="333333"/>
                </a:solidFill>
              </a:defRPr>
            </a:pPr>
            <a:r>
              <a:t>Elium</a:t>
            </a:r>
          </a:p>
        </p:txBody>
      </p:sp>
      <p:sp>
        <p:nvSpPr>
          <p:cNvPr id="11" name="Right Arrow 10"/>
          <p:cNvSpPr/>
          <p:nvPr/>
        </p:nvSpPr>
        <p:spPr>
          <a:xfrm>
            <a:off x="301752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2468880"/>
            <a:ext cx="640080" cy="228600"/>
          </a:xfrm>
          <a:prstGeom prst="rect">
            <a:avLst/>
          </a:prstGeom>
          <a:noFill/>
        </p:spPr>
        <p:txBody>
          <a:bodyPr wrap="square">
            <a:spAutoFit/>
          </a:bodyPr>
          <a:lstStyle/>
          <a:p>
            <a:pPr algn="ctr">
              <a:defRPr sz="900" b="0" i="1">
                <a:solidFill>
                  <a:srgbClr val="666666"/>
                </a:solidFill>
              </a:defRPr>
            </a:pPr>
            <a:r>
              <a:t>lots 100</a:t>
            </a:r>
          </a:p>
        </p:txBody>
      </p:sp>
      <p:sp>
        <p:nvSpPr>
          <p:cNvPr id="13" name="Rounded Rectangle 12"/>
          <p:cNvSpPr/>
          <p:nvPr/>
        </p:nvSpPr>
        <p:spPr>
          <a:xfrm>
            <a:off x="3520440" y="1828800"/>
            <a:ext cx="2194560" cy="9144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Elium Sauvegarde</a:t>
            </a:r>
          </a:p>
          <a:p>
            <a:pPr algn="ctr">
              <a:defRPr sz="1100" b="1">
                <a:solidFill>
                  <a:srgbClr val="FFFFFF"/>
                </a:solidFill>
              </a:defRPr>
            </a:pPr>
            <a:r>
              <a:t>(console .NET 6)</a:t>
            </a:r>
          </a:p>
        </p:txBody>
      </p:sp>
      <p:sp>
        <p:nvSpPr>
          <p:cNvPr id="14" name="Right Arrow 13"/>
          <p:cNvSpPr/>
          <p:nvPr/>
        </p:nvSpPr>
        <p:spPr>
          <a:xfrm>
            <a:off x="580644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09360" y="1828800"/>
            <a:ext cx="219456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Microsoft</a:t>
            </a:r>
          </a:p>
          <a:p>
            <a:pPr algn="ctr">
              <a:defRPr sz="1100" b="1">
                <a:solidFill>
                  <a:srgbClr val="333333"/>
                </a:solidFill>
              </a:defRPr>
            </a:pPr>
            <a:r>
              <a:t>Graph</a:t>
            </a:r>
          </a:p>
        </p:txBody>
      </p:sp>
      <p:sp>
        <p:nvSpPr>
          <p:cNvPr id="16" name="Right Arrow 15"/>
          <p:cNvSpPr/>
          <p:nvPr/>
        </p:nvSpPr>
        <p:spPr>
          <a:xfrm>
            <a:off x="8595360" y="2148840"/>
            <a:ext cx="365760" cy="274320"/>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098280" y="1828800"/>
            <a:ext cx="2331720" cy="91440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333333"/>
                </a:solidFill>
              </a:defRPr>
            </a:pPr>
            <a:r>
              <a:t>Pages SharePoint</a:t>
            </a:r>
          </a:p>
          <a:p>
            <a:pPr algn="ctr">
              <a:defRPr sz="1100" b="1">
                <a:solidFill>
                  <a:srgbClr val="333333"/>
                </a:solidFill>
              </a:defRPr>
            </a:pPr>
            <a:r>
              <a:t>Online</a:t>
            </a:r>
          </a:p>
        </p:txBody>
      </p:sp>
      <p:sp>
        <p:nvSpPr>
          <p:cNvPr id="18" name="Rounded Rectangle 17"/>
          <p:cNvSpPr/>
          <p:nvPr/>
        </p:nvSpPr>
        <p:spPr>
          <a:xfrm>
            <a:off x="731520" y="3017520"/>
            <a:ext cx="10698480" cy="685800"/>
          </a:xfrm>
          <a:prstGeom prst="roundRect">
            <a:avLst/>
          </a:prstGeom>
          <a:solidFill>
            <a:srgbClr val="F0F0F0"/>
          </a:solidFill>
          <a:ln w="1905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063240"/>
            <a:ext cx="10332720" cy="320040"/>
          </a:xfrm>
          <a:prstGeom prst="rect">
            <a:avLst/>
          </a:prstGeom>
          <a:noFill/>
        </p:spPr>
        <p:txBody>
          <a:bodyPr wrap="square">
            <a:spAutoFit/>
          </a:bodyPr>
          <a:lstStyle/>
          <a:p>
            <a:pPr algn="l">
              <a:defRPr sz="1300" b="1" i="0">
                <a:solidFill>
                  <a:srgbClr val="E2001A"/>
                </a:solidFill>
              </a:defRPr>
            </a:pPr>
            <a:r>
              <a:t>Problème diagnostiqué : logique tout-ou-rien</a:t>
            </a:r>
          </a:p>
        </p:txBody>
      </p:sp>
      <p:sp>
        <p:nvSpPr>
          <p:cNvPr id="20" name="TextBox 19"/>
          <p:cNvSpPr txBox="1"/>
          <p:nvPr/>
        </p:nvSpPr>
        <p:spPr>
          <a:xfrm>
            <a:off x="914400" y="3383280"/>
            <a:ext cx="10332720" cy="320040"/>
          </a:xfrm>
          <a:prstGeom prst="rect">
            <a:avLst/>
          </a:prstGeom>
          <a:noFill/>
        </p:spPr>
        <p:txBody>
          <a:bodyPr wrap="square">
            <a:spAutoFit/>
          </a:bodyPr>
          <a:lstStyle/>
          <a:p>
            <a:pPr algn="l">
              <a:defRPr sz="1100" b="0" i="0">
                <a:solidFill>
                  <a:srgbClr val="333333"/>
                </a:solidFill>
              </a:defRPr>
            </a:pPr>
            <a:r>
              <a:t>L'exécution s'interrompait sur un article particulier, sans que les suivants soient traités.</a:t>
            </a:r>
          </a:p>
        </p:txBody>
      </p:sp>
      <p:sp>
        <p:nvSpPr>
          <p:cNvPr id="21" name="TextBox 20"/>
          <p:cNvSpPr txBox="1"/>
          <p:nvPr/>
        </p:nvSpPr>
        <p:spPr>
          <a:xfrm>
            <a:off x="731520" y="3886200"/>
            <a:ext cx="10698480" cy="365760"/>
          </a:xfrm>
          <a:prstGeom prst="rect">
            <a:avLst/>
          </a:prstGeom>
          <a:noFill/>
        </p:spPr>
        <p:txBody>
          <a:bodyPr wrap="square">
            <a:spAutoFit/>
          </a:bodyPr>
          <a:lstStyle/>
          <a:p>
            <a:pPr algn="ctr">
              <a:defRPr sz="1400" b="1" i="0">
                <a:solidFill>
                  <a:srgbClr val="003366"/>
                </a:solidFill>
              </a:defRPr>
            </a:pPr>
            <a:r>
              <a:t>Trois options étudiées</a:t>
            </a:r>
          </a:p>
        </p:txBody>
      </p:sp>
      <p:sp>
        <p:nvSpPr>
          <p:cNvPr id="22" name="Rounded Rectangle 21"/>
          <p:cNvSpPr/>
          <p:nvPr/>
        </p:nvSpPr>
        <p:spPr>
          <a:xfrm>
            <a:off x="731520"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434840"/>
            <a:ext cx="3200400" cy="320040"/>
          </a:xfrm>
          <a:prstGeom prst="rect">
            <a:avLst/>
          </a:prstGeom>
          <a:noFill/>
        </p:spPr>
        <p:txBody>
          <a:bodyPr wrap="square">
            <a:spAutoFit/>
          </a:bodyPr>
          <a:lstStyle/>
          <a:p>
            <a:pPr algn="l">
              <a:defRPr sz="1300" b="1" i="0">
                <a:solidFill>
                  <a:srgbClr val="E2001A"/>
                </a:solidFill>
              </a:defRPr>
            </a:pPr>
            <a:r>
              <a:t>Relancer l'exécution</a:t>
            </a:r>
          </a:p>
        </p:txBody>
      </p:sp>
      <p:sp>
        <p:nvSpPr>
          <p:cNvPr id="24" name="TextBox 23"/>
          <p:cNvSpPr txBox="1"/>
          <p:nvPr/>
        </p:nvSpPr>
        <p:spPr>
          <a:xfrm>
            <a:off x="914400" y="4800600"/>
            <a:ext cx="3200400" cy="868680"/>
          </a:xfrm>
          <a:prstGeom prst="rect">
            <a:avLst/>
          </a:prstGeom>
          <a:noFill/>
        </p:spPr>
        <p:txBody>
          <a:bodyPr wrap="square">
            <a:spAutoFit/>
          </a:bodyPr>
          <a:lstStyle/>
          <a:p>
            <a:pPr algn="l">
              <a:defRPr sz="1000" b="0" i="0">
                <a:solidFill>
                  <a:srgbClr val="666666"/>
                </a:solidFill>
              </a:defRPr>
            </a:pPr>
            <a:r>
              <a:t>Échoue au même endroit tant que l'article fautif est présent</a:t>
            </a:r>
          </a:p>
        </p:txBody>
      </p:sp>
      <p:sp>
        <p:nvSpPr>
          <p:cNvPr id="25" name="Rounded Rectangle 24"/>
          <p:cNvSpPr/>
          <p:nvPr/>
        </p:nvSpPr>
        <p:spPr>
          <a:xfrm>
            <a:off x="1828800"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Écartée</a:t>
            </a:r>
          </a:p>
        </p:txBody>
      </p:sp>
      <p:sp>
        <p:nvSpPr>
          <p:cNvPr id="26" name="Rounded Rectangle 25"/>
          <p:cNvSpPr/>
          <p:nvPr/>
        </p:nvSpPr>
        <p:spPr>
          <a:xfrm>
            <a:off x="4480559" y="4343400"/>
            <a:ext cx="3520440" cy="1691640"/>
          </a:xfrm>
          <a:prstGeom prst="roundRect">
            <a:avLst/>
          </a:prstGeom>
          <a:solidFill>
            <a:srgbClr val="FFFFFF"/>
          </a:solidFill>
          <a:ln w="12700">
            <a:solidFill>
              <a:srgbClr val="E20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63439" y="4434840"/>
            <a:ext cx="3200400" cy="320040"/>
          </a:xfrm>
          <a:prstGeom prst="rect">
            <a:avLst/>
          </a:prstGeom>
          <a:noFill/>
        </p:spPr>
        <p:txBody>
          <a:bodyPr wrap="square">
            <a:spAutoFit/>
          </a:bodyPr>
          <a:lstStyle/>
          <a:p>
            <a:pPr algn="l">
              <a:defRPr sz="1300" b="1" i="0">
                <a:solidFill>
                  <a:srgbClr val="E2001A"/>
                </a:solidFill>
              </a:defRPr>
            </a:pPr>
            <a:r>
              <a:t>Exclure les articles</a:t>
            </a:r>
          </a:p>
        </p:txBody>
      </p:sp>
      <p:sp>
        <p:nvSpPr>
          <p:cNvPr id="28" name="TextBox 27"/>
          <p:cNvSpPr txBox="1"/>
          <p:nvPr/>
        </p:nvSpPr>
        <p:spPr>
          <a:xfrm>
            <a:off x="4663439" y="4800600"/>
            <a:ext cx="3200400" cy="868680"/>
          </a:xfrm>
          <a:prstGeom prst="rect">
            <a:avLst/>
          </a:prstGeom>
          <a:noFill/>
        </p:spPr>
        <p:txBody>
          <a:bodyPr wrap="square">
            <a:spAutoFit/>
          </a:bodyPr>
          <a:lstStyle/>
          <a:p>
            <a:pPr algn="l">
              <a:defRPr sz="1000" b="0" i="0">
                <a:solidFill>
                  <a:srgbClr val="666666"/>
                </a:solidFill>
              </a:defRPr>
            </a:pPr>
            <a:r>
              <a:t>Liste d'exclusion maintenue à la main, ne couvre pas les cas futurs</a:t>
            </a:r>
          </a:p>
        </p:txBody>
      </p:sp>
      <p:sp>
        <p:nvSpPr>
          <p:cNvPr id="29" name="Rounded Rectangle 28"/>
          <p:cNvSpPr/>
          <p:nvPr/>
        </p:nvSpPr>
        <p:spPr>
          <a:xfrm>
            <a:off x="5577839" y="5669280"/>
            <a:ext cx="1280160" cy="320040"/>
          </a:xfrm>
          <a:prstGeom prst="round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Écartée</a:t>
            </a:r>
          </a:p>
        </p:txBody>
      </p:sp>
      <p:sp>
        <p:nvSpPr>
          <p:cNvPr id="30" name="Rounded Rectangle 29"/>
          <p:cNvSpPr/>
          <p:nvPr/>
        </p:nvSpPr>
        <p:spPr>
          <a:xfrm>
            <a:off x="8229598" y="4343400"/>
            <a:ext cx="3520440" cy="169164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78" y="4434840"/>
            <a:ext cx="3200400" cy="320040"/>
          </a:xfrm>
          <a:prstGeom prst="rect">
            <a:avLst/>
          </a:prstGeom>
          <a:noFill/>
        </p:spPr>
        <p:txBody>
          <a:bodyPr wrap="square">
            <a:spAutoFit/>
          </a:bodyPr>
          <a:lstStyle/>
          <a:p>
            <a:pPr algn="l">
              <a:defRPr sz="1300" b="1" i="0">
                <a:solidFill>
                  <a:srgbClr val="2E8B3D"/>
                </a:solidFill>
              </a:defRPr>
            </a:pPr>
            <a:r>
              <a:t>Isoler chaque article</a:t>
            </a:r>
          </a:p>
        </p:txBody>
      </p:sp>
      <p:sp>
        <p:nvSpPr>
          <p:cNvPr id="32" name="TextBox 31"/>
          <p:cNvSpPr txBox="1"/>
          <p:nvPr/>
        </p:nvSpPr>
        <p:spPr>
          <a:xfrm>
            <a:off x="8412478" y="4800600"/>
            <a:ext cx="3200400" cy="868680"/>
          </a:xfrm>
          <a:prstGeom prst="rect">
            <a:avLst/>
          </a:prstGeom>
          <a:noFill/>
        </p:spPr>
        <p:txBody>
          <a:bodyPr wrap="square">
            <a:spAutoFit/>
          </a:bodyPr>
          <a:lstStyle/>
          <a:p>
            <a:pPr algn="l">
              <a:defRPr sz="1000" b="0" i="0">
                <a:solidFill>
                  <a:srgbClr val="666666"/>
                </a:solidFill>
              </a:defRPr>
            </a:pPr>
            <a:r>
              <a:t>Traiter chaque article indépendamment, une anomalie unitaire n'affecte plus le tout</a:t>
            </a:r>
          </a:p>
        </p:txBody>
      </p:sp>
      <p:sp>
        <p:nvSpPr>
          <p:cNvPr id="33" name="Rounded Rectangle 32"/>
          <p:cNvSpPr/>
          <p:nvPr/>
        </p:nvSpPr>
        <p:spPr>
          <a:xfrm>
            <a:off x="9326878" y="5669280"/>
            <a:ext cx="128016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Retenue</a:t>
            </a:r>
          </a:p>
        </p:txBody>
      </p:sp>
      <p:sp>
        <p:nvSpPr>
          <p:cNvPr id="34" name="TextBox 33"/>
          <p:cNvSpPr txBox="1"/>
          <p:nvPr/>
        </p:nvSpPr>
        <p:spPr>
          <a:xfrm>
            <a:off x="731520" y="6172200"/>
            <a:ext cx="10698480" cy="274320"/>
          </a:xfrm>
          <a:prstGeom prst="rect">
            <a:avLst/>
          </a:prstGeom>
          <a:noFill/>
        </p:spPr>
        <p:txBody>
          <a:bodyPr wrap="square">
            <a:spAutoFit/>
          </a:bodyPr>
          <a:lstStyle/>
          <a:p>
            <a:pPr algn="ctr">
              <a:defRPr sz="1100" b="1" i="1">
                <a:solidFill>
                  <a:srgbClr val="2E8B3D"/>
                </a:solidFill>
              </a:defRPr>
            </a:pPr>
            <a:r>
              <a:t>En complément : création automatique des dossiers SharePoint, observabilité refondue (résumé final).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08</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Recul et compétences acquises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Ce que l'expérience m'a réellement apporté</a:t>
            </a:r>
          </a:p>
        </p:txBody>
      </p:sp>
      <p:sp>
        <p:nvSpPr>
          <p:cNvPr id="7" name="Freeform 10">
            <a:extLst>
              <a:ext uri="{FF2B5EF4-FFF2-40B4-BE49-F238E27FC236}">
                <a16:creationId xmlns:a16="http://schemas.microsoft.com/office/drawing/2014/main" id="{C78055A4-B73E-452C-87E0-0C22666AD50E}"/>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4E64E442-D1A6-4848-9CC9-691220BBB619}"/>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RECUL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Apports du stage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34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ounded Rectangle 8"/>
          <p:cNvSpPr/>
          <p:nvPr/>
        </p:nvSpPr>
        <p:spPr>
          <a:xfrm>
            <a:off x="731520" y="1371600"/>
            <a:ext cx="3520440" cy="49377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1371600"/>
            <a:ext cx="3520440" cy="5486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techniques</a:t>
            </a:r>
          </a:p>
        </p:txBody>
      </p:sp>
      <p:sp>
        <p:nvSpPr>
          <p:cNvPr id="11" name="Oval 10"/>
          <p:cNvSpPr/>
          <p:nvPr/>
        </p:nvSpPr>
        <p:spPr>
          <a:xfrm>
            <a:off x="960120" y="222199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2103120"/>
            <a:ext cx="3017520" cy="685800"/>
          </a:xfrm>
          <a:prstGeom prst="rect">
            <a:avLst/>
          </a:prstGeom>
          <a:noFill/>
        </p:spPr>
        <p:txBody>
          <a:bodyPr wrap="square">
            <a:spAutoFit/>
          </a:bodyPr>
          <a:lstStyle/>
          <a:p>
            <a:pPr algn="l">
              <a:defRPr sz="1000" b="0" i="0">
                <a:solidFill>
                  <a:srgbClr val="333333"/>
                </a:solidFill>
              </a:defRPr>
            </a:pPr>
            <a:r>
              <a:t>Travailler sur un système en production, pas depuis une page blanche</a:t>
            </a:r>
          </a:p>
        </p:txBody>
      </p:sp>
      <p:sp>
        <p:nvSpPr>
          <p:cNvPr id="13" name="Oval 12"/>
          <p:cNvSpPr/>
          <p:nvPr/>
        </p:nvSpPr>
        <p:spPr>
          <a:xfrm>
            <a:off x="960120" y="299923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88720" y="2880360"/>
            <a:ext cx="3017520" cy="685800"/>
          </a:xfrm>
          <a:prstGeom prst="rect">
            <a:avLst/>
          </a:prstGeom>
          <a:noFill/>
        </p:spPr>
        <p:txBody>
          <a:bodyPr wrap="square">
            <a:spAutoFit/>
          </a:bodyPr>
          <a:lstStyle/>
          <a:p>
            <a:pPr algn="l">
              <a:defRPr sz="1000" b="0" i="0">
                <a:solidFill>
                  <a:srgbClr val="333333"/>
                </a:solidFill>
              </a:defRPr>
            </a:pPr>
            <a:r>
              <a:t>Analyse de données réelles avant de coder</a:t>
            </a:r>
          </a:p>
        </p:txBody>
      </p:sp>
      <p:sp>
        <p:nvSpPr>
          <p:cNvPr id="15" name="Oval 14"/>
          <p:cNvSpPr/>
          <p:nvPr/>
        </p:nvSpPr>
        <p:spPr>
          <a:xfrm>
            <a:off x="960120" y="377647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3657600"/>
            <a:ext cx="3017520" cy="685800"/>
          </a:xfrm>
          <a:prstGeom prst="rect">
            <a:avLst/>
          </a:prstGeom>
          <a:noFill/>
        </p:spPr>
        <p:txBody>
          <a:bodyPr wrap="square">
            <a:spAutoFit/>
          </a:bodyPr>
          <a:lstStyle/>
          <a:p>
            <a:pPr algn="l">
              <a:defRPr sz="1000" b="0" i="0">
                <a:solidFill>
                  <a:srgbClr val="333333"/>
                </a:solidFill>
              </a:defRPr>
            </a:pPr>
            <a:r>
              <a:t>Migration palier par palier plutôt que saut unique</a:t>
            </a:r>
          </a:p>
        </p:txBody>
      </p:sp>
      <p:sp>
        <p:nvSpPr>
          <p:cNvPr id="17" name="Oval 16"/>
          <p:cNvSpPr/>
          <p:nvPr/>
        </p:nvSpPr>
        <p:spPr>
          <a:xfrm>
            <a:off x="960120" y="455371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4434840"/>
            <a:ext cx="3017520" cy="685800"/>
          </a:xfrm>
          <a:prstGeom prst="rect">
            <a:avLst/>
          </a:prstGeom>
          <a:noFill/>
        </p:spPr>
        <p:txBody>
          <a:bodyPr wrap="square">
            <a:spAutoFit/>
          </a:bodyPr>
          <a:lstStyle/>
          <a:p>
            <a:pPr algn="l">
              <a:defRPr sz="1000" b="0" i="0">
                <a:solidFill>
                  <a:srgbClr val="333333"/>
                </a:solidFill>
              </a:defRPr>
            </a:pPr>
            <a:r>
              <a:t>Observabilité : un traitement sans traces = non validable</a:t>
            </a:r>
          </a:p>
        </p:txBody>
      </p:sp>
      <p:sp>
        <p:nvSpPr>
          <p:cNvPr id="19" name="Oval 18"/>
          <p:cNvSpPr/>
          <p:nvPr/>
        </p:nvSpPr>
        <p:spPr>
          <a:xfrm>
            <a:off x="960120" y="5330952"/>
            <a:ext cx="118872" cy="118872"/>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5212080"/>
            <a:ext cx="3017520" cy="685800"/>
          </a:xfrm>
          <a:prstGeom prst="rect">
            <a:avLst/>
          </a:prstGeom>
          <a:noFill/>
        </p:spPr>
        <p:txBody>
          <a:bodyPr wrap="square">
            <a:spAutoFit/>
          </a:bodyPr>
          <a:lstStyle/>
          <a:p>
            <a:pPr algn="l">
              <a:defRPr sz="1000" b="0" i="0">
                <a:solidFill>
                  <a:srgbClr val="333333"/>
                </a:solidFill>
              </a:defRPr>
            </a:pPr>
            <a:r>
              <a:t>Sécurité côté serveur (pas seulement côté client)</a:t>
            </a:r>
          </a:p>
        </p:txBody>
      </p:sp>
      <p:sp>
        <p:nvSpPr>
          <p:cNvPr id="21" name="Rounded Rectangle 20"/>
          <p:cNvSpPr/>
          <p:nvPr/>
        </p:nvSpPr>
        <p:spPr>
          <a:xfrm>
            <a:off x="4480559" y="1371600"/>
            <a:ext cx="3520440" cy="493776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1371600"/>
            <a:ext cx="3520440" cy="54864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Apports humains</a:t>
            </a:r>
          </a:p>
        </p:txBody>
      </p:sp>
      <p:sp>
        <p:nvSpPr>
          <p:cNvPr id="23" name="Oval 22"/>
          <p:cNvSpPr/>
          <p:nvPr/>
        </p:nvSpPr>
        <p:spPr>
          <a:xfrm>
            <a:off x="4709159" y="222199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37759" y="2103120"/>
            <a:ext cx="3017520" cy="685800"/>
          </a:xfrm>
          <a:prstGeom prst="rect">
            <a:avLst/>
          </a:prstGeom>
          <a:noFill/>
        </p:spPr>
        <p:txBody>
          <a:bodyPr wrap="square">
            <a:spAutoFit/>
          </a:bodyPr>
          <a:lstStyle/>
          <a:p>
            <a:pPr algn="l">
              <a:defRPr sz="1000" b="0" i="0">
                <a:solidFill>
                  <a:srgbClr val="333333"/>
                </a:solidFill>
              </a:defRPr>
            </a:pPr>
            <a:r>
              <a:t>Identifier le bon interlocuteur selon la question</a:t>
            </a:r>
          </a:p>
        </p:txBody>
      </p:sp>
      <p:sp>
        <p:nvSpPr>
          <p:cNvPr id="25" name="Oval 24"/>
          <p:cNvSpPr/>
          <p:nvPr/>
        </p:nvSpPr>
        <p:spPr>
          <a:xfrm>
            <a:off x="4709159" y="299923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37759" y="2880360"/>
            <a:ext cx="3017520" cy="685800"/>
          </a:xfrm>
          <a:prstGeom prst="rect">
            <a:avLst/>
          </a:prstGeom>
          <a:noFill/>
        </p:spPr>
        <p:txBody>
          <a:bodyPr wrap="square">
            <a:spAutoFit/>
          </a:bodyPr>
          <a:lstStyle/>
          <a:p>
            <a:pPr algn="l">
              <a:defRPr sz="1000" b="0" i="0">
                <a:solidFill>
                  <a:srgbClr val="333333"/>
                </a:solidFill>
              </a:defRPr>
            </a:pPr>
            <a:r>
              <a:t>Cahier de retours = écart entre compris et attendu</a:t>
            </a:r>
          </a:p>
        </p:txBody>
      </p:sp>
      <p:sp>
        <p:nvSpPr>
          <p:cNvPr id="27" name="Oval 26"/>
          <p:cNvSpPr/>
          <p:nvPr/>
        </p:nvSpPr>
        <p:spPr>
          <a:xfrm>
            <a:off x="4709159" y="377647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59" y="3657600"/>
            <a:ext cx="3017520" cy="685800"/>
          </a:xfrm>
          <a:prstGeom prst="rect">
            <a:avLst/>
          </a:prstGeom>
          <a:noFill/>
        </p:spPr>
        <p:txBody>
          <a:bodyPr wrap="square">
            <a:spAutoFit/>
          </a:bodyPr>
          <a:lstStyle/>
          <a:p>
            <a:pPr algn="l">
              <a:defRPr sz="1000" b="0" i="0">
                <a:solidFill>
                  <a:srgbClr val="333333"/>
                </a:solidFill>
              </a:defRPr>
            </a:pPr>
            <a:r>
              <a:t>Formuler un problème technique pour un non-technique</a:t>
            </a:r>
          </a:p>
        </p:txBody>
      </p:sp>
      <p:sp>
        <p:nvSpPr>
          <p:cNvPr id="29" name="Oval 28"/>
          <p:cNvSpPr/>
          <p:nvPr/>
        </p:nvSpPr>
        <p:spPr>
          <a:xfrm>
            <a:off x="4709159" y="455371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59" y="4434840"/>
            <a:ext cx="3017520" cy="685800"/>
          </a:xfrm>
          <a:prstGeom prst="rect">
            <a:avLst/>
          </a:prstGeom>
          <a:noFill/>
        </p:spPr>
        <p:txBody>
          <a:bodyPr wrap="square">
            <a:spAutoFit/>
          </a:bodyPr>
          <a:lstStyle/>
          <a:p>
            <a:pPr algn="l">
              <a:defRPr sz="1000" b="0" i="0">
                <a:solidFill>
                  <a:srgbClr val="333333"/>
                </a:solidFill>
              </a:defRPr>
            </a:pPr>
            <a:r>
              <a:t>Remonter un bloquant tôt n'est pas un aveu de faiblesse</a:t>
            </a:r>
          </a:p>
        </p:txBody>
      </p:sp>
      <p:sp>
        <p:nvSpPr>
          <p:cNvPr id="31" name="Oval 30"/>
          <p:cNvSpPr/>
          <p:nvPr/>
        </p:nvSpPr>
        <p:spPr>
          <a:xfrm>
            <a:off x="4709159" y="5330952"/>
            <a:ext cx="118872" cy="118872"/>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37759" y="5212080"/>
            <a:ext cx="3017520" cy="685800"/>
          </a:xfrm>
          <a:prstGeom prst="rect">
            <a:avLst/>
          </a:prstGeom>
          <a:noFill/>
        </p:spPr>
        <p:txBody>
          <a:bodyPr wrap="square">
            <a:spAutoFit/>
          </a:bodyPr>
          <a:lstStyle/>
          <a:p>
            <a:pPr algn="l">
              <a:defRPr sz="1000" b="0" i="0">
                <a:solidFill>
                  <a:srgbClr val="333333"/>
                </a:solidFill>
              </a:defRPr>
            </a:pPr>
            <a:r>
              <a:t>Gestion des priorités : basculer selon l'impact</a:t>
            </a:r>
          </a:p>
        </p:txBody>
      </p:sp>
      <p:sp>
        <p:nvSpPr>
          <p:cNvPr id="33" name="Rounded Rectangle 32"/>
          <p:cNvSpPr/>
          <p:nvPr/>
        </p:nvSpPr>
        <p:spPr>
          <a:xfrm>
            <a:off x="8229598" y="1371600"/>
            <a:ext cx="3520440" cy="49377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29598" y="1371600"/>
            <a:ext cx="3520440" cy="548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Lien avec ENSIM</a:t>
            </a:r>
          </a:p>
        </p:txBody>
      </p:sp>
      <p:sp>
        <p:nvSpPr>
          <p:cNvPr id="35" name="Oval 34"/>
          <p:cNvSpPr/>
          <p:nvPr/>
        </p:nvSpPr>
        <p:spPr>
          <a:xfrm>
            <a:off x="8458198" y="222199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798" y="2103120"/>
            <a:ext cx="3017520" cy="685800"/>
          </a:xfrm>
          <a:prstGeom prst="rect">
            <a:avLst/>
          </a:prstGeom>
          <a:noFill/>
        </p:spPr>
        <p:txBody>
          <a:bodyPr wrap="square">
            <a:spAutoFit/>
          </a:bodyPr>
          <a:lstStyle/>
          <a:p>
            <a:pPr algn="l">
              <a:defRPr sz="1000" b="0" i="0">
                <a:solidFill>
                  <a:srgbClr val="333333"/>
                </a:solidFill>
              </a:defRPr>
            </a:pPr>
            <a:r>
              <a:t>BDD relationnelles : formes normales appliquées</a:t>
            </a:r>
          </a:p>
        </p:txBody>
      </p:sp>
      <p:sp>
        <p:nvSpPr>
          <p:cNvPr id="37" name="Oval 36"/>
          <p:cNvSpPr/>
          <p:nvPr/>
        </p:nvSpPr>
        <p:spPr>
          <a:xfrm>
            <a:off x="8458198" y="299923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6798" y="2880360"/>
            <a:ext cx="3017520" cy="685800"/>
          </a:xfrm>
          <a:prstGeom prst="rect">
            <a:avLst/>
          </a:prstGeom>
          <a:noFill/>
        </p:spPr>
        <p:txBody>
          <a:bodyPr wrap="square">
            <a:spAutoFit/>
          </a:bodyPr>
          <a:lstStyle/>
          <a:p>
            <a:pPr algn="l">
              <a:defRPr sz="1000" b="0" i="0">
                <a:solidFill>
                  <a:srgbClr val="333333"/>
                </a:solidFill>
              </a:defRPr>
            </a:pPr>
            <a:r>
              <a:t>Génie logiciel / architecture n-tiers concrétisée</a:t>
            </a:r>
          </a:p>
        </p:txBody>
      </p:sp>
      <p:sp>
        <p:nvSpPr>
          <p:cNvPr id="39" name="Oval 38"/>
          <p:cNvSpPr/>
          <p:nvPr/>
        </p:nvSpPr>
        <p:spPr>
          <a:xfrm>
            <a:off x="8458198" y="377647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798" y="3657600"/>
            <a:ext cx="3017520" cy="685800"/>
          </a:xfrm>
          <a:prstGeom prst="rect">
            <a:avLst/>
          </a:prstGeom>
          <a:noFill/>
        </p:spPr>
        <p:txBody>
          <a:bodyPr wrap="square">
            <a:spAutoFit/>
          </a:bodyPr>
          <a:lstStyle/>
          <a:p>
            <a:pPr algn="l">
              <a:defRPr sz="1000" b="0" i="0">
                <a:solidFill>
                  <a:srgbClr val="333333"/>
                </a:solidFill>
              </a:defRPr>
            </a:pPr>
            <a:r>
              <a:t>Programmation objet : rapidité d'appropriation</a:t>
            </a:r>
          </a:p>
        </p:txBody>
      </p:sp>
      <p:sp>
        <p:nvSpPr>
          <p:cNvPr id="41" name="Oval 40"/>
          <p:cNvSpPr/>
          <p:nvPr/>
        </p:nvSpPr>
        <p:spPr>
          <a:xfrm>
            <a:off x="8458198" y="455371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798" y="4434840"/>
            <a:ext cx="3017520" cy="685800"/>
          </a:xfrm>
          <a:prstGeom prst="rect">
            <a:avLst/>
          </a:prstGeom>
          <a:noFill/>
        </p:spPr>
        <p:txBody>
          <a:bodyPr wrap="square">
            <a:spAutoFit/>
          </a:bodyPr>
          <a:lstStyle/>
          <a:p>
            <a:pPr algn="l">
              <a:defRPr sz="1000" b="0" i="0">
                <a:solidFill>
                  <a:srgbClr val="333333"/>
                </a:solidFill>
              </a:defRPr>
            </a:pPr>
            <a:r>
              <a:t>Spécialité IPS : dette ergonomique, historique lisible</a:t>
            </a:r>
          </a:p>
        </p:txBody>
      </p:sp>
      <p:sp>
        <p:nvSpPr>
          <p:cNvPr id="43" name="Oval 42"/>
          <p:cNvSpPr/>
          <p:nvPr/>
        </p:nvSpPr>
        <p:spPr>
          <a:xfrm>
            <a:off x="8458198" y="5330952"/>
            <a:ext cx="118872" cy="1188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86798" y="5212080"/>
            <a:ext cx="3017520" cy="685800"/>
          </a:xfrm>
          <a:prstGeom prst="rect">
            <a:avLst/>
          </a:prstGeom>
          <a:noFill/>
        </p:spPr>
        <p:txBody>
          <a:bodyPr wrap="square">
            <a:spAutoFit/>
          </a:bodyPr>
          <a:lstStyle/>
          <a:p>
            <a:pPr algn="l">
              <a:defRPr sz="1000" b="0" i="0">
                <a:solidFill>
                  <a:srgbClr val="333333"/>
                </a:solidFill>
              </a:defRPr>
            </a:pPr>
            <a:r>
              <a:t>Écarts à combler : Cloud, déploiement automatisé, tests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09</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Conclusion et perspectives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Bilan global et suite du projet</a:t>
            </a:r>
          </a:p>
        </p:txBody>
      </p:sp>
      <p:sp>
        <p:nvSpPr>
          <p:cNvPr id="7" name="Freeform 10">
            <a:extLst>
              <a:ext uri="{FF2B5EF4-FFF2-40B4-BE49-F238E27FC236}">
                <a16:creationId xmlns:a16="http://schemas.microsoft.com/office/drawing/2014/main" id="{5E1A64E5-4576-4D0B-A1BD-891E4CB65664}"/>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604F985-218E-4F55-9F17-AFA12A8896AC}"/>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CONCLUSION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Conclusion et perspectives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36 / 37</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1" name="TextBox 10"/>
          <p:cNvSpPr txBox="1"/>
          <p:nvPr/>
        </p:nvSpPr>
        <p:spPr>
          <a:xfrm>
            <a:off x="731520" y="1737360"/>
            <a:ext cx="10698480" cy="365760"/>
          </a:xfrm>
          <a:prstGeom prst="rect">
            <a:avLst/>
          </a:prstGeom>
          <a:noFill/>
        </p:spPr>
        <p:txBody>
          <a:bodyPr wrap="square">
            <a:spAutoFit/>
          </a:bodyPr>
          <a:lstStyle/>
          <a:p>
            <a:pPr algn="l">
              <a:defRPr sz="1600" b="1" i="0">
                <a:solidFill>
                  <a:srgbClr val="2E8B3D"/>
                </a:solidFill>
              </a:defRPr>
            </a:pPr>
            <a:r>
              <a:t>Perspectives</a:t>
            </a:r>
          </a:p>
        </p:txBody>
      </p:sp>
      <p:sp>
        <p:nvSpPr>
          <p:cNvPr id="12" name="Rounded Rectangle 11"/>
          <p:cNvSpPr/>
          <p:nvPr/>
        </p:nvSpPr>
        <p:spPr>
          <a:xfrm>
            <a:off x="731520" y="21945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267711"/>
            <a:ext cx="10332720" cy="274320"/>
          </a:xfrm>
          <a:prstGeom prst="rect">
            <a:avLst/>
          </a:prstGeom>
          <a:noFill/>
        </p:spPr>
        <p:txBody>
          <a:bodyPr wrap="square">
            <a:spAutoFit/>
          </a:bodyPr>
          <a:lstStyle/>
          <a:p>
            <a:pPr algn="l">
              <a:defRPr sz="1200" b="1" i="0">
                <a:solidFill>
                  <a:srgbClr val="2E8B3D"/>
                </a:solidFill>
              </a:defRPr>
            </a:pPr>
            <a:r>
              <a:t>Tests automatisés côté serveur</a:t>
            </a:r>
          </a:p>
        </p:txBody>
      </p:sp>
      <p:sp>
        <p:nvSpPr>
          <p:cNvPr id="14" name="TextBox 13"/>
          <p:cNvSpPr txBox="1"/>
          <p:nvPr/>
        </p:nvSpPr>
        <p:spPr>
          <a:xfrm>
            <a:off x="914400" y="2542031"/>
            <a:ext cx="10332720" cy="274320"/>
          </a:xfrm>
          <a:prstGeom prst="rect">
            <a:avLst/>
          </a:prstGeom>
          <a:noFill/>
        </p:spPr>
        <p:txBody>
          <a:bodyPr wrap="square">
            <a:spAutoFit/>
          </a:bodyPr>
          <a:lstStyle/>
          <a:p>
            <a:pPr algn="l">
              <a:defRPr sz="1000" b="0" i="1">
                <a:solidFill>
                  <a:srgbClr val="333333"/>
                </a:solidFill>
              </a:defRPr>
            </a:pPr>
            <a:r>
              <a:t>Actuellement absents : sécuriser les évolutions futures après refonte du modèle</a:t>
            </a:r>
          </a:p>
        </p:txBody>
      </p:sp>
      <p:sp>
        <p:nvSpPr>
          <p:cNvPr id="15" name="Rounded Rectangle 14"/>
          <p:cNvSpPr/>
          <p:nvPr/>
        </p:nvSpPr>
        <p:spPr>
          <a:xfrm>
            <a:off x="731520" y="28803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953511"/>
            <a:ext cx="10332720" cy="274320"/>
          </a:xfrm>
          <a:prstGeom prst="rect">
            <a:avLst/>
          </a:prstGeom>
          <a:noFill/>
        </p:spPr>
        <p:txBody>
          <a:bodyPr wrap="square">
            <a:spAutoFit/>
          </a:bodyPr>
          <a:lstStyle/>
          <a:p>
            <a:pPr algn="l">
              <a:defRPr sz="1200" b="1" i="0">
                <a:solidFill>
                  <a:srgbClr val="2E8B3D"/>
                </a:solidFill>
              </a:defRPr>
            </a:pPr>
            <a:r>
              <a:t>Automatisation des déploiements</a:t>
            </a:r>
          </a:p>
        </p:txBody>
      </p:sp>
      <p:sp>
        <p:nvSpPr>
          <p:cNvPr id="17" name="TextBox 16"/>
          <p:cNvSpPr txBox="1"/>
          <p:nvPr/>
        </p:nvSpPr>
        <p:spPr>
          <a:xfrm>
            <a:off x="914400" y="3227831"/>
            <a:ext cx="10332720" cy="274320"/>
          </a:xfrm>
          <a:prstGeom prst="rect">
            <a:avLst/>
          </a:prstGeom>
          <a:noFill/>
        </p:spPr>
        <p:txBody>
          <a:bodyPr wrap="square">
            <a:spAutoFit/>
          </a:bodyPr>
          <a:lstStyle/>
          <a:p>
            <a:pPr algn="l">
              <a:defRPr sz="1000" b="0" i="1">
                <a:solidFill>
                  <a:srgbClr val="333333"/>
                </a:solidFill>
              </a:defRPr>
            </a:pPr>
            <a:r>
              <a:t>Les mises en production restent en grande partie manuelles</a:t>
            </a:r>
          </a:p>
        </p:txBody>
      </p:sp>
      <p:sp>
        <p:nvSpPr>
          <p:cNvPr id="18" name="Rounded Rectangle 17"/>
          <p:cNvSpPr/>
          <p:nvPr/>
        </p:nvSpPr>
        <p:spPr>
          <a:xfrm>
            <a:off x="731520" y="35661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639311"/>
            <a:ext cx="10332720" cy="274320"/>
          </a:xfrm>
          <a:prstGeom prst="rect">
            <a:avLst/>
          </a:prstGeom>
          <a:noFill/>
        </p:spPr>
        <p:txBody>
          <a:bodyPr wrap="square">
            <a:spAutoFit/>
          </a:bodyPr>
          <a:lstStyle/>
          <a:p>
            <a:pPr algn="l">
              <a:defRPr sz="1200" b="1" i="0">
                <a:solidFill>
                  <a:srgbClr val="2E8B3D"/>
                </a:solidFill>
              </a:defRPr>
            </a:pPr>
            <a:r>
              <a:t>Suivi régulier des montées de version</a:t>
            </a:r>
          </a:p>
        </p:txBody>
      </p:sp>
      <p:sp>
        <p:nvSpPr>
          <p:cNvPr id="20" name="TextBox 19"/>
          <p:cNvSpPr txBox="1"/>
          <p:nvPr/>
        </p:nvSpPr>
        <p:spPr>
          <a:xfrm>
            <a:off x="914400" y="3913631"/>
            <a:ext cx="10332720" cy="274320"/>
          </a:xfrm>
          <a:prstGeom prst="rect">
            <a:avLst/>
          </a:prstGeom>
          <a:noFill/>
        </p:spPr>
        <p:txBody>
          <a:bodyPr wrap="square">
            <a:spAutoFit/>
          </a:bodyPr>
          <a:lstStyle/>
          <a:p>
            <a:pPr algn="l">
              <a:defRPr sz="1000" b="0" i="1">
                <a:solidFill>
                  <a:srgbClr val="333333"/>
                </a:solidFill>
              </a:defRPr>
            </a:pPr>
            <a:r>
              <a:t>Sans quoi la dette technique traitée cette année se reconstituera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47120" cy="1371600"/>
          </a:xfrm>
          <a:prstGeom prst="rect">
            <a:avLst/>
          </a:prstGeom>
          <a:noFill/>
        </p:spPr>
        <p:txBody>
          <a:bodyPr wrap="square">
            <a:spAutoFit/>
          </a:bodyPr>
          <a:lstStyle/>
          <a:p>
            <a:pPr algn="ctr">
              <a:defRPr sz="6000" b="1" i="0">
                <a:solidFill>
                  <a:srgbClr val="FFFFFF"/>
                </a:solidFill>
              </a:defRPr>
            </a:pPr>
            <a:r>
              <a:t>Merci pour votre attention</a:t>
            </a:r>
          </a:p>
        </p:txBody>
      </p:sp>
      <p:sp>
        <p:nvSpPr>
          <p:cNvPr id="3" name="Rectangle 2"/>
          <p:cNvSpPr/>
          <p:nvPr/>
        </p:nvSpPr>
        <p:spPr>
          <a:xfrm>
            <a:off x="4937760" y="3657600"/>
            <a:ext cx="22860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931920"/>
            <a:ext cx="11247120" cy="731520"/>
          </a:xfrm>
          <a:prstGeom prst="rect">
            <a:avLst/>
          </a:prstGeom>
          <a:noFill/>
        </p:spPr>
        <p:txBody>
          <a:bodyPr wrap="square">
            <a:spAutoFit/>
          </a:bodyPr>
          <a:lstStyle/>
          <a:p>
            <a:pPr algn="ctr">
              <a:defRPr sz="2800" b="0" i="1">
                <a:solidFill>
                  <a:srgbClr val="FFFFFF"/>
                </a:solidFill>
              </a:defRPr>
            </a:pPr>
            <a:r>
              <a:rPr dirty="0"/>
              <a:t>Place aux questions</a:t>
            </a:r>
          </a:p>
        </p:txBody>
      </p:sp>
      <p:sp>
        <p:nvSpPr>
          <p:cNvPr id="5" name="TextBox 4"/>
          <p:cNvSpPr txBox="1"/>
          <p:nvPr/>
        </p:nvSpPr>
        <p:spPr>
          <a:xfrm>
            <a:off x="457200" y="5943600"/>
            <a:ext cx="11247120" cy="276999"/>
          </a:xfrm>
          <a:prstGeom prst="rect">
            <a:avLst/>
          </a:prstGeom>
          <a:noFill/>
        </p:spPr>
        <p:txBody>
          <a:bodyPr wrap="square">
            <a:spAutoFit/>
          </a:bodyPr>
          <a:lstStyle/>
          <a:p>
            <a:pPr algn="ctr">
              <a:defRPr sz="1200" b="0" i="0">
                <a:solidFill>
                  <a:srgbClr val="FFFFFF"/>
                </a:solidFill>
              </a:defRPr>
            </a:pPr>
            <a:r>
              <a:rPr dirty="0"/>
              <a:t>Ahmed BOURAZZA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389</TotalTime>
  <Words>2488</Words>
  <Application>Microsoft Office PowerPoint</Application>
  <PresentationFormat>Grand écran</PresentationFormat>
  <Paragraphs>495</Paragraphs>
  <Slides>35</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35</vt:i4>
      </vt:variant>
    </vt:vector>
  </HeadingPairs>
  <TitlesOfParts>
    <vt:vector size="3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Ahmed Bourazza</cp:lastModifiedBy>
  <cp:revision>19</cp:revision>
  <dcterms:created xsi:type="dcterms:W3CDTF">2013-01-27T09:14:16Z</dcterms:created>
  <dcterms:modified xsi:type="dcterms:W3CDTF">2026-09-12T21:37:34Z</dcterms:modified>
  <cp:category/>
</cp:coreProperties>
</file>